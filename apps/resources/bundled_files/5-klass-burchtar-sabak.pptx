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Мүмкүн болсо, керегенин сүрөтүн же кичине бөлүгүн көрсөтөм (жок болсо, доскага X чийем). Окуучулар болжолдошсун: калган бурчтар 50°тан чоңбу, кичинеби?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0 турган шкаладан окуйбуз; бурч тар (90°тан кичине), демек 50°. Бекзат – М2 (башка шкала).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 саман (суусундук түтүкчөсү) же 2 кагаз тилке, 1 төөнөгүч же кнопка, бир барак кагаз, 2 түстүү кагаз тегерек (ар биринде радиус боюнча бир кесик, бири-бирине кийгизилет). 1) Саманды ачып-жаап «ачылыш» = бурч экенин сезишет; анан саманды кыскартышат: бурч өзгөрбөйт (М1). 2) Кагазды эки жолу бүктөп тик бурч өлчөгүч жасашат, класстагы бурчтарды текшеришет: ичинде – тар, дал – тик, чыгып кетсе – кең. 3) Эки тегеректи айлантып, жайылган (жарымы) жана толук бурчту көрсөтүшөт.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Сол жакта: бурчтун бир жагы ички шкаланын 0үндө, ошондуктан ички шкаладан окуйбуз: 50°. Сырткы шкаладагы 130 – М2. Бурч тар көрүнөт, демек 130 болушу мүмкүн эмес. Оң жакта: керегенин X: таякча түз сызык болгондуктан 50° + 130° = 180°; карама-каршы бурчтар барабар. Окуучулар ушул сүрөттү транспортир менен өлчөп текшеришет (сүрөттөгү бурчтар так чийилген).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факты жана бурчтардын түрлөрү. Эмне үчүн вертикалдык бурчтар барабар? a + b = 180° жана c + b = 180°, демек a = c. Ката коддору: М4 (түрлөрү), М5 (180° же 360°), М6 (вертикалдык).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«65тен 70ке 5, 100гө 30, 180ге 80: баары 115».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М6; Б = ✓; В = М4;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түз сызык → чекиттин айланасы → салыштыруу. Жооптор: 180° − 65° = 115°; 360° − 270° = 90°; (180° − 30°) ÷ 2 = 75°;  105°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Таякча – түз сызык: 50° жана анын жанашасы бирге 180°, ошондуктан 130°. Карама-каршы бурчтар (вертикалдык) барабар: 50° жана 130°. Текшерүү: 50 + 130 + 50 + 130 = 360 – толук бурч. Транспортир менен 12-слайддагы сүрөттү өлчөп да текшерсе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кең бурч; 75°; 100°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5-класс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Бурчтар: түрлөрү, транспортир жана бурч фактылары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Жайлоодо боз үй тигүү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Суусамыр жайлоосунда Нурай менен Бекзат Асан атага боз үй тигүүгө жардам беришет: кереге, уук, түндүк – баары бурч!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геометриялык маалымат (бурчтар).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Жайлоодо боз үй тигүү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Суусамыр жайлоосунда Асан ата тойго боз үй тигет.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Нурай менен Бекзат жардам беришет: керегени жайып, ууктарды түндүккө сайышат.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Керегенин таякчалары кесилишип, «X» сыяктуу бурчтарды түзөт.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Асан ата: «Кереге туура жайылса, көзөнөктөрү бирдей болот. Бурчун өлчөп көргүлө!»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Керегенин эки таякчасы кесилишип, төрт бурч түздү. Бир бурчу 50°. Калган үч бурчу канча градус?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Бурчтун түрүн (тар, тик, кең, жайылган, толук) аныктайм: 90° жана 180° менен салыштырам.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Транспортир менен бурчту өлчөйм жана чийем: 0 турган шкаладан окуйм.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сызыктагы (180°), чекиттин айланасындагы (360°) жана вертикалдык бурчтар менен белгисиз бурчту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Бурчтун түрлөрү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Транспортир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бурч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Шкаланы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саман менен бурч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Боз үй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Кереге, түндүк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3-класс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Бурчтарды салыштыруу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Саат жебелери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5-класс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Градус, транспортир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Бурч фактылары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Үч бурчтуктун бурчтары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 диаграмма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Сааттын жебелери 3:00дө: кандай бурч?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360 ÷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90 − 35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Сааттын жебелери 3:00дө: кандай бурч?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тик бурч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360 ÷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90 − 35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Нурай менен Бекзат керегенин бир бурчун транспортир менен өлчөштү.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жагы ички шкаланын 0үндө.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Ички шкалада окудум: 50.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Бурч =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Чоң сандар сыртта жазылган.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Сырткы шкалада окудум: 130.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Бурч = 130°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Бурч тар көрүнөбү же кең? Тик бурч менен салыштыр.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саман жана төөнөгүч менен бурч жаса. Бүктөлгөн кагаз (тик бурч) менен салыштыр: тар, тик же кеңби?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4983480"/>
            <a:ext cx="2834640" cy="0"/>
          </a:xfrm>
          <a:prstGeom prst="line">
            <a:avLst/>
          </a:prstGeom>
          <a:ln w="1143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" y="4983480"/>
            <a:ext cx="2834640" cy="0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68680" y="2882066"/>
            <a:ext cx="1763294" cy="2101414"/>
          </a:xfrm>
          <a:prstGeom prst="line">
            <a:avLst/>
          </a:prstGeom>
          <a:ln w="1143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68680" y="2882066"/>
            <a:ext cx="1763294" cy="2101414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1280115" y="4493150"/>
            <a:ext cx="228645" cy="490330"/>
          </a:xfrm>
          <a:custGeom>
            <a:avLst/>
            <a:gdLst/>
            <a:ahLst/>
            <a:cxnLst/>
            <a:rect l="l" t="t" r="r" b="b"/>
            <a:pathLst>
              <a:path w="228645" h="490330">
                <a:moveTo>
                  <a:pt x="228645" y="490330"/>
                </a:moveTo>
                <a:lnTo>
                  <a:pt x="227802" y="457487"/>
                </a:lnTo>
                <a:lnTo>
                  <a:pt x="225275" y="424731"/>
                </a:lnTo>
                <a:lnTo>
                  <a:pt x="221070" y="392147"/>
                </a:lnTo>
                <a:lnTo>
                  <a:pt x="215199" y="359822"/>
                </a:lnTo>
                <a:lnTo>
                  <a:pt x="207677" y="327841"/>
                </a:lnTo>
                <a:lnTo>
                  <a:pt x="198524" y="296288"/>
                </a:lnTo>
                <a:lnTo>
                  <a:pt x="187764" y="265246"/>
                </a:lnTo>
                <a:lnTo>
                  <a:pt x="175426" y="234797"/>
                </a:lnTo>
                <a:lnTo>
                  <a:pt x="161541" y="205022"/>
                </a:lnTo>
                <a:lnTo>
                  <a:pt x="146147" y="175998"/>
                </a:lnTo>
                <a:lnTo>
                  <a:pt x="129284" y="147802"/>
                </a:lnTo>
                <a:lnTo>
                  <a:pt x="110996" y="120509"/>
                </a:lnTo>
                <a:lnTo>
                  <a:pt x="91332" y="94189"/>
                </a:lnTo>
                <a:lnTo>
                  <a:pt x="70344" y="68914"/>
                </a:lnTo>
                <a:lnTo>
                  <a:pt x="48086" y="44749"/>
                </a:lnTo>
                <a:lnTo>
                  <a:pt x="24618" y="217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140844" y="3967751"/>
            <a:ext cx="403766" cy="210187"/>
          </a:xfrm>
          <a:custGeom>
            <a:avLst/>
            <a:gdLst/>
            <a:ahLst/>
            <a:cxnLst/>
            <a:rect l="l" t="t" r="r" b="b"/>
            <a:pathLst>
              <a:path w="403766" h="210187">
                <a:moveTo>
                  <a:pt x="403766" y="210187"/>
                </a:moveTo>
                <a:lnTo>
                  <a:pt x="363933" y="178377"/>
                </a:lnTo>
                <a:lnTo>
                  <a:pt x="322606" y="148534"/>
                </a:lnTo>
                <a:lnTo>
                  <a:pt x="279880" y="120729"/>
                </a:lnTo>
                <a:lnTo>
                  <a:pt x="235858" y="95027"/>
                </a:lnTo>
                <a:lnTo>
                  <a:pt x="190642" y="71489"/>
                </a:lnTo>
                <a:lnTo>
                  <a:pt x="144338" y="50170"/>
                </a:lnTo>
                <a:lnTo>
                  <a:pt x="97055" y="31120"/>
                </a:lnTo>
                <a:lnTo>
                  <a:pt x="48905" y="14383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331" y="3652791"/>
            <a:ext cx="664464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PT Sans"/>
              </a:rPr>
              <a:t>ачам →</a:t>
            </a:r>
          </a:p>
        </p:txBody>
      </p:sp>
      <p:sp>
        <p:nvSpPr>
          <p:cNvPr id="19" name="Oval 18"/>
          <p:cNvSpPr/>
          <p:nvPr/>
        </p:nvSpPr>
        <p:spPr>
          <a:xfrm>
            <a:off x="795528" y="4910328"/>
            <a:ext cx="146304" cy="146304"/>
          </a:xfrm>
          <a:prstGeom prst="ellipse">
            <a:avLst/>
          </a:pr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376" y="2158999"/>
            <a:ext cx="2527808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Эки саман + төөнөгүч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436" y="5308600"/>
            <a:ext cx="334568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Ачылышы = бурч. Саманды кыскартсаң,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1996" y="5555487"/>
            <a:ext cx="149656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4A5A70"/>
                </a:solidFill>
                <a:latin typeface="PT Sans"/>
              </a:rPr>
              <a:t>бурч өзгөрбөйт!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6984" y="2158999"/>
            <a:ext cx="3253232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Бүктөлгөн кагаз = тик бурч</a:t>
            </a:r>
          </a:p>
        </p:txBody>
      </p:sp>
      <p:sp>
        <p:nvSpPr>
          <p:cNvPr id="24" name="Freeform 23"/>
          <p:cNvSpPr/>
          <p:nvPr/>
        </p:nvSpPr>
        <p:spPr>
          <a:xfrm>
            <a:off x="443484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43484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34840" y="3938515"/>
            <a:ext cx="700471" cy="587765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4644981" y="4349951"/>
            <a:ext cx="64179" cy="176329"/>
          </a:xfrm>
          <a:custGeom>
            <a:avLst/>
            <a:gdLst/>
            <a:ahLst/>
            <a:cxnLst/>
            <a:rect l="l" t="t" r="r" b="b"/>
            <a:pathLst>
              <a:path w="64179" h="176329">
                <a:moveTo>
                  <a:pt x="64179" y="176329"/>
                </a:moveTo>
                <a:lnTo>
                  <a:pt x="63838" y="162655"/>
                </a:lnTo>
                <a:lnTo>
                  <a:pt x="62816" y="149016"/>
                </a:lnTo>
                <a:lnTo>
                  <a:pt x="61115" y="135444"/>
                </a:lnTo>
                <a:lnTo>
                  <a:pt x="58740" y="121974"/>
                </a:lnTo>
                <a:lnTo>
                  <a:pt x="55696" y="108639"/>
                </a:lnTo>
                <a:lnTo>
                  <a:pt x="51992" y="95472"/>
                </a:lnTo>
                <a:lnTo>
                  <a:pt x="47635" y="82506"/>
                </a:lnTo>
                <a:lnTo>
                  <a:pt x="42638" y="69774"/>
                </a:lnTo>
                <a:lnTo>
                  <a:pt x="37013" y="57306"/>
                </a:lnTo>
                <a:lnTo>
                  <a:pt x="30773" y="45134"/>
                </a:lnTo>
                <a:lnTo>
                  <a:pt x="23934" y="33289"/>
                </a:lnTo>
                <a:lnTo>
                  <a:pt x="16513" y="21799"/>
                </a:lnTo>
                <a:lnTo>
                  <a:pt x="8528" y="10693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0283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39995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07A5A"/>
                </a:solidFill>
                <a:latin typeface="PT Sans"/>
              </a:rPr>
              <a:t>тар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4971288"/>
            <a:ext cx="62179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ичинде</a:t>
            </a:r>
          </a:p>
        </p:txBody>
      </p:sp>
      <p:sp>
        <p:nvSpPr>
          <p:cNvPr id="31" name="Freeform 30"/>
          <p:cNvSpPr/>
          <p:nvPr/>
        </p:nvSpPr>
        <p:spPr>
          <a:xfrm>
            <a:off x="576072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76072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760720" y="3611880"/>
            <a:ext cx="0" cy="9144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5760720" y="4350715"/>
            <a:ext cx="175565" cy="175565"/>
          </a:xfrm>
          <a:custGeom>
            <a:avLst/>
            <a:gdLst/>
            <a:ahLst/>
            <a:cxnLst/>
            <a:rect l="l" t="t" r="r" b="b"/>
            <a:pathLst>
              <a:path w="175565" h="175565">
                <a:moveTo>
                  <a:pt x="175565" y="175565"/>
                </a:moveTo>
                <a:lnTo>
                  <a:pt x="175565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2871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65875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тик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7" y="4971288"/>
            <a:ext cx="877824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дал келет</a:t>
            </a:r>
          </a:p>
        </p:txBody>
      </p:sp>
      <p:sp>
        <p:nvSpPr>
          <p:cNvPr id="38" name="Freeform 37"/>
          <p:cNvSpPr/>
          <p:nvPr/>
        </p:nvSpPr>
        <p:spPr>
          <a:xfrm>
            <a:off x="740664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40664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6818875" y="3825808"/>
            <a:ext cx="587765" cy="70047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0311" y="4252038"/>
            <a:ext cx="450649" cy="274242"/>
          </a:xfrm>
          <a:custGeom>
            <a:avLst/>
            <a:gdLst/>
            <a:ahLst/>
            <a:cxnLst/>
            <a:rect l="l" t="t" r="r" b="b"/>
            <a:pathLst>
              <a:path w="450649" h="274242">
                <a:moveTo>
                  <a:pt x="450649" y="274242"/>
                </a:moveTo>
                <a:lnTo>
                  <a:pt x="450284" y="260103"/>
                </a:lnTo>
                <a:lnTo>
                  <a:pt x="449191" y="246001"/>
                </a:lnTo>
                <a:lnTo>
                  <a:pt x="447373" y="231974"/>
                </a:lnTo>
                <a:lnTo>
                  <a:pt x="444834" y="218059"/>
                </a:lnTo>
                <a:lnTo>
                  <a:pt x="441581" y="204294"/>
                </a:lnTo>
                <a:lnTo>
                  <a:pt x="437623" y="190715"/>
                </a:lnTo>
                <a:lnTo>
                  <a:pt x="432971" y="177358"/>
                </a:lnTo>
                <a:lnTo>
                  <a:pt x="427636" y="164259"/>
                </a:lnTo>
                <a:lnTo>
                  <a:pt x="421633" y="151452"/>
                </a:lnTo>
                <a:lnTo>
                  <a:pt x="414978" y="138971"/>
                </a:lnTo>
                <a:lnTo>
                  <a:pt x="407688" y="126850"/>
                </a:lnTo>
                <a:lnTo>
                  <a:pt x="399783" y="115121"/>
                </a:lnTo>
                <a:lnTo>
                  <a:pt x="391285" y="103815"/>
                </a:lnTo>
                <a:lnTo>
                  <a:pt x="382215" y="92962"/>
                </a:lnTo>
                <a:lnTo>
                  <a:pt x="372597" y="82590"/>
                </a:lnTo>
                <a:lnTo>
                  <a:pt x="362458" y="72729"/>
                </a:lnTo>
                <a:lnTo>
                  <a:pt x="351824" y="63403"/>
                </a:lnTo>
                <a:lnTo>
                  <a:pt x="340723" y="54638"/>
                </a:lnTo>
                <a:lnTo>
                  <a:pt x="329185" y="46456"/>
                </a:lnTo>
                <a:lnTo>
                  <a:pt x="317241" y="38880"/>
                </a:lnTo>
                <a:lnTo>
                  <a:pt x="304922" y="31930"/>
                </a:lnTo>
                <a:lnTo>
                  <a:pt x="292262" y="25624"/>
                </a:lnTo>
                <a:lnTo>
                  <a:pt x="279293" y="19979"/>
                </a:lnTo>
                <a:lnTo>
                  <a:pt x="266050" y="15009"/>
                </a:lnTo>
                <a:lnTo>
                  <a:pt x="252569" y="10729"/>
                </a:lnTo>
                <a:lnTo>
                  <a:pt x="238885" y="7150"/>
                </a:lnTo>
                <a:lnTo>
                  <a:pt x="225035" y="4281"/>
                </a:lnTo>
                <a:lnTo>
                  <a:pt x="211056" y="2129"/>
                </a:lnTo>
                <a:lnTo>
                  <a:pt x="196984" y="701"/>
                </a:lnTo>
                <a:lnTo>
                  <a:pt x="182857" y="0"/>
                </a:lnTo>
                <a:lnTo>
                  <a:pt x="168713" y="28"/>
                </a:lnTo>
                <a:lnTo>
                  <a:pt x="154589" y="785"/>
                </a:lnTo>
                <a:lnTo>
                  <a:pt x="140523" y="2269"/>
                </a:lnTo>
                <a:lnTo>
                  <a:pt x="126552" y="4476"/>
                </a:lnTo>
                <a:lnTo>
                  <a:pt x="112714" y="7400"/>
                </a:lnTo>
                <a:lnTo>
                  <a:pt x="99044" y="11034"/>
                </a:lnTo>
                <a:lnTo>
                  <a:pt x="85580" y="15367"/>
                </a:lnTo>
                <a:lnTo>
                  <a:pt x="72357" y="20389"/>
                </a:lnTo>
                <a:lnTo>
                  <a:pt x="59411" y="26085"/>
                </a:lnTo>
                <a:lnTo>
                  <a:pt x="46776" y="32442"/>
                </a:lnTo>
                <a:lnTo>
                  <a:pt x="34485" y="39441"/>
                </a:lnTo>
                <a:lnTo>
                  <a:pt x="22571" y="47064"/>
                </a:lnTo>
                <a:lnTo>
                  <a:pt x="11065" y="55291"/>
                </a:lnTo>
                <a:lnTo>
                  <a:pt x="0" y="64101"/>
                </a:lnTo>
              </a:path>
            </a:pathLst>
          </a:cu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7463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11796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07A5A"/>
                </a:solidFill>
                <a:latin typeface="PT Sans"/>
              </a:rPr>
              <a:t>кең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2423" y="4971288"/>
            <a:ext cx="1048511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чыгып кетет</a:t>
            </a:r>
          </a:p>
        </p:txBody>
      </p:sp>
      <p:sp>
        <p:nvSpPr>
          <p:cNvPr id="45" name="Freeform 44"/>
          <p:cNvSpPr/>
          <p:nvPr/>
        </p:nvSpPr>
        <p:spPr>
          <a:xfrm>
            <a:off x="9053159" y="2926230"/>
            <a:ext cx="2011081" cy="2011380"/>
          </a:xfrm>
          <a:custGeom>
            <a:avLst/>
            <a:gdLst/>
            <a:ahLst/>
            <a:cxnLst/>
            <a:rect l="l" t="t" r="r" b="b"/>
            <a:pathLst>
              <a:path w="2011081" h="2011380">
                <a:moveTo>
                  <a:pt x="2011081" y="1005690"/>
                </a:moveTo>
                <a:lnTo>
                  <a:pt x="2008684" y="936296"/>
                </a:lnTo>
                <a:lnTo>
                  <a:pt x="2001506" y="867233"/>
                </a:lnTo>
                <a:lnTo>
                  <a:pt x="1989580" y="798829"/>
                </a:lnTo>
                <a:lnTo>
                  <a:pt x="1972963" y="731411"/>
                </a:lnTo>
                <a:lnTo>
                  <a:pt x="1951734" y="665301"/>
                </a:lnTo>
                <a:lnTo>
                  <a:pt x="1925995" y="600812"/>
                </a:lnTo>
                <a:lnTo>
                  <a:pt x="1895868" y="538253"/>
                </a:lnTo>
                <a:lnTo>
                  <a:pt x="1861497" y="477921"/>
                </a:lnTo>
                <a:lnTo>
                  <a:pt x="1823045" y="420105"/>
                </a:lnTo>
                <a:lnTo>
                  <a:pt x="1780697" y="365079"/>
                </a:lnTo>
                <a:lnTo>
                  <a:pt x="1734652" y="313106"/>
                </a:lnTo>
                <a:lnTo>
                  <a:pt x="1685132" y="264433"/>
                </a:lnTo>
                <a:lnTo>
                  <a:pt x="1632372" y="219293"/>
                </a:lnTo>
                <a:lnTo>
                  <a:pt x="1576623" y="177900"/>
                </a:lnTo>
                <a:lnTo>
                  <a:pt x="1518152" y="140452"/>
                </a:lnTo>
                <a:lnTo>
                  <a:pt x="1457236" y="107127"/>
                </a:lnTo>
                <a:lnTo>
                  <a:pt x="1394166" y="78085"/>
                </a:lnTo>
                <a:lnTo>
                  <a:pt x="1329243" y="53463"/>
                </a:lnTo>
                <a:lnTo>
                  <a:pt x="1262775" y="33378"/>
                </a:lnTo>
                <a:lnTo>
                  <a:pt x="1195081" y="17927"/>
                </a:lnTo>
                <a:lnTo>
                  <a:pt x="1126482" y="7184"/>
                </a:lnTo>
                <a:lnTo>
                  <a:pt x="1057305" y="1198"/>
                </a:lnTo>
                <a:lnTo>
                  <a:pt x="987880" y="0"/>
                </a:lnTo>
                <a:lnTo>
                  <a:pt x="918537" y="3594"/>
                </a:lnTo>
                <a:lnTo>
                  <a:pt x="849608" y="11963"/>
                </a:lnTo>
                <a:lnTo>
                  <a:pt x="781421" y="25069"/>
                </a:lnTo>
                <a:lnTo>
                  <a:pt x="714300" y="42847"/>
                </a:lnTo>
                <a:lnTo>
                  <a:pt x="648565" y="65213"/>
                </a:lnTo>
                <a:lnTo>
                  <a:pt x="584531" y="92062"/>
                </a:lnTo>
                <a:lnTo>
                  <a:pt x="522501" y="123264"/>
                </a:lnTo>
                <a:lnTo>
                  <a:pt x="462771" y="158671"/>
                </a:lnTo>
                <a:lnTo>
                  <a:pt x="405627" y="198115"/>
                </a:lnTo>
                <a:lnTo>
                  <a:pt x="351340" y="241407"/>
                </a:lnTo>
                <a:lnTo>
                  <a:pt x="300170" y="288342"/>
                </a:lnTo>
                <a:lnTo>
                  <a:pt x="252359" y="338695"/>
                </a:lnTo>
                <a:lnTo>
                  <a:pt x="208136" y="392226"/>
                </a:lnTo>
                <a:lnTo>
                  <a:pt x="167712" y="448681"/>
                </a:lnTo>
                <a:lnTo>
                  <a:pt x="131279" y="507790"/>
                </a:lnTo>
                <a:lnTo>
                  <a:pt x="99010" y="569272"/>
                </a:lnTo>
                <a:lnTo>
                  <a:pt x="71061" y="632834"/>
                </a:lnTo>
                <a:lnTo>
                  <a:pt x="47563" y="698173"/>
                </a:lnTo>
                <a:lnTo>
                  <a:pt x="28629" y="764977"/>
                </a:lnTo>
                <a:lnTo>
                  <a:pt x="14349" y="832928"/>
                </a:lnTo>
                <a:lnTo>
                  <a:pt x="4791" y="901702"/>
                </a:lnTo>
                <a:lnTo>
                  <a:pt x="0" y="970972"/>
                </a:lnTo>
                <a:lnTo>
                  <a:pt x="0" y="1040408"/>
                </a:lnTo>
                <a:lnTo>
                  <a:pt x="4791" y="1109678"/>
                </a:lnTo>
                <a:lnTo>
                  <a:pt x="14349" y="1178452"/>
                </a:lnTo>
                <a:lnTo>
                  <a:pt x="28629" y="1246403"/>
                </a:lnTo>
                <a:lnTo>
                  <a:pt x="47563" y="1313207"/>
                </a:lnTo>
                <a:lnTo>
                  <a:pt x="71061" y="1378546"/>
                </a:lnTo>
                <a:lnTo>
                  <a:pt x="99010" y="1442108"/>
                </a:lnTo>
                <a:lnTo>
                  <a:pt x="131279" y="1503590"/>
                </a:lnTo>
                <a:lnTo>
                  <a:pt x="167712" y="1562699"/>
                </a:lnTo>
                <a:lnTo>
                  <a:pt x="208136" y="1619154"/>
                </a:lnTo>
                <a:lnTo>
                  <a:pt x="252359" y="1672685"/>
                </a:lnTo>
                <a:lnTo>
                  <a:pt x="300170" y="1723038"/>
                </a:lnTo>
                <a:lnTo>
                  <a:pt x="351340" y="1769973"/>
                </a:lnTo>
                <a:lnTo>
                  <a:pt x="405627" y="1813265"/>
                </a:lnTo>
                <a:lnTo>
                  <a:pt x="462771" y="1852709"/>
                </a:lnTo>
                <a:lnTo>
                  <a:pt x="522501" y="1888116"/>
                </a:lnTo>
                <a:lnTo>
                  <a:pt x="584531" y="1919318"/>
                </a:lnTo>
                <a:lnTo>
                  <a:pt x="648565" y="1946167"/>
                </a:lnTo>
                <a:lnTo>
                  <a:pt x="714300" y="1968533"/>
                </a:lnTo>
                <a:lnTo>
                  <a:pt x="781421" y="1986311"/>
                </a:lnTo>
                <a:lnTo>
                  <a:pt x="849608" y="1999417"/>
                </a:lnTo>
                <a:lnTo>
                  <a:pt x="918537" y="2007786"/>
                </a:lnTo>
                <a:lnTo>
                  <a:pt x="987880" y="2011380"/>
                </a:lnTo>
                <a:lnTo>
                  <a:pt x="1057305" y="2010182"/>
                </a:lnTo>
                <a:lnTo>
                  <a:pt x="1126482" y="2004196"/>
                </a:lnTo>
                <a:lnTo>
                  <a:pt x="1195081" y="1993453"/>
                </a:lnTo>
                <a:lnTo>
                  <a:pt x="1262775" y="1978002"/>
                </a:lnTo>
                <a:lnTo>
                  <a:pt x="1329243" y="1957917"/>
                </a:lnTo>
                <a:lnTo>
                  <a:pt x="1394166" y="1933295"/>
                </a:lnTo>
                <a:lnTo>
                  <a:pt x="1457236" y="1904253"/>
                </a:lnTo>
                <a:lnTo>
                  <a:pt x="1518152" y="1870928"/>
                </a:lnTo>
                <a:lnTo>
                  <a:pt x="1576623" y="1833480"/>
                </a:lnTo>
                <a:lnTo>
                  <a:pt x="1632372" y="1792087"/>
                </a:lnTo>
                <a:lnTo>
                  <a:pt x="1685132" y="1746947"/>
                </a:lnTo>
                <a:lnTo>
                  <a:pt x="1734652" y="1698274"/>
                </a:lnTo>
                <a:lnTo>
                  <a:pt x="1780697" y="1646301"/>
                </a:lnTo>
                <a:lnTo>
                  <a:pt x="1823045" y="1591275"/>
                </a:lnTo>
                <a:lnTo>
                  <a:pt x="1861497" y="1533459"/>
                </a:lnTo>
                <a:lnTo>
                  <a:pt x="1895868" y="1473127"/>
                </a:lnTo>
                <a:lnTo>
                  <a:pt x="1925995" y="1410568"/>
                </a:lnTo>
                <a:lnTo>
                  <a:pt x="1951734" y="1346079"/>
                </a:lnTo>
                <a:lnTo>
                  <a:pt x="1972963" y="1279969"/>
                </a:lnTo>
                <a:lnTo>
                  <a:pt x="1989580" y="1212551"/>
                </a:lnTo>
                <a:lnTo>
                  <a:pt x="2001506" y="1144147"/>
                </a:lnTo>
                <a:lnTo>
                  <a:pt x="2008684" y="1075084"/>
                </a:lnTo>
                <a:lnTo>
                  <a:pt x="2011081" y="1005690"/>
                </a:lnTo>
                <a:close/>
              </a:path>
            </a:pathLst>
          </a:cu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9411859" y="2926365"/>
            <a:ext cx="1652381" cy="1005555"/>
          </a:xfrm>
          <a:custGeom>
            <a:avLst/>
            <a:gdLst/>
            <a:ahLst/>
            <a:cxnLst/>
            <a:rect l="l" t="t" r="r" b="b"/>
            <a:pathLst>
              <a:path w="1652381" h="1005555">
                <a:moveTo>
                  <a:pt x="646541" y="1005555"/>
                </a:moveTo>
                <a:lnTo>
                  <a:pt x="1652381" y="1005555"/>
                </a:lnTo>
                <a:lnTo>
                  <a:pt x="1651044" y="953710"/>
                </a:lnTo>
                <a:lnTo>
                  <a:pt x="1647036" y="902003"/>
                </a:lnTo>
                <a:lnTo>
                  <a:pt x="1640369" y="850572"/>
                </a:lnTo>
                <a:lnTo>
                  <a:pt x="1631060" y="799552"/>
                </a:lnTo>
                <a:lnTo>
                  <a:pt x="1619133" y="749080"/>
                </a:lnTo>
                <a:lnTo>
                  <a:pt x="1604620" y="699290"/>
                </a:lnTo>
                <a:lnTo>
                  <a:pt x="1587561" y="650314"/>
                </a:lnTo>
                <a:lnTo>
                  <a:pt x="1568000" y="602283"/>
                </a:lnTo>
                <a:lnTo>
                  <a:pt x="1545989" y="555324"/>
                </a:lnTo>
                <a:lnTo>
                  <a:pt x="1521586" y="509561"/>
                </a:lnTo>
                <a:lnTo>
                  <a:pt x="1494858" y="465118"/>
                </a:lnTo>
                <a:lnTo>
                  <a:pt x="1465874" y="422111"/>
                </a:lnTo>
                <a:lnTo>
                  <a:pt x="1434712" y="380655"/>
                </a:lnTo>
                <a:lnTo>
                  <a:pt x="1401455" y="340860"/>
                </a:lnTo>
                <a:lnTo>
                  <a:pt x="1366190" y="302833"/>
                </a:lnTo>
                <a:lnTo>
                  <a:pt x="1329013" y="266673"/>
                </a:lnTo>
                <a:lnTo>
                  <a:pt x="1290021" y="232478"/>
                </a:lnTo>
                <a:lnTo>
                  <a:pt x="1249318" y="200339"/>
                </a:lnTo>
                <a:lnTo>
                  <a:pt x="1207013" y="170340"/>
                </a:lnTo>
                <a:lnTo>
                  <a:pt x="1163218" y="142561"/>
                </a:lnTo>
                <a:lnTo>
                  <a:pt x="1118050" y="117077"/>
                </a:lnTo>
                <a:lnTo>
                  <a:pt x="1071627" y="93954"/>
                </a:lnTo>
                <a:lnTo>
                  <a:pt x="1024075" y="73256"/>
                </a:lnTo>
                <a:lnTo>
                  <a:pt x="975519" y="55035"/>
                </a:lnTo>
                <a:lnTo>
                  <a:pt x="926088" y="39342"/>
                </a:lnTo>
                <a:lnTo>
                  <a:pt x="875915" y="26218"/>
                </a:lnTo>
                <a:lnTo>
                  <a:pt x="825131" y="15697"/>
                </a:lnTo>
                <a:lnTo>
                  <a:pt x="773873" y="7807"/>
                </a:lnTo>
                <a:lnTo>
                  <a:pt x="722276" y="2570"/>
                </a:lnTo>
                <a:lnTo>
                  <a:pt x="670478" y="0"/>
                </a:lnTo>
                <a:lnTo>
                  <a:pt x="618616" y="103"/>
                </a:lnTo>
                <a:lnTo>
                  <a:pt x="566828" y="2879"/>
                </a:lnTo>
                <a:lnTo>
                  <a:pt x="515253" y="8320"/>
                </a:lnTo>
                <a:lnTo>
                  <a:pt x="464026" y="16413"/>
                </a:lnTo>
                <a:lnTo>
                  <a:pt x="413284" y="27135"/>
                </a:lnTo>
                <a:lnTo>
                  <a:pt x="363163" y="40459"/>
                </a:lnTo>
                <a:lnTo>
                  <a:pt x="313795" y="56348"/>
                </a:lnTo>
                <a:lnTo>
                  <a:pt x="265312" y="74760"/>
                </a:lnTo>
                <a:lnTo>
                  <a:pt x="217842" y="95648"/>
                </a:lnTo>
                <a:lnTo>
                  <a:pt x="171512" y="118954"/>
                </a:lnTo>
                <a:lnTo>
                  <a:pt x="126445" y="144617"/>
                </a:lnTo>
                <a:lnTo>
                  <a:pt x="82760" y="172569"/>
                </a:lnTo>
                <a:lnTo>
                  <a:pt x="40574" y="202736"/>
                </a:lnTo>
                <a:lnTo>
                  <a:pt x="0" y="235037"/>
                </a:lnTo>
                <a:lnTo>
                  <a:pt x="646541" y="1005555"/>
                </a:lnTo>
                <a:close/>
              </a:path>
            </a:pathLst>
          </a:cu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058400" y="3931920"/>
            <a:ext cx="10058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021824" y="3895344"/>
            <a:ext cx="73152" cy="73152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52688" y="2158999"/>
            <a:ext cx="3011424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Эки түстүү кагаз тегерек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8976" y="5125720"/>
            <a:ext cx="195884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Айлант: бурч чоңоет.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78012" y="5372607"/>
            <a:ext cx="3160776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Жарымы – жайылган, баары – толук.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транспортир жана кереге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Транспортирдин борбору – чокуда, бир жагы – 0дө. 0 турган шкаладан окуйбуз.</a:t>
            </a:r>
          </a:p>
        </p:txBody>
      </p:sp>
      <p:sp>
        <p:nvSpPr>
          <p:cNvPr id="12" name="Freeform 11"/>
          <p:cNvSpPr/>
          <p:nvPr/>
        </p:nvSpPr>
        <p:spPr>
          <a:xfrm>
            <a:off x="1188720" y="3200679"/>
            <a:ext cx="3749040" cy="1874241"/>
          </a:xfrm>
          <a:custGeom>
            <a:avLst/>
            <a:gdLst/>
            <a:ahLst/>
            <a:cxnLst/>
            <a:rect l="l" t="t" r="r" b="b"/>
            <a:pathLst>
              <a:path w="3749040" h="1874241">
                <a:moveTo>
                  <a:pt x="3749040" y="1874241"/>
                </a:moveTo>
                <a:lnTo>
                  <a:pt x="3747923" y="1809540"/>
                </a:lnTo>
                <a:lnTo>
                  <a:pt x="3744574" y="1744916"/>
                </a:lnTo>
                <a:lnTo>
                  <a:pt x="3738995" y="1680446"/>
                </a:lnTo>
                <a:lnTo>
                  <a:pt x="3731195" y="1616207"/>
                </a:lnTo>
                <a:lnTo>
                  <a:pt x="3721183" y="1552275"/>
                </a:lnTo>
                <a:lnTo>
                  <a:pt x="3708969" y="1488727"/>
                </a:lnTo>
                <a:lnTo>
                  <a:pt x="3694570" y="1425639"/>
                </a:lnTo>
                <a:lnTo>
                  <a:pt x="3678001" y="1363085"/>
                </a:lnTo>
                <a:lnTo>
                  <a:pt x="3659284" y="1301141"/>
                </a:lnTo>
                <a:lnTo>
                  <a:pt x="3638439" y="1239879"/>
                </a:lnTo>
                <a:lnTo>
                  <a:pt x="3615492" y="1179373"/>
                </a:lnTo>
                <a:lnTo>
                  <a:pt x="3590471" y="1119696"/>
                </a:lnTo>
                <a:lnTo>
                  <a:pt x="3563404" y="1060917"/>
                </a:lnTo>
                <a:lnTo>
                  <a:pt x="3534325" y="1003108"/>
                </a:lnTo>
                <a:lnTo>
                  <a:pt x="3503268" y="946337"/>
                </a:lnTo>
                <a:lnTo>
                  <a:pt x="3470270" y="890672"/>
                </a:lnTo>
                <a:lnTo>
                  <a:pt x="3435370" y="836179"/>
                </a:lnTo>
                <a:lnTo>
                  <a:pt x="3398610" y="782923"/>
                </a:lnTo>
                <a:lnTo>
                  <a:pt x="3360034" y="730967"/>
                </a:lnTo>
                <a:lnTo>
                  <a:pt x="3319687" y="680375"/>
                </a:lnTo>
                <a:lnTo>
                  <a:pt x="3277618" y="631204"/>
                </a:lnTo>
                <a:lnTo>
                  <a:pt x="3233877" y="583515"/>
                </a:lnTo>
                <a:lnTo>
                  <a:pt x="3188517" y="537365"/>
                </a:lnTo>
                <a:lnTo>
                  <a:pt x="3141590" y="492807"/>
                </a:lnTo>
                <a:lnTo>
                  <a:pt x="3093153" y="449896"/>
                </a:lnTo>
                <a:lnTo>
                  <a:pt x="3043264" y="408682"/>
                </a:lnTo>
                <a:lnTo>
                  <a:pt x="2991982" y="369215"/>
                </a:lnTo>
                <a:lnTo>
                  <a:pt x="2939369" y="331541"/>
                </a:lnTo>
                <a:lnTo>
                  <a:pt x="2885486" y="295706"/>
                </a:lnTo>
                <a:lnTo>
                  <a:pt x="2830399" y="261752"/>
                </a:lnTo>
                <a:lnTo>
                  <a:pt x="2774172" y="229720"/>
                </a:lnTo>
                <a:lnTo>
                  <a:pt x="2716874" y="199647"/>
                </a:lnTo>
                <a:lnTo>
                  <a:pt x="2658571" y="171570"/>
                </a:lnTo>
                <a:lnTo>
                  <a:pt x="2599335" y="145522"/>
                </a:lnTo>
                <a:lnTo>
                  <a:pt x="2539234" y="121534"/>
                </a:lnTo>
                <a:lnTo>
                  <a:pt x="2478341" y="99635"/>
                </a:lnTo>
                <a:lnTo>
                  <a:pt x="2416729" y="79851"/>
                </a:lnTo>
                <a:lnTo>
                  <a:pt x="2354470" y="62205"/>
                </a:lnTo>
                <a:lnTo>
                  <a:pt x="2291640" y="46719"/>
                </a:lnTo>
                <a:lnTo>
                  <a:pt x="2228312" y="33411"/>
                </a:lnTo>
                <a:lnTo>
                  <a:pt x="2164563" y="22296"/>
                </a:lnTo>
                <a:lnTo>
                  <a:pt x="2100468" y="13388"/>
                </a:lnTo>
                <a:lnTo>
                  <a:pt x="2036104" y="6698"/>
                </a:lnTo>
                <a:lnTo>
                  <a:pt x="1971548" y="2234"/>
                </a:lnTo>
                <a:lnTo>
                  <a:pt x="1906875" y="0"/>
                </a:lnTo>
                <a:lnTo>
                  <a:pt x="1842165" y="0"/>
                </a:lnTo>
                <a:lnTo>
                  <a:pt x="1777492" y="2234"/>
                </a:lnTo>
                <a:lnTo>
                  <a:pt x="1712936" y="6698"/>
                </a:lnTo>
                <a:lnTo>
                  <a:pt x="1648572" y="13388"/>
                </a:lnTo>
                <a:lnTo>
                  <a:pt x="1584477" y="22296"/>
                </a:lnTo>
                <a:lnTo>
                  <a:pt x="1520728" y="33411"/>
                </a:lnTo>
                <a:lnTo>
                  <a:pt x="1457400" y="46719"/>
                </a:lnTo>
                <a:lnTo>
                  <a:pt x="1394570" y="62205"/>
                </a:lnTo>
                <a:lnTo>
                  <a:pt x="1332311" y="79851"/>
                </a:lnTo>
                <a:lnTo>
                  <a:pt x="1270699" y="99635"/>
                </a:lnTo>
                <a:lnTo>
                  <a:pt x="1209806" y="121534"/>
                </a:lnTo>
                <a:lnTo>
                  <a:pt x="1149705" y="145522"/>
                </a:lnTo>
                <a:lnTo>
                  <a:pt x="1090469" y="171570"/>
                </a:lnTo>
                <a:lnTo>
                  <a:pt x="1032166" y="199647"/>
                </a:lnTo>
                <a:lnTo>
                  <a:pt x="974868" y="229720"/>
                </a:lnTo>
                <a:lnTo>
                  <a:pt x="918641" y="261752"/>
                </a:lnTo>
                <a:lnTo>
                  <a:pt x="863554" y="295706"/>
                </a:lnTo>
                <a:lnTo>
                  <a:pt x="809671" y="331541"/>
                </a:lnTo>
                <a:lnTo>
                  <a:pt x="757058" y="369215"/>
                </a:lnTo>
                <a:lnTo>
                  <a:pt x="705776" y="408682"/>
                </a:lnTo>
                <a:lnTo>
                  <a:pt x="655887" y="449896"/>
                </a:lnTo>
                <a:lnTo>
                  <a:pt x="607450" y="492807"/>
                </a:lnTo>
                <a:lnTo>
                  <a:pt x="560523" y="537365"/>
                </a:lnTo>
                <a:lnTo>
                  <a:pt x="515163" y="583515"/>
                </a:lnTo>
                <a:lnTo>
                  <a:pt x="471422" y="631204"/>
                </a:lnTo>
                <a:lnTo>
                  <a:pt x="429353" y="680375"/>
                </a:lnTo>
                <a:lnTo>
                  <a:pt x="389006" y="730967"/>
                </a:lnTo>
                <a:lnTo>
                  <a:pt x="350430" y="782923"/>
                </a:lnTo>
                <a:lnTo>
                  <a:pt x="313670" y="836179"/>
                </a:lnTo>
                <a:lnTo>
                  <a:pt x="278770" y="890672"/>
                </a:lnTo>
                <a:lnTo>
                  <a:pt x="245772" y="946337"/>
                </a:lnTo>
                <a:lnTo>
                  <a:pt x="214715" y="1003108"/>
                </a:lnTo>
                <a:lnTo>
                  <a:pt x="185636" y="1060917"/>
                </a:lnTo>
                <a:lnTo>
                  <a:pt x="158569" y="1119696"/>
                </a:lnTo>
                <a:lnTo>
                  <a:pt x="133548" y="1179373"/>
                </a:lnTo>
                <a:lnTo>
                  <a:pt x="110601" y="1239879"/>
                </a:lnTo>
                <a:lnTo>
                  <a:pt x="89756" y="1301141"/>
                </a:lnTo>
                <a:lnTo>
                  <a:pt x="71039" y="1363085"/>
                </a:lnTo>
                <a:lnTo>
                  <a:pt x="54470" y="1425639"/>
                </a:lnTo>
                <a:lnTo>
                  <a:pt x="40071" y="1488727"/>
                </a:lnTo>
                <a:lnTo>
                  <a:pt x="27857" y="1552275"/>
                </a:lnTo>
                <a:lnTo>
                  <a:pt x="17845" y="1616207"/>
                </a:lnTo>
                <a:lnTo>
                  <a:pt x="10045" y="1680446"/>
                </a:lnTo>
                <a:lnTo>
                  <a:pt x="4466" y="1744916"/>
                </a:lnTo>
                <a:lnTo>
                  <a:pt x="1117" y="1809540"/>
                </a:lnTo>
                <a:lnTo>
                  <a:pt x="0" y="187424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125980" y="4137971"/>
            <a:ext cx="1874520" cy="936949"/>
          </a:xfrm>
          <a:custGeom>
            <a:avLst/>
            <a:gdLst/>
            <a:ahLst/>
            <a:cxnLst/>
            <a:rect l="l" t="t" r="r" b="b"/>
            <a:pathLst>
              <a:path w="1874520" h="936949">
                <a:moveTo>
                  <a:pt x="1874520" y="936949"/>
                </a:moveTo>
                <a:lnTo>
                  <a:pt x="1873277" y="888700"/>
                </a:lnTo>
                <a:lnTo>
                  <a:pt x="1869552" y="840579"/>
                </a:lnTo>
                <a:lnTo>
                  <a:pt x="1863355" y="792714"/>
                </a:lnTo>
                <a:lnTo>
                  <a:pt x="1854702" y="745231"/>
                </a:lnTo>
                <a:lnTo>
                  <a:pt x="1843616" y="698256"/>
                </a:lnTo>
                <a:lnTo>
                  <a:pt x="1830127" y="651914"/>
                </a:lnTo>
                <a:lnTo>
                  <a:pt x="1814270" y="606329"/>
                </a:lnTo>
                <a:lnTo>
                  <a:pt x="1796087" y="561620"/>
                </a:lnTo>
                <a:lnTo>
                  <a:pt x="1775627" y="517906"/>
                </a:lnTo>
                <a:lnTo>
                  <a:pt x="1752944" y="475303"/>
                </a:lnTo>
                <a:lnTo>
                  <a:pt x="1728097" y="433925"/>
                </a:lnTo>
                <a:lnTo>
                  <a:pt x="1701153" y="393881"/>
                </a:lnTo>
                <a:lnTo>
                  <a:pt x="1672184" y="355277"/>
                </a:lnTo>
                <a:lnTo>
                  <a:pt x="1641266" y="318215"/>
                </a:lnTo>
                <a:lnTo>
                  <a:pt x="1608481" y="282794"/>
                </a:lnTo>
                <a:lnTo>
                  <a:pt x="1573916" y="249108"/>
                </a:lnTo>
                <a:lnTo>
                  <a:pt x="1537662" y="217245"/>
                </a:lnTo>
                <a:lnTo>
                  <a:pt x="1499817" y="187292"/>
                </a:lnTo>
                <a:lnTo>
                  <a:pt x="1460480" y="159326"/>
                </a:lnTo>
                <a:lnTo>
                  <a:pt x="1419755" y="133422"/>
                </a:lnTo>
                <a:lnTo>
                  <a:pt x="1377750" y="109649"/>
                </a:lnTo>
                <a:lnTo>
                  <a:pt x="1334578" y="88070"/>
                </a:lnTo>
                <a:lnTo>
                  <a:pt x="1290352" y="68743"/>
                </a:lnTo>
                <a:lnTo>
                  <a:pt x="1245190" y="51717"/>
                </a:lnTo>
                <a:lnTo>
                  <a:pt x="1199211" y="37039"/>
                </a:lnTo>
                <a:lnTo>
                  <a:pt x="1152537" y="24747"/>
                </a:lnTo>
                <a:lnTo>
                  <a:pt x="1105293" y="14875"/>
                </a:lnTo>
                <a:lnTo>
                  <a:pt x="1057603" y="7447"/>
                </a:lnTo>
                <a:lnTo>
                  <a:pt x="1009593" y="2484"/>
                </a:lnTo>
                <a:lnTo>
                  <a:pt x="961392" y="0"/>
                </a:lnTo>
                <a:lnTo>
                  <a:pt x="913128" y="0"/>
                </a:lnTo>
                <a:lnTo>
                  <a:pt x="864927" y="2484"/>
                </a:lnTo>
                <a:lnTo>
                  <a:pt x="816917" y="7447"/>
                </a:lnTo>
                <a:lnTo>
                  <a:pt x="769227" y="14875"/>
                </a:lnTo>
                <a:lnTo>
                  <a:pt x="721983" y="24747"/>
                </a:lnTo>
                <a:lnTo>
                  <a:pt x="675309" y="37039"/>
                </a:lnTo>
                <a:lnTo>
                  <a:pt x="629330" y="51717"/>
                </a:lnTo>
                <a:lnTo>
                  <a:pt x="584168" y="68743"/>
                </a:lnTo>
                <a:lnTo>
                  <a:pt x="539942" y="88070"/>
                </a:lnTo>
                <a:lnTo>
                  <a:pt x="496770" y="109649"/>
                </a:lnTo>
                <a:lnTo>
                  <a:pt x="454765" y="133422"/>
                </a:lnTo>
                <a:lnTo>
                  <a:pt x="414040" y="159326"/>
                </a:lnTo>
                <a:lnTo>
                  <a:pt x="374703" y="187292"/>
                </a:lnTo>
                <a:lnTo>
                  <a:pt x="336858" y="217245"/>
                </a:lnTo>
                <a:lnTo>
                  <a:pt x="300604" y="249108"/>
                </a:lnTo>
                <a:lnTo>
                  <a:pt x="266039" y="282794"/>
                </a:lnTo>
                <a:lnTo>
                  <a:pt x="233254" y="318215"/>
                </a:lnTo>
                <a:lnTo>
                  <a:pt x="202336" y="355277"/>
                </a:lnTo>
                <a:lnTo>
                  <a:pt x="173367" y="393881"/>
                </a:lnTo>
                <a:lnTo>
                  <a:pt x="146423" y="433925"/>
                </a:lnTo>
                <a:lnTo>
                  <a:pt x="121576" y="475303"/>
                </a:lnTo>
                <a:lnTo>
                  <a:pt x="98893" y="517906"/>
                </a:lnTo>
                <a:lnTo>
                  <a:pt x="78433" y="561620"/>
                </a:lnTo>
                <a:lnTo>
                  <a:pt x="60250" y="606329"/>
                </a:lnTo>
                <a:lnTo>
                  <a:pt x="44393" y="651914"/>
                </a:lnTo>
                <a:lnTo>
                  <a:pt x="30904" y="698256"/>
                </a:lnTo>
                <a:lnTo>
                  <a:pt x="19818" y="745231"/>
                </a:lnTo>
                <a:lnTo>
                  <a:pt x="11165" y="792714"/>
                </a:lnTo>
                <a:lnTo>
                  <a:pt x="4968" y="840579"/>
                </a:lnTo>
                <a:lnTo>
                  <a:pt x="1243" y="888700"/>
                </a:lnTo>
                <a:lnTo>
                  <a:pt x="0" y="936949"/>
                </a:lnTo>
              </a:path>
            </a:pathLst>
          </a:custGeom>
          <a:noFill/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4750308" y="5074920"/>
            <a:ext cx="187452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37257" y="4911544"/>
            <a:ext cx="93369" cy="81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724677" y="4749413"/>
            <a:ext cx="184604" cy="3255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783354" y="4589758"/>
            <a:ext cx="90533" cy="24258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648565" y="4433796"/>
            <a:ext cx="176147" cy="6411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677187" y="4282713"/>
            <a:ext cx="84945" cy="39610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524283" y="4137660"/>
            <a:ext cx="162338" cy="9372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521981" y="3999739"/>
            <a:ext cx="76775" cy="5375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355609" y="3870001"/>
            <a:ext cx="143596" cy="12049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322451" y="3749434"/>
            <a:ext cx="66274" cy="66274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147666" y="3638954"/>
            <a:ext cx="120492" cy="14359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4084661" y="3539403"/>
            <a:ext cx="53759" cy="7677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06774" y="3451538"/>
            <a:ext cx="93726" cy="1623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815836" y="3376027"/>
            <a:ext cx="39610" cy="8494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640251" y="3313447"/>
            <a:ext cx="64112" cy="176147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524143" y="3264272"/>
            <a:ext cx="24258" cy="90533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356196" y="3228878"/>
            <a:ext cx="32550" cy="184604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218446" y="3207533"/>
            <a:ext cx="8169" cy="933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63240" y="3200400"/>
            <a:ext cx="0" cy="18745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899864" y="3207533"/>
            <a:ext cx="8169" cy="933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37733" y="3228878"/>
            <a:ext cx="32550" cy="184604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578078" y="3264272"/>
            <a:ext cx="24258" cy="90533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22116" y="3313447"/>
            <a:ext cx="64112" cy="176147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71033" y="3376027"/>
            <a:ext cx="39610" cy="8494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25980" y="3451538"/>
            <a:ext cx="93726" cy="1623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88059" y="3539403"/>
            <a:ext cx="53759" cy="7677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858321" y="3638954"/>
            <a:ext cx="120492" cy="14359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37754" y="3749434"/>
            <a:ext cx="66274" cy="66274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27274" y="3870001"/>
            <a:ext cx="143596" cy="12049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27723" y="3999739"/>
            <a:ext cx="76775" cy="5375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39858" y="4137660"/>
            <a:ext cx="162338" cy="9372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64347" y="4282713"/>
            <a:ext cx="84945" cy="39610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1767" y="4433796"/>
            <a:ext cx="176147" cy="6411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52592" y="4589758"/>
            <a:ext cx="90533" cy="24258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17198" y="4749413"/>
            <a:ext cx="184604" cy="3255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95853" y="4911544"/>
            <a:ext cx="93369" cy="81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88720" y="5074920"/>
            <a:ext cx="187452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90644" y="4858385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97654" y="4875149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67861" y="4702754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79856" y="4776482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00206" y="4450261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7000" y="4579221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9733" y="4213352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40693" y="4394136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39800" y="3999225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23558" y="4226850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54962" y="3814387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9153" y="4082445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0836" y="3664454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11867" y="3965310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3926" y="3553981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6782" y="3879003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1433" y="3486326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29521" y="3826147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26080" y="346354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3808348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90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65674" y="3486326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05188" y="3826147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13181" y="3553981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07927" y="3879003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76272" y="366445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22842" y="3965310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2145" y="3814387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55556" y="4082445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77307" y="3999225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11151" y="4226850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27374" y="4213352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94016" y="4394136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16901" y="4450261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07709" y="4579221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160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9246" y="470275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54854" y="4776482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170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26464" y="4858385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37055" y="4875149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180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88720" y="5074920"/>
            <a:ext cx="374904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063240" y="496519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3035808" y="5047488"/>
            <a:ext cx="54864" cy="54864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063240" y="5074920"/>
            <a:ext cx="2286000" cy="0"/>
          </a:xfrm>
          <a:prstGeom prst="line">
            <a:avLst/>
          </a:prstGeom>
          <a:ln w="34925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63240" y="3323742"/>
            <a:ext cx="1469412" cy="1751178"/>
          </a:xfrm>
          <a:prstGeom prst="line">
            <a:avLst/>
          </a:prstGeom>
          <a:ln w="34925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3606001" y="4021993"/>
            <a:ext cx="420624" cy="310896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789430" y="3761555"/>
            <a:ext cx="475488" cy="329184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070223" y="4832985"/>
            <a:ext cx="329184" cy="2743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19" y="2032000"/>
            <a:ext cx="3657600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Ички шкала: 0дөн 50гө  ✓ 50°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19" y="2379472"/>
            <a:ext cx="3657600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Сырткы шкала: 130  ✗ (М2)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145086" y="3209926"/>
            <a:ext cx="2900547" cy="13525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145086" y="3209926"/>
            <a:ext cx="2900547" cy="13525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8926851" y="3731623"/>
            <a:ext cx="34149" cy="309154"/>
          </a:xfrm>
          <a:custGeom>
            <a:avLst/>
            <a:gdLst/>
            <a:ahLst/>
            <a:cxnLst/>
            <a:rect l="l" t="t" r="r" b="b"/>
            <a:pathLst>
              <a:path w="34149" h="309154">
                <a:moveTo>
                  <a:pt x="0" y="309154"/>
                </a:moveTo>
                <a:lnTo>
                  <a:pt x="7495" y="291941"/>
                </a:lnTo>
                <a:lnTo>
                  <a:pt x="14097" y="274367"/>
                </a:lnTo>
                <a:lnTo>
                  <a:pt x="19788" y="256477"/>
                </a:lnTo>
                <a:lnTo>
                  <a:pt x="24554" y="238318"/>
                </a:lnTo>
                <a:lnTo>
                  <a:pt x="28382" y="219939"/>
                </a:lnTo>
                <a:lnTo>
                  <a:pt x="31261" y="201387"/>
                </a:lnTo>
                <a:lnTo>
                  <a:pt x="33185" y="182713"/>
                </a:lnTo>
                <a:lnTo>
                  <a:pt x="34149" y="163964"/>
                </a:lnTo>
                <a:lnTo>
                  <a:pt x="34149" y="145190"/>
                </a:lnTo>
                <a:lnTo>
                  <a:pt x="33185" y="126441"/>
                </a:lnTo>
                <a:lnTo>
                  <a:pt x="31261" y="107767"/>
                </a:lnTo>
                <a:lnTo>
                  <a:pt x="28382" y="89215"/>
                </a:lnTo>
                <a:lnTo>
                  <a:pt x="24554" y="70836"/>
                </a:lnTo>
                <a:lnTo>
                  <a:pt x="19788" y="52677"/>
                </a:lnTo>
                <a:lnTo>
                  <a:pt x="14097" y="34787"/>
                </a:lnTo>
                <a:lnTo>
                  <a:pt x="7495" y="17213"/>
                </a:lnTo>
                <a:lnTo>
                  <a:pt x="0" y="0"/>
                </a:lnTo>
              </a:path>
            </a:pathLst>
          </a:custGeom>
          <a:noFill/>
          <a:ln w="1778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31808" y="3723639"/>
            <a:ext cx="451104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50°</a:t>
            </a:r>
          </a:p>
        </p:txBody>
      </p:sp>
      <p:sp>
        <p:nvSpPr>
          <p:cNvPr id="103" name="Freeform 102"/>
          <p:cNvSpPr/>
          <p:nvPr/>
        </p:nvSpPr>
        <p:spPr>
          <a:xfrm>
            <a:off x="8214145" y="3465576"/>
            <a:ext cx="762430" cy="242861"/>
          </a:xfrm>
          <a:custGeom>
            <a:avLst/>
            <a:gdLst/>
            <a:ahLst/>
            <a:cxnLst/>
            <a:rect l="l" t="t" r="r" b="b"/>
            <a:pathLst>
              <a:path w="762430" h="242861">
                <a:moveTo>
                  <a:pt x="762430" y="242861"/>
                </a:moveTo>
                <a:lnTo>
                  <a:pt x="752760" y="223448"/>
                </a:lnTo>
                <a:lnTo>
                  <a:pt x="742103" y="204559"/>
                </a:lnTo>
                <a:lnTo>
                  <a:pt x="730487" y="186245"/>
                </a:lnTo>
                <a:lnTo>
                  <a:pt x="717942" y="168553"/>
                </a:lnTo>
                <a:lnTo>
                  <a:pt x="704502" y="151532"/>
                </a:lnTo>
                <a:lnTo>
                  <a:pt x="690202" y="135227"/>
                </a:lnTo>
                <a:lnTo>
                  <a:pt x="675081" y="119680"/>
                </a:lnTo>
                <a:lnTo>
                  <a:pt x="659178" y="104933"/>
                </a:lnTo>
                <a:lnTo>
                  <a:pt x="642537" y="91025"/>
                </a:lnTo>
                <a:lnTo>
                  <a:pt x="625201" y="77994"/>
                </a:lnTo>
                <a:lnTo>
                  <a:pt x="607216" y="65873"/>
                </a:lnTo>
                <a:lnTo>
                  <a:pt x="588631" y="54696"/>
                </a:lnTo>
                <a:lnTo>
                  <a:pt x="569494" y="44491"/>
                </a:lnTo>
                <a:lnTo>
                  <a:pt x="549856" y="35287"/>
                </a:lnTo>
                <a:lnTo>
                  <a:pt x="529770" y="27107"/>
                </a:lnTo>
                <a:lnTo>
                  <a:pt x="509289" y="19973"/>
                </a:lnTo>
                <a:lnTo>
                  <a:pt x="488468" y="13904"/>
                </a:lnTo>
                <a:lnTo>
                  <a:pt x="467362" y="8916"/>
                </a:lnTo>
                <a:lnTo>
                  <a:pt x="446026" y="5023"/>
                </a:lnTo>
                <a:lnTo>
                  <a:pt x="424518" y="2235"/>
                </a:lnTo>
                <a:lnTo>
                  <a:pt x="402896" y="559"/>
                </a:lnTo>
                <a:lnTo>
                  <a:pt x="381215" y="0"/>
                </a:lnTo>
                <a:lnTo>
                  <a:pt x="359534" y="559"/>
                </a:lnTo>
                <a:lnTo>
                  <a:pt x="337912" y="2235"/>
                </a:lnTo>
                <a:lnTo>
                  <a:pt x="316404" y="5023"/>
                </a:lnTo>
                <a:lnTo>
                  <a:pt x="295068" y="8916"/>
                </a:lnTo>
                <a:lnTo>
                  <a:pt x="273962" y="13904"/>
                </a:lnTo>
                <a:lnTo>
                  <a:pt x="253141" y="19973"/>
                </a:lnTo>
                <a:lnTo>
                  <a:pt x="232660" y="27107"/>
                </a:lnTo>
                <a:lnTo>
                  <a:pt x="212574" y="35287"/>
                </a:lnTo>
                <a:lnTo>
                  <a:pt x="192936" y="44491"/>
                </a:lnTo>
                <a:lnTo>
                  <a:pt x="173799" y="54696"/>
                </a:lnTo>
                <a:lnTo>
                  <a:pt x="155214" y="65873"/>
                </a:lnTo>
                <a:lnTo>
                  <a:pt x="137229" y="77994"/>
                </a:lnTo>
                <a:lnTo>
                  <a:pt x="119893" y="91025"/>
                </a:lnTo>
                <a:lnTo>
                  <a:pt x="103252" y="104933"/>
                </a:lnTo>
                <a:lnTo>
                  <a:pt x="87349" y="119680"/>
                </a:lnTo>
                <a:lnTo>
                  <a:pt x="72228" y="135227"/>
                </a:lnTo>
                <a:lnTo>
                  <a:pt x="57928" y="151532"/>
                </a:lnTo>
                <a:lnTo>
                  <a:pt x="44488" y="168553"/>
                </a:lnTo>
                <a:lnTo>
                  <a:pt x="31943" y="186245"/>
                </a:lnTo>
                <a:lnTo>
                  <a:pt x="20327" y="204559"/>
                </a:lnTo>
                <a:lnTo>
                  <a:pt x="9670" y="223448"/>
                </a:lnTo>
                <a:lnTo>
                  <a:pt x="0" y="242861"/>
                </a:lnTo>
              </a:path>
            </a:pathLst>
          </a:custGeom>
          <a:noFill/>
          <a:ln w="1778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12912" y="2961640"/>
            <a:ext cx="564896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130°</a:t>
            </a:r>
          </a:p>
        </p:txBody>
      </p:sp>
      <p:sp>
        <p:nvSpPr>
          <p:cNvPr id="105" name="Freeform 104"/>
          <p:cNvSpPr/>
          <p:nvPr/>
        </p:nvSpPr>
        <p:spPr>
          <a:xfrm>
            <a:off x="8229720" y="3731623"/>
            <a:ext cx="34149" cy="309154"/>
          </a:xfrm>
          <a:custGeom>
            <a:avLst/>
            <a:gdLst/>
            <a:ahLst/>
            <a:cxnLst/>
            <a:rect l="l" t="t" r="r" b="b"/>
            <a:pathLst>
              <a:path w="34149" h="309154">
                <a:moveTo>
                  <a:pt x="34149" y="0"/>
                </a:moveTo>
                <a:lnTo>
                  <a:pt x="26654" y="17213"/>
                </a:lnTo>
                <a:lnTo>
                  <a:pt x="20052" y="34787"/>
                </a:lnTo>
                <a:lnTo>
                  <a:pt x="14361" y="52677"/>
                </a:lnTo>
                <a:lnTo>
                  <a:pt x="9595" y="70836"/>
                </a:lnTo>
                <a:lnTo>
                  <a:pt x="5767" y="89215"/>
                </a:lnTo>
                <a:lnTo>
                  <a:pt x="2888" y="107767"/>
                </a:lnTo>
                <a:lnTo>
                  <a:pt x="964" y="126441"/>
                </a:lnTo>
                <a:lnTo>
                  <a:pt x="0" y="145190"/>
                </a:lnTo>
                <a:lnTo>
                  <a:pt x="0" y="163964"/>
                </a:lnTo>
                <a:lnTo>
                  <a:pt x="964" y="182713"/>
                </a:lnTo>
                <a:lnTo>
                  <a:pt x="2888" y="201387"/>
                </a:lnTo>
                <a:lnTo>
                  <a:pt x="5767" y="219939"/>
                </a:lnTo>
                <a:lnTo>
                  <a:pt x="9595" y="238318"/>
                </a:lnTo>
                <a:lnTo>
                  <a:pt x="14361" y="256477"/>
                </a:lnTo>
                <a:lnTo>
                  <a:pt x="20052" y="274367"/>
                </a:lnTo>
                <a:lnTo>
                  <a:pt x="26654" y="291941"/>
                </a:lnTo>
                <a:lnTo>
                  <a:pt x="34149" y="309154"/>
                </a:lnTo>
              </a:path>
            </a:pathLst>
          </a:custGeom>
          <a:noFill/>
          <a:ln w="1778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607808" y="3723639"/>
            <a:ext cx="451104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50°</a:t>
            </a:r>
          </a:p>
        </p:txBody>
      </p:sp>
      <p:sp>
        <p:nvSpPr>
          <p:cNvPr id="107" name="Freeform 106"/>
          <p:cNvSpPr/>
          <p:nvPr/>
        </p:nvSpPr>
        <p:spPr>
          <a:xfrm>
            <a:off x="8214145" y="4063963"/>
            <a:ext cx="762430" cy="242861"/>
          </a:xfrm>
          <a:custGeom>
            <a:avLst/>
            <a:gdLst/>
            <a:ahLst/>
            <a:cxnLst/>
            <a:rect l="l" t="t" r="r" b="b"/>
            <a:pathLst>
              <a:path w="762430" h="242861">
                <a:moveTo>
                  <a:pt x="0" y="0"/>
                </a:moveTo>
                <a:lnTo>
                  <a:pt x="9670" y="19413"/>
                </a:lnTo>
                <a:lnTo>
                  <a:pt x="20327" y="38302"/>
                </a:lnTo>
                <a:lnTo>
                  <a:pt x="31943" y="56616"/>
                </a:lnTo>
                <a:lnTo>
                  <a:pt x="44488" y="74308"/>
                </a:lnTo>
                <a:lnTo>
                  <a:pt x="57928" y="91329"/>
                </a:lnTo>
                <a:lnTo>
                  <a:pt x="72228" y="107634"/>
                </a:lnTo>
                <a:lnTo>
                  <a:pt x="87349" y="123181"/>
                </a:lnTo>
                <a:lnTo>
                  <a:pt x="103252" y="137928"/>
                </a:lnTo>
                <a:lnTo>
                  <a:pt x="119893" y="151836"/>
                </a:lnTo>
                <a:lnTo>
                  <a:pt x="137229" y="164867"/>
                </a:lnTo>
                <a:lnTo>
                  <a:pt x="155214" y="176988"/>
                </a:lnTo>
                <a:lnTo>
                  <a:pt x="173799" y="188165"/>
                </a:lnTo>
                <a:lnTo>
                  <a:pt x="192936" y="198370"/>
                </a:lnTo>
                <a:lnTo>
                  <a:pt x="212574" y="207574"/>
                </a:lnTo>
                <a:lnTo>
                  <a:pt x="232660" y="215754"/>
                </a:lnTo>
                <a:lnTo>
                  <a:pt x="253141" y="222888"/>
                </a:lnTo>
                <a:lnTo>
                  <a:pt x="273962" y="228957"/>
                </a:lnTo>
                <a:lnTo>
                  <a:pt x="295068" y="233945"/>
                </a:lnTo>
                <a:lnTo>
                  <a:pt x="316404" y="237838"/>
                </a:lnTo>
                <a:lnTo>
                  <a:pt x="337912" y="240626"/>
                </a:lnTo>
                <a:lnTo>
                  <a:pt x="359534" y="242302"/>
                </a:lnTo>
                <a:lnTo>
                  <a:pt x="381215" y="242861"/>
                </a:lnTo>
                <a:lnTo>
                  <a:pt x="402896" y="242302"/>
                </a:lnTo>
                <a:lnTo>
                  <a:pt x="424518" y="240626"/>
                </a:lnTo>
                <a:lnTo>
                  <a:pt x="446026" y="237838"/>
                </a:lnTo>
                <a:lnTo>
                  <a:pt x="467362" y="233945"/>
                </a:lnTo>
                <a:lnTo>
                  <a:pt x="488468" y="228957"/>
                </a:lnTo>
                <a:lnTo>
                  <a:pt x="509289" y="222888"/>
                </a:lnTo>
                <a:lnTo>
                  <a:pt x="529770" y="215754"/>
                </a:lnTo>
                <a:lnTo>
                  <a:pt x="549856" y="207574"/>
                </a:lnTo>
                <a:lnTo>
                  <a:pt x="569494" y="198370"/>
                </a:lnTo>
                <a:lnTo>
                  <a:pt x="588631" y="188165"/>
                </a:lnTo>
                <a:lnTo>
                  <a:pt x="607216" y="176988"/>
                </a:lnTo>
                <a:lnTo>
                  <a:pt x="625201" y="164867"/>
                </a:lnTo>
                <a:lnTo>
                  <a:pt x="642537" y="151836"/>
                </a:lnTo>
                <a:lnTo>
                  <a:pt x="659178" y="137928"/>
                </a:lnTo>
                <a:lnTo>
                  <a:pt x="675081" y="123181"/>
                </a:lnTo>
                <a:lnTo>
                  <a:pt x="690202" y="107634"/>
                </a:lnTo>
                <a:lnTo>
                  <a:pt x="704502" y="91329"/>
                </a:lnTo>
                <a:lnTo>
                  <a:pt x="717942" y="74308"/>
                </a:lnTo>
                <a:lnTo>
                  <a:pt x="730487" y="56616"/>
                </a:lnTo>
                <a:lnTo>
                  <a:pt x="742103" y="38302"/>
                </a:lnTo>
                <a:lnTo>
                  <a:pt x="752760" y="19413"/>
                </a:lnTo>
                <a:lnTo>
                  <a:pt x="762430" y="0"/>
                </a:lnTo>
              </a:path>
            </a:pathLst>
          </a:custGeom>
          <a:noFill/>
          <a:ln w="1778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12912" y="4485639"/>
            <a:ext cx="564896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130°</a:t>
            </a:r>
          </a:p>
        </p:txBody>
      </p:sp>
      <p:sp>
        <p:nvSpPr>
          <p:cNvPr id="109" name="Oval 108"/>
          <p:cNvSpPr/>
          <p:nvPr/>
        </p:nvSpPr>
        <p:spPr>
          <a:xfrm>
            <a:off x="8558784" y="3849624"/>
            <a:ext cx="73152" cy="73152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75524" y="2021839"/>
            <a:ext cx="1439672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Керегенин 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00216" y="5105400"/>
            <a:ext cx="459028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4A5A70"/>
                </a:solidFill>
                <a:latin typeface="PT Sans"/>
              </a:rPr>
              <a:t>Карама-каршы бурчтар барабар (вертикалдык)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50° + 130° = 180°  (түз сызык)        50° + 130° + 50° + 130° = 360°  (толук бурч)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180°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Түз сызыкта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= 180°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360°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Чекиттин айланасы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+ c = 360°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=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Вертикалдык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Карама-каршы бурчтар барабар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90°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Тик бурчтун ичи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= 90°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тар &lt; 90° = тик &lt; кең &lt; 180° = жайылган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 үч бурч: 35°, 90° жана x. x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180° − 35° − 90°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145° − 90°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адегенде 35°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55°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тар бурч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55°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Эки түз сызык кесилишет. Бир бурчу 72°. Калган үч бурчту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Вертикалдык: 72°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барабар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Жанаша: 180° − 72° = 108°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түз сызык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Текшерүү: 72 + 108 + 72 + 108 = 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толук бурч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Бурчтар = </a:t>
            </a:r>
            <a:r>
              <a:rPr sz="3400" b="1">
                <a:solidFill>
                  <a:srgbClr val="24418C"/>
                </a:solidFill>
                <a:latin typeface="PT Sans"/>
              </a:rPr>
              <a:t>108°, 72°, 108°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180гө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65 → 70 → 100 → 180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+ 30 + 80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Ондукка чейин, анан 100гө, анан 180ге.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90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127°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90°тан чоңбу? Ооба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180°тан кичинеби? Ооба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кең бурч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бурчту адегенде тик бурч менен салыштырам.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Болжолдо, анан оку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Бурч тар көрүнөт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Шкалада: 50 же 130?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Тар &lt; 90°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50°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Өлчөөдөн мурун: тарбы, кеңби? Анан шкаланы тандайм.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Болжолдо (тарбы, кеңби?) → өлчө же эсепте → факты менен текшер (90°, 180°, 360°).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түз сызык кесилишет. Бир бурчу 65°. Ага жанаша бурч (бир түз сызыкта) канча градус?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65°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115°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295°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Керегенин таякчасы жер менен 65° бурч түзөт. Жер – түз сызык. Таякчанын экинчи жагындагы бурч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Түндүктүн борборунда үч бурч: 150°, 120° жана x. x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 жанаша эки бурч. Бири экинчисинен 30° чоң. Ар бири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Керегенин таякчасы жер менен 65° бурч түзөт. Жер – түз сызык. Таякчанын экинчи жагындагы бурч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84641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65°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3340" y="3017520"/>
            <a:ext cx="149749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180° − 65° = 115°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Түндүктүн борборунда үч бурч: 150°, 120° жана x. x канча?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623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120°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7534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360°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360° − 270° = 90°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Түз сызыкта жанаша эки бурч. Бири экинчисинен 30° чоң. Ар бири канча?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кичи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48902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кичи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25532" y="3017520"/>
            <a:ext cx="39065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(180° − 30°) ÷ 2 = 75°;  105°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сызыкта: 128° жана 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бурчта: 37° жана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Айланада: 95°, 145° жана 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Вертикалдык бурчу 64°. Ага жанаша бурч?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Ички шкала: 0 жана 105. Бурч канча, түрү?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сызыкта 2 бурч: бири экинчисинен 20° чоң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сызыкта: 128° жана 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52°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бурчта: 37° жана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53°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Айланада: 95°, 145° жана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120°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Вертикалдык бурчу 64°. Ага жанаша бурч?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116°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Ички шкала: 0 жана 105. Бурч канча, түрү?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105°, кең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 2 бурч: бири экинчисинен 20° чоң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80° жана 100°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Керегенин эки таякчасы кесилишип, төрт бурч түздү. Бир бурчу 50°. Калган үч бурчу канча градус?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51459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50°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999" y="2240280"/>
            <a:ext cx="653795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180° − 50° = 130°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жанаша бурч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50° = 50°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вертикалдык бурч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50° + 130° + 50° + 130° = 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Бурчтар: 50°, 130°, 50°, 130°. Баары чогуу 360°.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Боз үй жөнүндө бурч маселесин түз: түз сызыкта же чекиттин айланасында белгисиз бурч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Бекзат, Асан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125° бурчтун түрү кандай?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Бир жагы ички шкаланын 0үндө, экинчиси ички шкалада 75, сырткыда 105 тушунда. Бурч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Чекиттин айланасында: 110°, 150° жана x. x =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транспортирде эки шкала бар? Кайсынысын кантип тандайсың?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вертикалдык бурчтар барабар? 180° менен түшүндүр.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Жактары узун бурч чоңбу?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саман жана төөнөгүч: бурчту ачып-жаап, жактарын кыскартып көрүшөт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өлчөөдөн мурун: «тарбы, кеңби?» деп болжолдотом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«Борбору – чокуга, сызыгы – жакка, 0дөн баштайм» деп үн чыгарып айттырам (М3).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Түз сызык = 180°, айлана = 360°: кагаз тегеректи бүктөп көрсөтөм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