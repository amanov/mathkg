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11" cy="6858000" type="screen4x3"/>
  <p:notesSz cx="6858000" cy="9144000"/>
  <p:embeddedFontLst>
    <p:embeddedFont>
      <p:font typeface="PT Sans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— «Ондук бөлчөктөрдү кошуу (1 орундук)» темасынын негизги түшүндүрүү презентациясы (MathKG барагы /koshuu-1-digit/, «Сабакка киришүү» бөлүмү). Болжол менен 35–40 мүнөт. Сабактын максаты: окуучулар үтүрдөн кийин бир орундуу ондук бөлчөктөрдү мамычалап кошушат (үтүр үтүрдүн астында), «10 ондон бир = 1 бүтүн» алмашуусун түшүнүшөт жана тилке модели менен маселеде амалды тандашат. Керектүү нерселер: мини-такталар, маркерлер. Жооптор чыкылдатуу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Максаттарды окуп бериңиз. Түстөрдү түшүндүрүңүз: жашыл — биринчи бөлүк же негизги ой, кызгылт сары — экинчи бөлүк же «көңүл бур», көк — бүтүн жана жооп. Үзүк сызыктуу кутуча жана «?» — биз издеген белгисиз сан. Түс жалгыз белги эмес: ар бир бөлүктө сан же «?» жазылат.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Кайталоо (3–4 мүнөт). Окуучулар мини-тактага жазып, бир убакта көтөрүшөт. Ар бир чыкылдатуу бир жоопту ачат. 37 + 25 = 62 — ушул эле сандар бүгүн үтүр менен келет: 3,7 + 2,5. 0,5 + 0,5 = 1: он ондон бир — бир бүтүн. 1,2 + 2: бүтүнгө бүтүндү кошобуз — 3,2 (көп окуучу 1,4 деп жазат).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Илгич суроо. Маселени үн чыгарып окуңуз. Окуучулар 30 секунд ойлонуп, бармагы менен добуш беришет. Азыр туура жоопту айтпаңыз. Айбектин катасы — 12 ондон бирди «12» деп үтүрдөн кийин жазуу. Бирок 12 ондон бир = 1 бүтүн жана 2 ондон бир. Баалоо: 4 + 2,5 ≈ 6,5, ошондуктан 5,12 туура эмес. Туура жооп кийинки слайддарда.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Конкреттүү: 1,6 — 1 бүтүн (тилке) жана 6 ондон бир (тегерек); 0,7 — 7 ондон бир. Ондон бирлер 13 болду: 10 ондон бирди 1 бүтүнгө алмаштырабыз. Бүтүндөр: 1 + 1 = 2. Графикалык: тилкеде эки бөлүк, бүтүн — 2,3. Абстракттуу: 1,6 + 0,7 = 2,3.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Таблица үтүрдүн ролун көрсөтөт: ал бүтүн менен ондон бирлерди бөлөт. Б — бирдиктер (бүтүн), 0,1 — ондон бирлер. Окуучулардан сураңыз: «12 ондон бир канча бүтүн жана канча ондон бир?»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Бүтүн сандарды кошкондой эле кошобуз, үтүрдү гана үтүрдүн астына түшүрөбүз. Эсте калган 1 кызгылт сары. Илгич суроонун жообу: Нурай туура, 6,2.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 — чогуу чыгарабыз: окуучулар ар бир кадамды айтып турат, сиз ачасыз. Оң жак — окуучулар өз алдынча мини-тактада чыгарып, бир убакта көтөрүшөт; андан кийин гана моделди жана жоопту ачыңыз. Эки мисалда тең эки жолу «эсте» болот: ондон бирлерден бүтүнгө жана бирдиктерден ондуктарга. Разряддары аз санды (5,8) туура жазууну көзөмөлдөңүз: 5 бирдиктердин астына, ондуктардын астына эмес.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Жооп 11 — бүтүн сан: 2 + 8 = 10 ондон бир = 1 бүтүн, үтүрдөн кийин 0 калат. «11,0» деп жазса да туура, бирок 11 деп жазабыз. Баалоо: 3 + 3,5 + 5 ≈ 11,5.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 — чогуу чыгарабыз: окуучулар ар бир кадамды айтып турат, сиз ачасыз. Оң жак — окуучулар өз алдынча мини-тактада чыгарып, бир убакта көтөрүшөт; андан кийин гана моделди жана жоопту ачыңыз. Сол жак: периметр — бардык жактардын суммасы. Оң жак: ? + 6,7 = 15,2 — бүтүн белгилүү, бөлүк белгисиз, кемитебиз: 15,2 − 6,7 = 8,5. Текшерүү: 8,5 + 6,7 = 15,2.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Бир тилкеден эки кошуу жана эки кемитүү туюнтмасы чыгат. Кошуунун жообун кемитүү менен текшеребиз: 6,2 − 3,7 = 2,5.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Текшерүү суроосу (hinge). Бардык окуучулар бир убакта А, Б же В деп көрсөтүшөт. Туура жооп: В. А (5,14) — ондон бирлер 8 + 6 = 14 толугу менен жазылган. Б (5,4) — эсте калган 1 унутулган. В — туура: 14 ондон бир = 1 бүтүн жана 4 ондон бир; 4 + 1 + 1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Өз алдынча иш (8–10 мүнөт). Окуучулар дептерге же мини-тактага модель тартып чыгарышат. Жоопторду бирден ачып, текшериңиз. 2-мисал: 16 ондон бир = 1,6 (0,16 эмес!). 4-маселе: экинчи күн 12,6 + 4,8 = 17,4 мм; эки күн 12,6 + 17,4 = 30 мм. Салыштыруу тилкеси жардам берет.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Жыйынтык. Окуучулар эрежелерди өз сөзү менен айтып беришсин. Окуучулардан «Эмне үчүн 12 ондон бирди 0,12 деп жазбайбыз?» деп сураңыз. Кийинки сабак: ондук бөлчөктөрдү кемитүү.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101616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Ондук бөлчөктөрдү кошуу (1 орундук)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584000"/>
            <a:ext cx="11328011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1D3557"/>
                </a:solidFill>
                <a:latin typeface="PT Sans"/>
              </a:rPr>
              <a:t>Ондук бөлчөктөрдү кантип кошобуз?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448000"/>
            <a:ext cx="11328011" cy="50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4A5A70"/>
                </a:solidFill>
                <a:latin typeface="PT Sans"/>
              </a:rPr>
              <a:t>Тилке модели, разряддар таблицасы жана мамыча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8000" y="4208346"/>
            <a:ext cx="4998587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4067" y="422622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3,7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587" y="4208346"/>
            <a:ext cx="3377424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2073" y="422622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2,5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908000" y="4067945"/>
            <a:ext cx="0" cy="84241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908000" y="4067945"/>
            <a:ext cx="8376012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0284012" y="4067945"/>
            <a:ext cx="0" cy="84241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096006" y="4002426"/>
            <a:ext cx="0" cy="65519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17" name="Rounded Rectangle 16"/>
          <p:cNvSpPr/>
          <p:nvPr/>
        </p:nvSpPr>
        <p:spPr>
          <a:xfrm>
            <a:off x="5806184" y="3567654"/>
            <a:ext cx="579643" cy="416052"/>
          </a:xfrm>
          <a:prstGeom prst="roundRect">
            <a:avLst>
              <a:gd name="adj" fmla="val 17997"/>
            </a:avLst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006" y="357756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7037" y="5400000"/>
            <a:ext cx="4817937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7037" y="5400000"/>
            <a:ext cx="4817937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Сабактын көрсөтүү – түшүндүрүү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Сабактын максаты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6408000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6408000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6048000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1" name="Oval 10"/>
          <p:cNvSpPr/>
          <p:nvPr/>
        </p:nvSpPr>
        <p:spPr>
          <a:xfrm>
            <a:off x="720000" y="21514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1514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2118280"/>
            <a:ext cx="5292000" cy="1422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Ондук бөлчөктү разряддар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таблицасында окуйбуз: бүтүн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жана ондон бирлер.</a:t>
            </a:r>
          </a:p>
        </p:txBody>
      </p:sp>
      <p:sp>
        <p:nvSpPr>
          <p:cNvPr id="14" name="Oval 13"/>
          <p:cNvSpPr/>
          <p:nvPr/>
        </p:nvSpPr>
        <p:spPr>
          <a:xfrm>
            <a:off x="720000" y="375426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75426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3721120"/>
            <a:ext cx="5292000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Мамычалап кошобуз: үтүр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үтүрдүн астында.</a:t>
            </a:r>
          </a:p>
        </p:txBody>
      </p:sp>
      <p:sp>
        <p:nvSpPr>
          <p:cNvPr id="17" name="Oval 16"/>
          <p:cNvSpPr/>
          <p:nvPr/>
        </p:nvSpPr>
        <p:spPr>
          <a:xfrm>
            <a:off x="720000" y="489481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489481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" y="4861679"/>
            <a:ext cx="5292000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10 ондон бир = 1 бүтүн: «1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эсте».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8000" y="1224000"/>
            <a:ext cx="4632011" cy="4932000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28000" y="1866280"/>
            <a:ext cx="4632011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308000" y="1224000"/>
            <a:ext cx="4272011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Түстөрдүн мааниси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6000" y="2154280"/>
            <a:ext cx="936000" cy="468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8000" y="2082280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1-кошулуучу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6000" y="3090279"/>
            <a:ext cx="936000" cy="4680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8000" y="3018279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2-кошулуучу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16000" y="4278280"/>
            <a:ext cx="0" cy="21600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416000" y="4278280"/>
            <a:ext cx="936000" cy="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352000" y="4278280"/>
            <a:ext cx="0" cy="21600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7884000" y="4134279"/>
            <a:ext cx="0" cy="144001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568000" y="3954279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сумма (бүтүн)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4000" y="4926280"/>
            <a:ext cx="108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8000" y="4890280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эсте калган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Кел, эске салабыз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2400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728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" y="2565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565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1728000"/>
            <a:ext cx="210914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37 + 25 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148" y="1728000"/>
            <a:ext cx="2330857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1728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005" y="2565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005" y="2565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005" y="1728000"/>
            <a:ext cx="2365180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0,6 + 0,3 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1185" y="1728000"/>
            <a:ext cx="2074825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0,9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050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4000" y="4887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4887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6000" y="4050000"/>
            <a:ext cx="2365180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0,5 + 0,5 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3180" y="4050000"/>
            <a:ext cx="2074825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4050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005" y="4887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005" y="4887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005" y="4050000"/>
            <a:ext cx="194912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1,2 + 2 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134" y="4050000"/>
            <a:ext cx="249087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3,2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3/14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714280"/>
          </a:xfrm>
          <a:prstGeom prst="roundRect">
            <a:avLst>
              <a:gd name="adj" fmla="val 258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Эсепте: 3,7 + 2,5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226280"/>
            <a:ext cx="5520005" cy="3353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32000" y="286856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2000" y="222628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12560"/>
            <a:ext cx="4944005" cy="1422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Бүтүндөр: 3 + 2 = 5. Ондон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бирлер: 7 + 5 = 12. Жооп: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5,12.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2226280"/>
            <a:ext cx="5520005" cy="335372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40005" y="2868560"/>
            <a:ext cx="5520006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420005" y="222628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005" y="3012560"/>
            <a:ext cx="4944005" cy="1422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Ондон бирлер: 7 + 5 = 12 — 2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жаздым, 1 эсте. Бүтүндөр: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3 + 2 + 1 = 6. Жооп: 6,2.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5688000"/>
            <a:ext cx="11328011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Ким туура? Баалап көр: 3,7 + 2,5 болжол менен канча?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Бүтүн жана ондон бирлер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3584003" cy="49320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3584003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3224003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Конкреттүү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6001" y="2019980"/>
            <a:ext cx="936000" cy="540000"/>
          </a:xfrm>
          <a:prstGeom prst="roundRect">
            <a:avLst>
              <a:gd name="adj" fmla="val 10000"/>
            </a:avLst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6001" y="2019980"/>
            <a:ext cx="936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01201" y="26463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201" y="26463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15" name="Oval 14"/>
          <p:cNvSpPr/>
          <p:nvPr/>
        </p:nvSpPr>
        <p:spPr>
          <a:xfrm>
            <a:off x="1327601" y="26463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7601" y="26463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17" name="Oval 16"/>
          <p:cNvSpPr/>
          <p:nvPr/>
        </p:nvSpPr>
        <p:spPr>
          <a:xfrm>
            <a:off x="1954001" y="26463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4001" y="26463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19" name="Oval 18"/>
          <p:cNvSpPr/>
          <p:nvPr/>
        </p:nvSpPr>
        <p:spPr>
          <a:xfrm>
            <a:off x="2580401" y="26463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0401" y="26463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21" name="Oval 20"/>
          <p:cNvSpPr/>
          <p:nvPr/>
        </p:nvSpPr>
        <p:spPr>
          <a:xfrm>
            <a:off x="3206802" y="26463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6802" y="26463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23" name="Oval 22"/>
          <p:cNvSpPr/>
          <p:nvPr/>
        </p:nvSpPr>
        <p:spPr>
          <a:xfrm>
            <a:off x="701201" y="3272780"/>
            <a:ext cx="540000" cy="540000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201" y="32727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25" name="Oval 24"/>
          <p:cNvSpPr/>
          <p:nvPr/>
        </p:nvSpPr>
        <p:spPr>
          <a:xfrm>
            <a:off x="1327601" y="32727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7601" y="32727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27" name="Oval 26"/>
          <p:cNvSpPr/>
          <p:nvPr/>
        </p:nvSpPr>
        <p:spPr>
          <a:xfrm>
            <a:off x="1954001" y="32727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4001" y="32727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29" name="Oval 28"/>
          <p:cNvSpPr/>
          <p:nvPr/>
        </p:nvSpPr>
        <p:spPr>
          <a:xfrm>
            <a:off x="2580401" y="32727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80401" y="32727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31" name="Oval 30"/>
          <p:cNvSpPr/>
          <p:nvPr/>
        </p:nvSpPr>
        <p:spPr>
          <a:xfrm>
            <a:off x="3206802" y="32727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6802" y="32727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33" name="Oval 32"/>
          <p:cNvSpPr/>
          <p:nvPr/>
        </p:nvSpPr>
        <p:spPr>
          <a:xfrm>
            <a:off x="1327601" y="38991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7601" y="38991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35" name="Oval 34"/>
          <p:cNvSpPr/>
          <p:nvPr/>
        </p:nvSpPr>
        <p:spPr>
          <a:xfrm>
            <a:off x="1954001" y="38991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54001" y="38991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37" name="Oval 36"/>
          <p:cNvSpPr/>
          <p:nvPr/>
        </p:nvSpPr>
        <p:spPr>
          <a:xfrm>
            <a:off x="2580401" y="3899180"/>
            <a:ext cx="540000" cy="540000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0401" y="389918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00" y="4679280"/>
            <a:ext cx="3080003" cy="122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ондон бир = 1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бүтүн: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алмаштырабыз.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4003" y="1224000"/>
            <a:ext cx="3584003" cy="49320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304003" y="1866280"/>
            <a:ext cx="3584004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4484003" y="1224000"/>
            <a:ext cx="3224003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Графикалык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6003" y="3575246"/>
            <a:ext cx="1895387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20471" y="359312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1,6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51391" y="3575246"/>
            <a:ext cx="1184616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0473" y="359312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0,7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556003" y="343484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4556003" y="3434846"/>
            <a:ext cx="3080004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7636007" y="343484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6096005" y="336932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5812779" y="2944460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2,3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6003" y="5075520"/>
            <a:ext cx="3080003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Бөлүктөр: 1,6 жана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0,7.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76007" y="1224000"/>
            <a:ext cx="3584003" cy="49320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176007" y="1866280"/>
            <a:ext cx="3584004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8356007" y="1224000"/>
            <a:ext cx="3224003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Абстракттуу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2007" y="3146900"/>
            <a:ext cx="3152003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1,6 + 0,7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2,3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8007" y="5075520"/>
            <a:ext cx="3080003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 + 7 = 13 ондон бир: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жазабыз, 1 эсте.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5/14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Разряддар таблицасы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22400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79943" y="2045200"/>
            <a:ext cx="936000" cy="660399"/>
          </a:xfrm>
          <a:prstGeom prst="rect">
            <a:avLst/>
          </a:prstGeom>
          <a:solidFill>
            <a:srgbClr val="EEF1F5"/>
          </a:solidFill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9943" y="2045200"/>
            <a:ext cx="936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15943" y="2045200"/>
            <a:ext cx="936000" cy="660399"/>
          </a:xfrm>
          <a:prstGeom prst="rect">
            <a:avLst/>
          </a:prstGeom>
          <a:solidFill>
            <a:srgbClr val="E6F4EF"/>
          </a:solidFill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15943" y="2045200"/>
            <a:ext cx="936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0,1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9943" y="2705600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1943" y="2705600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5943" y="2705600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7943" y="2705600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1143" y="2771640"/>
            <a:ext cx="129600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2068" y="2705600"/>
            <a:ext cx="859874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1-сан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943" y="3366000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1943" y="3366000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5943" y="3366000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7943" y="3366000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1143" y="3432040"/>
            <a:ext cx="129600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2068" y="3366000"/>
            <a:ext cx="859874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2-сан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79943" y="4026399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1943" y="4026399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15943" y="4026399"/>
            <a:ext cx="936000" cy="660399"/>
          </a:xfrm>
          <a:prstGeom prst="rect">
            <a:avLst/>
          </a:prstGeom>
          <a:noFill/>
          <a:ln w="12700">
            <a:solidFill>
              <a:srgbClr val="4A5A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943" y="4026399"/>
            <a:ext cx="792000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1143" y="4092439"/>
            <a:ext cx="129600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2068" y="4026399"/>
            <a:ext cx="859874" cy="66039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сумма</a:t>
            </a:r>
          </a:p>
        </p:txBody>
      </p:sp>
      <p:sp>
        <p:nvSpPr>
          <p:cNvPr id="32" name="Oval 31"/>
          <p:cNvSpPr/>
          <p:nvPr/>
        </p:nvSpPr>
        <p:spPr>
          <a:xfrm>
            <a:off x="432000" y="185436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185436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0" y="1854240"/>
            <a:ext cx="4716000" cy="1224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Бүтүндү бүтүндүн астына, ондон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бирди ондон бирдин астына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жазабыз.</a:t>
            </a:r>
          </a:p>
        </p:txBody>
      </p:sp>
      <p:sp>
        <p:nvSpPr>
          <p:cNvPr id="35" name="Oval 34"/>
          <p:cNvSpPr/>
          <p:nvPr/>
        </p:nvSpPr>
        <p:spPr>
          <a:xfrm>
            <a:off x="432000" y="325908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000" y="325908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0" y="325896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Үтүр — үтүрдүн астында.</a:t>
            </a:r>
          </a:p>
        </p:txBody>
      </p:sp>
      <p:sp>
        <p:nvSpPr>
          <p:cNvPr id="38" name="Oval 37"/>
          <p:cNvSpPr/>
          <p:nvPr/>
        </p:nvSpPr>
        <p:spPr>
          <a:xfrm>
            <a:off x="432000" y="38713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000" y="38713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00" y="387120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Ондон бирлер: 7 + 5 = 12 — 2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жазабыз, 1 бүтүн эсте.</a:t>
            </a:r>
          </a:p>
        </p:txBody>
      </p:sp>
      <p:sp>
        <p:nvSpPr>
          <p:cNvPr id="41" name="Oval 40"/>
          <p:cNvSpPr/>
          <p:nvPr/>
        </p:nvSpPr>
        <p:spPr>
          <a:xfrm>
            <a:off x="432000" y="487979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000" y="487979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000" y="4879679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Бүтүндөр: 3 + 2 + 1 = 6.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3,7 + 2,5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6,2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6/14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Мамычалап кошуу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22400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4913" y="2628316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098" y="2628316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7454" y="2628316"/>
            <a:ext cx="221643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4913" y="3294000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098" y="3294000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7454" y="3294000"/>
            <a:ext cx="221643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371" y="3294000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+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2371" y="4013683"/>
            <a:ext cx="1699269" cy="0"/>
          </a:xfrm>
          <a:prstGeom prst="line">
            <a:avLst/>
          </a:prstGeom>
          <a:ln w="25400">
            <a:solidFill>
              <a:srgbClr val="1F243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548794" y="2129054"/>
            <a:ext cx="344779" cy="4659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098" y="4067683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7454" y="4067683"/>
            <a:ext cx="221643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4913" y="4067683"/>
            <a:ext cx="492541" cy="66568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185436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185436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" y="185424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Үтүрдү үтүрдүн астына жазабыз.</a:t>
            </a:r>
          </a:p>
        </p:txBody>
      </p:sp>
      <p:sp>
        <p:nvSpPr>
          <p:cNvPr id="25" name="Oval 24"/>
          <p:cNvSpPr/>
          <p:nvPr/>
        </p:nvSpPr>
        <p:spPr>
          <a:xfrm>
            <a:off x="432000" y="24666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24666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0" y="246648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Ондон бирлер: 7 + 5 = 12 — 2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жазабыз, 1 эсте</a:t>
            </a:r>
          </a:p>
        </p:txBody>
      </p:sp>
      <p:sp>
        <p:nvSpPr>
          <p:cNvPr id="28" name="Oval 27"/>
          <p:cNvSpPr/>
          <p:nvPr/>
        </p:nvSpPr>
        <p:spPr>
          <a:xfrm>
            <a:off x="432000" y="347508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347508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" y="347496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Бирдиктер: 3 + 2 + 1 = 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3,7 + 2,5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6,2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7/14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Мамычалап: жуп мисалдар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Чогуу чыгарабыз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2720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5808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1285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8896" y="3169386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5808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1285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8896" y="3687140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9632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+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9632" y="4258893"/>
            <a:ext cx="1704741" cy="0"/>
          </a:xfrm>
          <a:prstGeom prst="line">
            <a:avLst/>
          </a:prstGeom>
          <a:ln w="25400">
            <a:solidFill>
              <a:srgbClr val="1F243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163271" y="2781071"/>
            <a:ext cx="268161" cy="3624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1285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8896" y="4312893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0183" y="2781071"/>
            <a:ext cx="268161" cy="3624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5808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2720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16,6 + 5,8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22,4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A8440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Сенин кезегиң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0726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3814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9291" y="3169386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902" y="3169386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3814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9291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6902" y="3687140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7638" y="3687140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+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47638" y="4258893"/>
            <a:ext cx="1704741" cy="0"/>
          </a:xfrm>
          <a:prstGeom prst="line">
            <a:avLst/>
          </a:prstGeom>
          <a:ln w="25400">
            <a:solidFill>
              <a:srgbClr val="1F243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971277" y="2781071"/>
            <a:ext cx="268161" cy="3624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9291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6902" y="4312893"/>
            <a:ext cx="172389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8189" y="2781071"/>
            <a:ext cx="268161" cy="36242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3814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0726" y="4312893"/>
            <a:ext cx="383087" cy="517753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27,4 + 8,9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36,3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8/14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Маселе: үч бөлүк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1176560"/>
          </a:xfrm>
          <a:prstGeom prst="roundRect">
            <a:avLst>
              <a:gd name="adj" fmla="val 1566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Айгүл дүйшөмбүдө 2,7 км, шейшембиде 3,5 км, шаршембиде 4,8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км чуркады. Бардыгы канча километр?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54456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54456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0000" y="4137217"/>
            <a:ext cx="1419712" cy="540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1425" y="4176077"/>
            <a:ext cx="636861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2,7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9712" y="4137217"/>
            <a:ext cx="1840367" cy="5400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1464" y="4176077"/>
            <a:ext cx="636861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79" y="4137217"/>
            <a:ext cx="2523932" cy="540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3614" y="4176077"/>
            <a:ext cx="636861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4,8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940000" y="3964417"/>
            <a:ext cx="0" cy="10368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940000" y="3964417"/>
            <a:ext cx="5784011" cy="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1724011" y="3964417"/>
            <a:ext cx="0" cy="10368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8832006" y="3883777"/>
            <a:ext cx="0" cy="8064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sp>
        <p:nvSpPr>
          <p:cNvPr id="22" name="Rounded Rectangle 21"/>
          <p:cNvSpPr/>
          <p:nvPr/>
        </p:nvSpPr>
        <p:spPr>
          <a:xfrm>
            <a:off x="8486380" y="3375343"/>
            <a:ext cx="691250" cy="485393"/>
          </a:xfrm>
          <a:prstGeom prst="roundRect">
            <a:avLst>
              <a:gd name="adj" fmla="val 18986"/>
            </a:avLst>
          </a:prstGeom>
          <a:solidFill>
            <a:srgbClr val="FFFFFF"/>
          </a:solidFill>
          <a:ln w="25400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79284" y="3386900"/>
            <a:ext cx="305442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24" name="Oval 23"/>
          <p:cNvSpPr/>
          <p:nvPr/>
        </p:nvSpPr>
        <p:spPr>
          <a:xfrm>
            <a:off x="432000" y="317491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317491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0" y="317480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Үч бөлүк: 2,7 км, 3,5 км жана 4,8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км.</a:t>
            </a:r>
          </a:p>
        </p:txBody>
      </p:sp>
      <p:sp>
        <p:nvSpPr>
          <p:cNvPr id="27" name="Oval 26"/>
          <p:cNvSpPr/>
          <p:nvPr/>
        </p:nvSpPr>
        <p:spPr>
          <a:xfrm>
            <a:off x="432000" y="4168653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4168653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0" y="4168533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 белгисиз — бөлүктөрдү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кошобуз.</a:t>
            </a:r>
          </a:p>
        </p:txBody>
      </p:sp>
      <p:sp>
        <p:nvSpPr>
          <p:cNvPr id="30" name="Oval 29"/>
          <p:cNvSpPr/>
          <p:nvPr/>
        </p:nvSpPr>
        <p:spPr>
          <a:xfrm>
            <a:off x="432000" y="5162386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" y="5162386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" y="5162266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2,7 + 3,5 = 6,2; анан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6,2 + 4,8 = 11.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2,7 + 3,5 + 4,8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11 км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9/14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Маселе: бүтүнбү же бөлүкпү?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Чогуу чыгарабыз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974280"/>
            <a:ext cx="5016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Үч бурчтуктун жактары 4,7 см,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6,5 см жана 8,9 см. Анын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периметри канча?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4561376"/>
            <a:ext cx="1172896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222" y="457925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4,7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6896" y="4561376"/>
            <a:ext cx="1622091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4716" y="457925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6,5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8988" y="4561376"/>
            <a:ext cx="2221017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270" y="457925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8,9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84000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84000" y="4420976"/>
            <a:ext cx="5016005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700005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192002" y="435545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22" name="Rounded Rectangle 21"/>
          <p:cNvSpPr/>
          <p:nvPr/>
        </p:nvSpPr>
        <p:spPr>
          <a:xfrm>
            <a:off x="2902181" y="3920684"/>
            <a:ext cx="579643" cy="416052"/>
          </a:xfrm>
          <a:prstGeom prst="roundRect">
            <a:avLst>
              <a:gd name="adj" fmla="val 17997"/>
            </a:avLst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8002" y="393059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4,7 + 6,5 + 8,9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20,1 см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A8440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Сенин кезегиң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005" y="1974280"/>
            <a:ext cx="5016005" cy="89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Белгисиз санга 6,7ни кошсок,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15,2 болот. Белгисиз сан канча?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005" y="4346746"/>
            <a:ext cx="2805003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0507" y="4364626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7009" y="4346746"/>
            <a:ext cx="2211002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19284" y="436462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6,7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492005" y="420634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492005" y="4206346"/>
            <a:ext cx="5016006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508011" y="420634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9000009" y="414082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630371" y="3715960"/>
            <a:ext cx="739274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15,2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15,2 − 6,7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8,5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10/14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Бир модель — төрт туюнтма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3,7; 2,5 жана 6,2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6000" y="2942626"/>
            <a:ext cx="2907487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6517" y="296050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3,7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63487" y="2942626"/>
            <a:ext cx="1964518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2520" y="296050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2,5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56000" y="280222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56000" y="2802226"/>
            <a:ext cx="4872005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5628005" y="280222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192002" y="273670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2908776" y="2311840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6,2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3810279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3,7 + 2,5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6,2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2002" y="3810279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2,5 + 3,7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6,2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4386280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6,2 − 3,7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2,5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2002" y="4386280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6,2 − 2,5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3,7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0,9; 0,7 жана 1,6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4005" y="2942626"/>
            <a:ext cx="2740503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1031" y="296050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04509" y="2942626"/>
            <a:ext cx="2131502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7034" y="2960506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0,7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564005" y="280222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6564005" y="2802226"/>
            <a:ext cx="4872006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1436011" y="280222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9000009" y="273670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716782" y="2311840"/>
            <a:ext cx="566452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1,6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05" y="3810279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0,9 + 0,7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1,6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9" y="3810279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0,7 + 0,9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1,6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6005" y="4386280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1,6 − 0,9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0,7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0009" y="4386280"/>
            <a:ext cx="2544002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1,6 − 0,7 =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 0,9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11/14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Текшерүү суроосу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714280"/>
          </a:xfrm>
          <a:prstGeom prst="roundRect">
            <a:avLst>
              <a:gd name="adj" fmla="val 258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Эки лентанын узундугу 4,8 м жана 1,6 м. Бардыгы канча метр?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04628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Кайсынысы туура? Бармагыңды көтөр: А, Б же 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514279"/>
            <a:ext cx="3584003" cy="299372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514279"/>
            <a:ext cx="648000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2514279"/>
            <a:ext cx="2504003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5,14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4003" y="2514279"/>
            <a:ext cx="3584003" cy="299372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4003" y="2514279"/>
            <a:ext cx="648000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8003" y="2514279"/>
            <a:ext cx="2504003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5,4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6007" y="2514279"/>
            <a:ext cx="3584003" cy="2993720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007" y="2514279"/>
            <a:ext cx="648000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007" y="2514279"/>
            <a:ext cx="2504003" cy="2993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6,4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2007" y="2460279"/>
            <a:ext cx="3692003" cy="3101720"/>
          </a:xfrm>
          <a:prstGeom prst="roundRect">
            <a:avLst>
              <a:gd name="adj" fmla="val 6313"/>
            </a:avLst>
          </a:prstGeom>
          <a:noFill/>
          <a:ln w="50800">
            <a:solidFill>
              <a:srgbClr val="2441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5652000"/>
            <a:ext cx="11328011" cy="53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4,8 + 1,6 =</a:t>
            </a:r>
            <a:r>
              <a:rPr sz="3000" b="1" i="0">
                <a:solidFill>
                  <a:srgbClr val="24418C"/>
                </a:solidFill>
                <a:latin typeface="PT Sans"/>
              </a:rPr>
              <a:t> 6,4 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12/14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Өз алдынча иште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18800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Мини-тактага чыгар.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656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00" y="1800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800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656000"/>
            <a:ext cx="2365180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2,3 + 4,5 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180" y="1656000"/>
            <a:ext cx="2218825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6,8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1656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005" y="1800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4005" y="1800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0005" y="1656000"/>
            <a:ext cx="2365180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0,9 + 0,7 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7185" y="1656000"/>
            <a:ext cx="2218825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1,6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014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00" y="4158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4158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014000"/>
            <a:ext cx="2941251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45,7 + 36,5 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5251" y="4014000"/>
            <a:ext cx="1642754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82,2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4014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4005" y="4158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4005" y="4158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8005" y="4122000"/>
            <a:ext cx="4728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Биринчи күнү 12,6 мм жамгыр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жаады, экинчи күнү андан 4,8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мм көп. Эки күндө канча мм?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12,6 + 12,6 + 4,8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30 мм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13/14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7715524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Кыскача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924" y="216000"/>
            <a:ext cx="2446087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Ондуктар › Кошуу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000" y="1507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507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6011" y="1260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260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Үтүрдү үтүрдүн астына жазабыз.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259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000" y="2506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2506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2259000"/>
            <a:ext cx="1024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Ондон бирлерден баштайбыз.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258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000" y="3505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505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6011" y="3258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258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10 ондон бир = 1 бүтүн: 1 эсте.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4257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000" y="4504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4504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6011" y="4257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000" y="4257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Жоопту баалоо менен текшеребиз: 3,7 + 2,5 ≈ 4 + 2,5.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2000" y="5364000"/>
            <a:ext cx="8448011" cy="756000"/>
          </a:xfrm>
          <a:prstGeom prst="roundRect">
            <a:avLst>
              <a:gd name="adj" fmla="val 2438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6000" y="5364000"/>
            <a:ext cx="8160011" cy="75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Үтүр үтүрдүн астында!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Ондук бөлчөктөрдү кошуу (1 орундук)</dc:title>
  <dc:subject/>
  <dc:creator>Isa Amanov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