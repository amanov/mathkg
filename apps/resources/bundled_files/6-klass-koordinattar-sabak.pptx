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D казыгы кайсы чейректе болот? Жоопту сабактын аягында (22-слайд) текшеребиз. Чолпон-Атадагы таш сүрөттөрдү көргөн окуучулар болсо, айтып беришсин.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Жыпар: адегенде x (оңго же солго), анан y (өйдө же ылдый). Айбек x менен утин ордун алмаштырды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эки жип (60 см), бир таш, 6–8 буурчак (же бөтөлкө капкагы), чакмак кагаз (A4, 1 чакмак = 1 см). Жиптерди чакмак сызыктары менен тарттырам, кесилишкен жерге таш = O. «Адегенде басабыз (x), анан чыгабыз (y)»: A үчүн буурчак таштан 3 солго, анан 2 өйдө. B жана C да ушундай. 4-буурчакты жуптар өзү табат, анан «эмне үчүн ошол жерде?» деп сурайм. Мектептин короосунда бор менен чоң торчо чийип, окуучулар өздөрү «чекит» болуп турса да болот.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Доскага чоң координаталык тегиздик чийем (же проектор). Окуучулар дептерге −5тен 6га чейин окторду чийишет. AB жолун нөлдө экиге бөлөбүз: нөлгө чейин 3 (шабдалы), андан ары 4 (жалбыз): ар тарапта болгондуктан кошобуз. D казыгы: A менен бир тик сызыкта, C менен бир жатык сызыкта.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Координаттар дайыма (x; y) тартибинде жазылат, ортосунда үтүрлүү чекит. x – O дон оңго (+) же солго (−), y – өйдө (+) же ылдый (−). Чейректер I чейректен саат жебесине каршы саналат. Нөлү бар чекит окто жатат. Ката коддору: М1 (x, y алмашат), М2 (белги), М3 (сызыктарды санайт), М4 (кемитет), М5 (чейрек номери), М6 (октогу чекит).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белгини карайм, анан санайм».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✓; В = М2;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нөл аркылуу аралык → тик аралык → чакмак сызыгы менен жол. Жооптор: 4 + 3 = 7 м; 4 + 3 = 7 м; 8 + 5 = 13 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→ B: x −3төн 4кө: нөлгө чейин 3, андан ары 4, баары 7 (ар тарапта – кошобуз). B → C: y 2ден −1ге: 2 + 1 = 3. Жол 10 м. D: A менен бир тик сызыкта (x = −3), C менен бир жатык сызыкта (y = −1). 4 − 3 = 1 м десе – бул М4; D(−1; −3) десе – 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II чейрек; 8; (−4;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Чолпон-Атадагы таш сүрөттөр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Археолог Гүлнара эже 6-класс менен таш сүрөттөрдүн картасын түзөт: ар бир сүрөттүн өз дареги бар.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6-класстын «Тегиздиктеги тик бурчтуу координаталар системасы» бөлүмү (Кыдыралиев ж.б., §3) жана 5-класстын терс сандар, сан огу темалары –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Чолпон-Атадагы таш сүрөттөр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Чолпон-Атанын жанында ачык асман алдындагы музей бар: чоң таштарга илгери тоо теке, бугу, жылкы тартылган.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Археолог Гүлнара эже 6-класстын окуучулары Айбек жана Жыпар менен ошол таш сүрөттөрдүн картасын түзөт.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Жерге жип менен эки түз сызык тартышты. «Чоң таш» – O(0; 0). Чыгышты карай x огу, түндүктү карай y огу. 1 чакмак = 1 м.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Бир сүрөттү жамгырдан коргоо үчүн тик бурчтуу чатыр тартабыз. Казыктарды кайда кагабыз?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Чатырдын 3 казыгы: A(−3; 2), B(4; 2), C(4; −1). 4-казык D кайда кагылат? Айбек A чекитинен C чекитине жип боюнча канча метр басат?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Чекиттин координаттарын (x; y) тартибинде окуйм жана төрт чейректин баарында белгилейм.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Чекит кайсы чейректе же кайсы окто жатканын белгилери боюнча айтам.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Чокулары боюнча фигура чийем, жетпеген чокуну табам, чакмак сызыктары боюнча аралыкты эсептейм.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Окуу жана белгилөө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Чейрек жана октор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Чоку, аралык, периметр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(2; −5) кайда?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жип торчо,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Чолпон-Ата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Таш сүрөттөрдүн картасы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Торчодо жылдыруу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Симметрия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Терс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 огу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Координаталык тегиздик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Төрт чейрек, аралык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Сызыктуу функция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Графиктер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Сан огунда −4 менен 3түн аралыгы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Кайсынысы чоң: −5 же −2?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Сан огунда 0дон 6 бирдик солго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(3; 1) чекитине кантип барабыз?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Сан огунда −4 менен 3түн аралыгы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Кайсынысы чоң: −5 же −2?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Сан огунда 0дон 6 бирдик солго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(3; 1) чекитине кантип барабыз?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оңго, 1 өйдө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Гүлнара эже: «Бугунун сүрөтү (2; −5) чекитинде. Казык кагып белгилегиле».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Айбек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1-сан – өйдө: 2 өйдө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2-сан – солго: 5 солго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Казык II чейректе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Жыпар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1-сан – x: 2 оңго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2-сан – y: 5 ылдый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Казык IV чейректе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(x; y): адегенде кайсы сан?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эки жип = эки ок, таш = O(0; 0). Буурчак менен A(−3; 2), B(4; 2), C(4; −1) белгилегиле. 4-буурчак кайда?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59" y="2057400"/>
            <a:ext cx="4974336" cy="3054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77240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61288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45336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29384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13432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97480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81528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65576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49624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33672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01768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85816" y="224028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" y="4928616"/>
            <a:ext cx="4608576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7240" y="4544568"/>
            <a:ext cx="4608576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7240" y="4160520"/>
            <a:ext cx="4608576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77240" y="3776472"/>
            <a:ext cx="4608576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7240" y="3392424"/>
            <a:ext cx="4608576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7240" y="3008376"/>
            <a:ext cx="4608576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7240" y="2624328"/>
            <a:ext cx="4608576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7240" y="2240280"/>
            <a:ext cx="4608576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19" y="3776472"/>
            <a:ext cx="4855464" cy="0"/>
          </a:xfrm>
          <a:prstGeom prst="line">
            <a:avLst/>
          </a:prstGeom>
          <a:ln w="127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081528" y="2039112"/>
            <a:ext cx="0" cy="2935224"/>
          </a:xfrm>
          <a:prstGeom prst="line">
            <a:avLst/>
          </a:prstGeom>
          <a:ln w="127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" y="3776472"/>
            <a:ext cx="4791455" cy="0"/>
          </a:xfrm>
          <a:prstGeom prst="line">
            <a:avLst/>
          </a:prstGeom>
          <a:ln w="63500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081528" y="2148840"/>
            <a:ext cx="0" cy="2871216"/>
          </a:xfrm>
          <a:prstGeom prst="line">
            <a:avLst/>
          </a:prstGeom>
          <a:ln w="63500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898648" y="3630168"/>
            <a:ext cx="365760" cy="292608"/>
          </a:xfrm>
          <a:prstGeom prst="ellipse">
            <a:avLst/>
          </a:prstGeom>
          <a:solidFill>
            <a:srgbClr val="8A8F98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91256" y="3867911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O</a:t>
            </a:r>
          </a:p>
        </p:txBody>
      </p:sp>
      <p:sp>
        <p:nvSpPr>
          <p:cNvPr id="40" name="Oval 39"/>
          <p:cNvSpPr/>
          <p:nvPr/>
        </p:nvSpPr>
        <p:spPr>
          <a:xfrm>
            <a:off x="1810512" y="2926080"/>
            <a:ext cx="237744" cy="164592"/>
          </a:xfrm>
          <a:prstGeom prst="ellipse">
            <a:avLst/>
          </a:prstGeom>
          <a:solidFill>
            <a:srgbClr val="9C4A2E"/>
          </a:solidFill>
          <a:ln w="9525">
            <a:solidFill>
              <a:srgbClr val="9C4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2624328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A</a:t>
            </a:r>
          </a:p>
        </p:txBody>
      </p:sp>
      <p:sp>
        <p:nvSpPr>
          <p:cNvPr id="42" name="Oval 41"/>
          <p:cNvSpPr/>
          <p:nvPr/>
        </p:nvSpPr>
        <p:spPr>
          <a:xfrm>
            <a:off x="4498848" y="2926080"/>
            <a:ext cx="237744" cy="164592"/>
          </a:xfrm>
          <a:prstGeom prst="ellipse">
            <a:avLst/>
          </a:prstGeom>
          <a:solidFill>
            <a:srgbClr val="9C4A2E"/>
          </a:solidFill>
          <a:ln w="9525">
            <a:solidFill>
              <a:srgbClr val="9C4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59" y="2624328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B</a:t>
            </a:r>
          </a:p>
        </p:txBody>
      </p:sp>
      <p:sp>
        <p:nvSpPr>
          <p:cNvPr id="44" name="Oval 43"/>
          <p:cNvSpPr/>
          <p:nvPr/>
        </p:nvSpPr>
        <p:spPr>
          <a:xfrm>
            <a:off x="4498848" y="4078224"/>
            <a:ext cx="237744" cy="164592"/>
          </a:xfrm>
          <a:prstGeom prst="ellipse">
            <a:avLst/>
          </a:prstGeom>
          <a:solidFill>
            <a:srgbClr val="9C4A2E"/>
          </a:solidFill>
          <a:ln w="9525">
            <a:solidFill>
              <a:srgbClr val="9C4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59" y="377647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C</a:t>
            </a:r>
          </a:p>
        </p:txBody>
      </p:sp>
      <p:sp>
        <p:nvSpPr>
          <p:cNvPr id="46" name="Oval 45"/>
          <p:cNvSpPr/>
          <p:nvPr/>
        </p:nvSpPr>
        <p:spPr>
          <a:xfrm>
            <a:off x="1746504" y="3977640"/>
            <a:ext cx="365760" cy="365760"/>
          </a:xfrm>
          <a:prstGeom prst="ellipse">
            <a:avLst/>
          </a:prstGeom>
          <a:noFill/>
          <a:ln w="25400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30552" y="397764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929384" y="3776472"/>
            <a:ext cx="1152144" cy="0"/>
          </a:xfrm>
          <a:prstGeom prst="line">
            <a:avLst/>
          </a:prstGeom>
          <a:ln w="444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929384" y="3099816"/>
            <a:ext cx="0" cy="676656"/>
          </a:xfrm>
          <a:prstGeom prst="line">
            <a:avLst/>
          </a:prstGeom>
          <a:ln w="444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975103" y="3465576"/>
            <a:ext cx="877824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007A5A"/>
                </a:solidFill>
                <a:latin typeface="PT Sans"/>
              </a:rPr>
              <a:t>3 солго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3" y="3255264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007A5A"/>
                </a:solidFill>
                <a:latin typeface="PT Sans"/>
              </a:rPr>
              <a:t>2 өйдө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37960" y="2103120"/>
            <a:ext cx="52120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2176272"/>
            <a:ext cx="484632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 жип = x огу жана y огу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таш = O(0; 0), «Чоң таш»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6–8 буурчак же капкак = чекиттер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чакмак кагаз: 1 чакмак = 1 м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Адегенде басабыз (x), анан чыгабыз (y)</a:t>
            </a:r>
          </a:p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A(−3; 2): 3 солго, 2 өйдө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4-буурчак: A жана C карап тап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координаталык тегиздик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Чакмак дептерде A, B, C белгиле, тик бурчтукту бүтүр, анан A дан C га жолду тилке менен көрсөт.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44168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28216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12264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96312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0360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64408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48456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32504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16552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00600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84648" y="2286000"/>
            <a:ext cx="0" cy="268833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" y="4974336"/>
            <a:ext cx="422452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0120" y="4590288"/>
            <a:ext cx="422452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0120" y="4206240"/>
            <a:ext cx="422452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" y="3822191"/>
            <a:ext cx="422452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60120" y="3438144"/>
            <a:ext cx="422452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0120" y="3054096"/>
            <a:ext cx="422452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0120" y="2670048"/>
            <a:ext cx="422452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0120" y="2286000"/>
            <a:ext cx="422452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3822191"/>
            <a:ext cx="4471416" cy="0"/>
          </a:xfrm>
          <a:prstGeom prst="line">
            <a:avLst/>
          </a:prstGeom>
          <a:ln w="22225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880360" y="2084831"/>
            <a:ext cx="0" cy="2935224"/>
          </a:xfrm>
          <a:prstGeom prst="line">
            <a:avLst/>
          </a:prstGeom>
          <a:ln w="22225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8096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−5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−4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36192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−3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−2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4288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−1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72384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432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8576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92624" y="3840479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860036"/>
            <a:ext cx="38404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−3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4475988"/>
            <a:ext cx="38404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−2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4091939"/>
            <a:ext cx="38404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−1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3323844"/>
            <a:ext cx="38404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2939796"/>
            <a:ext cx="38404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2555748"/>
            <a:ext cx="38404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2171700"/>
            <a:ext cx="38404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3822191"/>
            <a:ext cx="38404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0368" y="3575303"/>
            <a:ext cx="3657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1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35224" y="1897380"/>
            <a:ext cx="3657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1">
                <a:solidFill>
                  <a:srgbClr val="1D3557"/>
                </a:solidFill>
                <a:latin typeface="PT Sans"/>
              </a:rPr>
              <a:t>y</a:t>
            </a:r>
          </a:p>
        </p:txBody>
      </p:sp>
      <p:sp>
        <p:nvSpPr>
          <p:cNvPr id="55" name="Oval 54"/>
          <p:cNvSpPr/>
          <p:nvPr/>
        </p:nvSpPr>
        <p:spPr>
          <a:xfrm>
            <a:off x="1666768" y="2992648"/>
            <a:ext cx="122895" cy="122895"/>
          </a:xfrm>
          <a:prstGeom prst="ellipse">
            <a:avLst/>
          </a:prstGeom>
          <a:solidFill>
            <a:srgbClr val="24418C"/>
          </a:solidFill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89663" y="2788627"/>
            <a:ext cx="14630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A</a:t>
            </a:r>
          </a:p>
        </p:txBody>
      </p:sp>
      <p:sp>
        <p:nvSpPr>
          <p:cNvPr id="57" name="Oval 56"/>
          <p:cNvSpPr/>
          <p:nvPr/>
        </p:nvSpPr>
        <p:spPr>
          <a:xfrm>
            <a:off x="4355104" y="2992648"/>
            <a:ext cx="122895" cy="122895"/>
          </a:xfrm>
          <a:prstGeom prst="ellipse">
            <a:avLst/>
          </a:prstGeom>
          <a:solidFill>
            <a:srgbClr val="24418C"/>
          </a:solidFill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77999" y="2788627"/>
            <a:ext cx="14630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4355104" y="4144792"/>
            <a:ext cx="122895" cy="122895"/>
          </a:xfrm>
          <a:prstGeom prst="ellipse">
            <a:avLst/>
          </a:prstGeom>
          <a:solidFill>
            <a:srgbClr val="24418C"/>
          </a:solidFill>
          <a:ln w="95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77999" y="3940771"/>
            <a:ext cx="14630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C</a:t>
            </a:r>
          </a:p>
        </p:txBody>
      </p:sp>
      <p:sp>
        <p:nvSpPr>
          <p:cNvPr id="61" name="Oval 60"/>
          <p:cNvSpPr/>
          <p:nvPr/>
        </p:nvSpPr>
        <p:spPr>
          <a:xfrm>
            <a:off x="1617610" y="4095634"/>
            <a:ext cx="221211" cy="221211"/>
          </a:xfrm>
          <a:prstGeom prst="ellipse">
            <a:avLst/>
          </a:prstGeom>
          <a:noFill/>
          <a:ln w="19050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89663" y="4279977"/>
            <a:ext cx="14630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D?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728216" y="3054096"/>
            <a:ext cx="1152144" cy="0"/>
          </a:xfrm>
          <a:prstGeom prst="line">
            <a:avLst/>
          </a:prstGeom>
          <a:ln w="508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880360" y="3054096"/>
            <a:ext cx="1536192" cy="0"/>
          </a:xfrm>
          <a:prstGeom prst="line">
            <a:avLst/>
          </a:prstGeom>
          <a:ln w="508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416552" y="3054096"/>
            <a:ext cx="0" cy="768095"/>
          </a:xfrm>
          <a:prstGeom prst="line">
            <a:avLst/>
          </a:prstGeom>
          <a:ln w="508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16552" y="3822191"/>
            <a:ext cx="0" cy="384049"/>
          </a:xfrm>
          <a:prstGeom prst="line">
            <a:avLst/>
          </a:prstGeom>
          <a:ln w="508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728216" y="2670048"/>
            <a:ext cx="115214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80360" y="2670048"/>
            <a:ext cx="1536191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50791" y="3273551"/>
            <a:ext cx="320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50791" y="3904487"/>
            <a:ext cx="320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728216" y="3054096"/>
            <a:ext cx="0" cy="1152144"/>
          </a:xfrm>
          <a:prstGeom prst="line">
            <a:avLst/>
          </a:prstGeom>
          <a:ln w="1905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728216" y="4206240"/>
            <a:ext cx="2688336" cy="0"/>
          </a:xfrm>
          <a:prstGeom prst="line">
            <a:avLst/>
          </a:prstGeom>
          <a:ln w="1905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720840" y="214884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Тилке: нөлгө чейин + нөлдөн кийин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260604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A→B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35240" y="2606040"/>
            <a:ext cx="1645919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81159" y="2606040"/>
            <a:ext cx="219456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3090672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−3 → 0 → 4:  3 + 4 = 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20840" y="356616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B→C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35240" y="3566160"/>
            <a:ext cx="109728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32519" y="3566160"/>
            <a:ext cx="5486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4050791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 → 0 → −1:  2 + 1 =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20840" y="4572000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D: x – A сыяктуу (−3),</a:t>
            </a:r>
          </a:p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y – C сыяктуу (−1)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AB = 3 + 4 = 7;   BC = 2 + 1 = 3;   жол = 10 м;   D(−3; −1)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1-сан: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Оңго (+) же солго (−)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2-сан: 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Өйдө (+) же ылдый (−)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I–IV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Чейрек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Белгилер боюнча: II = (−; +)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Аралык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Нөлдөн өтсө – кош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(x; y): адегенде басабыз, анан чыгабыз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Тоо теке сүрөтү T(−4; 3) чекитинде. Аны белгиле жана кайсы чейректе экенин айт.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T(−4;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x = −4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O дон 4 солго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y 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анан 3 өйдө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(−; 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II чейрек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Чейрек = </a:t>
            </a:r>
            <a:r>
              <a:rPr sz="3400" b="1">
                <a:solidFill>
                  <a:srgbClr val="24418C"/>
                </a:solidFill>
                <a:latin typeface="PT Sans"/>
              </a:rPr>
              <a:t>II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Бугу B(−5; −2), жылкы J(3; −2). Жип менен (чакмак сызыгы боюнча) аралыгы канча метр?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−5тен 0гө чейин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5 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0дөн 3кө чейин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BJ = 5 + 3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ар тарапта: кош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BJ = </a:t>
            </a:r>
            <a:r>
              <a:rPr sz="3400" b="1">
                <a:solidFill>
                  <a:srgbClr val="24418C"/>
                </a:solidFill>
                <a:latin typeface="PT Sans"/>
              </a:rPr>
              <a:t>8 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белги, жол, чоку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Белгиден чейрек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(−7;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белгилер: (−; 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II чейрек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Сандын чоңдугу эмес, белгиси чейректи айтат.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Нөл аркылуу жол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(−6; 2) → (5;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+ 5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Ар тарапта болсо – кош, бир тарапта болсо – кемит.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Жетпеген чоку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(−2; 3), (4; 3), (4; −1)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– Адан, y – Сдан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(−2; −1)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Чоку эки кошунасынан бирден координата алат.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болжолдо: кайсы чейрек? → анан сана → сүрөт менен текшер.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Гүлнара эже: «O дон 3 м солго, анан 4 м өйдө казык кагылды». Казыктын координаттары кандай?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(4; −3)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(−3; 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(3; 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(−4; 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Бугунун сүрөтү (−4; 2), тоо теке (3; 2) чекитинде. Экөөнүн аралыгы канча метр? (1 чакмак = 1 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Жылкынын сүрөтү (−2; 4), иттики (−2; −3) чекитинде. Экөөнүн аралыгы канча метр?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Айбек (−5; −1) чекитинен (3; 4) чекитине чакмак сызыктары менен барат. Эң кыска жол канча метр?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Бугунун сүрөтү (−4; 2), тоо теке (3; 2) чекитинде. Экөөнүн аралыгы канча метр? (1 чакмак = 1 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3393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6306" y="3017520"/>
            <a:ext cx="100453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7 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 + 3 = 7 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Жылкынын сүрөтү (−2; 4), иттики (−2; −3) чекитинде. Экөөнүн аралыгы канча метр?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13393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58978" y="3017520"/>
            <a:ext cx="100453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7 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 + 3 = 7 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Айбек (−5; −1) чекитинен (3; 4) чекитине чакмак сызыктары менен барат. Эң кыска жол канча метр?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Оңго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35312" y="3017520"/>
            <a:ext cx="55054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85857" y="3017520"/>
            <a:ext cx="330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Өйдө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5312" y="3574389"/>
            <a:ext cx="11010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45421" y="3574389"/>
            <a:ext cx="44043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844784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707624" y="3958437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890503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13 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8 + 5 = 13 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(−6; −2) кайсы чейректе?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O дон 5 оңго, 3 ылдый: координаттары?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(−4; 1) жана (3; 1): аралыгы?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(2; −5) жана (2; 3): аралыгы?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Тик бурчтук: (−4; 2), (1; 2), (1; −3). 4-чокусу?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Ошол тик бурчтуктун периметри жана аянты?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(−6; −2) кайсы чейректе?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III чейрек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O дон 5 оңго, 3 ылдый: координаттары?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(5; −3)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(−4; 1) жана (3; 1): аралыгы?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(2; −5) жана (2; 3): аралыгы?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Тик бурчтук: (−4; 2), (1; 2), (1; −3). 4-чокусу?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(−4; −3)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Ошол тик бурчтуктун периметри жана аянты?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P = 20, S =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Чатырдын 3 казыгы: A(−3; 2), B(4; 2), C(4; −1). 4-казык D кайда кагылат? Айбек A чекитинен C чекитине жип боюнча канча метр басат?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A→B→C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2276855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4296" y="2240280"/>
            <a:ext cx="303580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2240280"/>
            <a:ext cx="1517903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8008" y="2240280"/>
            <a:ext cx="758951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10 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A → B:  3 + 4 =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x: −3 →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B → C:  2 + 1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y: 2 → −1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7 + 3 =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D(−3; −1)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x – Адан, y – Сдан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4-казык D(−3; −1) чекитинде. Айбек 10 м басат.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Чолпон-Ата жөнүндө маселе түз: 3 таш сүрөт II, III жана IV чейректе болсун; жупуң аралыкты же 4-чокуну тапсын.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Айбек, Жыпар, Гүлнара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K(−5; 2) кайсы чейректе?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A(−2; 3) жана B(6; 3): AB аралыгы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Тик бурчтуктун 3 чокусу: (1; 1), (1; −3), (−4; −3). 4-чокусу?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(2; −5) жана (−5; 2) – ар башка чекиттер?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Чекиттин чейрегин белгилеринен кантип билесиң?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Аралыкты качан кошобуз, качан кемитебиз?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жупка: 2 жип (октор), таш (O), 6–8 буурчак же капкак, чакмак кагаз.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дайым: «Адегенде басабыз (x), анан чыгабыз (y)».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Аралыкты адегенде кадам менен санап, анан тилке менен эсептейбиз (М3, М4).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Октогу чекиттер (0; 4), (−3; 0) ар сабакта: «чейректе эмес, окто» (М6).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