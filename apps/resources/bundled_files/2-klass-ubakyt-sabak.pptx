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аталышы жана бүгүнкү окуя.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Сабактын жолу: ар бир бөлүк өз слайды менен ачылат.</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Окуяны окуп бериңиз. Окуучулар болжолдошсун: жол 1 сааттан көппү, азбы? Жоопту сабактын аягында (22-слайд) текшеребиз. Проектор жок болсо, кагаз саатты 9:30га коюп көрсөтөм.</a:t>
            </a:r>
          </a:p>
          <a:p>
            <a:r>
              <a:t>3C (Байланыштыруу): Окуя турмуштан: бул суроого сабактын аягында кайтабыз.</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Ой жүгүртүү маданияты (Wenxi Lee, 2.6).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Ийгилик критерийлери: сабактын аягында ар бирине ✓ коёбуз.</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Спираль: тема класстан класска тереңдейт.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Мини-тактага жазышат.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Жоопту дароо айтпайбыз. Жупта талкуулашат. Жооп: Бекзат: кыска жебе 7ден өттү, 8ге жете элек. Саат 7:45 (Айсулуу – М2).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жупка: бир жолку кагаз тарелка же картон тегерек, картондон эки жебе (кыска жана узун, эки түстө), бөлүктөөчү кадак (жок болсо, сым же кнопка менен ширеңке кутусу). Окуучулар 1–12 сандарын жазышат, сыртына кичинекей 5, 10, 15 … 55. Узун жебени бир айлантсак, кыска жебе бир сандан кийинки санга жылат: «60 мүнөт = 1 саат» деп өздөрү айтышат. Класска бир жип (3–4 м) жана кийим кыскычтар: күн тартиби карталарын (Турам 7:00, Мектеп 8:00 …) убакыт тартибинде илебиз. Проектор жок болсо, ушул сүрөттү доскага чийем.</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Эки саатты доскага чийем. Убакыт тилкеси: ар бир кичине сызык = 5 мүнөт. 9:30дан 10:00гө чейин 6 секирик (30 мүнөт), 10:00дөн 10:20га чейин 4 секирик (20 мүнөт). Секириктерди санайбыз, сызыктарды эмес (М4). 1020 − 930 = 90 эмес: саатта 60 мүнөт (М3).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Адегенде кыска жебе: кайсы сандан ӨТТҮ (М2)? Анан узун жебе: 5тен санайбыз (М5). Сан менен жазганда мүнөт дайыма эки цифра: 7:05, 7:45. Чейрек = 15 мүнөт, жарым = 30 мүнөт.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сап «=» менен башталат. Окуучулар кадамды айтып турат.</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Ар бир ыкманы окуучу үн чыгарып айтат: «адегенде так саатка чейин 20, анан 15». «Оозеки беш мүнөт» (класста колдонуу картасы) эки апта ушул ыкмаларды кайталайт.</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Баары бир убакта манжа менен көрсөтөт (1–4). Туура эмес жооптун коду: А = М2; Б = ✓; В = М1; Г = М5</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деңгээл: так саатка чейин + андан ары → саатты аралап → бүтүн сааттар. Жооптор: 10 + 15 = 25 мүнөт; 15 + 15 = 30 мүнөт; 4 саат (8→9→10→11→12)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Жеңилден баштап, мүмкүн болушунча алдыга. Жооптор кийинки слайдда.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 саатка чейин 30 мүнөт, андан ары 20 мүнөт: 30 + 20 = 50. Кимдир бирөө 90 десе (1020 − 930), узун жебени 9:30дан 10:20га чейин айлантып көрсөтөм: бир толук айланууга жетпейт (М3).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Блум: Түзүү. Жупта алмашып, бири-биринин маселесин чыгарышат.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Жооптор: 8:30; 60;  24; 20 + 15 = 35 мүнөт</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Бул слайд окуучуларга көрсөтүлбөйт.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3" name="TextBox 2"/>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1/26</a:t>
            </a:r>
          </a:p>
        </p:txBody>
      </p:sp>
      <p:sp>
        <p:nvSpPr>
          <p:cNvPr id="4" name="Rounded Rectangle 3"/>
          <p:cNvSpPr/>
          <p:nvPr/>
        </p:nvSpPr>
        <p:spPr>
          <a:xfrm>
            <a:off x="822960" y="1371600"/>
            <a:ext cx="164592" cy="128016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1371600"/>
            <a:ext cx="164592" cy="128016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371600" y="1371600"/>
            <a:ext cx="164592" cy="128016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828800" y="1188720"/>
            <a:ext cx="9601200" cy="548640"/>
          </a:xfrm>
          <a:prstGeom prst="rect">
            <a:avLst/>
          </a:prstGeom>
          <a:noFill/>
        </p:spPr>
        <p:txBody>
          <a:bodyPr wrap="square" anchor="t" lIns="45720" rIns="45720" tIns="27432" bIns="27432">
            <a:spAutoFit/>
          </a:bodyPr>
          <a:lstStyle/>
          <a:p>
            <a:pPr algn="l">
              <a:lnSpc>
                <a:spcPct val="105000"/>
              </a:lnSpc>
            </a:pPr>
            <a:r>
              <a:rPr sz="2200" b="0" i="0">
                <a:solidFill>
                  <a:srgbClr val="4A5A70"/>
                </a:solidFill>
                <a:latin typeface="PT Sans"/>
              </a:rPr>
              <a:t/>
            </a:r>
          </a:p>
        </p:txBody>
      </p:sp>
      <p:sp>
        <p:nvSpPr>
          <p:cNvPr id="8" name="TextBox 7"/>
          <p:cNvSpPr txBox="1"/>
          <p:nvPr/>
        </p:nvSpPr>
        <p:spPr>
          <a:xfrm>
            <a:off x="1828800" y="1691640"/>
            <a:ext cx="9601200" cy="1737360"/>
          </a:xfrm>
          <a:prstGeom prst="rect">
            <a:avLst/>
          </a:prstGeom>
          <a:noFill/>
        </p:spPr>
        <p:txBody>
          <a:bodyPr wrap="square" anchor="t" lIns="45720" rIns="45720" tIns="27432" bIns="27432">
            <a:spAutoFit/>
          </a:bodyPr>
          <a:lstStyle/>
          <a:p>
            <a:pPr algn="l">
              <a:lnSpc>
                <a:spcPct val="105000"/>
              </a:lnSpc>
            </a:pPr>
            <a:r>
              <a:rPr sz="4000" b="1" i="0">
                <a:solidFill>
                  <a:srgbClr val="1D3557"/>
                </a:solidFill>
                <a:latin typeface="PT Sans"/>
              </a:rPr>
              <a:t>Убакыт: саат, мүнөт жана календарь</a:t>
            </a:r>
          </a:p>
        </p:txBody>
      </p:sp>
      <p:sp>
        <p:nvSpPr>
          <p:cNvPr id="9" name="Rounded Rectangle 8"/>
          <p:cNvSpPr/>
          <p:nvPr/>
        </p:nvSpPr>
        <p:spPr>
          <a:xfrm>
            <a:off x="1828800" y="3611880"/>
            <a:ext cx="8778240" cy="1463040"/>
          </a:xfrm>
          <a:prstGeom prst="roundRect">
            <a:avLst>
              <a:gd name="adj" fmla="val 12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3657600"/>
            <a:ext cx="8321040" cy="457200"/>
          </a:xfrm>
          <a:prstGeom prst="rect">
            <a:avLst/>
          </a:prstGeom>
          <a:noFill/>
        </p:spPr>
        <p:txBody>
          <a:bodyPr wrap="square" anchor="t" lIns="45720" rIns="45720" tIns="27432" bIns="27432">
            <a:spAutoFit/>
          </a:bodyPr>
          <a:lstStyle/>
          <a:p>
            <a:pPr algn="l">
              <a:lnSpc>
                <a:spcPct val="105000"/>
              </a:lnSpc>
            </a:pPr>
            <a:r>
              <a:rPr sz="2400" b="1" i="0">
                <a:solidFill>
                  <a:srgbClr val="A84400"/>
                </a:solidFill>
                <a:latin typeface="PT Sans"/>
              </a:rPr>
              <a:t>Бүгүнкү окуя: Ишемби: Токмокко, Зуура апага</a:t>
            </a:r>
          </a:p>
        </p:txBody>
      </p:sp>
      <p:sp>
        <p:nvSpPr>
          <p:cNvPr id="11" name="TextBox 10"/>
          <p:cNvSpPr txBox="1"/>
          <p:nvPr/>
        </p:nvSpPr>
        <p:spPr>
          <a:xfrm>
            <a:off x="2057400" y="4160520"/>
            <a:ext cx="8321040" cy="914400"/>
          </a:xfrm>
          <a:prstGeom prst="rect">
            <a:avLst/>
          </a:prstGeom>
          <a:noFill/>
        </p:spPr>
        <p:txBody>
          <a:bodyPr wrap="square" anchor="t" lIns="45720" rIns="45720" tIns="27432" bIns="27432">
            <a:spAutoFit/>
          </a:bodyPr>
          <a:lstStyle/>
          <a:p>
            <a:pPr algn="l">
              <a:lnSpc>
                <a:spcPct val="105000"/>
              </a:lnSpc>
            </a:pPr>
            <a:r>
              <a:rPr sz="1900" b="0" i="0">
                <a:solidFill>
                  <a:srgbClr val="1F2430"/>
                </a:solidFill>
                <a:latin typeface="PT Sans"/>
              </a:rPr>
              <a:t>Айсулуу менен Бекзат маршрутка менен Токмокко барышат. Айсулуу ар бир окуянын убактысын жазат.</a:t>
            </a:r>
          </a:p>
        </p:txBody>
      </p:sp>
      <p:sp>
        <p:nvSpPr>
          <p:cNvPr id="12" name="TextBox 11"/>
          <p:cNvSpPr txBox="1"/>
          <p:nvPr/>
        </p:nvSpPr>
        <p:spPr>
          <a:xfrm>
            <a:off x="1828800" y="5349240"/>
            <a:ext cx="9601200" cy="457200"/>
          </a:xfrm>
          <a:prstGeom prst="rect">
            <a:avLst/>
          </a:prstGeom>
          <a:noFill/>
        </p:spPr>
        <p:txBody>
          <a:bodyPr wrap="square" anchor="t" lIns="45720" rIns="45720" tIns="27432" bIns="27432">
            <a:spAutoFit/>
          </a:bodyPr>
          <a:lstStyle/>
          <a:p>
            <a:pPr algn="l">
              <a:lnSpc>
                <a:spcPct val="105000"/>
              </a:lnSpc>
            </a:pPr>
            <a:r>
              <a:rPr sz="1300" b="0" i="1">
                <a:solidFill>
                  <a:srgbClr val="6B7280"/>
                </a:solidFill>
                <a:latin typeface="PT Sans"/>
              </a:rPr>
              <a:t>Китеп: 2025–26 КТП, 2-класс: «убакыт», «жарым жана чейрек»; 2011-стандарт 3.2 (убакыттын чен бирдиктери). Кыргызча окуу китеби папкада жок; мазмуну толук жаңы.</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Сабактын мазмуну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2/26</a:t>
            </a:r>
          </a:p>
        </p:txBody>
      </p:sp>
      <p:sp>
        <p:nvSpPr>
          <p:cNvPr id="10" name="Rounded Rectangle 9"/>
          <p:cNvSpPr/>
          <p:nvPr/>
        </p:nvSpPr>
        <p:spPr>
          <a:xfrm>
            <a:off x="429768" y="1280160"/>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080" y="1463039"/>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80160" y="1280160"/>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Кириш</a:t>
            </a:r>
          </a:p>
        </p:txBody>
      </p:sp>
      <p:sp>
        <p:nvSpPr>
          <p:cNvPr id="13" name="TextBox 12"/>
          <p:cNvSpPr txBox="1"/>
          <p:nvPr/>
        </p:nvSpPr>
        <p:spPr>
          <a:xfrm>
            <a:off x="4480560" y="1280160"/>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 эрежелер, максаттар</a:t>
            </a:r>
          </a:p>
        </p:txBody>
      </p:sp>
      <p:sp>
        <p:nvSpPr>
          <p:cNvPr id="14" name="Rounded Rectangle 13"/>
          <p:cNvSpPr/>
          <p:nvPr/>
        </p:nvSpPr>
        <p:spPr>
          <a:xfrm>
            <a:off x="429768" y="2212848"/>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0080" y="2395728"/>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80160" y="2212848"/>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Даярдык</a:t>
            </a:r>
          </a:p>
        </p:txBody>
      </p:sp>
      <p:sp>
        <p:nvSpPr>
          <p:cNvPr id="17" name="TextBox 16"/>
          <p:cNvSpPr txBox="1"/>
          <p:nvPr/>
        </p:nvSpPr>
        <p:spPr>
          <a:xfrm>
            <a:off x="4480560" y="2212848"/>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Эстейбиз, «Ким туура?»</a:t>
            </a:r>
          </a:p>
        </p:txBody>
      </p:sp>
      <p:sp>
        <p:nvSpPr>
          <p:cNvPr id="18" name="Rounded Rectangle 17"/>
          <p:cNvSpPr/>
          <p:nvPr/>
        </p:nvSpPr>
        <p:spPr>
          <a:xfrm>
            <a:off x="429768" y="3145536"/>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40080" y="3328416"/>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0" name="TextBox 19"/>
          <p:cNvSpPr txBox="1"/>
          <p:nvPr/>
        </p:nvSpPr>
        <p:spPr>
          <a:xfrm>
            <a:off x="1280160" y="3145536"/>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Түшүнөбүз</a:t>
            </a:r>
          </a:p>
        </p:txBody>
      </p:sp>
      <p:sp>
        <p:nvSpPr>
          <p:cNvPr id="21" name="TextBox 20"/>
          <p:cNvSpPr txBox="1"/>
          <p:nvPr/>
        </p:nvSpPr>
        <p:spPr>
          <a:xfrm>
            <a:off x="4480560" y="3145536"/>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К → С → А: буюм, тилке, эреже</a:t>
            </a:r>
          </a:p>
        </p:txBody>
      </p:sp>
      <p:sp>
        <p:nvSpPr>
          <p:cNvPr id="22" name="Rounded Rectangle 21"/>
          <p:cNvSpPr/>
          <p:nvPr/>
        </p:nvSpPr>
        <p:spPr>
          <a:xfrm>
            <a:off x="429768" y="4078224"/>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426110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4" name="TextBox 23"/>
          <p:cNvSpPr txBox="1"/>
          <p:nvPr/>
        </p:nvSpPr>
        <p:spPr>
          <a:xfrm>
            <a:off x="1280160" y="4078224"/>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Машыгабыз</a:t>
            </a:r>
          </a:p>
        </p:txBody>
      </p:sp>
      <p:sp>
        <p:nvSpPr>
          <p:cNvPr id="25" name="TextBox 24"/>
          <p:cNvSpPr txBox="1"/>
          <p:nvPr/>
        </p:nvSpPr>
        <p:spPr>
          <a:xfrm>
            <a:off x="4480560" y="4078224"/>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Чечүүчү суроо, тилке, өз алдынча иш</a:t>
            </a:r>
          </a:p>
        </p:txBody>
      </p:sp>
      <p:sp>
        <p:nvSpPr>
          <p:cNvPr id="26" name="Rounded Rectangle 25"/>
          <p:cNvSpPr/>
          <p:nvPr/>
        </p:nvSpPr>
        <p:spPr>
          <a:xfrm>
            <a:off x="429768" y="5010912"/>
            <a:ext cx="11329416" cy="804672"/>
          </a:xfrm>
          <a:prstGeom prst="roundRect">
            <a:avLst>
              <a:gd name="adj" fmla="val 20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0080" y="5193792"/>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8" name="TextBox 27"/>
          <p:cNvSpPr txBox="1"/>
          <p:nvPr/>
        </p:nvSpPr>
        <p:spPr>
          <a:xfrm>
            <a:off x="1280160" y="5010912"/>
            <a:ext cx="3108960" cy="804672"/>
          </a:xfrm>
          <a:prstGeom prst="rect">
            <a:avLst/>
          </a:prstGeom>
          <a:noFill/>
        </p:spPr>
        <p:txBody>
          <a:bodyPr wrap="square" anchor="ctr" lIns="45720" rIns="45720" tIns="27432" bIns="27432">
            <a:spAutoFit/>
          </a:bodyPr>
          <a:lstStyle/>
          <a:p>
            <a:pPr algn="l">
              <a:lnSpc>
                <a:spcPct val="105000"/>
              </a:lnSpc>
            </a:pPr>
            <a:r>
              <a:rPr sz="2400" b="1" i="0">
                <a:solidFill>
                  <a:srgbClr val="1D3557"/>
                </a:solidFill>
                <a:latin typeface="PT Sans"/>
              </a:rPr>
              <a:t>Жыйынтык</a:t>
            </a:r>
          </a:p>
        </p:txBody>
      </p:sp>
      <p:sp>
        <p:nvSpPr>
          <p:cNvPr id="29" name="TextBox 28"/>
          <p:cNvSpPr txBox="1"/>
          <p:nvPr/>
        </p:nvSpPr>
        <p:spPr>
          <a:xfrm>
            <a:off x="4480560" y="5010912"/>
            <a:ext cx="7132320" cy="804672"/>
          </a:xfrm>
          <a:prstGeom prst="rect">
            <a:avLst/>
          </a:prstGeom>
          <a:noFill/>
        </p:spPr>
        <p:txBody>
          <a:bodyPr wrap="square" anchor="ctr" lIns="45720" rIns="45720" tIns="27432" bIns="27432">
            <a:spAutoFit/>
          </a:bodyPr>
          <a:lstStyle/>
          <a:p>
            <a:pPr algn="l">
              <a:lnSpc>
                <a:spcPct val="105000"/>
              </a:lnSpc>
            </a:pPr>
            <a:r>
              <a:rPr sz="2100" b="0" i="0">
                <a:solidFill>
                  <a:srgbClr val="1F2430"/>
                </a:solidFill>
                <a:latin typeface="PT Sans"/>
              </a:rPr>
              <a:t>Окуяга кайтуу, түзүү, чыгуу билети</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 Ишемби: Токмокко, Зуура апага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3/26</a:t>
            </a:r>
          </a:p>
        </p:txBody>
      </p:sp>
      <p:sp>
        <p:nvSpPr>
          <p:cNvPr id="10" name="Rounded Rectangle 9"/>
          <p:cNvSpPr/>
          <p:nvPr/>
        </p:nvSpPr>
        <p:spPr>
          <a:xfrm>
            <a:off x="429768" y="1225296"/>
            <a:ext cx="6766560" cy="45720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25880"/>
            <a:ext cx="6217920" cy="4389120"/>
          </a:xfrm>
          <a:prstGeom prst="rect">
            <a:avLst/>
          </a:prstGeom>
          <a:noFill/>
        </p:spPr>
        <p:txBody>
          <a:bodyPr wrap="square" anchor="t" lIns="45720" rIns="45720" tIns="27432" bIns="27432">
            <a:spAutoFit/>
          </a:bodyPr>
          <a:lstStyle/>
          <a:p>
            <a:pPr algn="l">
              <a:lnSpc>
                <a:spcPct val="105000"/>
              </a:lnSpc>
            </a:pPr>
            <a:r>
              <a:rPr sz="2100" b="0" i="0">
                <a:solidFill>
                  <a:srgbClr val="1F2430"/>
                </a:solidFill>
                <a:latin typeface="PT Sans"/>
              </a:rPr>
              <a:t>Ишемби. Айсулуу менен Бекзат Токмокко, Зуура апасына барышат.</a:t>
            </a:r>
          </a:p>
          <a:p>
            <a:pPr algn="l">
              <a:lnSpc>
                <a:spcPct val="105000"/>
              </a:lnSpc>
              <a:spcBef>
                <a:spcPts val="800"/>
              </a:spcBef>
            </a:pPr>
            <a:r>
              <a:rPr sz="2100" b="0" i="0">
                <a:solidFill>
                  <a:srgbClr val="1F2430"/>
                </a:solidFill>
                <a:latin typeface="PT Sans"/>
              </a:rPr>
              <a:t>Маршрутка 9:30да жөнөйт. Айсулуу кагаз саатын алып алды.</a:t>
            </a:r>
          </a:p>
          <a:p>
            <a:pPr algn="l">
              <a:lnSpc>
                <a:spcPct val="105000"/>
              </a:lnSpc>
              <a:spcBef>
                <a:spcPts val="800"/>
              </a:spcBef>
            </a:pPr>
            <a:r>
              <a:rPr sz="2100" b="0" i="0">
                <a:solidFill>
                  <a:srgbClr val="1F2430"/>
                </a:solidFill>
                <a:latin typeface="PT Sans"/>
              </a:rPr>
              <a:t>Токмокто Зуура апа боорсок бышырат. Анан баары Бурана мунарасына барышат.</a:t>
            </a:r>
          </a:p>
          <a:p>
            <a:pPr algn="l">
              <a:lnSpc>
                <a:spcPct val="105000"/>
              </a:lnSpc>
              <a:spcBef>
                <a:spcPts val="800"/>
              </a:spcBef>
            </a:pPr>
            <a:r>
              <a:rPr sz="2100" b="0" i="0">
                <a:solidFill>
                  <a:srgbClr val="1F2430"/>
                </a:solidFill>
                <a:latin typeface="PT Sans"/>
              </a:rPr>
              <a:t>Айсулуу ар бир окуянын убактысын жипке илип, убакыт тилкесин жасайт.</a:t>
            </a:r>
          </a:p>
        </p:txBody>
      </p:sp>
      <p:sp>
        <p:nvSpPr>
          <p:cNvPr id="12" name="Rounded Rectangle 11"/>
          <p:cNvSpPr/>
          <p:nvPr/>
        </p:nvSpPr>
        <p:spPr>
          <a:xfrm>
            <a:off x="7406640" y="1225296"/>
            <a:ext cx="4352544" cy="45720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35240" y="1325880"/>
            <a:ext cx="3931920" cy="457200"/>
          </a:xfrm>
          <a:prstGeom prst="rect">
            <a:avLst/>
          </a:prstGeom>
          <a:noFill/>
        </p:spPr>
        <p:txBody>
          <a:bodyPr wrap="square" anchor="t" lIns="45720" rIns="45720" tIns="27432" bIns="27432">
            <a:spAutoFit/>
          </a:bodyPr>
          <a:lstStyle/>
          <a:p>
            <a:pPr algn="l">
              <a:lnSpc>
                <a:spcPct val="105000"/>
              </a:lnSpc>
            </a:pPr>
            <a:r>
              <a:rPr sz="2200" b="1" i="0">
                <a:solidFill>
                  <a:srgbClr val="A84400"/>
                </a:solidFill>
                <a:latin typeface="PT Sans"/>
              </a:rPr>
              <a:t>Суроо</a:t>
            </a:r>
          </a:p>
        </p:txBody>
      </p:sp>
      <p:sp>
        <p:nvSpPr>
          <p:cNvPr id="14" name="TextBox 13"/>
          <p:cNvSpPr txBox="1"/>
          <p:nvPr/>
        </p:nvSpPr>
        <p:spPr>
          <a:xfrm>
            <a:off x="7635240" y="1828800"/>
            <a:ext cx="3931920" cy="2743200"/>
          </a:xfrm>
          <a:prstGeom prst="rect">
            <a:avLst/>
          </a:prstGeom>
          <a:noFill/>
        </p:spPr>
        <p:txBody>
          <a:bodyPr wrap="square" anchor="t" lIns="45720" rIns="45720" tIns="27432" bIns="27432">
            <a:spAutoFit/>
          </a:bodyPr>
          <a:lstStyle/>
          <a:p>
            <a:pPr algn="l">
              <a:lnSpc>
                <a:spcPct val="105000"/>
              </a:lnSpc>
            </a:pPr>
            <a:r>
              <a:rPr sz="2200" b="1" i="0">
                <a:solidFill>
                  <a:srgbClr val="1F2430"/>
                </a:solidFill>
                <a:latin typeface="PT Sans"/>
              </a:rPr>
              <a:t>Маршрутка 9:30да жөнөп, 10:20да Токмокко жетти. Жол канча убакыт алды?</a:t>
            </a:r>
          </a:p>
        </p:txBody>
      </p:sp>
      <p:sp>
        <p:nvSpPr>
          <p:cNvPr id="15" name="TextBox 14"/>
          <p:cNvSpPr txBox="1"/>
          <p:nvPr/>
        </p:nvSpPr>
        <p:spPr>
          <a:xfrm>
            <a:off x="7635240" y="4572000"/>
            <a:ext cx="3931920" cy="1097280"/>
          </a:xfrm>
          <a:prstGeom prst="rect">
            <a:avLst/>
          </a:prstGeom>
          <a:noFill/>
        </p:spPr>
        <p:txBody>
          <a:bodyPr wrap="square" anchor="t" lIns="45720" rIns="45720" tIns="27432" bIns="27432">
            <a:spAutoFit/>
          </a:bodyPr>
          <a:lstStyle/>
          <a:p>
            <a:pPr algn="l">
              <a:lnSpc>
                <a:spcPct val="105000"/>
              </a:lnSpc>
            </a:pPr>
            <a:r>
              <a:rPr sz="1700" b="0" i="1">
                <a:solidFill>
                  <a:srgbClr val="6B7280"/>
                </a:solidFill>
                <a:latin typeface="PT Sans"/>
              </a:rPr>
              <a:t>Азыр жообун айтпайбыз. Ойлон: кантип билебиз?</a:t>
            </a:r>
          </a:p>
        </p:txBody>
      </p:sp>
      <p:sp>
        <p:nvSpPr>
          <p:cNvPr id="16" name="Rounded Rectangle 1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Математикада биз…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4/26</a:t>
            </a:r>
          </a:p>
        </p:txBody>
      </p:sp>
      <p:sp>
        <p:nvSpPr>
          <p:cNvPr id="10" name="Rounded Rectangle 9"/>
          <p:cNvSpPr/>
          <p:nvPr/>
        </p:nvSpPr>
        <p:spPr>
          <a:xfrm>
            <a:off x="429768"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600200"/>
            <a:ext cx="3166872" cy="1463040"/>
          </a:xfrm>
          <a:prstGeom prst="roundRect">
            <a:avLst>
              <a:gd name="adj" fmla="val 15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Ката – үйрөнүүнүн бир бөлүгү</a:t>
            </a:r>
          </a:p>
        </p:txBody>
      </p:sp>
      <p:sp>
        <p:nvSpPr>
          <p:cNvPr id="12" name="TextBox 11"/>
          <p:cNvSpPr txBox="1"/>
          <p:nvPr/>
        </p:nvSpPr>
        <p:spPr>
          <a:xfrm>
            <a:off x="658368"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Ката кетсе, эмне үчүн кеткенин издейбиз.</a:t>
            </a:r>
          </a:p>
        </p:txBody>
      </p:sp>
      <p:sp>
        <p:nvSpPr>
          <p:cNvPr id="13" name="Rounded Rectangle 12"/>
          <p:cNvSpPr/>
          <p:nvPr/>
        </p:nvSpPr>
        <p:spPr>
          <a:xfrm>
            <a:off x="4282439"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11039" y="1600200"/>
            <a:ext cx="3166872" cy="1463040"/>
          </a:xfrm>
          <a:prstGeom prst="roundRect">
            <a:avLst>
              <a:gd name="adj" fmla="val 15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«Азырынча билбейм»</a:t>
            </a:r>
          </a:p>
        </p:txBody>
      </p:sp>
      <p:sp>
        <p:nvSpPr>
          <p:cNvPr id="15" name="TextBox 14"/>
          <p:cNvSpPr txBox="1"/>
          <p:nvPr/>
        </p:nvSpPr>
        <p:spPr>
          <a:xfrm>
            <a:off x="4511039"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«Билбейм» эмес, «азырынча». Машыксак, үйрөнөбүз.</a:t>
            </a:r>
          </a:p>
        </p:txBody>
      </p:sp>
      <p:sp>
        <p:nvSpPr>
          <p:cNvPr id="16" name="Rounded Rectangle 15"/>
          <p:cNvSpPr/>
          <p:nvPr/>
        </p:nvSpPr>
        <p:spPr>
          <a:xfrm>
            <a:off x="8135112" y="1325880"/>
            <a:ext cx="3624072" cy="42062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363712" y="1600200"/>
            <a:ext cx="3166872" cy="1463040"/>
          </a:xfrm>
          <a:prstGeom prst="roundRect">
            <a:avLst>
              <a:gd name="adj" fmla="val 15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Адегенде түшүн, анан эсепте</a:t>
            </a:r>
          </a:p>
        </p:txBody>
      </p:sp>
      <p:sp>
        <p:nvSpPr>
          <p:cNvPr id="18" name="TextBox 17"/>
          <p:cNvSpPr txBox="1"/>
          <p:nvPr/>
        </p:nvSpPr>
        <p:spPr>
          <a:xfrm>
            <a:off x="8363712" y="3291840"/>
            <a:ext cx="3166872" cy="2103120"/>
          </a:xfrm>
          <a:prstGeom prst="rect">
            <a:avLst/>
          </a:prstGeom>
          <a:noFill/>
        </p:spPr>
        <p:txBody>
          <a:bodyPr wrap="square" anchor="t" lIns="45720" rIns="45720" tIns="27432" bIns="27432">
            <a:spAutoFit/>
          </a:bodyPr>
          <a:lstStyle/>
          <a:p>
            <a:pPr algn="ctr">
              <a:lnSpc>
                <a:spcPct val="105000"/>
              </a:lnSpc>
            </a:pPr>
            <a:r>
              <a:rPr sz="1900" b="0" i="0">
                <a:solidFill>
                  <a:srgbClr val="1F2430"/>
                </a:solidFill>
                <a:latin typeface="PT Sans"/>
              </a:rPr>
              <a:t>Сүрөт же тилке чийип, анан сан менен жазабыз.</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Максаттар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5/26</a:t>
            </a:r>
          </a:p>
        </p:txBody>
      </p:sp>
      <p:sp>
        <p:nvSpPr>
          <p:cNvPr id="10" name="Rounded Rectangle 9"/>
          <p:cNvSpPr/>
          <p:nvPr/>
        </p:nvSpPr>
        <p:spPr>
          <a:xfrm>
            <a:off x="429768" y="1225296"/>
            <a:ext cx="6409944"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429768" y="1865376"/>
            <a:ext cx="6409944"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12648" y="1225296"/>
            <a:ext cx="6044184"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Бүгүн биз үйрөнөбүз</a:t>
            </a:r>
          </a:p>
        </p:txBody>
      </p:sp>
      <p:sp>
        <p:nvSpPr>
          <p:cNvPr id="13" name="Oval 12"/>
          <p:cNvSpPr/>
          <p:nvPr/>
        </p:nvSpPr>
        <p:spPr>
          <a:xfrm>
            <a:off x="722376" y="21488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4" name="TextBox 13"/>
          <p:cNvSpPr txBox="1"/>
          <p:nvPr/>
        </p:nvSpPr>
        <p:spPr>
          <a:xfrm>
            <a:off x="1261872" y="211226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Саатты окуйм: так, жарым, чейрек, анан 5 мүнөттөн.</a:t>
            </a:r>
          </a:p>
        </p:txBody>
      </p:sp>
      <p:sp>
        <p:nvSpPr>
          <p:cNvPr id="15" name="Oval 14"/>
          <p:cNvSpPr/>
          <p:nvPr/>
        </p:nvSpPr>
        <p:spPr>
          <a:xfrm>
            <a:off x="722376" y="342900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61872" y="339242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Убакытты сан менен жазам: 7:45.</a:t>
            </a:r>
          </a:p>
        </p:txBody>
      </p:sp>
      <p:sp>
        <p:nvSpPr>
          <p:cNvPr id="17" name="Oval 16"/>
          <p:cNvSpPr/>
          <p:nvPr/>
        </p:nvSpPr>
        <p:spPr>
          <a:xfrm>
            <a:off x="722376" y="470916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8" name="TextBox 17"/>
          <p:cNvSpPr txBox="1"/>
          <p:nvPr/>
        </p:nvSpPr>
        <p:spPr>
          <a:xfrm>
            <a:off x="1261872" y="4672584"/>
            <a:ext cx="5394960" cy="109728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Убакыт тилкесинде канча убакыт өткөнүн табам; 1 саат = 60 мүнөт.</a:t>
            </a:r>
          </a:p>
        </p:txBody>
      </p:sp>
      <p:sp>
        <p:nvSpPr>
          <p:cNvPr id="19" name="Rounded Rectangle 18"/>
          <p:cNvSpPr/>
          <p:nvPr/>
        </p:nvSpPr>
        <p:spPr>
          <a:xfrm>
            <a:off x="7132320" y="1225296"/>
            <a:ext cx="4636008"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7132320" y="1865376"/>
            <a:ext cx="46360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306056" y="1225296"/>
            <a:ext cx="4270248" cy="64008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Деңгээлдер</a:t>
            </a:r>
          </a:p>
        </p:txBody>
      </p:sp>
      <p:sp>
        <p:nvSpPr>
          <p:cNvPr id="22" name="Rounded Rectangle 21"/>
          <p:cNvSpPr/>
          <p:nvPr/>
        </p:nvSpPr>
        <p:spPr>
          <a:xfrm>
            <a:off x="7360920" y="2103120"/>
            <a:ext cx="1143000" cy="731520"/>
          </a:xfrm>
          <a:prstGeom prst="roundRect">
            <a:avLst>
              <a:gd name="adj" fmla="val 20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007A5A"/>
                </a:solidFill>
                <a:latin typeface="PT Sans"/>
              </a:rPr>
              <a:t>Жеңил</a:t>
            </a:r>
          </a:p>
        </p:txBody>
      </p:sp>
      <p:sp>
        <p:nvSpPr>
          <p:cNvPr id="23" name="TextBox 22"/>
          <p:cNvSpPr txBox="1"/>
          <p:nvPr/>
        </p:nvSpPr>
        <p:spPr>
          <a:xfrm>
            <a:off x="8641080" y="2057400"/>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Так жана жарым</a:t>
            </a:r>
          </a:p>
        </p:txBody>
      </p:sp>
      <p:sp>
        <p:nvSpPr>
          <p:cNvPr id="24" name="Rounded Rectangle 23"/>
          <p:cNvSpPr/>
          <p:nvPr/>
        </p:nvSpPr>
        <p:spPr>
          <a:xfrm>
            <a:off x="7360920" y="3127248"/>
            <a:ext cx="1143000" cy="731520"/>
          </a:xfrm>
          <a:prstGeom prst="roundRect">
            <a:avLst>
              <a:gd name="adj" fmla="val 20000"/>
            </a:avLst>
          </a:prstGeom>
          <a:solidFill>
            <a:srgbClr val="FFFFFF"/>
          </a:solid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Орто</a:t>
            </a:r>
          </a:p>
        </p:txBody>
      </p:sp>
      <p:sp>
        <p:nvSpPr>
          <p:cNvPr id="25" name="TextBox 24"/>
          <p:cNvSpPr txBox="1"/>
          <p:nvPr/>
        </p:nvSpPr>
        <p:spPr>
          <a:xfrm>
            <a:off x="8641080" y="3081528"/>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Чейрек, 5 мүнөт</a:t>
            </a:r>
          </a:p>
        </p:txBody>
      </p:sp>
      <p:sp>
        <p:nvSpPr>
          <p:cNvPr id="26" name="Rounded Rectangle 25"/>
          <p:cNvSpPr/>
          <p:nvPr/>
        </p:nvSpPr>
        <p:spPr>
          <a:xfrm>
            <a:off x="7360920" y="4151376"/>
            <a:ext cx="1143000" cy="731520"/>
          </a:xfrm>
          <a:prstGeom prst="roundRect">
            <a:avLst>
              <a:gd name="adj" fmla="val 20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4A5A70"/>
                </a:solidFill>
                <a:latin typeface="PT Sans"/>
              </a:rPr>
              <a:t>Оор</a:t>
            </a:r>
          </a:p>
        </p:txBody>
      </p:sp>
      <p:sp>
        <p:nvSpPr>
          <p:cNvPr id="27" name="TextBox 26"/>
          <p:cNvSpPr txBox="1"/>
          <p:nvPr/>
        </p:nvSpPr>
        <p:spPr>
          <a:xfrm>
            <a:off x="8641080" y="4105656"/>
            <a:ext cx="3017520" cy="822960"/>
          </a:xfrm>
          <a:prstGeom prst="rect">
            <a:avLst/>
          </a:prstGeom>
          <a:noFill/>
        </p:spPr>
        <p:txBody>
          <a:bodyPr wrap="square" anchor="ctr" lIns="45720" rIns="45720" tIns="27432" bIns="27432">
            <a:spAutoFit/>
          </a:bodyPr>
          <a:lstStyle/>
          <a:p>
            <a:pPr algn="l">
              <a:lnSpc>
                <a:spcPct val="105000"/>
              </a:lnSpc>
            </a:pPr>
            <a:r>
              <a:rPr sz="2000" b="0" i="0">
                <a:solidFill>
                  <a:srgbClr val="6B7280"/>
                </a:solidFill>
                <a:latin typeface="PT Sans"/>
              </a:rPr>
              <a:t>Канча убакыт өттү?</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3C: бүгүн кантип ойлонобуз?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6/26</a:t>
            </a:r>
          </a:p>
        </p:txBody>
      </p:sp>
      <p:sp>
        <p:nvSpPr>
          <p:cNvPr id="10" name="Rounded Rectangle 9"/>
          <p:cNvSpPr/>
          <p:nvPr/>
        </p:nvSpPr>
        <p:spPr>
          <a:xfrm>
            <a:off x="429768"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4088" y="1463040"/>
            <a:ext cx="3044952" cy="64008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007A5A"/>
                </a:solidFill>
                <a:latin typeface="PT Sans"/>
              </a:rPr>
              <a:t>Сынчыл ой</a:t>
            </a:r>
          </a:p>
        </p:txBody>
      </p:sp>
      <p:sp>
        <p:nvSpPr>
          <p:cNvPr id="12" name="TextBox 11"/>
          <p:cNvSpPr txBox="1"/>
          <p:nvPr/>
        </p:nvSpPr>
        <p:spPr>
          <a:xfrm>
            <a:off x="658368"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Текшеребиз, далилдейбиз, катаны издейбиз.</a:t>
            </a:r>
          </a:p>
        </p:txBody>
      </p:sp>
      <p:cxnSp>
        <p:nvCxnSpPr>
          <p:cNvPr id="13" name="Connector 12"/>
          <p:cNvCxnSpPr/>
          <p:nvPr/>
        </p:nvCxnSpPr>
        <p:spPr>
          <a:xfrm>
            <a:off x="704088"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15" name="TextBox 14"/>
          <p:cNvSpPr txBox="1"/>
          <p:nvPr/>
        </p:nvSpPr>
        <p:spPr>
          <a:xfrm>
            <a:off x="658368"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«Ким туура?»</a:t>
            </a:r>
          </a:p>
          <a:p>
            <a:pPr algn="l">
              <a:lnSpc>
                <a:spcPct val="105000"/>
              </a:lnSpc>
            </a:pPr>
            <a:r>
              <a:rPr sz="1800" b="0" i="0">
                <a:solidFill>
                  <a:srgbClr val="1F2430"/>
                </a:solidFill>
                <a:latin typeface="PT Sans"/>
              </a:rPr>
              <a:t>• Кагаз саатта текшерүү</a:t>
            </a:r>
          </a:p>
        </p:txBody>
      </p:sp>
      <p:sp>
        <p:nvSpPr>
          <p:cNvPr id="16" name="Rounded Rectangle 15"/>
          <p:cNvSpPr/>
          <p:nvPr/>
        </p:nvSpPr>
        <p:spPr>
          <a:xfrm>
            <a:off x="4297680"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0" y="1463040"/>
            <a:ext cx="3044952" cy="64008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A84400"/>
                </a:solidFill>
                <a:latin typeface="PT Sans"/>
              </a:rPr>
              <a:t>Кызматташуу</a:t>
            </a:r>
          </a:p>
        </p:txBody>
      </p:sp>
      <p:sp>
        <p:nvSpPr>
          <p:cNvPr id="18" name="TextBox 17"/>
          <p:cNvSpPr txBox="1"/>
          <p:nvPr/>
        </p:nvSpPr>
        <p:spPr>
          <a:xfrm>
            <a:off x="4526280"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Жупта жана топто сүйлөшөбүз.</a:t>
            </a:r>
          </a:p>
        </p:txBody>
      </p:sp>
      <p:cxnSp>
        <p:nvCxnSpPr>
          <p:cNvPr id="19" name="Connector 18"/>
          <p:cNvCxnSpPr/>
          <p:nvPr/>
        </p:nvCxnSpPr>
        <p:spPr>
          <a:xfrm>
            <a:off x="4572000"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26280"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1" name="TextBox 20"/>
          <p:cNvSpPr txBox="1"/>
          <p:nvPr/>
        </p:nvSpPr>
        <p:spPr>
          <a:xfrm>
            <a:off x="4526280"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Жупта: кагаз саат</a:t>
            </a:r>
          </a:p>
          <a:p>
            <a:pPr algn="l">
              <a:lnSpc>
                <a:spcPct val="105000"/>
              </a:lnSpc>
            </a:pPr>
            <a:r>
              <a:rPr sz="1800" b="0" i="0">
                <a:solidFill>
                  <a:srgbClr val="1F2430"/>
                </a:solidFill>
                <a:latin typeface="PT Sans"/>
              </a:rPr>
              <a:t>• Күн тартиби карталары</a:t>
            </a:r>
          </a:p>
        </p:txBody>
      </p:sp>
      <p:sp>
        <p:nvSpPr>
          <p:cNvPr id="22" name="Rounded Rectangle 21"/>
          <p:cNvSpPr/>
          <p:nvPr/>
        </p:nvSpPr>
        <p:spPr>
          <a:xfrm>
            <a:off x="8165592" y="1225296"/>
            <a:ext cx="3593592"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439912" y="1463040"/>
            <a:ext cx="3044952" cy="64008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24418C"/>
                </a:solidFill>
                <a:latin typeface="PT Sans"/>
              </a:rPr>
              <a:t>Байланыштыруу</a:t>
            </a:r>
          </a:p>
        </p:txBody>
      </p:sp>
      <p:sp>
        <p:nvSpPr>
          <p:cNvPr id="24" name="TextBox 23"/>
          <p:cNvSpPr txBox="1"/>
          <p:nvPr/>
        </p:nvSpPr>
        <p:spPr>
          <a:xfrm>
            <a:off x="8394192" y="2286000"/>
            <a:ext cx="3136392" cy="1371600"/>
          </a:xfrm>
          <a:prstGeom prst="rect">
            <a:avLst/>
          </a:prstGeom>
          <a:noFill/>
        </p:spPr>
        <p:txBody>
          <a:bodyPr wrap="square" anchor="t" lIns="45720" rIns="45720" tIns="27432" bIns="27432">
            <a:spAutoFit/>
          </a:bodyPr>
          <a:lstStyle/>
          <a:p>
            <a:pPr algn="ctr">
              <a:lnSpc>
                <a:spcPct val="105000"/>
              </a:lnSpc>
            </a:pPr>
            <a:r>
              <a:rPr sz="2000" b="0" i="0">
                <a:solidFill>
                  <a:srgbClr val="1F2430"/>
                </a:solidFill>
                <a:latin typeface="PT Sans"/>
              </a:rPr>
              <a:t>Математиканы турмуш менен байланыштырабыз.</a:t>
            </a:r>
          </a:p>
        </p:txBody>
      </p:sp>
      <p:cxnSp>
        <p:nvCxnSpPr>
          <p:cNvPr id="25" name="Connector 24"/>
          <p:cNvCxnSpPr/>
          <p:nvPr/>
        </p:nvCxnSpPr>
        <p:spPr>
          <a:xfrm>
            <a:off x="8439912" y="3703320"/>
            <a:ext cx="304495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394192" y="3794760"/>
            <a:ext cx="3136392" cy="411480"/>
          </a:xfrm>
          <a:prstGeom prst="rect">
            <a:avLst/>
          </a:prstGeom>
          <a:noFill/>
        </p:spPr>
        <p:txBody>
          <a:bodyPr wrap="square" anchor="t" lIns="45720" rIns="45720" tIns="27432" bIns="27432">
            <a:spAutoFit/>
          </a:bodyPr>
          <a:lstStyle/>
          <a:p>
            <a:pPr algn="l">
              <a:lnSpc>
                <a:spcPct val="105000"/>
              </a:lnSpc>
            </a:pPr>
            <a:r>
              <a:rPr sz="1600" b="1" i="0">
                <a:solidFill>
                  <a:srgbClr val="6B7280"/>
                </a:solidFill>
                <a:latin typeface="PT Sans"/>
              </a:rPr>
              <a:t>Бүгүн:</a:t>
            </a:r>
          </a:p>
        </p:txBody>
      </p:sp>
      <p:sp>
        <p:nvSpPr>
          <p:cNvPr id="27" name="TextBox 26"/>
          <p:cNvSpPr txBox="1"/>
          <p:nvPr/>
        </p:nvSpPr>
        <p:spPr>
          <a:xfrm>
            <a:off x="8394192" y="4206240"/>
            <a:ext cx="3136392" cy="1828800"/>
          </a:xfrm>
          <a:prstGeom prst="rect">
            <a:avLst/>
          </a:prstGeom>
          <a:noFill/>
        </p:spPr>
        <p:txBody>
          <a:bodyPr wrap="square" anchor="t" lIns="45720" rIns="45720" tIns="27432" bIns="27432">
            <a:spAutoFit/>
          </a:bodyPr>
          <a:lstStyle/>
          <a:p>
            <a:pPr algn="l">
              <a:lnSpc>
                <a:spcPct val="105000"/>
              </a:lnSpc>
            </a:pPr>
            <a:r>
              <a:rPr sz="1800" b="0" i="0">
                <a:solidFill>
                  <a:srgbClr val="1F2430"/>
                </a:solidFill>
                <a:latin typeface="PT Sans"/>
              </a:rPr>
              <a:t>• Токмокко жол</a:t>
            </a:r>
          </a:p>
          <a:p>
            <a:pPr algn="l">
              <a:lnSpc>
                <a:spcPct val="105000"/>
              </a:lnSpc>
            </a:pPr>
            <a:r>
              <a:rPr sz="1800" b="0" i="0">
                <a:solidFill>
                  <a:srgbClr val="1F2430"/>
                </a:solidFill>
                <a:latin typeface="PT Sans"/>
              </a:rPr>
              <a:t>• Өзүмдүн күнүм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Мурун – бүгүн – кийин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7/26</a:t>
            </a:r>
          </a:p>
        </p:txBody>
      </p:sp>
      <p:sp>
        <p:nvSpPr>
          <p:cNvPr id="10" name="Rounded Rectangle 9"/>
          <p:cNvSpPr/>
          <p:nvPr/>
        </p:nvSpPr>
        <p:spPr>
          <a:xfrm>
            <a:off x="429768" y="3017520"/>
            <a:ext cx="2660904" cy="2743200"/>
          </a:xfrm>
          <a:prstGeom prst="roundRect">
            <a:avLst>
              <a:gd name="adj" fmla="val 6000"/>
            </a:avLst>
          </a:prstGeom>
          <a:solidFill>
            <a:srgbClr val="FFFFFF"/>
          </a:solidFill>
          <a:ln w="1905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31089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007A5A"/>
                </a:solidFill>
                <a:latin typeface="PT Sans"/>
              </a:rPr>
              <a:t/>
            </a:r>
          </a:p>
        </p:txBody>
      </p:sp>
      <p:cxnSp>
        <p:nvCxnSpPr>
          <p:cNvPr id="12" name="Connector 11"/>
          <p:cNvCxnSpPr/>
          <p:nvPr/>
        </p:nvCxnSpPr>
        <p:spPr>
          <a:xfrm>
            <a:off x="704088" y="3657600"/>
            <a:ext cx="2112264" cy="0"/>
          </a:xfrm>
          <a:prstGeom prst="line">
            <a:avLst/>
          </a:prstGeom>
          <a:ln w="12700">
            <a:solidFill>
              <a:srgbClr val="007A5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2647" y="3749039"/>
            <a:ext cx="2295144" cy="19202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Күн жана түн</a:t>
            </a:r>
          </a:p>
          <a:p>
            <a:pPr algn="l">
              <a:lnSpc>
                <a:spcPct val="105000"/>
              </a:lnSpc>
              <a:spcBef>
                <a:spcPts val="400"/>
              </a:spcBef>
            </a:pPr>
            <a:r>
              <a:rPr sz="1500" b="0" i="0">
                <a:solidFill>
                  <a:srgbClr val="1F2430"/>
                </a:solidFill>
                <a:latin typeface="PT Sans"/>
              </a:rPr>
              <a:t>• Апта күндөрү</a:t>
            </a:r>
          </a:p>
        </p:txBody>
      </p:sp>
      <p:sp>
        <p:nvSpPr>
          <p:cNvPr id="14" name="Rounded Rectangle 13"/>
          <p:cNvSpPr/>
          <p:nvPr/>
        </p:nvSpPr>
        <p:spPr>
          <a:xfrm>
            <a:off x="3319272" y="2560320"/>
            <a:ext cx="2660904" cy="3200400"/>
          </a:xfrm>
          <a:prstGeom prst="roundRect">
            <a:avLst>
              <a:gd name="adj" fmla="val 60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56432" y="26517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A84400"/>
                </a:solidFill>
                <a:latin typeface="PT Sans"/>
              </a:rPr>
              <a:t/>
            </a:r>
          </a:p>
        </p:txBody>
      </p:sp>
      <p:cxnSp>
        <p:nvCxnSpPr>
          <p:cNvPr id="16" name="Connector 15"/>
          <p:cNvCxnSpPr/>
          <p:nvPr/>
        </p:nvCxnSpPr>
        <p:spPr>
          <a:xfrm>
            <a:off x="3593591" y="3200400"/>
            <a:ext cx="2112265" cy="0"/>
          </a:xfrm>
          <a:prstGeom prst="line">
            <a:avLst/>
          </a:prstGeom>
          <a:ln w="12700">
            <a:solidFill>
              <a:srgbClr val="A8440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502152" y="3291839"/>
            <a:ext cx="2295144" cy="2377440"/>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 Саат, мүнөт</a:t>
            </a:r>
          </a:p>
          <a:p>
            <a:pPr algn="l">
              <a:lnSpc>
                <a:spcPct val="105000"/>
              </a:lnSpc>
              <a:spcBef>
                <a:spcPts val="400"/>
              </a:spcBef>
            </a:pPr>
            <a:r>
              <a:rPr sz="1500" b="0" i="0">
                <a:solidFill>
                  <a:srgbClr val="1F2430"/>
                </a:solidFill>
                <a:latin typeface="PT Sans"/>
              </a:rPr>
              <a:t>• Календарь</a:t>
            </a:r>
          </a:p>
        </p:txBody>
      </p:sp>
      <p:sp>
        <p:nvSpPr>
          <p:cNvPr id="18" name="Rounded Rectangle 17"/>
          <p:cNvSpPr/>
          <p:nvPr/>
        </p:nvSpPr>
        <p:spPr>
          <a:xfrm>
            <a:off x="3918204" y="2057400"/>
            <a:ext cx="1463040" cy="384048"/>
          </a:xfrm>
          <a:prstGeom prst="roundRect">
            <a:avLst>
              <a:gd name="adj" fmla="val 50000"/>
            </a:avLst>
          </a:prstGeom>
          <a:noFill/>
          <a:ln w="1905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A84400"/>
                </a:solidFill>
                <a:latin typeface="PT Sans"/>
              </a:rPr>
              <a:t>Бүгүн</a:t>
            </a:r>
          </a:p>
        </p:txBody>
      </p:sp>
      <p:sp>
        <p:nvSpPr>
          <p:cNvPr id="19" name="Rounded Rectangle 18"/>
          <p:cNvSpPr/>
          <p:nvPr/>
        </p:nvSpPr>
        <p:spPr>
          <a:xfrm>
            <a:off x="6208776" y="2103120"/>
            <a:ext cx="2660904" cy="36576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1945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1" name="Connector 20"/>
          <p:cNvCxnSpPr/>
          <p:nvPr/>
        </p:nvCxnSpPr>
        <p:spPr>
          <a:xfrm>
            <a:off x="6483096" y="2743200"/>
            <a:ext cx="2112263"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391656" y="2834639"/>
            <a:ext cx="2295144" cy="28346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24 саат</a:t>
            </a:r>
          </a:p>
          <a:p>
            <a:pPr algn="l">
              <a:lnSpc>
                <a:spcPct val="105000"/>
              </a:lnSpc>
              <a:spcBef>
                <a:spcPts val="400"/>
              </a:spcBef>
            </a:pPr>
            <a:r>
              <a:rPr sz="1500" b="0" i="0">
                <a:solidFill>
                  <a:srgbClr val="6B7280"/>
                </a:solidFill>
                <a:latin typeface="PT Sans"/>
              </a:rPr>
              <a:t>• Убакыт маселелери</a:t>
            </a:r>
          </a:p>
        </p:txBody>
      </p:sp>
      <p:sp>
        <p:nvSpPr>
          <p:cNvPr id="23" name="Rounded Rectangle 22"/>
          <p:cNvSpPr/>
          <p:nvPr/>
        </p:nvSpPr>
        <p:spPr>
          <a:xfrm>
            <a:off x="9098280" y="1645919"/>
            <a:ext cx="2660904" cy="4114800"/>
          </a:xfrm>
          <a:prstGeom prst="roundRect">
            <a:avLst>
              <a:gd name="adj" fmla="val 6000"/>
            </a:avLst>
          </a:prstGeom>
          <a:solidFill>
            <a:srgbClr val="FFFFFF"/>
          </a:solidFill>
          <a:ln w="19050">
            <a:solidFill>
              <a:srgbClr val="4A5A7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235440" y="1737360"/>
            <a:ext cx="2386584" cy="502920"/>
          </a:xfrm>
          <a:prstGeom prst="rect">
            <a:avLst/>
          </a:prstGeom>
          <a:noFill/>
        </p:spPr>
        <p:txBody>
          <a:bodyPr wrap="square" anchor="t" lIns="45720" rIns="45720" tIns="27432" bIns="27432">
            <a:spAutoFit/>
          </a:bodyPr>
          <a:lstStyle/>
          <a:p>
            <a:pPr algn="ctr">
              <a:lnSpc>
                <a:spcPct val="105000"/>
              </a:lnSpc>
            </a:pPr>
            <a:r>
              <a:rPr sz="2400" b="1" i="0">
                <a:solidFill>
                  <a:srgbClr val="4A5A70"/>
                </a:solidFill>
                <a:latin typeface="PT Sans"/>
              </a:rPr>
              <a:t/>
            </a:r>
          </a:p>
        </p:txBody>
      </p:sp>
      <p:cxnSp>
        <p:nvCxnSpPr>
          <p:cNvPr id="25" name="Connector 24"/>
          <p:cNvCxnSpPr/>
          <p:nvPr/>
        </p:nvCxnSpPr>
        <p:spPr>
          <a:xfrm>
            <a:off x="9372600" y="2286000"/>
            <a:ext cx="2112264" cy="0"/>
          </a:xfrm>
          <a:prstGeom prst="line">
            <a:avLst/>
          </a:prstGeom>
          <a:ln w="12700">
            <a:solidFill>
              <a:srgbClr val="4A5A7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281160" y="2377439"/>
            <a:ext cx="2295144" cy="3291840"/>
          </a:xfrm>
          <a:prstGeom prst="rect">
            <a:avLst/>
          </a:prstGeom>
          <a:noFill/>
        </p:spPr>
        <p:txBody>
          <a:bodyPr wrap="square" anchor="t" lIns="45720" rIns="45720" tIns="27432" bIns="27432">
            <a:spAutoFit/>
          </a:bodyPr>
          <a:lstStyle/>
          <a:p>
            <a:pPr algn="l">
              <a:lnSpc>
                <a:spcPct val="105000"/>
              </a:lnSpc>
            </a:pPr>
            <a:r>
              <a:rPr sz="1500" b="0" i="0">
                <a:solidFill>
                  <a:srgbClr val="6B7280"/>
                </a:solidFill>
                <a:latin typeface="PT Sans"/>
              </a:rPr>
              <a:t>• Секунд</a:t>
            </a:r>
          </a:p>
          <a:p>
            <a:pPr algn="l">
              <a:lnSpc>
                <a:spcPct val="105000"/>
              </a:lnSpc>
              <a:spcBef>
                <a:spcPts val="400"/>
              </a:spcBef>
            </a:pPr>
            <a:r>
              <a:rPr sz="1500" b="0" i="0">
                <a:solidFill>
                  <a:srgbClr val="6B7280"/>
                </a:solidFill>
                <a:latin typeface="PT Sans"/>
              </a:rPr>
              <a:t>• Убакыт жана жол</a:t>
            </a:r>
          </a:p>
        </p:txBody>
      </p:sp>
      <p:sp>
        <p:nvSpPr>
          <p:cNvPr id="27" name="TextBox 26"/>
          <p:cNvSpPr txBox="1"/>
          <p:nvPr/>
        </p:nvSpPr>
        <p:spPr>
          <a:xfrm>
            <a:off x="429768" y="5806440"/>
            <a:ext cx="11329416" cy="365760"/>
          </a:xfrm>
          <a:prstGeom prst="rect">
            <a:avLst/>
          </a:prstGeom>
          <a:noFill/>
        </p:spPr>
        <p:txBody>
          <a:bodyPr wrap="square" anchor="t" lIns="45720" rIns="45720" tIns="27432" bIns="27432">
            <a:spAutoFit/>
          </a:bodyPr>
          <a:lstStyle/>
          <a:p>
            <a:pPr algn="ctr">
              <a:lnSpc>
                <a:spcPct val="105000"/>
              </a:lnSpc>
            </a:pPr>
            <a:r>
              <a:rPr sz="1800" b="0" i="1">
                <a:solidFill>
                  <a:srgbClr val="6B7280"/>
                </a:solidFill>
                <a:latin typeface="PT Sans"/>
              </a:rPr>
              <a:t>Ар бир класс мурункусунун үстүнө курулат.</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эстейли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8/26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Мини-тактага жаз. 2 мүнөт.</a:t>
            </a:r>
          </a:p>
        </p:txBody>
      </p:sp>
      <p:sp>
        <p:nvSpPr>
          <p:cNvPr id="11" name="Rounded Rectangle 10"/>
          <p:cNvSpPr/>
          <p:nvPr/>
        </p:nvSpPr>
        <p:spPr>
          <a:xfrm>
            <a:off x="429768"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5, 10, 15, … Кийинки үч сан?</a:t>
            </a:r>
          </a:p>
        </p:txBody>
      </p:sp>
      <p:sp>
        <p:nvSpPr>
          <p:cNvPr id="14" name="Rounded Rectangle 13"/>
          <p:cNvSpPr/>
          <p:nvPr/>
        </p:nvSpPr>
        <p:spPr>
          <a:xfrm>
            <a:off x="6208776" y="169164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53517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60 − 15 =</a:t>
            </a:r>
          </a:p>
        </p:txBody>
      </p:sp>
      <p:sp>
        <p:nvSpPr>
          <p:cNvPr id="17" name="Rounded Rectangle 16"/>
          <p:cNvSpPr/>
          <p:nvPr/>
        </p:nvSpPr>
        <p:spPr>
          <a:xfrm>
            <a:off x="429768"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60тын жарымы канча?</a:t>
            </a:r>
          </a:p>
        </p:txBody>
      </p:sp>
      <p:sp>
        <p:nvSpPr>
          <p:cNvPr id="20" name="Rounded Rectangle 19"/>
          <p:cNvSpPr/>
          <p:nvPr/>
        </p:nvSpPr>
        <p:spPr>
          <a:xfrm>
            <a:off x="6208776" y="4000500"/>
            <a:ext cx="5550408" cy="212597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484403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4000500"/>
            <a:ext cx="4636008" cy="2125979"/>
          </a:xfrm>
          <a:prstGeom prst="rect">
            <a:avLst/>
          </a:prstGeom>
          <a:noFill/>
        </p:spPr>
        <p:txBody>
          <a:bodyPr wrap="square" anchor="ctr" lIns="45720" rIns="45720" tIns="27432" bIns="27432">
            <a:spAutoFit/>
          </a:bodyPr>
          <a:lstStyle/>
          <a:p>
            <a:pPr algn="l">
              <a:lnSpc>
                <a:spcPct val="105000"/>
              </a:lnSpc>
            </a:pPr>
            <a:r>
              <a:rPr sz="2800" b="1" i="0">
                <a:solidFill>
                  <a:srgbClr val="1F2430"/>
                </a:solidFill>
                <a:latin typeface="PT Sans"/>
              </a:rPr>
              <a:t>Дүйшөмбүдөн кийин кайсы күн?</a:t>
            </a:r>
          </a:p>
        </p:txBody>
      </p:sp>
      <p:sp>
        <p:nvSpPr>
          <p:cNvPr id="23" name="Rounded Rectangle 2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24" name="Rounded Rectangle 23"/>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25" name="Rounded Rectangle 24"/>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Даярдык: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9/26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5, 10, 15, … Кийинки үч сан?</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20, 25, 30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60 − 15 =</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45</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60тын жарымы канча?</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30</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Дүйшөмбүдөн кийин кайсы күн?</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Шейшемби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Ким туура?</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10/26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Кагаз саатта: кыска жебе 7 менен 8дин ортосунда, 8ге жакын. Узун жебе 9да. Саат канча?</a:t>
            </a:r>
          </a:p>
        </p:txBody>
      </p:sp>
      <p:sp>
        <p:nvSpPr>
          <p:cNvPr id="12" name="Rounded Rectangle 11"/>
          <p:cNvSpPr/>
          <p:nvPr/>
        </p:nvSpPr>
        <p:spPr>
          <a:xfrm>
            <a:off x="429768"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429768"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29768"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Айсулуу</a:t>
            </a:r>
          </a:p>
        </p:txBody>
      </p:sp>
      <p:sp>
        <p:nvSpPr>
          <p:cNvPr id="15" name="TextBox 14"/>
          <p:cNvSpPr txBox="1"/>
          <p:nvPr/>
        </p:nvSpPr>
        <p:spPr>
          <a:xfrm>
            <a:off x="704088"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Кыска жебе 8ге жакын.</a:t>
            </a:r>
          </a:p>
          <a:p>
            <a:pPr algn="l">
              <a:lnSpc>
                <a:spcPct val="105000"/>
              </a:lnSpc>
            </a:pPr>
            <a:r>
              <a:rPr sz="2600" b="0" i="0">
                <a:solidFill>
                  <a:srgbClr val="1F2430"/>
                </a:solidFill>
                <a:latin typeface="PT Sans"/>
              </a:rPr>
              <a:t>Демек саат 8:45.</a:t>
            </a:r>
          </a:p>
        </p:txBody>
      </p:sp>
      <p:sp>
        <p:nvSpPr>
          <p:cNvPr id="16" name="Rounded Rectangle 15"/>
          <p:cNvSpPr/>
          <p:nvPr/>
        </p:nvSpPr>
        <p:spPr>
          <a:xfrm>
            <a:off x="6208776" y="2103120"/>
            <a:ext cx="5550408" cy="31089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208776" y="2697480"/>
            <a:ext cx="5550408" cy="0"/>
          </a:xfrm>
          <a:prstGeom prst="line">
            <a:avLst/>
          </a:prstGeom>
          <a:ln w="19050">
            <a:solidFill>
              <a:srgbClr val="1D3557"/>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208776" y="2103120"/>
            <a:ext cx="5550408" cy="594360"/>
          </a:xfrm>
          <a:prstGeom prst="rect">
            <a:avLst/>
          </a:prstGeom>
          <a:noFill/>
        </p:spPr>
        <p:txBody>
          <a:bodyPr wrap="square" anchor="ctr" lIns="45720" rIns="45720" tIns="27432" bIns="27432">
            <a:spAutoFit/>
          </a:bodyPr>
          <a:lstStyle/>
          <a:p>
            <a:pPr algn="ctr">
              <a:lnSpc>
                <a:spcPct val="105000"/>
              </a:lnSpc>
            </a:pPr>
            <a:r>
              <a:rPr sz="2400" b="1" i="0">
                <a:solidFill>
                  <a:srgbClr val="1D3557"/>
                </a:solidFill>
                <a:latin typeface="PT Sans"/>
              </a:rPr>
              <a:t>Бекзат</a:t>
            </a:r>
          </a:p>
        </p:txBody>
      </p:sp>
      <p:sp>
        <p:nvSpPr>
          <p:cNvPr id="19" name="TextBox 18"/>
          <p:cNvSpPr txBox="1"/>
          <p:nvPr/>
        </p:nvSpPr>
        <p:spPr>
          <a:xfrm>
            <a:off x="6483096" y="2834640"/>
            <a:ext cx="5029200" cy="2286000"/>
          </a:xfrm>
          <a:prstGeom prst="rect">
            <a:avLst/>
          </a:prstGeom>
          <a:noFill/>
        </p:spPr>
        <p:txBody>
          <a:bodyPr wrap="square" anchor="t" lIns="45720" rIns="45720" tIns="27432" bIns="27432">
            <a:spAutoFit/>
          </a:bodyPr>
          <a:lstStyle/>
          <a:p>
            <a:pPr algn="l">
              <a:lnSpc>
                <a:spcPct val="105000"/>
              </a:lnSpc>
            </a:pPr>
            <a:r>
              <a:rPr sz="2600" b="0" i="0">
                <a:solidFill>
                  <a:srgbClr val="1F2430"/>
                </a:solidFill>
                <a:latin typeface="PT Sans"/>
              </a:rPr>
              <a:t>Кыска жебе 8ге жете элек.</a:t>
            </a:r>
          </a:p>
          <a:p>
            <a:pPr algn="l">
              <a:lnSpc>
                <a:spcPct val="105000"/>
              </a:lnSpc>
            </a:pPr>
            <a:r>
              <a:rPr sz="2600" b="0" i="0">
                <a:solidFill>
                  <a:srgbClr val="1F2430"/>
                </a:solidFill>
                <a:latin typeface="PT Sans"/>
              </a:rPr>
              <a:t>Демек саат 7:45.</a:t>
            </a:r>
          </a:p>
        </p:txBody>
      </p:sp>
      <p:sp>
        <p:nvSpPr>
          <p:cNvPr id="20" name="TextBox 19"/>
          <p:cNvSpPr txBox="1"/>
          <p:nvPr/>
        </p:nvSpPr>
        <p:spPr>
          <a:xfrm>
            <a:off x="429768" y="5349240"/>
            <a:ext cx="11329416" cy="548640"/>
          </a:xfrm>
          <a:prstGeom prst="rect">
            <a:avLst/>
          </a:prstGeom>
          <a:noFill/>
        </p:spPr>
        <p:txBody>
          <a:bodyPr wrap="square" anchor="t" lIns="45720" rIns="45720" tIns="27432" bIns="27432">
            <a:spAutoFit/>
          </a:bodyPr>
          <a:lstStyle/>
          <a:p>
            <a:pPr algn="ctr">
              <a:lnSpc>
                <a:spcPct val="105000"/>
              </a:lnSpc>
            </a:pPr>
            <a:r>
              <a:rPr sz="2600" b="1" i="0">
                <a:solidFill>
                  <a:srgbClr val="A84400"/>
                </a:solidFill>
                <a:latin typeface="PT Sans"/>
              </a:rPr>
              <a:t>Ким туура? Кагаз саатта текшер.</a:t>
            </a:r>
          </a:p>
        </p:txBody>
      </p:sp>
      <p:sp>
        <p:nvSpPr>
          <p:cNvPr id="21" name="Rounded Rectangle 20"/>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22" name="g2clk"/>
          <p:cNvSpPr/>
          <p:nvPr/>
        </p:nvSpPr>
        <p:spPr>
          <a:xfrm>
            <a:off x="4206240" y="3410712"/>
            <a:ext cx="1499616" cy="1499616"/>
          </a:xfrm>
          <a:prstGeom prst="ellipse">
            <a:avLst/>
          </a:prstGeom>
          <a:solidFill>
            <a:srgbClr val="FFFFFF"/>
          </a:solidFill>
          <a:ln w="27076">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g2clk"/>
          <p:cNvCxnSpPr/>
          <p:nvPr/>
        </p:nvCxnSpPr>
        <p:spPr>
          <a:xfrm flipH="1">
            <a:off x="5025802"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4" name="g2clk"/>
          <p:cNvCxnSpPr/>
          <p:nvPr/>
        </p:nvCxnSpPr>
        <p:spPr>
          <a:xfrm flipH="1">
            <a:off x="5094793"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5" name="g2clk"/>
          <p:cNvCxnSpPr/>
          <p:nvPr/>
        </p:nvCxnSpPr>
        <p:spPr>
          <a:xfrm flipH="1">
            <a:off x="5162264"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6" name="g2clk"/>
          <p:cNvCxnSpPr/>
          <p:nvPr/>
        </p:nvCxnSpPr>
        <p:spPr>
          <a:xfrm flipH="1">
            <a:off x="5227475"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g2clk"/>
          <p:cNvCxnSpPr/>
          <p:nvPr/>
        </p:nvCxnSpPr>
        <p:spPr>
          <a:xfrm flipH="1">
            <a:off x="5348294"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g2clk"/>
          <p:cNvCxnSpPr/>
          <p:nvPr/>
        </p:nvCxnSpPr>
        <p:spPr>
          <a:xfrm flipH="1">
            <a:off x="5402578"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g2clk"/>
          <p:cNvCxnSpPr/>
          <p:nvPr/>
        </p:nvCxnSpPr>
        <p:spPr>
          <a:xfrm flipH="1">
            <a:off x="5451970"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g2clk"/>
          <p:cNvCxnSpPr/>
          <p:nvPr/>
        </p:nvCxnSpPr>
        <p:spPr>
          <a:xfrm flipH="1">
            <a:off x="5495928"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1" name="g2clk"/>
          <p:cNvCxnSpPr/>
          <p:nvPr/>
        </p:nvCxnSpPr>
        <p:spPr>
          <a:xfrm flipH="1">
            <a:off x="5565683"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2" name="g2clk"/>
          <p:cNvCxnSpPr/>
          <p:nvPr/>
        </p:nvCxnSpPr>
        <p:spPr>
          <a:xfrm flipH="1">
            <a:off x="5590715"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3" name="g2clk"/>
          <p:cNvCxnSpPr/>
          <p:nvPr/>
        </p:nvCxnSpPr>
        <p:spPr>
          <a:xfrm flipH="1">
            <a:off x="5608794"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g2clk"/>
          <p:cNvCxnSpPr/>
          <p:nvPr/>
        </p:nvCxnSpPr>
        <p:spPr>
          <a:xfrm flipH="1">
            <a:off x="5619721"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g2clk"/>
          <p:cNvCxnSpPr/>
          <p:nvPr/>
        </p:nvCxnSpPr>
        <p:spPr>
          <a:xfrm flipH="1" flipV="1">
            <a:off x="5619721"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g2clk"/>
          <p:cNvCxnSpPr/>
          <p:nvPr/>
        </p:nvCxnSpPr>
        <p:spPr>
          <a:xfrm flipH="1" flipV="1">
            <a:off x="5608794"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g2clk"/>
          <p:cNvCxnSpPr/>
          <p:nvPr/>
        </p:nvCxnSpPr>
        <p:spPr>
          <a:xfrm flipH="1" flipV="1">
            <a:off x="5590715"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g2clk"/>
          <p:cNvCxnSpPr/>
          <p:nvPr/>
        </p:nvCxnSpPr>
        <p:spPr>
          <a:xfrm flipH="1" flipV="1">
            <a:off x="5565683"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g2clk"/>
          <p:cNvCxnSpPr/>
          <p:nvPr/>
        </p:nvCxnSpPr>
        <p:spPr>
          <a:xfrm flipH="1" flipV="1">
            <a:off x="5495928"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g2clk"/>
          <p:cNvCxnSpPr/>
          <p:nvPr/>
        </p:nvCxnSpPr>
        <p:spPr>
          <a:xfrm flipH="1" flipV="1">
            <a:off x="5451970"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g2clk"/>
          <p:cNvCxnSpPr/>
          <p:nvPr/>
        </p:nvCxnSpPr>
        <p:spPr>
          <a:xfrm flipH="1" flipV="1">
            <a:off x="5402578"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g2clk"/>
          <p:cNvCxnSpPr/>
          <p:nvPr/>
        </p:nvCxnSpPr>
        <p:spPr>
          <a:xfrm flipH="1" flipV="1">
            <a:off x="5348294"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g2clk"/>
          <p:cNvCxnSpPr/>
          <p:nvPr/>
        </p:nvCxnSpPr>
        <p:spPr>
          <a:xfrm flipH="1" flipV="1">
            <a:off x="5227475"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g2clk"/>
          <p:cNvCxnSpPr/>
          <p:nvPr/>
        </p:nvCxnSpPr>
        <p:spPr>
          <a:xfrm flipH="1" flipV="1">
            <a:off x="5162264"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g2clk"/>
          <p:cNvCxnSpPr/>
          <p:nvPr/>
        </p:nvCxnSpPr>
        <p:spPr>
          <a:xfrm flipH="1" flipV="1">
            <a:off x="5094793"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g2clk"/>
          <p:cNvCxnSpPr/>
          <p:nvPr/>
        </p:nvCxnSpPr>
        <p:spPr>
          <a:xfrm flipH="1" flipV="1">
            <a:off x="5025802"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g2clk"/>
          <p:cNvCxnSpPr/>
          <p:nvPr/>
        </p:nvCxnSpPr>
        <p:spPr>
          <a:xfrm flipV="1">
            <a:off x="4881590"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g2clk"/>
          <p:cNvCxnSpPr/>
          <p:nvPr/>
        </p:nvCxnSpPr>
        <p:spPr>
          <a:xfrm flipV="1">
            <a:off x="4807948"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g2clk"/>
          <p:cNvCxnSpPr/>
          <p:nvPr/>
        </p:nvCxnSpPr>
        <p:spPr>
          <a:xfrm flipV="1">
            <a:off x="4735929"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g2clk"/>
          <p:cNvCxnSpPr/>
          <p:nvPr/>
        </p:nvCxnSpPr>
        <p:spPr>
          <a:xfrm flipV="1">
            <a:off x="4666322"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g2clk"/>
          <p:cNvCxnSpPr/>
          <p:nvPr/>
        </p:nvCxnSpPr>
        <p:spPr>
          <a:xfrm flipV="1">
            <a:off x="4537358"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g2clk"/>
          <p:cNvCxnSpPr/>
          <p:nvPr/>
        </p:nvCxnSpPr>
        <p:spPr>
          <a:xfrm flipV="1">
            <a:off x="4479414"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g2clk"/>
          <p:cNvCxnSpPr/>
          <p:nvPr/>
        </p:nvCxnSpPr>
        <p:spPr>
          <a:xfrm flipV="1">
            <a:off x="4426692"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g2clk"/>
          <p:cNvCxnSpPr/>
          <p:nvPr/>
        </p:nvCxnSpPr>
        <p:spPr>
          <a:xfrm flipV="1">
            <a:off x="4379770"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g2clk"/>
          <p:cNvCxnSpPr/>
          <p:nvPr/>
        </p:nvCxnSpPr>
        <p:spPr>
          <a:xfrm flipV="1">
            <a:off x="4305313"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g2clk"/>
          <p:cNvCxnSpPr/>
          <p:nvPr/>
        </p:nvCxnSpPr>
        <p:spPr>
          <a:xfrm flipV="1">
            <a:off x="4278593"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g2clk"/>
          <p:cNvCxnSpPr/>
          <p:nvPr/>
        </p:nvCxnSpPr>
        <p:spPr>
          <a:xfrm flipV="1">
            <a:off x="4259296"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g2clk"/>
          <p:cNvCxnSpPr/>
          <p:nvPr/>
        </p:nvCxnSpPr>
        <p:spPr>
          <a:xfrm flipV="1">
            <a:off x="4247632"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g2clk"/>
          <p:cNvCxnSpPr/>
          <p:nvPr/>
        </p:nvCxnSpPr>
        <p:spPr>
          <a:xfrm>
            <a:off x="4247632"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g2clk"/>
          <p:cNvCxnSpPr/>
          <p:nvPr/>
        </p:nvCxnSpPr>
        <p:spPr>
          <a:xfrm>
            <a:off x="4259296"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g2clk"/>
          <p:cNvCxnSpPr/>
          <p:nvPr/>
        </p:nvCxnSpPr>
        <p:spPr>
          <a:xfrm>
            <a:off x="4278593"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2" name="g2clk"/>
          <p:cNvCxnSpPr/>
          <p:nvPr/>
        </p:nvCxnSpPr>
        <p:spPr>
          <a:xfrm>
            <a:off x="4305313"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3" name="g2clk"/>
          <p:cNvCxnSpPr/>
          <p:nvPr/>
        </p:nvCxnSpPr>
        <p:spPr>
          <a:xfrm>
            <a:off x="4379770"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4" name="g2clk"/>
          <p:cNvCxnSpPr/>
          <p:nvPr/>
        </p:nvCxnSpPr>
        <p:spPr>
          <a:xfrm>
            <a:off x="4426692"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5" name="g2clk"/>
          <p:cNvCxnSpPr/>
          <p:nvPr/>
        </p:nvCxnSpPr>
        <p:spPr>
          <a:xfrm>
            <a:off x="4479414"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6" name="g2clk"/>
          <p:cNvCxnSpPr/>
          <p:nvPr/>
        </p:nvCxnSpPr>
        <p:spPr>
          <a:xfrm>
            <a:off x="4537358"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7" name="g2clk"/>
          <p:cNvCxnSpPr/>
          <p:nvPr/>
        </p:nvCxnSpPr>
        <p:spPr>
          <a:xfrm>
            <a:off x="4666322"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8" name="g2clk"/>
          <p:cNvCxnSpPr/>
          <p:nvPr/>
        </p:nvCxnSpPr>
        <p:spPr>
          <a:xfrm>
            <a:off x="4735929"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9" name="g2clk"/>
          <p:cNvCxnSpPr/>
          <p:nvPr/>
        </p:nvCxnSpPr>
        <p:spPr>
          <a:xfrm>
            <a:off x="4807948"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0" name="g2clk"/>
          <p:cNvCxnSpPr/>
          <p:nvPr/>
        </p:nvCxnSpPr>
        <p:spPr>
          <a:xfrm>
            <a:off x="4881590"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1" name="g2clk"/>
          <p:cNvCxnSpPr/>
          <p:nvPr/>
        </p:nvCxnSpPr>
        <p:spPr>
          <a:xfrm>
            <a:off x="4956048" y="344820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g2clk"/>
          <p:cNvCxnSpPr/>
          <p:nvPr/>
        </p:nvCxnSpPr>
        <p:spPr>
          <a:xfrm flipH="1">
            <a:off x="5278465"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g2clk"/>
          <p:cNvCxnSpPr/>
          <p:nvPr/>
        </p:nvCxnSpPr>
        <p:spPr>
          <a:xfrm flipH="1">
            <a:off x="5514491"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g2clk"/>
          <p:cNvCxnSpPr/>
          <p:nvPr/>
        </p:nvCxnSpPr>
        <p:spPr>
          <a:xfrm flipH="1">
            <a:off x="5570890"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5" name="g2clk"/>
          <p:cNvCxnSpPr/>
          <p:nvPr/>
        </p:nvCxnSpPr>
        <p:spPr>
          <a:xfrm flipH="1" flipV="1">
            <a:off x="5514491"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6" name="g2clk"/>
          <p:cNvCxnSpPr/>
          <p:nvPr/>
        </p:nvCxnSpPr>
        <p:spPr>
          <a:xfrm flipH="1" flipV="1">
            <a:off x="5278465"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7" name="g2clk"/>
          <p:cNvCxnSpPr/>
          <p:nvPr/>
        </p:nvCxnSpPr>
        <p:spPr>
          <a:xfrm flipV="1">
            <a:off x="4956048" y="477536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8" name="g2clk"/>
          <p:cNvCxnSpPr/>
          <p:nvPr/>
        </p:nvCxnSpPr>
        <p:spPr>
          <a:xfrm flipV="1">
            <a:off x="4599889"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9" name="g2clk"/>
          <p:cNvCxnSpPr/>
          <p:nvPr/>
        </p:nvCxnSpPr>
        <p:spPr>
          <a:xfrm flipV="1">
            <a:off x="4339162"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0" name="g2clk"/>
          <p:cNvCxnSpPr/>
          <p:nvPr/>
        </p:nvCxnSpPr>
        <p:spPr>
          <a:xfrm>
            <a:off x="4243730"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1" name="g2clk"/>
          <p:cNvCxnSpPr/>
          <p:nvPr/>
        </p:nvCxnSpPr>
        <p:spPr>
          <a:xfrm>
            <a:off x="4339162"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2" name="g2clk"/>
          <p:cNvCxnSpPr/>
          <p:nvPr/>
        </p:nvCxnSpPr>
        <p:spPr>
          <a:xfrm>
            <a:off x="4599889"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83" name="g2clk"/>
          <p:cNvSpPr txBox="1"/>
          <p:nvPr/>
        </p:nvSpPr>
        <p:spPr>
          <a:xfrm>
            <a:off x="5073822" y="3593992"/>
            <a:ext cx="274320" cy="249935"/>
          </a:xfrm>
          <a:prstGeom prst="rect">
            <a:avLst/>
          </a:prstGeom>
          <a:noFill/>
        </p:spPr>
        <p:txBody>
          <a:bodyPr wrap="none" lIns="0" rIns="0" tIns="0" bIns="0" anchor="ctr">
            <a:spAutoFit/>
          </a:bodyPr>
          <a:lstStyle/>
          <a:p>
            <a:pPr algn="ctr"/>
            <a:r>
              <a:rPr sz="1230" b="1" i="0">
                <a:solidFill>
                  <a:srgbClr val="1F2430"/>
                </a:solidFill>
                <a:latin typeface="PT Sans"/>
              </a:rPr>
              <a:t>1</a:t>
            </a:r>
          </a:p>
        </p:txBody>
      </p:sp>
      <p:sp>
        <p:nvSpPr>
          <p:cNvPr id="84" name="g2clk"/>
          <p:cNvSpPr txBox="1"/>
          <p:nvPr/>
        </p:nvSpPr>
        <p:spPr>
          <a:xfrm>
            <a:off x="5260447" y="3780617"/>
            <a:ext cx="274320" cy="249935"/>
          </a:xfrm>
          <a:prstGeom prst="rect">
            <a:avLst/>
          </a:prstGeom>
          <a:noFill/>
        </p:spPr>
        <p:txBody>
          <a:bodyPr wrap="none" lIns="0" rIns="0" tIns="0" bIns="0" anchor="ctr">
            <a:spAutoFit/>
          </a:bodyPr>
          <a:lstStyle/>
          <a:p>
            <a:pPr algn="ctr"/>
            <a:r>
              <a:rPr sz="1230" b="1" i="0">
                <a:solidFill>
                  <a:srgbClr val="1F2430"/>
                </a:solidFill>
                <a:latin typeface="PT Sans"/>
              </a:rPr>
              <a:t>2</a:t>
            </a:r>
          </a:p>
        </p:txBody>
      </p:sp>
      <p:sp>
        <p:nvSpPr>
          <p:cNvPr id="85" name="g2clk"/>
          <p:cNvSpPr txBox="1"/>
          <p:nvPr/>
        </p:nvSpPr>
        <p:spPr>
          <a:xfrm>
            <a:off x="5328757"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3</a:t>
            </a:r>
          </a:p>
        </p:txBody>
      </p:sp>
      <p:sp>
        <p:nvSpPr>
          <p:cNvPr id="86" name="g2clk"/>
          <p:cNvSpPr txBox="1"/>
          <p:nvPr/>
        </p:nvSpPr>
        <p:spPr>
          <a:xfrm>
            <a:off x="5260447"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4</a:t>
            </a:r>
          </a:p>
        </p:txBody>
      </p:sp>
      <p:sp>
        <p:nvSpPr>
          <p:cNvPr id="87" name="g2clk"/>
          <p:cNvSpPr txBox="1"/>
          <p:nvPr/>
        </p:nvSpPr>
        <p:spPr>
          <a:xfrm>
            <a:off x="5073822"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5</a:t>
            </a:r>
          </a:p>
        </p:txBody>
      </p:sp>
      <p:sp>
        <p:nvSpPr>
          <p:cNvPr id="88" name="g2clk"/>
          <p:cNvSpPr txBox="1"/>
          <p:nvPr/>
        </p:nvSpPr>
        <p:spPr>
          <a:xfrm>
            <a:off x="4818888" y="4545421"/>
            <a:ext cx="274320" cy="249935"/>
          </a:xfrm>
          <a:prstGeom prst="rect">
            <a:avLst/>
          </a:prstGeom>
          <a:noFill/>
        </p:spPr>
        <p:txBody>
          <a:bodyPr wrap="none" lIns="0" rIns="0" tIns="0" bIns="0" anchor="ctr">
            <a:spAutoFit/>
          </a:bodyPr>
          <a:lstStyle/>
          <a:p>
            <a:pPr algn="ctr"/>
            <a:r>
              <a:rPr sz="1230" b="1" i="0">
                <a:solidFill>
                  <a:srgbClr val="1F2430"/>
                </a:solidFill>
                <a:latin typeface="PT Sans"/>
              </a:rPr>
              <a:t>6</a:t>
            </a:r>
          </a:p>
        </p:txBody>
      </p:sp>
      <p:sp>
        <p:nvSpPr>
          <p:cNvPr id="89" name="g2clk"/>
          <p:cNvSpPr txBox="1"/>
          <p:nvPr/>
        </p:nvSpPr>
        <p:spPr>
          <a:xfrm>
            <a:off x="4563953"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7</a:t>
            </a:r>
          </a:p>
        </p:txBody>
      </p:sp>
      <p:sp>
        <p:nvSpPr>
          <p:cNvPr id="90" name="g2clk"/>
          <p:cNvSpPr txBox="1"/>
          <p:nvPr/>
        </p:nvSpPr>
        <p:spPr>
          <a:xfrm>
            <a:off x="4377328"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8</a:t>
            </a:r>
          </a:p>
        </p:txBody>
      </p:sp>
      <p:sp>
        <p:nvSpPr>
          <p:cNvPr id="91" name="g2clk"/>
          <p:cNvSpPr txBox="1"/>
          <p:nvPr/>
        </p:nvSpPr>
        <p:spPr>
          <a:xfrm>
            <a:off x="4309018"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9</a:t>
            </a:r>
          </a:p>
        </p:txBody>
      </p:sp>
      <p:sp>
        <p:nvSpPr>
          <p:cNvPr id="92" name="g2clk"/>
          <p:cNvSpPr txBox="1"/>
          <p:nvPr/>
        </p:nvSpPr>
        <p:spPr>
          <a:xfrm>
            <a:off x="4372146" y="3780617"/>
            <a:ext cx="284683" cy="249935"/>
          </a:xfrm>
          <a:prstGeom prst="rect">
            <a:avLst/>
          </a:prstGeom>
          <a:noFill/>
        </p:spPr>
        <p:txBody>
          <a:bodyPr wrap="none" lIns="0" rIns="0" tIns="0" bIns="0" anchor="ctr">
            <a:spAutoFit/>
          </a:bodyPr>
          <a:lstStyle/>
          <a:p>
            <a:pPr algn="ctr"/>
            <a:r>
              <a:rPr sz="1230" b="1" i="0">
                <a:solidFill>
                  <a:srgbClr val="1F2430"/>
                </a:solidFill>
                <a:latin typeface="PT Sans"/>
              </a:rPr>
              <a:t>10</a:t>
            </a:r>
          </a:p>
        </p:txBody>
      </p:sp>
      <p:sp>
        <p:nvSpPr>
          <p:cNvPr id="93" name="g2clk"/>
          <p:cNvSpPr txBox="1"/>
          <p:nvPr/>
        </p:nvSpPr>
        <p:spPr>
          <a:xfrm>
            <a:off x="4558771" y="3593992"/>
            <a:ext cx="284683" cy="249935"/>
          </a:xfrm>
          <a:prstGeom prst="rect">
            <a:avLst/>
          </a:prstGeom>
          <a:noFill/>
        </p:spPr>
        <p:txBody>
          <a:bodyPr wrap="none" lIns="0" rIns="0" tIns="0" bIns="0" anchor="ctr">
            <a:spAutoFit/>
          </a:bodyPr>
          <a:lstStyle/>
          <a:p>
            <a:pPr algn="ctr"/>
            <a:r>
              <a:rPr sz="1230" b="1" i="0">
                <a:solidFill>
                  <a:srgbClr val="1F2430"/>
                </a:solidFill>
                <a:latin typeface="PT Sans"/>
              </a:rPr>
              <a:t>11</a:t>
            </a:r>
          </a:p>
        </p:txBody>
      </p:sp>
      <p:sp>
        <p:nvSpPr>
          <p:cNvPr id="94" name="g2clk"/>
          <p:cNvSpPr txBox="1"/>
          <p:nvPr/>
        </p:nvSpPr>
        <p:spPr>
          <a:xfrm>
            <a:off x="4813706" y="3525682"/>
            <a:ext cx="284683" cy="249935"/>
          </a:xfrm>
          <a:prstGeom prst="rect">
            <a:avLst/>
          </a:prstGeom>
          <a:noFill/>
        </p:spPr>
        <p:txBody>
          <a:bodyPr wrap="none" lIns="0" rIns="0" tIns="0" bIns="0" anchor="ctr">
            <a:spAutoFit/>
          </a:bodyPr>
          <a:lstStyle/>
          <a:p>
            <a:pPr algn="ctr"/>
            <a:r>
              <a:rPr sz="1230" b="1" i="0">
                <a:solidFill>
                  <a:srgbClr val="1F2430"/>
                </a:solidFill>
                <a:latin typeface="PT Sans"/>
              </a:rPr>
              <a:t>12</a:t>
            </a:r>
          </a:p>
        </p:txBody>
      </p:sp>
      <p:cxnSp>
        <p:nvCxnSpPr>
          <p:cNvPr id="95" name="g2clk"/>
          <p:cNvCxnSpPr/>
          <p:nvPr/>
        </p:nvCxnSpPr>
        <p:spPr>
          <a:xfrm flipH="1">
            <a:off x="4658616" y="4160520"/>
            <a:ext cx="297432" cy="228227"/>
          </a:xfrm>
          <a:prstGeom prst="line">
            <a:avLst/>
          </a:prstGeom>
          <a:ln w="72897"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6" name="g2clk"/>
          <p:cNvCxnSpPr/>
          <p:nvPr/>
        </p:nvCxnSpPr>
        <p:spPr>
          <a:xfrm flipH="1">
            <a:off x="4356201" y="4160520"/>
            <a:ext cx="599847" cy="0"/>
          </a:xfrm>
          <a:prstGeom prst="line">
            <a:avLst/>
          </a:prstGeom>
          <a:ln w="43738"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97" name="g2clk"/>
          <p:cNvSpPr/>
          <p:nvPr/>
        </p:nvSpPr>
        <p:spPr>
          <a:xfrm>
            <a:off x="4914808" y="4119280"/>
            <a:ext cx="82478" cy="82478"/>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g2clk"/>
          <p:cNvSpPr/>
          <p:nvPr/>
        </p:nvSpPr>
        <p:spPr>
          <a:xfrm>
            <a:off x="9985248" y="3410712"/>
            <a:ext cx="1499616" cy="1499616"/>
          </a:xfrm>
          <a:prstGeom prst="ellipse">
            <a:avLst/>
          </a:prstGeom>
          <a:solidFill>
            <a:srgbClr val="FFFFFF"/>
          </a:solidFill>
          <a:ln w="27076">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9" name="g2clk"/>
          <p:cNvCxnSpPr/>
          <p:nvPr/>
        </p:nvCxnSpPr>
        <p:spPr>
          <a:xfrm flipH="1">
            <a:off x="10804810"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0" name="g2clk"/>
          <p:cNvCxnSpPr/>
          <p:nvPr/>
        </p:nvCxnSpPr>
        <p:spPr>
          <a:xfrm flipH="1">
            <a:off x="10873801"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1" name="g2clk"/>
          <p:cNvCxnSpPr/>
          <p:nvPr/>
        </p:nvCxnSpPr>
        <p:spPr>
          <a:xfrm flipH="1">
            <a:off x="10941272"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2" name="g2clk"/>
          <p:cNvCxnSpPr/>
          <p:nvPr/>
        </p:nvCxnSpPr>
        <p:spPr>
          <a:xfrm flipH="1">
            <a:off x="11006483"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3" name="g2clk"/>
          <p:cNvCxnSpPr/>
          <p:nvPr/>
        </p:nvCxnSpPr>
        <p:spPr>
          <a:xfrm flipH="1">
            <a:off x="11127302"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4" name="g2clk"/>
          <p:cNvCxnSpPr/>
          <p:nvPr/>
        </p:nvCxnSpPr>
        <p:spPr>
          <a:xfrm flipH="1">
            <a:off x="11181586"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5" name="g2clk"/>
          <p:cNvCxnSpPr/>
          <p:nvPr/>
        </p:nvCxnSpPr>
        <p:spPr>
          <a:xfrm flipH="1">
            <a:off x="11230978"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6" name="g2clk"/>
          <p:cNvCxnSpPr/>
          <p:nvPr/>
        </p:nvCxnSpPr>
        <p:spPr>
          <a:xfrm flipH="1">
            <a:off x="11274936"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7" name="g2clk"/>
          <p:cNvCxnSpPr/>
          <p:nvPr/>
        </p:nvCxnSpPr>
        <p:spPr>
          <a:xfrm flipH="1">
            <a:off x="11344691"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8" name="g2clk"/>
          <p:cNvCxnSpPr/>
          <p:nvPr/>
        </p:nvCxnSpPr>
        <p:spPr>
          <a:xfrm flipH="1">
            <a:off x="11369723"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9" name="g2clk"/>
          <p:cNvCxnSpPr/>
          <p:nvPr/>
        </p:nvCxnSpPr>
        <p:spPr>
          <a:xfrm flipH="1">
            <a:off x="11387802"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0" name="g2clk"/>
          <p:cNvCxnSpPr/>
          <p:nvPr/>
        </p:nvCxnSpPr>
        <p:spPr>
          <a:xfrm flipH="1">
            <a:off x="11398729"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1" name="g2clk"/>
          <p:cNvCxnSpPr/>
          <p:nvPr/>
        </p:nvCxnSpPr>
        <p:spPr>
          <a:xfrm flipH="1" flipV="1">
            <a:off x="11398729"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2" name="g2clk"/>
          <p:cNvCxnSpPr/>
          <p:nvPr/>
        </p:nvCxnSpPr>
        <p:spPr>
          <a:xfrm flipH="1" flipV="1">
            <a:off x="11387802"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3" name="g2clk"/>
          <p:cNvCxnSpPr/>
          <p:nvPr/>
        </p:nvCxnSpPr>
        <p:spPr>
          <a:xfrm flipH="1" flipV="1">
            <a:off x="11369723"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4" name="g2clk"/>
          <p:cNvCxnSpPr/>
          <p:nvPr/>
        </p:nvCxnSpPr>
        <p:spPr>
          <a:xfrm flipH="1" flipV="1">
            <a:off x="11344691"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5" name="g2clk"/>
          <p:cNvCxnSpPr/>
          <p:nvPr/>
        </p:nvCxnSpPr>
        <p:spPr>
          <a:xfrm flipH="1" flipV="1">
            <a:off x="11274936"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6" name="g2clk"/>
          <p:cNvCxnSpPr/>
          <p:nvPr/>
        </p:nvCxnSpPr>
        <p:spPr>
          <a:xfrm flipH="1" flipV="1">
            <a:off x="11230978"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7" name="g2clk"/>
          <p:cNvCxnSpPr/>
          <p:nvPr/>
        </p:nvCxnSpPr>
        <p:spPr>
          <a:xfrm flipH="1" flipV="1">
            <a:off x="11181586"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8" name="g2clk"/>
          <p:cNvCxnSpPr/>
          <p:nvPr/>
        </p:nvCxnSpPr>
        <p:spPr>
          <a:xfrm flipH="1" flipV="1">
            <a:off x="11127302"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9" name="g2clk"/>
          <p:cNvCxnSpPr/>
          <p:nvPr/>
        </p:nvCxnSpPr>
        <p:spPr>
          <a:xfrm flipH="1" flipV="1">
            <a:off x="11006483"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0" name="g2clk"/>
          <p:cNvCxnSpPr/>
          <p:nvPr/>
        </p:nvCxnSpPr>
        <p:spPr>
          <a:xfrm flipH="1" flipV="1">
            <a:off x="10941272"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1" name="g2clk"/>
          <p:cNvCxnSpPr/>
          <p:nvPr/>
        </p:nvCxnSpPr>
        <p:spPr>
          <a:xfrm flipH="1" flipV="1">
            <a:off x="10873801"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2" name="g2clk"/>
          <p:cNvCxnSpPr/>
          <p:nvPr/>
        </p:nvCxnSpPr>
        <p:spPr>
          <a:xfrm flipH="1" flipV="1">
            <a:off x="10804810"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3" name="g2clk"/>
          <p:cNvCxnSpPr/>
          <p:nvPr/>
        </p:nvCxnSpPr>
        <p:spPr>
          <a:xfrm flipV="1">
            <a:off x="10660598" y="4824193"/>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4" name="g2clk"/>
          <p:cNvCxnSpPr/>
          <p:nvPr/>
        </p:nvCxnSpPr>
        <p:spPr>
          <a:xfrm flipV="1">
            <a:off x="10586956" y="4813266"/>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5" name="g2clk"/>
          <p:cNvCxnSpPr/>
          <p:nvPr/>
        </p:nvCxnSpPr>
        <p:spPr>
          <a:xfrm flipV="1">
            <a:off x="10514937" y="4795187"/>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6" name="g2clk"/>
          <p:cNvCxnSpPr/>
          <p:nvPr/>
        </p:nvCxnSpPr>
        <p:spPr>
          <a:xfrm flipV="1">
            <a:off x="10445330" y="477015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7" name="g2clk"/>
          <p:cNvCxnSpPr/>
          <p:nvPr/>
        </p:nvCxnSpPr>
        <p:spPr>
          <a:xfrm flipV="1">
            <a:off x="10316366" y="4700400"/>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8" name="g2clk"/>
          <p:cNvCxnSpPr/>
          <p:nvPr/>
        </p:nvCxnSpPr>
        <p:spPr>
          <a:xfrm flipV="1">
            <a:off x="10258422" y="4656442"/>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9" name="g2clk"/>
          <p:cNvCxnSpPr/>
          <p:nvPr/>
        </p:nvCxnSpPr>
        <p:spPr>
          <a:xfrm flipV="1">
            <a:off x="10205700" y="4607050"/>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0" name="g2clk"/>
          <p:cNvCxnSpPr/>
          <p:nvPr/>
        </p:nvCxnSpPr>
        <p:spPr>
          <a:xfrm flipV="1">
            <a:off x="10158778" y="4552766"/>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1" name="g2clk"/>
          <p:cNvCxnSpPr/>
          <p:nvPr/>
        </p:nvCxnSpPr>
        <p:spPr>
          <a:xfrm flipV="1">
            <a:off x="10084321" y="4431947"/>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2" name="g2clk"/>
          <p:cNvCxnSpPr/>
          <p:nvPr/>
        </p:nvCxnSpPr>
        <p:spPr>
          <a:xfrm flipV="1">
            <a:off x="10057601" y="4366736"/>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3" name="g2clk"/>
          <p:cNvCxnSpPr/>
          <p:nvPr/>
        </p:nvCxnSpPr>
        <p:spPr>
          <a:xfrm flipV="1">
            <a:off x="10038304" y="4299265"/>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4" name="g2clk"/>
          <p:cNvCxnSpPr/>
          <p:nvPr/>
        </p:nvCxnSpPr>
        <p:spPr>
          <a:xfrm flipV="1">
            <a:off x="10026640" y="4230274"/>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5" name="g2clk"/>
          <p:cNvCxnSpPr/>
          <p:nvPr/>
        </p:nvCxnSpPr>
        <p:spPr>
          <a:xfrm>
            <a:off x="10026640" y="4086062"/>
            <a:ext cx="44742" cy="47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6" name="g2clk"/>
          <p:cNvCxnSpPr/>
          <p:nvPr/>
        </p:nvCxnSpPr>
        <p:spPr>
          <a:xfrm>
            <a:off x="10038304" y="4012420"/>
            <a:ext cx="44005" cy="935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7" name="g2clk"/>
          <p:cNvCxnSpPr/>
          <p:nvPr/>
        </p:nvCxnSpPr>
        <p:spPr>
          <a:xfrm>
            <a:off x="10057601" y="3940401"/>
            <a:ext cx="42787" cy="1390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8" name="g2clk"/>
          <p:cNvCxnSpPr/>
          <p:nvPr/>
        </p:nvCxnSpPr>
        <p:spPr>
          <a:xfrm>
            <a:off x="10084321" y="3870794"/>
            <a:ext cx="41099" cy="1829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9" name="g2clk"/>
          <p:cNvCxnSpPr/>
          <p:nvPr/>
        </p:nvCxnSpPr>
        <p:spPr>
          <a:xfrm>
            <a:off x="10158778" y="3741830"/>
            <a:ext cx="36397" cy="2644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0" name="g2clk"/>
          <p:cNvCxnSpPr/>
          <p:nvPr/>
        </p:nvCxnSpPr>
        <p:spPr>
          <a:xfrm>
            <a:off x="10205700" y="3683886"/>
            <a:ext cx="33433" cy="3010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1" name="g2clk"/>
          <p:cNvCxnSpPr/>
          <p:nvPr/>
        </p:nvCxnSpPr>
        <p:spPr>
          <a:xfrm>
            <a:off x="10258422" y="3631164"/>
            <a:ext cx="30103" cy="33433"/>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2" name="g2clk"/>
          <p:cNvCxnSpPr/>
          <p:nvPr/>
        </p:nvCxnSpPr>
        <p:spPr>
          <a:xfrm>
            <a:off x="10316366" y="3584242"/>
            <a:ext cx="26443" cy="3639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3" name="g2clk"/>
          <p:cNvCxnSpPr/>
          <p:nvPr/>
        </p:nvCxnSpPr>
        <p:spPr>
          <a:xfrm>
            <a:off x="10445330" y="3509785"/>
            <a:ext cx="18298" cy="4109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4" name="g2clk"/>
          <p:cNvCxnSpPr/>
          <p:nvPr/>
        </p:nvCxnSpPr>
        <p:spPr>
          <a:xfrm>
            <a:off x="10514937" y="3483065"/>
            <a:ext cx="13902" cy="42787"/>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5" name="g2clk"/>
          <p:cNvCxnSpPr/>
          <p:nvPr/>
        </p:nvCxnSpPr>
        <p:spPr>
          <a:xfrm>
            <a:off x="10586956" y="3463768"/>
            <a:ext cx="9354" cy="4400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6" name="g2clk"/>
          <p:cNvCxnSpPr/>
          <p:nvPr/>
        </p:nvCxnSpPr>
        <p:spPr>
          <a:xfrm>
            <a:off x="10660598" y="3452104"/>
            <a:ext cx="4703" cy="4474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7" name="g2clk"/>
          <p:cNvCxnSpPr/>
          <p:nvPr/>
        </p:nvCxnSpPr>
        <p:spPr>
          <a:xfrm>
            <a:off x="10735056" y="344820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8" name="g2clk"/>
          <p:cNvCxnSpPr/>
          <p:nvPr/>
        </p:nvCxnSpPr>
        <p:spPr>
          <a:xfrm flipH="1">
            <a:off x="11057473"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9" name="g2clk"/>
          <p:cNvCxnSpPr/>
          <p:nvPr/>
        </p:nvCxnSpPr>
        <p:spPr>
          <a:xfrm flipH="1">
            <a:off x="11293499"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0" name="g2clk"/>
          <p:cNvCxnSpPr/>
          <p:nvPr/>
        </p:nvCxnSpPr>
        <p:spPr>
          <a:xfrm flipH="1">
            <a:off x="11349898"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1" name="g2clk"/>
          <p:cNvCxnSpPr/>
          <p:nvPr/>
        </p:nvCxnSpPr>
        <p:spPr>
          <a:xfrm flipH="1" flipV="1">
            <a:off x="11293499"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2" name="g2clk"/>
          <p:cNvCxnSpPr/>
          <p:nvPr/>
        </p:nvCxnSpPr>
        <p:spPr>
          <a:xfrm flipH="1" flipV="1">
            <a:off x="11057473"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3" name="g2clk"/>
          <p:cNvCxnSpPr/>
          <p:nvPr/>
        </p:nvCxnSpPr>
        <p:spPr>
          <a:xfrm flipV="1">
            <a:off x="10735056" y="4775362"/>
            <a:ext cx="0" cy="97475"/>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4" name="g2clk"/>
          <p:cNvCxnSpPr/>
          <p:nvPr/>
        </p:nvCxnSpPr>
        <p:spPr>
          <a:xfrm flipV="1">
            <a:off x="10378897" y="4718963"/>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5" name="g2clk"/>
          <p:cNvCxnSpPr/>
          <p:nvPr/>
        </p:nvCxnSpPr>
        <p:spPr>
          <a:xfrm flipV="1">
            <a:off x="10118170" y="4482937"/>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6" name="g2clk"/>
          <p:cNvCxnSpPr/>
          <p:nvPr/>
        </p:nvCxnSpPr>
        <p:spPr>
          <a:xfrm>
            <a:off x="10022738" y="4160520"/>
            <a:ext cx="97475" cy="0"/>
          </a:xfrm>
          <a:prstGeom prst="line">
            <a:avLst/>
          </a:prstGeom>
          <a:ln w="2082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7" name="g2clk"/>
          <p:cNvCxnSpPr/>
          <p:nvPr/>
        </p:nvCxnSpPr>
        <p:spPr>
          <a:xfrm>
            <a:off x="10118170" y="3804361"/>
            <a:ext cx="58442" cy="33741"/>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8" name="g2clk"/>
          <p:cNvCxnSpPr/>
          <p:nvPr/>
        </p:nvCxnSpPr>
        <p:spPr>
          <a:xfrm>
            <a:off x="10378897" y="3543634"/>
            <a:ext cx="33741" cy="58442"/>
          </a:xfrm>
          <a:prstGeom prst="line">
            <a:avLst/>
          </a:prstGeom>
          <a:ln w="13538"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59" name="g2clk"/>
          <p:cNvSpPr txBox="1"/>
          <p:nvPr/>
        </p:nvSpPr>
        <p:spPr>
          <a:xfrm>
            <a:off x="10852830" y="3593992"/>
            <a:ext cx="274320" cy="249935"/>
          </a:xfrm>
          <a:prstGeom prst="rect">
            <a:avLst/>
          </a:prstGeom>
          <a:noFill/>
        </p:spPr>
        <p:txBody>
          <a:bodyPr wrap="none" lIns="0" rIns="0" tIns="0" bIns="0" anchor="ctr">
            <a:spAutoFit/>
          </a:bodyPr>
          <a:lstStyle/>
          <a:p>
            <a:pPr algn="ctr"/>
            <a:r>
              <a:rPr sz="1230" b="1" i="0">
                <a:solidFill>
                  <a:srgbClr val="1F2430"/>
                </a:solidFill>
                <a:latin typeface="PT Sans"/>
              </a:rPr>
              <a:t>1</a:t>
            </a:r>
          </a:p>
        </p:txBody>
      </p:sp>
      <p:sp>
        <p:nvSpPr>
          <p:cNvPr id="160" name="g2clk"/>
          <p:cNvSpPr txBox="1"/>
          <p:nvPr/>
        </p:nvSpPr>
        <p:spPr>
          <a:xfrm>
            <a:off x="11039455" y="3780617"/>
            <a:ext cx="274320" cy="249935"/>
          </a:xfrm>
          <a:prstGeom prst="rect">
            <a:avLst/>
          </a:prstGeom>
          <a:noFill/>
        </p:spPr>
        <p:txBody>
          <a:bodyPr wrap="none" lIns="0" rIns="0" tIns="0" bIns="0" anchor="ctr">
            <a:spAutoFit/>
          </a:bodyPr>
          <a:lstStyle/>
          <a:p>
            <a:pPr algn="ctr"/>
            <a:r>
              <a:rPr sz="1230" b="1" i="0">
                <a:solidFill>
                  <a:srgbClr val="1F2430"/>
                </a:solidFill>
                <a:latin typeface="PT Sans"/>
              </a:rPr>
              <a:t>2</a:t>
            </a:r>
          </a:p>
        </p:txBody>
      </p:sp>
      <p:sp>
        <p:nvSpPr>
          <p:cNvPr id="161" name="g2clk"/>
          <p:cNvSpPr txBox="1"/>
          <p:nvPr/>
        </p:nvSpPr>
        <p:spPr>
          <a:xfrm>
            <a:off x="11107765"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3</a:t>
            </a:r>
          </a:p>
        </p:txBody>
      </p:sp>
      <p:sp>
        <p:nvSpPr>
          <p:cNvPr id="162" name="g2clk"/>
          <p:cNvSpPr txBox="1"/>
          <p:nvPr/>
        </p:nvSpPr>
        <p:spPr>
          <a:xfrm>
            <a:off x="11039455"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4</a:t>
            </a:r>
          </a:p>
        </p:txBody>
      </p:sp>
      <p:sp>
        <p:nvSpPr>
          <p:cNvPr id="163" name="g2clk"/>
          <p:cNvSpPr txBox="1"/>
          <p:nvPr/>
        </p:nvSpPr>
        <p:spPr>
          <a:xfrm>
            <a:off x="10852830"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5</a:t>
            </a:r>
          </a:p>
        </p:txBody>
      </p:sp>
      <p:sp>
        <p:nvSpPr>
          <p:cNvPr id="164" name="g2clk"/>
          <p:cNvSpPr txBox="1"/>
          <p:nvPr/>
        </p:nvSpPr>
        <p:spPr>
          <a:xfrm>
            <a:off x="10597896" y="4545421"/>
            <a:ext cx="274320" cy="249935"/>
          </a:xfrm>
          <a:prstGeom prst="rect">
            <a:avLst/>
          </a:prstGeom>
          <a:noFill/>
        </p:spPr>
        <p:txBody>
          <a:bodyPr wrap="none" lIns="0" rIns="0" tIns="0" bIns="0" anchor="ctr">
            <a:spAutoFit/>
          </a:bodyPr>
          <a:lstStyle/>
          <a:p>
            <a:pPr algn="ctr"/>
            <a:r>
              <a:rPr sz="1230" b="1" i="0">
                <a:solidFill>
                  <a:srgbClr val="1F2430"/>
                </a:solidFill>
                <a:latin typeface="PT Sans"/>
              </a:rPr>
              <a:t>6</a:t>
            </a:r>
          </a:p>
        </p:txBody>
      </p:sp>
      <p:sp>
        <p:nvSpPr>
          <p:cNvPr id="165" name="g2clk"/>
          <p:cNvSpPr txBox="1"/>
          <p:nvPr/>
        </p:nvSpPr>
        <p:spPr>
          <a:xfrm>
            <a:off x="10342961" y="4477111"/>
            <a:ext cx="274320" cy="249935"/>
          </a:xfrm>
          <a:prstGeom prst="rect">
            <a:avLst/>
          </a:prstGeom>
          <a:noFill/>
        </p:spPr>
        <p:txBody>
          <a:bodyPr wrap="none" lIns="0" rIns="0" tIns="0" bIns="0" anchor="ctr">
            <a:spAutoFit/>
          </a:bodyPr>
          <a:lstStyle/>
          <a:p>
            <a:pPr algn="ctr"/>
            <a:r>
              <a:rPr sz="1230" b="1" i="0">
                <a:solidFill>
                  <a:srgbClr val="1F2430"/>
                </a:solidFill>
                <a:latin typeface="PT Sans"/>
              </a:rPr>
              <a:t>7</a:t>
            </a:r>
          </a:p>
        </p:txBody>
      </p:sp>
      <p:sp>
        <p:nvSpPr>
          <p:cNvPr id="166" name="g2clk"/>
          <p:cNvSpPr txBox="1"/>
          <p:nvPr/>
        </p:nvSpPr>
        <p:spPr>
          <a:xfrm>
            <a:off x="10156336" y="4290486"/>
            <a:ext cx="274320" cy="249935"/>
          </a:xfrm>
          <a:prstGeom prst="rect">
            <a:avLst/>
          </a:prstGeom>
          <a:noFill/>
        </p:spPr>
        <p:txBody>
          <a:bodyPr wrap="none" lIns="0" rIns="0" tIns="0" bIns="0" anchor="ctr">
            <a:spAutoFit/>
          </a:bodyPr>
          <a:lstStyle/>
          <a:p>
            <a:pPr algn="ctr"/>
            <a:r>
              <a:rPr sz="1230" b="1" i="0">
                <a:solidFill>
                  <a:srgbClr val="1F2430"/>
                </a:solidFill>
                <a:latin typeface="PT Sans"/>
              </a:rPr>
              <a:t>8</a:t>
            </a:r>
          </a:p>
        </p:txBody>
      </p:sp>
      <p:sp>
        <p:nvSpPr>
          <p:cNvPr id="167" name="g2clk"/>
          <p:cNvSpPr txBox="1"/>
          <p:nvPr/>
        </p:nvSpPr>
        <p:spPr>
          <a:xfrm>
            <a:off x="10088026" y="4035552"/>
            <a:ext cx="274320" cy="249935"/>
          </a:xfrm>
          <a:prstGeom prst="rect">
            <a:avLst/>
          </a:prstGeom>
          <a:noFill/>
        </p:spPr>
        <p:txBody>
          <a:bodyPr wrap="none" lIns="0" rIns="0" tIns="0" bIns="0" anchor="ctr">
            <a:spAutoFit/>
          </a:bodyPr>
          <a:lstStyle/>
          <a:p>
            <a:pPr algn="ctr"/>
            <a:r>
              <a:rPr sz="1230" b="1" i="0">
                <a:solidFill>
                  <a:srgbClr val="1F2430"/>
                </a:solidFill>
                <a:latin typeface="PT Sans"/>
              </a:rPr>
              <a:t>9</a:t>
            </a:r>
          </a:p>
        </p:txBody>
      </p:sp>
      <p:sp>
        <p:nvSpPr>
          <p:cNvPr id="168" name="g2clk"/>
          <p:cNvSpPr txBox="1"/>
          <p:nvPr/>
        </p:nvSpPr>
        <p:spPr>
          <a:xfrm>
            <a:off x="10151154" y="3780617"/>
            <a:ext cx="284683" cy="249935"/>
          </a:xfrm>
          <a:prstGeom prst="rect">
            <a:avLst/>
          </a:prstGeom>
          <a:noFill/>
        </p:spPr>
        <p:txBody>
          <a:bodyPr wrap="none" lIns="0" rIns="0" tIns="0" bIns="0" anchor="ctr">
            <a:spAutoFit/>
          </a:bodyPr>
          <a:lstStyle/>
          <a:p>
            <a:pPr algn="ctr"/>
            <a:r>
              <a:rPr sz="1230" b="1" i="0">
                <a:solidFill>
                  <a:srgbClr val="1F2430"/>
                </a:solidFill>
                <a:latin typeface="PT Sans"/>
              </a:rPr>
              <a:t>10</a:t>
            </a:r>
          </a:p>
        </p:txBody>
      </p:sp>
      <p:sp>
        <p:nvSpPr>
          <p:cNvPr id="169" name="g2clk"/>
          <p:cNvSpPr txBox="1"/>
          <p:nvPr/>
        </p:nvSpPr>
        <p:spPr>
          <a:xfrm>
            <a:off x="10337779" y="3593992"/>
            <a:ext cx="284683" cy="249935"/>
          </a:xfrm>
          <a:prstGeom prst="rect">
            <a:avLst/>
          </a:prstGeom>
          <a:noFill/>
        </p:spPr>
        <p:txBody>
          <a:bodyPr wrap="none" lIns="0" rIns="0" tIns="0" bIns="0" anchor="ctr">
            <a:spAutoFit/>
          </a:bodyPr>
          <a:lstStyle/>
          <a:p>
            <a:pPr algn="ctr"/>
            <a:r>
              <a:rPr sz="1230" b="1" i="0">
                <a:solidFill>
                  <a:srgbClr val="1F2430"/>
                </a:solidFill>
                <a:latin typeface="PT Sans"/>
              </a:rPr>
              <a:t>11</a:t>
            </a:r>
          </a:p>
        </p:txBody>
      </p:sp>
      <p:sp>
        <p:nvSpPr>
          <p:cNvPr id="170" name="g2clk"/>
          <p:cNvSpPr txBox="1"/>
          <p:nvPr/>
        </p:nvSpPr>
        <p:spPr>
          <a:xfrm>
            <a:off x="10592714" y="3525682"/>
            <a:ext cx="284683" cy="249935"/>
          </a:xfrm>
          <a:prstGeom prst="rect">
            <a:avLst/>
          </a:prstGeom>
          <a:noFill/>
        </p:spPr>
        <p:txBody>
          <a:bodyPr wrap="none" lIns="0" rIns="0" tIns="0" bIns="0" anchor="ctr">
            <a:spAutoFit/>
          </a:bodyPr>
          <a:lstStyle/>
          <a:p>
            <a:pPr algn="ctr"/>
            <a:r>
              <a:rPr sz="1230" b="1" i="0">
                <a:solidFill>
                  <a:srgbClr val="1F2430"/>
                </a:solidFill>
                <a:latin typeface="PT Sans"/>
              </a:rPr>
              <a:t>12</a:t>
            </a:r>
          </a:p>
        </p:txBody>
      </p:sp>
      <p:cxnSp>
        <p:nvCxnSpPr>
          <p:cNvPr id="171" name="g2clk"/>
          <p:cNvCxnSpPr/>
          <p:nvPr/>
        </p:nvCxnSpPr>
        <p:spPr>
          <a:xfrm flipH="1">
            <a:off x="10437624" y="4160520"/>
            <a:ext cx="297432" cy="228227"/>
          </a:xfrm>
          <a:prstGeom prst="line">
            <a:avLst/>
          </a:prstGeom>
          <a:ln w="72897"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2" name="g2clk"/>
          <p:cNvCxnSpPr/>
          <p:nvPr/>
        </p:nvCxnSpPr>
        <p:spPr>
          <a:xfrm flipH="1">
            <a:off x="10135209" y="4160520"/>
            <a:ext cx="599847" cy="0"/>
          </a:xfrm>
          <a:prstGeom prst="line">
            <a:avLst/>
          </a:prstGeom>
          <a:ln w="43738"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g2clk"/>
          <p:cNvSpPr/>
          <p:nvPr/>
        </p:nvSpPr>
        <p:spPr>
          <a:xfrm>
            <a:off x="10693816" y="4119280"/>
            <a:ext cx="82478" cy="82478"/>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К: буюм менен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11/26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Жупта: кагаз тарелкадан саат. Жебелерди айлантып кой: 7:00, 7:30, 7:15, 7:45.</a:t>
            </a:r>
          </a:p>
        </p:txBody>
      </p:sp>
      <p:sp>
        <p:nvSpPr>
          <p:cNvPr id="12" name="Oval 11"/>
          <p:cNvSpPr/>
          <p:nvPr/>
        </p:nvSpPr>
        <p:spPr>
          <a:xfrm>
            <a:off x="881481" y="2481681"/>
            <a:ext cx="2900476" cy="2900476"/>
          </a:xfrm>
          <a:prstGeom prst="ellipse">
            <a:avLst/>
          </a:prstGeom>
          <a:solidFill>
            <a:srgbClr val="F7F3EC"/>
          </a:solidFill>
          <a:ln w="15875">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142999" y="2743200"/>
            <a:ext cx="2377440" cy="2377440"/>
          </a:xfrm>
          <a:prstGeom prst="ellipse">
            <a:avLst/>
          </a:prstGeom>
          <a:solidFill>
            <a:srgbClr val="FFFFFF"/>
          </a:solidFill>
          <a:ln w="381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flipH="1">
            <a:off x="2442307" y="2808822"/>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2551682" y="2827313"/>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658647" y="2857907"/>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762031" y="2900267"/>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2953573" y="3018310"/>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3039633" y="309269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117938" y="3176281"/>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3187628" y="326814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3298215" y="3472598"/>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3337900" y="3582952"/>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3366561" y="3697128"/>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383885" y="381387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3383885" y="404250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3366561" y="4151882"/>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3337900" y="4258847"/>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3298215" y="4362231"/>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3187628" y="455377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3117938" y="4639833"/>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3039633" y="471813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2953573" y="4787828"/>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2762031" y="4898415"/>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2658647" y="4938100"/>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2551682" y="4966761"/>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flipV="1">
            <a:off x="2442307" y="4984085"/>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2213677" y="4984085"/>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2096928" y="4966761"/>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982752" y="4938100"/>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872398" y="4898415"/>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667943" y="4787828"/>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576081" y="471813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492498" y="4639833"/>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1418110" y="455377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1300067" y="4362231"/>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257707" y="4258847"/>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1227113" y="4151882"/>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1208622" y="404250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208622" y="3813877"/>
            <a:ext cx="70932" cy="745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227113" y="3697128"/>
            <a:ext cx="69765" cy="14829"/>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257707" y="3582952"/>
            <a:ext cx="67832" cy="2204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300067" y="3472598"/>
            <a:ext cx="65157" cy="29010"/>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418110" y="3268143"/>
            <a:ext cx="57701" cy="4192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492498" y="3176281"/>
            <a:ext cx="53003" cy="4772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576081" y="3092698"/>
            <a:ext cx="47725" cy="53003"/>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667943" y="3018310"/>
            <a:ext cx="41923" cy="57701"/>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872398" y="2900267"/>
            <a:ext cx="29010" cy="65157"/>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982752" y="2857907"/>
            <a:ext cx="22040" cy="678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2096928" y="2827313"/>
            <a:ext cx="14829" cy="69765"/>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2213677" y="2808822"/>
            <a:ext cx="7455" cy="70932"/>
          </a:xfrm>
          <a:prstGeom prst="line">
            <a:avLst/>
          </a:prstGeom>
          <a:ln w="9906"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2331720" y="2802636"/>
            <a:ext cx="0" cy="154533"/>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2842869" y="2953931"/>
            <a:ext cx="53492"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3217057" y="3367277"/>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3306470" y="3931920"/>
            <a:ext cx="154533" cy="0"/>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3217057" y="4443069"/>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2842869" y="4817257"/>
            <a:ext cx="53492"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2331720" y="4906670"/>
            <a:ext cx="0" cy="154534"/>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1767077" y="4817257"/>
            <a:ext cx="53493"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1353731" y="4443069"/>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1202436" y="3931920"/>
            <a:ext cx="154533" cy="0"/>
          </a:xfrm>
          <a:prstGeom prst="line">
            <a:avLst/>
          </a:prstGeom>
          <a:ln w="3302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353731" y="3367277"/>
            <a:ext cx="92651" cy="53493"/>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1767077" y="2953931"/>
            <a:ext cx="53493" cy="92651"/>
          </a:xfrm>
          <a:prstGeom prst="line">
            <a:avLst/>
          </a:prstGeom>
          <a:ln w="21463"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2598724" y="3033766"/>
            <a:ext cx="274320" cy="396240"/>
          </a:xfrm>
          <a:prstGeom prst="rect">
            <a:avLst/>
          </a:prstGeom>
          <a:noFill/>
        </p:spPr>
        <p:txBody>
          <a:bodyPr wrap="none" lIns="0" rIns="0" tIns="0" bIns="0" anchor="ctr">
            <a:spAutoFit/>
          </a:bodyPr>
          <a:lstStyle/>
          <a:p>
            <a:pPr algn="ctr"/>
            <a:r>
              <a:rPr sz="1950" b="1" i="0">
                <a:solidFill>
                  <a:srgbClr val="1F2430"/>
                </a:solidFill>
                <a:latin typeface="PT Sans"/>
              </a:rPr>
              <a:t>1</a:t>
            </a:r>
          </a:p>
        </p:txBody>
      </p:sp>
      <p:sp>
        <p:nvSpPr>
          <p:cNvPr id="75" name="TextBox 74"/>
          <p:cNvSpPr txBox="1"/>
          <p:nvPr/>
        </p:nvSpPr>
        <p:spPr>
          <a:xfrm>
            <a:off x="2894593" y="3329635"/>
            <a:ext cx="274320" cy="396240"/>
          </a:xfrm>
          <a:prstGeom prst="rect">
            <a:avLst/>
          </a:prstGeom>
          <a:noFill/>
        </p:spPr>
        <p:txBody>
          <a:bodyPr wrap="none" lIns="0" rIns="0" tIns="0" bIns="0" anchor="ctr">
            <a:spAutoFit/>
          </a:bodyPr>
          <a:lstStyle/>
          <a:p>
            <a:pPr algn="ctr"/>
            <a:r>
              <a:rPr sz="1950" b="1" i="0">
                <a:solidFill>
                  <a:srgbClr val="1F2430"/>
                </a:solidFill>
                <a:latin typeface="PT Sans"/>
              </a:rPr>
              <a:t>2</a:t>
            </a:r>
          </a:p>
        </p:txBody>
      </p:sp>
      <p:sp>
        <p:nvSpPr>
          <p:cNvPr id="76" name="TextBox 75"/>
          <p:cNvSpPr txBox="1"/>
          <p:nvPr/>
        </p:nvSpPr>
        <p:spPr>
          <a:xfrm>
            <a:off x="3002889" y="3733799"/>
            <a:ext cx="274320" cy="396240"/>
          </a:xfrm>
          <a:prstGeom prst="rect">
            <a:avLst/>
          </a:prstGeom>
          <a:noFill/>
        </p:spPr>
        <p:txBody>
          <a:bodyPr wrap="none" lIns="0" rIns="0" tIns="0" bIns="0" anchor="ctr">
            <a:spAutoFit/>
          </a:bodyPr>
          <a:lstStyle/>
          <a:p>
            <a:pPr algn="ctr"/>
            <a:r>
              <a:rPr sz="1950" b="1" i="0">
                <a:solidFill>
                  <a:srgbClr val="1F2430"/>
                </a:solidFill>
                <a:latin typeface="PT Sans"/>
              </a:rPr>
              <a:t>3</a:t>
            </a:r>
          </a:p>
        </p:txBody>
      </p:sp>
      <p:sp>
        <p:nvSpPr>
          <p:cNvPr id="77" name="TextBox 76"/>
          <p:cNvSpPr txBox="1"/>
          <p:nvPr/>
        </p:nvSpPr>
        <p:spPr>
          <a:xfrm>
            <a:off x="2894593" y="4137964"/>
            <a:ext cx="274320" cy="396240"/>
          </a:xfrm>
          <a:prstGeom prst="rect">
            <a:avLst/>
          </a:prstGeom>
          <a:noFill/>
        </p:spPr>
        <p:txBody>
          <a:bodyPr wrap="none" lIns="0" rIns="0" tIns="0" bIns="0" anchor="ctr">
            <a:spAutoFit/>
          </a:bodyPr>
          <a:lstStyle/>
          <a:p>
            <a:pPr algn="ctr"/>
            <a:r>
              <a:rPr sz="1950" b="1" i="0">
                <a:solidFill>
                  <a:srgbClr val="1F2430"/>
                </a:solidFill>
                <a:latin typeface="PT Sans"/>
              </a:rPr>
              <a:t>4</a:t>
            </a:r>
          </a:p>
        </p:txBody>
      </p:sp>
      <p:sp>
        <p:nvSpPr>
          <p:cNvPr id="78" name="TextBox 77"/>
          <p:cNvSpPr txBox="1"/>
          <p:nvPr/>
        </p:nvSpPr>
        <p:spPr>
          <a:xfrm>
            <a:off x="2598724" y="4433833"/>
            <a:ext cx="274320" cy="396240"/>
          </a:xfrm>
          <a:prstGeom prst="rect">
            <a:avLst/>
          </a:prstGeom>
          <a:noFill/>
        </p:spPr>
        <p:txBody>
          <a:bodyPr wrap="none" lIns="0" rIns="0" tIns="0" bIns="0" anchor="ctr">
            <a:spAutoFit/>
          </a:bodyPr>
          <a:lstStyle/>
          <a:p>
            <a:pPr algn="ctr"/>
            <a:r>
              <a:rPr sz="1950" b="1" i="0">
                <a:solidFill>
                  <a:srgbClr val="1F2430"/>
                </a:solidFill>
                <a:latin typeface="PT Sans"/>
              </a:rPr>
              <a:t>5</a:t>
            </a:r>
          </a:p>
        </p:txBody>
      </p:sp>
      <p:sp>
        <p:nvSpPr>
          <p:cNvPr id="79" name="TextBox 78"/>
          <p:cNvSpPr txBox="1"/>
          <p:nvPr/>
        </p:nvSpPr>
        <p:spPr>
          <a:xfrm>
            <a:off x="2194560" y="4542129"/>
            <a:ext cx="274320" cy="396240"/>
          </a:xfrm>
          <a:prstGeom prst="rect">
            <a:avLst/>
          </a:prstGeom>
          <a:noFill/>
        </p:spPr>
        <p:txBody>
          <a:bodyPr wrap="none" lIns="0" rIns="0" tIns="0" bIns="0" anchor="ctr">
            <a:spAutoFit/>
          </a:bodyPr>
          <a:lstStyle/>
          <a:p>
            <a:pPr algn="ctr"/>
            <a:r>
              <a:rPr sz="1950" b="1" i="0">
                <a:solidFill>
                  <a:srgbClr val="1F2430"/>
                </a:solidFill>
                <a:latin typeface="PT Sans"/>
              </a:rPr>
              <a:t>6</a:t>
            </a:r>
          </a:p>
        </p:txBody>
      </p:sp>
      <p:sp>
        <p:nvSpPr>
          <p:cNvPr id="80" name="TextBox 79"/>
          <p:cNvSpPr txBox="1"/>
          <p:nvPr/>
        </p:nvSpPr>
        <p:spPr>
          <a:xfrm>
            <a:off x="1790395" y="4433833"/>
            <a:ext cx="274320" cy="396240"/>
          </a:xfrm>
          <a:prstGeom prst="rect">
            <a:avLst/>
          </a:prstGeom>
          <a:noFill/>
        </p:spPr>
        <p:txBody>
          <a:bodyPr wrap="none" lIns="0" rIns="0" tIns="0" bIns="0" anchor="ctr">
            <a:spAutoFit/>
          </a:bodyPr>
          <a:lstStyle/>
          <a:p>
            <a:pPr algn="ctr"/>
            <a:r>
              <a:rPr sz="1950" b="1" i="0">
                <a:solidFill>
                  <a:srgbClr val="1F2430"/>
                </a:solidFill>
                <a:latin typeface="PT Sans"/>
              </a:rPr>
              <a:t>7</a:t>
            </a:r>
          </a:p>
        </p:txBody>
      </p:sp>
      <p:sp>
        <p:nvSpPr>
          <p:cNvPr id="81" name="TextBox 80"/>
          <p:cNvSpPr txBox="1"/>
          <p:nvPr/>
        </p:nvSpPr>
        <p:spPr>
          <a:xfrm>
            <a:off x="1494526" y="4137964"/>
            <a:ext cx="274320" cy="396240"/>
          </a:xfrm>
          <a:prstGeom prst="rect">
            <a:avLst/>
          </a:prstGeom>
          <a:noFill/>
        </p:spPr>
        <p:txBody>
          <a:bodyPr wrap="none" lIns="0" rIns="0" tIns="0" bIns="0" anchor="ctr">
            <a:spAutoFit/>
          </a:bodyPr>
          <a:lstStyle/>
          <a:p>
            <a:pPr algn="ctr"/>
            <a:r>
              <a:rPr sz="1950" b="1" i="0">
                <a:solidFill>
                  <a:srgbClr val="1F2430"/>
                </a:solidFill>
                <a:latin typeface="PT Sans"/>
              </a:rPr>
              <a:t>8</a:t>
            </a:r>
          </a:p>
        </p:txBody>
      </p:sp>
      <p:sp>
        <p:nvSpPr>
          <p:cNvPr id="82" name="TextBox 81"/>
          <p:cNvSpPr txBox="1"/>
          <p:nvPr/>
        </p:nvSpPr>
        <p:spPr>
          <a:xfrm>
            <a:off x="1386230" y="3733799"/>
            <a:ext cx="274320" cy="396240"/>
          </a:xfrm>
          <a:prstGeom prst="rect">
            <a:avLst/>
          </a:prstGeom>
          <a:noFill/>
        </p:spPr>
        <p:txBody>
          <a:bodyPr wrap="none" lIns="0" rIns="0" tIns="0" bIns="0" anchor="ctr">
            <a:spAutoFit/>
          </a:bodyPr>
          <a:lstStyle/>
          <a:p>
            <a:pPr algn="ctr"/>
            <a:r>
              <a:rPr sz="1950" b="1" i="0">
                <a:solidFill>
                  <a:srgbClr val="1F2430"/>
                </a:solidFill>
                <a:latin typeface="PT Sans"/>
              </a:rPr>
              <a:t>9</a:t>
            </a:r>
          </a:p>
        </p:txBody>
      </p:sp>
      <p:sp>
        <p:nvSpPr>
          <p:cNvPr id="83" name="TextBox 82"/>
          <p:cNvSpPr txBox="1"/>
          <p:nvPr/>
        </p:nvSpPr>
        <p:spPr>
          <a:xfrm>
            <a:off x="1438138" y="3329635"/>
            <a:ext cx="387096" cy="396240"/>
          </a:xfrm>
          <a:prstGeom prst="rect">
            <a:avLst/>
          </a:prstGeom>
          <a:noFill/>
        </p:spPr>
        <p:txBody>
          <a:bodyPr wrap="none" lIns="0" rIns="0" tIns="0" bIns="0" anchor="ctr">
            <a:spAutoFit/>
          </a:bodyPr>
          <a:lstStyle/>
          <a:p>
            <a:pPr algn="ctr"/>
            <a:r>
              <a:rPr sz="1950" b="1" i="0">
                <a:solidFill>
                  <a:srgbClr val="1F2430"/>
                </a:solidFill>
                <a:latin typeface="PT Sans"/>
              </a:rPr>
              <a:t>10</a:t>
            </a:r>
          </a:p>
        </p:txBody>
      </p:sp>
      <p:sp>
        <p:nvSpPr>
          <p:cNvPr id="84" name="TextBox 83"/>
          <p:cNvSpPr txBox="1"/>
          <p:nvPr/>
        </p:nvSpPr>
        <p:spPr>
          <a:xfrm>
            <a:off x="1734007" y="3033766"/>
            <a:ext cx="387096" cy="396240"/>
          </a:xfrm>
          <a:prstGeom prst="rect">
            <a:avLst/>
          </a:prstGeom>
          <a:noFill/>
        </p:spPr>
        <p:txBody>
          <a:bodyPr wrap="none" lIns="0" rIns="0" tIns="0" bIns="0" anchor="ctr">
            <a:spAutoFit/>
          </a:bodyPr>
          <a:lstStyle/>
          <a:p>
            <a:pPr algn="ctr"/>
            <a:r>
              <a:rPr sz="1950" b="1" i="0">
                <a:solidFill>
                  <a:srgbClr val="1F2430"/>
                </a:solidFill>
                <a:latin typeface="PT Sans"/>
              </a:rPr>
              <a:t>11</a:t>
            </a:r>
          </a:p>
        </p:txBody>
      </p:sp>
      <p:sp>
        <p:nvSpPr>
          <p:cNvPr id="85" name="TextBox 84"/>
          <p:cNvSpPr txBox="1"/>
          <p:nvPr/>
        </p:nvSpPr>
        <p:spPr>
          <a:xfrm>
            <a:off x="2138171" y="2925470"/>
            <a:ext cx="387096" cy="396240"/>
          </a:xfrm>
          <a:prstGeom prst="rect">
            <a:avLst/>
          </a:prstGeom>
          <a:noFill/>
        </p:spPr>
        <p:txBody>
          <a:bodyPr wrap="none" lIns="0" rIns="0" tIns="0" bIns="0" anchor="ctr">
            <a:spAutoFit/>
          </a:bodyPr>
          <a:lstStyle/>
          <a:p>
            <a:pPr algn="ctr"/>
            <a:r>
              <a:rPr sz="1950" b="1" i="0">
                <a:solidFill>
                  <a:srgbClr val="1F2430"/>
                </a:solidFill>
                <a:latin typeface="PT Sans"/>
              </a:rPr>
              <a:t>12</a:t>
            </a:r>
          </a:p>
        </p:txBody>
      </p:sp>
      <p:sp>
        <p:nvSpPr>
          <p:cNvPr id="86" name="TextBox 85"/>
          <p:cNvSpPr txBox="1"/>
          <p:nvPr/>
        </p:nvSpPr>
        <p:spPr>
          <a:xfrm>
            <a:off x="2194560" y="2526588"/>
            <a:ext cx="274320" cy="171704"/>
          </a:xfrm>
          <a:prstGeom prst="rect">
            <a:avLst/>
          </a:prstGeom>
          <a:noFill/>
        </p:spPr>
        <p:txBody>
          <a:bodyPr wrap="none" lIns="0" rIns="0" tIns="0" bIns="0" anchor="ctr">
            <a:spAutoFit/>
          </a:bodyPr>
          <a:lstStyle/>
          <a:p>
            <a:pPr algn="ctr"/>
            <a:r>
              <a:rPr sz="845" b="1" i="0">
                <a:solidFill>
                  <a:srgbClr val="4A5A70"/>
                </a:solidFill>
                <a:latin typeface="PT Sans"/>
              </a:rPr>
              <a:t>0</a:t>
            </a:r>
          </a:p>
        </p:txBody>
      </p:sp>
      <p:sp>
        <p:nvSpPr>
          <p:cNvPr id="87" name="TextBox 86"/>
          <p:cNvSpPr txBox="1"/>
          <p:nvPr/>
        </p:nvSpPr>
        <p:spPr>
          <a:xfrm>
            <a:off x="2854299" y="2703365"/>
            <a:ext cx="274320" cy="171704"/>
          </a:xfrm>
          <a:prstGeom prst="rect">
            <a:avLst/>
          </a:prstGeom>
          <a:noFill/>
        </p:spPr>
        <p:txBody>
          <a:bodyPr wrap="none" lIns="0" rIns="0" tIns="0" bIns="0" anchor="ctr">
            <a:spAutoFit/>
          </a:bodyPr>
          <a:lstStyle/>
          <a:p>
            <a:pPr algn="ctr"/>
            <a:r>
              <a:rPr sz="845" b="1" i="0">
                <a:solidFill>
                  <a:srgbClr val="4A5A70"/>
                </a:solidFill>
                <a:latin typeface="PT Sans"/>
              </a:rPr>
              <a:t>5</a:t>
            </a:r>
          </a:p>
        </p:txBody>
      </p:sp>
      <p:sp>
        <p:nvSpPr>
          <p:cNvPr id="88" name="TextBox 87"/>
          <p:cNvSpPr txBox="1"/>
          <p:nvPr/>
        </p:nvSpPr>
        <p:spPr>
          <a:xfrm>
            <a:off x="3337262" y="3186328"/>
            <a:ext cx="274320" cy="171704"/>
          </a:xfrm>
          <a:prstGeom prst="rect">
            <a:avLst/>
          </a:prstGeom>
          <a:noFill/>
        </p:spPr>
        <p:txBody>
          <a:bodyPr wrap="none" lIns="0" rIns="0" tIns="0" bIns="0" anchor="ctr">
            <a:spAutoFit/>
          </a:bodyPr>
          <a:lstStyle/>
          <a:p>
            <a:pPr algn="ctr"/>
            <a:r>
              <a:rPr sz="845" b="1" i="0">
                <a:solidFill>
                  <a:srgbClr val="4A5A70"/>
                </a:solidFill>
                <a:latin typeface="PT Sans"/>
              </a:rPr>
              <a:t>10</a:t>
            </a:r>
          </a:p>
        </p:txBody>
      </p:sp>
      <p:sp>
        <p:nvSpPr>
          <p:cNvPr id="89" name="TextBox 88"/>
          <p:cNvSpPr txBox="1"/>
          <p:nvPr/>
        </p:nvSpPr>
        <p:spPr>
          <a:xfrm>
            <a:off x="3514039" y="3846068"/>
            <a:ext cx="274320" cy="171704"/>
          </a:xfrm>
          <a:prstGeom prst="rect">
            <a:avLst/>
          </a:prstGeom>
          <a:noFill/>
        </p:spPr>
        <p:txBody>
          <a:bodyPr wrap="none" lIns="0" rIns="0" tIns="0" bIns="0" anchor="ctr">
            <a:spAutoFit/>
          </a:bodyPr>
          <a:lstStyle/>
          <a:p>
            <a:pPr algn="ctr"/>
            <a:r>
              <a:rPr sz="845" b="1" i="0">
                <a:solidFill>
                  <a:srgbClr val="4A5A70"/>
                </a:solidFill>
                <a:latin typeface="PT Sans"/>
              </a:rPr>
              <a:t>15</a:t>
            </a:r>
          </a:p>
        </p:txBody>
      </p:sp>
      <p:sp>
        <p:nvSpPr>
          <p:cNvPr id="90" name="TextBox 89"/>
          <p:cNvSpPr txBox="1"/>
          <p:nvPr/>
        </p:nvSpPr>
        <p:spPr>
          <a:xfrm>
            <a:off x="3337262" y="4505807"/>
            <a:ext cx="274320" cy="171704"/>
          </a:xfrm>
          <a:prstGeom prst="rect">
            <a:avLst/>
          </a:prstGeom>
          <a:noFill/>
        </p:spPr>
        <p:txBody>
          <a:bodyPr wrap="none" lIns="0" rIns="0" tIns="0" bIns="0" anchor="ctr">
            <a:spAutoFit/>
          </a:bodyPr>
          <a:lstStyle/>
          <a:p>
            <a:pPr algn="ctr"/>
            <a:r>
              <a:rPr sz="845" b="1" i="0">
                <a:solidFill>
                  <a:srgbClr val="4A5A70"/>
                </a:solidFill>
                <a:latin typeface="PT Sans"/>
              </a:rPr>
              <a:t>20</a:t>
            </a:r>
          </a:p>
        </p:txBody>
      </p:sp>
      <p:sp>
        <p:nvSpPr>
          <p:cNvPr id="91" name="TextBox 90"/>
          <p:cNvSpPr txBox="1"/>
          <p:nvPr/>
        </p:nvSpPr>
        <p:spPr>
          <a:xfrm>
            <a:off x="2854299" y="4988770"/>
            <a:ext cx="274320" cy="171704"/>
          </a:xfrm>
          <a:prstGeom prst="rect">
            <a:avLst/>
          </a:prstGeom>
          <a:noFill/>
        </p:spPr>
        <p:txBody>
          <a:bodyPr wrap="none" lIns="0" rIns="0" tIns="0" bIns="0" anchor="ctr">
            <a:spAutoFit/>
          </a:bodyPr>
          <a:lstStyle/>
          <a:p>
            <a:pPr algn="ctr"/>
            <a:r>
              <a:rPr sz="845" b="1" i="0">
                <a:solidFill>
                  <a:srgbClr val="4A5A70"/>
                </a:solidFill>
                <a:latin typeface="PT Sans"/>
              </a:rPr>
              <a:t>25</a:t>
            </a:r>
          </a:p>
        </p:txBody>
      </p:sp>
      <p:sp>
        <p:nvSpPr>
          <p:cNvPr id="92" name="TextBox 91"/>
          <p:cNvSpPr txBox="1"/>
          <p:nvPr/>
        </p:nvSpPr>
        <p:spPr>
          <a:xfrm>
            <a:off x="2194560" y="5165547"/>
            <a:ext cx="274320" cy="171704"/>
          </a:xfrm>
          <a:prstGeom prst="rect">
            <a:avLst/>
          </a:prstGeom>
          <a:noFill/>
        </p:spPr>
        <p:txBody>
          <a:bodyPr wrap="none" lIns="0" rIns="0" tIns="0" bIns="0" anchor="ctr">
            <a:spAutoFit/>
          </a:bodyPr>
          <a:lstStyle/>
          <a:p>
            <a:pPr algn="ctr"/>
            <a:r>
              <a:rPr sz="845" b="1" i="0">
                <a:solidFill>
                  <a:srgbClr val="4A5A70"/>
                </a:solidFill>
                <a:latin typeface="PT Sans"/>
              </a:rPr>
              <a:t>30</a:t>
            </a:r>
          </a:p>
        </p:txBody>
      </p:sp>
      <p:sp>
        <p:nvSpPr>
          <p:cNvPr id="93" name="TextBox 92"/>
          <p:cNvSpPr txBox="1"/>
          <p:nvPr/>
        </p:nvSpPr>
        <p:spPr>
          <a:xfrm>
            <a:off x="1534820" y="4988770"/>
            <a:ext cx="274320" cy="171704"/>
          </a:xfrm>
          <a:prstGeom prst="rect">
            <a:avLst/>
          </a:prstGeom>
          <a:noFill/>
        </p:spPr>
        <p:txBody>
          <a:bodyPr wrap="none" lIns="0" rIns="0" tIns="0" bIns="0" anchor="ctr">
            <a:spAutoFit/>
          </a:bodyPr>
          <a:lstStyle/>
          <a:p>
            <a:pPr algn="ctr"/>
            <a:r>
              <a:rPr sz="845" b="1" i="0">
                <a:solidFill>
                  <a:srgbClr val="4A5A70"/>
                </a:solidFill>
                <a:latin typeface="PT Sans"/>
              </a:rPr>
              <a:t>35</a:t>
            </a:r>
          </a:p>
        </p:txBody>
      </p:sp>
      <p:sp>
        <p:nvSpPr>
          <p:cNvPr id="94" name="TextBox 93"/>
          <p:cNvSpPr txBox="1"/>
          <p:nvPr/>
        </p:nvSpPr>
        <p:spPr>
          <a:xfrm>
            <a:off x="1051857" y="4505807"/>
            <a:ext cx="274320" cy="171704"/>
          </a:xfrm>
          <a:prstGeom prst="rect">
            <a:avLst/>
          </a:prstGeom>
          <a:noFill/>
        </p:spPr>
        <p:txBody>
          <a:bodyPr wrap="none" lIns="0" rIns="0" tIns="0" bIns="0" anchor="ctr">
            <a:spAutoFit/>
          </a:bodyPr>
          <a:lstStyle/>
          <a:p>
            <a:pPr algn="ctr"/>
            <a:r>
              <a:rPr sz="845" b="1" i="0">
                <a:solidFill>
                  <a:srgbClr val="4A5A70"/>
                </a:solidFill>
                <a:latin typeface="PT Sans"/>
              </a:rPr>
              <a:t>40</a:t>
            </a:r>
          </a:p>
        </p:txBody>
      </p:sp>
      <p:sp>
        <p:nvSpPr>
          <p:cNvPr id="95" name="TextBox 94"/>
          <p:cNvSpPr txBox="1"/>
          <p:nvPr/>
        </p:nvSpPr>
        <p:spPr>
          <a:xfrm>
            <a:off x="875080" y="3846068"/>
            <a:ext cx="274320" cy="171704"/>
          </a:xfrm>
          <a:prstGeom prst="rect">
            <a:avLst/>
          </a:prstGeom>
          <a:noFill/>
        </p:spPr>
        <p:txBody>
          <a:bodyPr wrap="none" lIns="0" rIns="0" tIns="0" bIns="0" anchor="ctr">
            <a:spAutoFit/>
          </a:bodyPr>
          <a:lstStyle/>
          <a:p>
            <a:pPr algn="ctr"/>
            <a:r>
              <a:rPr sz="845" b="1" i="0">
                <a:solidFill>
                  <a:srgbClr val="4A5A70"/>
                </a:solidFill>
                <a:latin typeface="PT Sans"/>
              </a:rPr>
              <a:t>45</a:t>
            </a:r>
          </a:p>
        </p:txBody>
      </p:sp>
      <p:sp>
        <p:nvSpPr>
          <p:cNvPr id="96" name="TextBox 95"/>
          <p:cNvSpPr txBox="1"/>
          <p:nvPr/>
        </p:nvSpPr>
        <p:spPr>
          <a:xfrm>
            <a:off x="1051857" y="3186328"/>
            <a:ext cx="274320" cy="171704"/>
          </a:xfrm>
          <a:prstGeom prst="rect">
            <a:avLst/>
          </a:prstGeom>
          <a:noFill/>
        </p:spPr>
        <p:txBody>
          <a:bodyPr wrap="none" lIns="0" rIns="0" tIns="0" bIns="0" anchor="ctr">
            <a:spAutoFit/>
          </a:bodyPr>
          <a:lstStyle/>
          <a:p>
            <a:pPr algn="ctr"/>
            <a:r>
              <a:rPr sz="845" b="1" i="0">
                <a:solidFill>
                  <a:srgbClr val="4A5A70"/>
                </a:solidFill>
                <a:latin typeface="PT Sans"/>
              </a:rPr>
              <a:t>50</a:t>
            </a:r>
          </a:p>
        </p:txBody>
      </p:sp>
      <p:sp>
        <p:nvSpPr>
          <p:cNvPr id="97" name="TextBox 96"/>
          <p:cNvSpPr txBox="1"/>
          <p:nvPr/>
        </p:nvSpPr>
        <p:spPr>
          <a:xfrm>
            <a:off x="1534820" y="2703365"/>
            <a:ext cx="274320" cy="171704"/>
          </a:xfrm>
          <a:prstGeom prst="rect">
            <a:avLst/>
          </a:prstGeom>
          <a:noFill/>
        </p:spPr>
        <p:txBody>
          <a:bodyPr wrap="none" lIns="0" rIns="0" tIns="0" bIns="0" anchor="ctr">
            <a:spAutoFit/>
          </a:bodyPr>
          <a:lstStyle/>
          <a:p>
            <a:pPr algn="ctr"/>
            <a:r>
              <a:rPr sz="845" b="1" i="0">
                <a:solidFill>
                  <a:srgbClr val="4A5A70"/>
                </a:solidFill>
                <a:latin typeface="PT Sans"/>
              </a:rPr>
              <a:t>55</a:t>
            </a:r>
          </a:p>
        </p:txBody>
      </p:sp>
      <p:cxnSp>
        <p:nvCxnSpPr>
          <p:cNvPr id="98" name="Connector 97"/>
          <p:cNvCxnSpPr/>
          <p:nvPr/>
        </p:nvCxnSpPr>
        <p:spPr>
          <a:xfrm flipH="1">
            <a:off x="1969896" y="3931920"/>
            <a:ext cx="361824" cy="471537"/>
          </a:xfrm>
          <a:prstGeom prst="line">
            <a:avLst/>
          </a:prstGeom>
          <a:ln w="115570"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2331720" y="3931920"/>
            <a:ext cx="950976" cy="0"/>
          </a:xfrm>
          <a:prstGeom prst="line">
            <a:avLst/>
          </a:prstGeom>
          <a:ln w="69342"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0" name="Oval 99"/>
          <p:cNvSpPr/>
          <p:nvPr/>
        </p:nvSpPr>
        <p:spPr>
          <a:xfrm>
            <a:off x="2266340" y="3866540"/>
            <a:ext cx="130759" cy="130759"/>
          </a:xfrm>
          <a:prstGeom prst="ellipse">
            <a:avLst/>
          </a:prstGeom>
          <a:solidFill>
            <a:srgbClr val="4A5A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2240279" y="3840480"/>
            <a:ext cx="182880" cy="182880"/>
          </a:xfrm>
          <a:prstGeom prst="ellipse">
            <a:avLst/>
          </a:prstGeom>
          <a:solidFill>
            <a:srgbClr val="C9A227"/>
          </a:solidFill>
          <a:ln w="9525">
            <a:solidFill>
              <a:srgbClr val="4A5A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11479" y="1969008"/>
            <a:ext cx="3840480" cy="304800"/>
          </a:xfrm>
          <a:prstGeom prst="rect">
            <a:avLst/>
          </a:prstGeom>
          <a:noFill/>
        </p:spPr>
        <p:txBody>
          <a:bodyPr wrap="none" lIns="0" rIns="0" tIns="0" bIns="0" anchor="ctr">
            <a:spAutoFit/>
          </a:bodyPr>
          <a:lstStyle/>
          <a:p>
            <a:pPr algn="ctr"/>
            <a:r>
              <a:rPr sz="1500" b="1" i="0">
                <a:solidFill>
                  <a:srgbClr val="1D3557"/>
                </a:solidFill>
                <a:latin typeface="PT Sans"/>
              </a:rPr>
              <a:t>Кагаз тарелка + 2 жебе + кадак</a:t>
            </a:r>
          </a:p>
        </p:txBody>
      </p:sp>
      <p:sp>
        <p:nvSpPr>
          <p:cNvPr id="103" name="TextBox 102"/>
          <p:cNvSpPr txBox="1"/>
          <p:nvPr/>
        </p:nvSpPr>
        <p:spPr>
          <a:xfrm>
            <a:off x="411479" y="5445759"/>
            <a:ext cx="3840480" cy="264160"/>
          </a:xfrm>
          <a:prstGeom prst="rect">
            <a:avLst/>
          </a:prstGeom>
          <a:noFill/>
        </p:spPr>
        <p:txBody>
          <a:bodyPr wrap="none" lIns="0" rIns="0" tIns="0" bIns="0" anchor="ctr">
            <a:spAutoFit/>
          </a:bodyPr>
          <a:lstStyle/>
          <a:p>
            <a:pPr algn="ctr"/>
            <a:r>
              <a:rPr sz="1300" b="0" i="1">
                <a:solidFill>
                  <a:srgbClr val="4A5A70"/>
                </a:solidFill>
                <a:latin typeface="PT Sans"/>
              </a:rPr>
              <a:t>Кыска жебе – саат, узун жебе – мүнөт</a:t>
            </a:r>
          </a:p>
        </p:txBody>
      </p:sp>
      <p:sp>
        <p:nvSpPr>
          <p:cNvPr id="104" name="TextBox 103"/>
          <p:cNvSpPr txBox="1"/>
          <p:nvPr/>
        </p:nvSpPr>
        <p:spPr>
          <a:xfrm>
            <a:off x="4526279" y="1969008"/>
            <a:ext cx="3840480" cy="304800"/>
          </a:xfrm>
          <a:prstGeom prst="rect">
            <a:avLst/>
          </a:prstGeom>
          <a:noFill/>
        </p:spPr>
        <p:txBody>
          <a:bodyPr wrap="none" lIns="0" rIns="0" tIns="0" bIns="0" anchor="ctr">
            <a:spAutoFit/>
          </a:bodyPr>
          <a:lstStyle/>
          <a:p>
            <a:pPr algn="ctr"/>
            <a:r>
              <a:rPr sz="1500" b="1" i="0">
                <a:solidFill>
                  <a:srgbClr val="1D3557"/>
                </a:solidFill>
                <a:latin typeface="PT Sans"/>
              </a:rPr>
              <a:t>Жиптеги күн тартиби</a:t>
            </a:r>
          </a:p>
        </p:txBody>
      </p:sp>
      <p:cxnSp>
        <p:nvCxnSpPr>
          <p:cNvPr id="105" name="Connector 104"/>
          <p:cNvCxnSpPr/>
          <p:nvPr/>
        </p:nvCxnSpPr>
        <p:spPr>
          <a:xfrm>
            <a:off x="4343400" y="2697480"/>
            <a:ext cx="4297680" cy="0"/>
          </a:xfrm>
          <a:prstGeom prst="line">
            <a:avLst/>
          </a:prstGeom>
          <a:ln w="31750" cap="rnd">
            <a:solidFill>
              <a:srgbClr val="B07A4A"/>
            </a:solidFill>
          </a:ln>
        </p:spPr>
        <p:style>
          <a:lnRef idx="2">
            <a:schemeClr val="accent1"/>
          </a:lnRef>
          <a:fillRef idx="0">
            <a:schemeClr val="accent1"/>
          </a:fillRef>
          <a:effectRef idx="1">
            <a:schemeClr val="accent1"/>
          </a:effectRef>
          <a:fontRef idx="minor">
            <a:schemeClr val="tx1"/>
          </a:fontRef>
        </p:style>
      </p:cxnSp>
      <p:sp>
        <p:nvSpPr>
          <p:cNvPr id="106" name="Rounded Rectangle 105"/>
          <p:cNvSpPr/>
          <p:nvPr/>
        </p:nvSpPr>
        <p:spPr>
          <a:xfrm>
            <a:off x="4453127"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7" name="Connector 106"/>
          <p:cNvCxnSpPr/>
          <p:nvPr/>
        </p:nvCxnSpPr>
        <p:spPr>
          <a:xfrm>
            <a:off x="4892040"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08" name="TextBox 107"/>
          <p:cNvSpPr txBox="1"/>
          <p:nvPr/>
        </p:nvSpPr>
        <p:spPr>
          <a:xfrm>
            <a:off x="4471416" y="3088640"/>
            <a:ext cx="841248" cy="223520"/>
          </a:xfrm>
          <a:prstGeom prst="rect">
            <a:avLst/>
          </a:prstGeom>
          <a:noFill/>
        </p:spPr>
        <p:txBody>
          <a:bodyPr wrap="none" lIns="0" rIns="0" tIns="0" bIns="0" anchor="ctr">
            <a:spAutoFit/>
          </a:bodyPr>
          <a:lstStyle/>
          <a:p>
            <a:pPr algn="ctr"/>
            <a:r>
              <a:rPr sz="1100" b="1" i="0">
                <a:solidFill>
                  <a:srgbClr val="1F2430"/>
                </a:solidFill>
                <a:latin typeface="PT Sans"/>
              </a:rPr>
              <a:t>Турам</a:t>
            </a:r>
          </a:p>
        </p:txBody>
      </p:sp>
      <p:sp>
        <p:nvSpPr>
          <p:cNvPr id="109" name="TextBox 108"/>
          <p:cNvSpPr txBox="1"/>
          <p:nvPr/>
        </p:nvSpPr>
        <p:spPr>
          <a:xfrm>
            <a:off x="4609591"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7:00</a:t>
            </a:r>
          </a:p>
        </p:txBody>
      </p:sp>
      <p:sp>
        <p:nvSpPr>
          <p:cNvPr id="110" name="Rounded Rectangle 109"/>
          <p:cNvSpPr/>
          <p:nvPr/>
        </p:nvSpPr>
        <p:spPr>
          <a:xfrm>
            <a:off x="5477256"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1" name="Connector 110"/>
          <p:cNvCxnSpPr/>
          <p:nvPr/>
        </p:nvCxnSpPr>
        <p:spPr>
          <a:xfrm>
            <a:off x="5916168"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5495544" y="3088640"/>
            <a:ext cx="841248" cy="223520"/>
          </a:xfrm>
          <a:prstGeom prst="rect">
            <a:avLst/>
          </a:prstGeom>
          <a:noFill/>
        </p:spPr>
        <p:txBody>
          <a:bodyPr wrap="none" lIns="0" rIns="0" tIns="0" bIns="0" anchor="ctr">
            <a:spAutoFit/>
          </a:bodyPr>
          <a:lstStyle/>
          <a:p>
            <a:pPr algn="ctr"/>
            <a:r>
              <a:rPr sz="1100" b="1" i="0">
                <a:solidFill>
                  <a:srgbClr val="1F2430"/>
                </a:solidFill>
                <a:latin typeface="PT Sans"/>
              </a:rPr>
              <a:t>Чай ичем</a:t>
            </a:r>
          </a:p>
        </p:txBody>
      </p:sp>
      <p:sp>
        <p:nvSpPr>
          <p:cNvPr id="113" name="TextBox 112"/>
          <p:cNvSpPr txBox="1"/>
          <p:nvPr/>
        </p:nvSpPr>
        <p:spPr>
          <a:xfrm>
            <a:off x="5633719"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7:20</a:t>
            </a:r>
          </a:p>
        </p:txBody>
      </p:sp>
      <p:sp>
        <p:nvSpPr>
          <p:cNvPr id="114" name="Rounded Rectangle 113"/>
          <p:cNvSpPr/>
          <p:nvPr/>
        </p:nvSpPr>
        <p:spPr>
          <a:xfrm>
            <a:off x="6501383"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5" name="Connector 114"/>
          <p:cNvCxnSpPr/>
          <p:nvPr/>
        </p:nvCxnSpPr>
        <p:spPr>
          <a:xfrm>
            <a:off x="6940296"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6519672" y="3088640"/>
            <a:ext cx="841248" cy="223520"/>
          </a:xfrm>
          <a:prstGeom prst="rect">
            <a:avLst/>
          </a:prstGeom>
          <a:noFill/>
        </p:spPr>
        <p:txBody>
          <a:bodyPr wrap="square" lIns="0" rIns="0" tIns="0" bIns="0" anchor="ctr">
            <a:spAutoFit/>
          </a:bodyPr>
          <a:lstStyle/>
          <a:p>
            <a:pPr algn="ctr"/>
            <a:r>
              <a:rPr sz="1100" b="1" i="0">
                <a:solidFill>
                  <a:srgbClr val="1F2430"/>
                </a:solidFill>
                <a:latin typeface="PT Sans"/>
              </a:rPr>
              <a:t>Жолго чыгам</a:t>
            </a:r>
          </a:p>
        </p:txBody>
      </p:sp>
      <p:sp>
        <p:nvSpPr>
          <p:cNvPr id="117" name="TextBox 116"/>
          <p:cNvSpPr txBox="1"/>
          <p:nvPr/>
        </p:nvSpPr>
        <p:spPr>
          <a:xfrm>
            <a:off x="6657848"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7:45</a:t>
            </a:r>
          </a:p>
        </p:txBody>
      </p:sp>
      <p:sp>
        <p:nvSpPr>
          <p:cNvPr id="118" name="Rounded Rectangle 117"/>
          <p:cNvSpPr/>
          <p:nvPr/>
        </p:nvSpPr>
        <p:spPr>
          <a:xfrm>
            <a:off x="7525512" y="2926080"/>
            <a:ext cx="877824" cy="960120"/>
          </a:xfrm>
          <a:prstGeom prst="roundRect">
            <a:avLst/>
          </a:prstGeom>
          <a:solidFill>
            <a:srgbClr val="FFFFFF"/>
          </a:solidFill>
          <a:ln w="15875">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9" name="Connector 118"/>
          <p:cNvCxnSpPr/>
          <p:nvPr/>
        </p:nvCxnSpPr>
        <p:spPr>
          <a:xfrm>
            <a:off x="7964424" y="2624328"/>
            <a:ext cx="0" cy="347472"/>
          </a:xfrm>
          <a:prstGeom prst="line">
            <a:avLst/>
          </a:prstGeom>
          <a:ln w="50800" cap="rnd">
            <a:solidFill>
              <a:srgbClr val="4A5A70"/>
            </a:solidFill>
          </a:ln>
        </p:spPr>
        <p:style>
          <a:lnRef idx="2">
            <a:schemeClr val="accent1"/>
          </a:lnRef>
          <a:fillRef idx="0">
            <a:schemeClr val="accent1"/>
          </a:fillRef>
          <a:effectRef idx="1">
            <a:schemeClr val="accent1"/>
          </a:effectRef>
          <a:fontRef idx="minor">
            <a:schemeClr val="tx1"/>
          </a:fontRef>
        </p:style>
      </p:cxnSp>
      <p:sp>
        <p:nvSpPr>
          <p:cNvPr id="120" name="TextBox 119"/>
          <p:cNvSpPr txBox="1"/>
          <p:nvPr/>
        </p:nvSpPr>
        <p:spPr>
          <a:xfrm>
            <a:off x="7543800" y="3088640"/>
            <a:ext cx="841248" cy="223520"/>
          </a:xfrm>
          <a:prstGeom prst="rect">
            <a:avLst/>
          </a:prstGeom>
          <a:noFill/>
        </p:spPr>
        <p:txBody>
          <a:bodyPr wrap="none" lIns="0" rIns="0" tIns="0" bIns="0" anchor="ctr">
            <a:spAutoFit/>
          </a:bodyPr>
          <a:lstStyle/>
          <a:p>
            <a:pPr algn="ctr"/>
            <a:r>
              <a:rPr sz="1100" b="1" i="0">
                <a:solidFill>
                  <a:srgbClr val="1F2430"/>
                </a:solidFill>
                <a:latin typeface="PT Sans"/>
              </a:rPr>
              <a:t>Мектеп</a:t>
            </a:r>
          </a:p>
        </p:txBody>
      </p:sp>
      <p:sp>
        <p:nvSpPr>
          <p:cNvPr id="121" name="TextBox 120"/>
          <p:cNvSpPr txBox="1"/>
          <p:nvPr/>
        </p:nvSpPr>
        <p:spPr>
          <a:xfrm>
            <a:off x="7681976" y="3431032"/>
            <a:ext cx="564896" cy="325120"/>
          </a:xfrm>
          <a:prstGeom prst="rect">
            <a:avLst/>
          </a:prstGeom>
          <a:noFill/>
        </p:spPr>
        <p:txBody>
          <a:bodyPr wrap="none" lIns="0" rIns="0" tIns="0" bIns="0" anchor="ctr">
            <a:spAutoFit/>
          </a:bodyPr>
          <a:lstStyle/>
          <a:p>
            <a:pPr algn="ctr"/>
            <a:r>
              <a:rPr sz="1600" b="1" i="0">
                <a:solidFill>
                  <a:srgbClr val="24418C"/>
                </a:solidFill>
                <a:latin typeface="PT Sans"/>
              </a:rPr>
              <a:t>8:00</a:t>
            </a:r>
          </a:p>
        </p:txBody>
      </p:sp>
      <p:sp>
        <p:nvSpPr>
          <p:cNvPr id="122" name="Freeform 121"/>
          <p:cNvSpPr/>
          <p:nvPr/>
        </p:nvSpPr>
        <p:spPr>
          <a:xfrm>
            <a:off x="4983480" y="4114800"/>
            <a:ext cx="841248" cy="320040"/>
          </a:xfrm>
          <a:custGeom>
            <a:avLst/>
            <a:gdLst/>
            <a:ahLst/>
            <a:cxnLst/>
            <a:rect l="l" t="t" r="r" b="b"/>
            <a:pathLst>
              <a:path w="841248" h="320040">
                <a:moveTo>
                  <a:pt x="0" y="0"/>
                </a:moveTo>
                <a:lnTo>
                  <a:pt x="2645" y="35833"/>
                </a:lnTo>
                <a:lnTo>
                  <a:pt x="10546" y="71216"/>
                </a:lnTo>
                <a:lnTo>
                  <a:pt x="23604" y="105703"/>
                </a:lnTo>
                <a:lnTo>
                  <a:pt x="41655" y="138860"/>
                </a:lnTo>
                <a:lnTo>
                  <a:pt x="64471" y="170272"/>
                </a:lnTo>
                <a:lnTo>
                  <a:pt x="91767" y="199542"/>
                </a:lnTo>
                <a:lnTo>
                  <a:pt x="123198" y="226302"/>
                </a:lnTo>
                <a:lnTo>
                  <a:pt x="158369" y="250217"/>
                </a:lnTo>
                <a:lnTo>
                  <a:pt x="196839" y="270986"/>
                </a:lnTo>
                <a:lnTo>
                  <a:pt x="238122" y="288346"/>
                </a:lnTo>
                <a:lnTo>
                  <a:pt x="281701" y="302080"/>
                </a:lnTo>
                <a:lnTo>
                  <a:pt x="327026" y="312016"/>
                </a:lnTo>
                <a:lnTo>
                  <a:pt x="373529" y="318028"/>
                </a:lnTo>
                <a:lnTo>
                  <a:pt x="420624" y="320040"/>
                </a:lnTo>
                <a:lnTo>
                  <a:pt x="467719" y="318028"/>
                </a:lnTo>
                <a:lnTo>
                  <a:pt x="514222" y="312016"/>
                </a:lnTo>
                <a:lnTo>
                  <a:pt x="559547" y="302080"/>
                </a:lnTo>
                <a:lnTo>
                  <a:pt x="603126" y="288346"/>
                </a:lnTo>
                <a:lnTo>
                  <a:pt x="644409" y="270986"/>
                </a:lnTo>
                <a:lnTo>
                  <a:pt x="682879" y="250217"/>
                </a:lnTo>
                <a:lnTo>
                  <a:pt x="718050" y="226302"/>
                </a:lnTo>
                <a:lnTo>
                  <a:pt x="749481" y="199542"/>
                </a:lnTo>
                <a:lnTo>
                  <a:pt x="776777" y="170272"/>
                </a:lnTo>
                <a:lnTo>
                  <a:pt x="799593" y="138860"/>
                </a:lnTo>
                <a:lnTo>
                  <a:pt x="817644" y="105703"/>
                </a:lnTo>
                <a:lnTo>
                  <a:pt x="830702" y="71216"/>
                </a:lnTo>
                <a:lnTo>
                  <a:pt x="838603" y="35833"/>
                </a:lnTo>
                <a:lnTo>
                  <a:pt x="841248" y="0"/>
                </a:lnTo>
              </a:path>
            </a:pathLst>
          </a:custGeom>
          <a:noFill/>
          <a:ln w="2222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5071872" y="4531359"/>
            <a:ext cx="664464" cy="264160"/>
          </a:xfrm>
          <a:prstGeom prst="rect">
            <a:avLst/>
          </a:prstGeom>
          <a:noFill/>
        </p:spPr>
        <p:txBody>
          <a:bodyPr wrap="none" lIns="0" rIns="0" tIns="0" bIns="0" anchor="ctr">
            <a:spAutoFit/>
          </a:bodyPr>
          <a:lstStyle/>
          <a:p>
            <a:pPr algn="ctr"/>
            <a:r>
              <a:rPr sz="1300" b="1" i="0">
                <a:solidFill>
                  <a:srgbClr val="007A5A"/>
                </a:solidFill>
                <a:latin typeface="PT Sans"/>
              </a:rPr>
              <a:t>20 мүн</a:t>
            </a:r>
          </a:p>
        </p:txBody>
      </p:sp>
      <p:sp>
        <p:nvSpPr>
          <p:cNvPr id="124" name="Freeform 123"/>
          <p:cNvSpPr/>
          <p:nvPr/>
        </p:nvSpPr>
        <p:spPr>
          <a:xfrm>
            <a:off x="6007608" y="4114800"/>
            <a:ext cx="841248" cy="320040"/>
          </a:xfrm>
          <a:custGeom>
            <a:avLst/>
            <a:gdLst/>
            <a:ahLst/>
            <a:cxnLst/>
            <a:rect l="l" t="t" r="r" b="b"/>
            <a:pathLst>
              <a:path w="841248" h="320040">
                <a:moveTo>
                  <a:pt x="0" y="0"/>
                </a:moveTo>
                <a:lnTo>
                  <a:pt x="2645" y="35833"/>
                </a:lnTo>
                <a:lnTo>
                  <a:pt x="10546" y="71216"/>
                </a:lnTo>
                <a:lnTo>
                  <a:pt x="23604" y="105703"/>
                </a:lnTo>
                <a:lnTo>
                  <a:pt x="41655" y="138860"/>
                </a:lnTo>
                <a:lnTo>
                  <a:pt x="64471" y="170272"/>
                </a:lnTo>
                <a:lnTo>
                  <a:pt x="91767" y="199542"/>
                </a:lnTo>
                <a:lnTo>
                  <a:pt x="123198" y="226302"/>
                </a:lnTo>
                <a:lnTo>
                  <a:pt x="158369" y="250217"/>
                </a:lnTo>
                <a:lnTo>
                  <a:pt x="196839" y="270986"/>
                </a:lnTo>
                <a:lnTo>
                  <a:pt x="238122" y="288346"/>
                </a:lnTo>
                <a:lnTo>
                  <a:pt x="281701" y="302080"/>
                </a:lnTo>
                <a:lnTo>
                  <a:pt x="327026" y="312016"/>
                </a:lnTo>
                <a:lnTo>
                  <a:pt x="373529" y="318028"/>
                </a:lnTo>
                <a:lnTo>
                  <a:pt x="420624" y="320040"/>
                </a:lnTo>
                <a:lnTo>
                  <a:pt x="467719" y="318028"/>
                </a:lnTo>
                <a:lnTo>
                  <a:pt x="514222" y="312016"/>
                </a:lnTo>
                <a:lnTo>
                  <a:pt x="559547" y="302080"/>
                </a:lnTo>
                <a:lnTo>
                  <a:pt x="603126" y="288346"/>
                </a:lnTo>
                <a:lnTo>
                  <a:pt x="644409" y="270986"/>
                </a:lnTo>
                <a:lnTo>
                  <a:pt x="682879" y="250217"/>
                </a:lnTo>
                <a:lnTo>
                  <a:pt x="718050" y="226302"/>
                </a:lnTo>
                <a:lnTo>
                  <a:pt x="749481" y="199542"/>
                </a:lnTo>
                <a:lnTo>
                  <a:pt x="776777" y="170272"/>
                </a:lnTo>
                <a:lnTo>
                  <a:pt x="799593" y="138860"/>
                </a:lnTo>
                <a:lnTo>
                  <a:pt x="817644" y="105703"/>
                </a:lnTo>
                <a:lnTo>
                  <a:pt x="830702" y="71216"/>
                </a:lnTo>
                <a:lnTo>
                  <a:pt x="838603" y="35833"/>
                </a:lnTo>
                <a:lnTo>
                  <a:pt x="841248" y="0"/>
                </a:lnTo>
              </a:path>
            </a:pathLst>
          </a:custGeom>
          <a:noFill/>
          <a:ln w="2222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095999" y="4531359"/>
            <a:ext cx="664464" cy="264160"/>
          </a:xfrm>
          <a:prstGeom prst="rect">
            <a:avLst/>
          </a:prstGeom>
          <a:noFill/>
        </p:spPr>
        <p:txBody>
          <a:bodyPr wrap="none" lIns="0" rIns="0" tIns="0" bIns="0" anchor="ctr">
            <a:spAutoFit/>
          </a:bodyPr>
          <a:lstStyle/>
          <a:p>
            <a:pPr algn="ctr"/>
            <a:r>
              <a:rPr sz="1300" b="1" i="0">
                <a:solidFill>
                  <a:srgbClr val="007A5A"/>
                </a:solidFill>
                <a:latin typeface="PT Sans"/>
              </a:rPr>
              <a:t>25 мүн</a:t>
            </a:r>
          </a:p>
        </p:txBody>
      </p:sp>
      <p:sp>
        <p:nvSpPr>
          <p:cNvPr id="126" name="Freeform 125"/>
          <p:cNvSpPr/>
          <p:nvPr/>
        </p:nvSpPr>
        <p:spPr>
          <a:xfrm>
            <a:off x="7031736" y="4114800"/>
            <a:ext cx="841248" cy="320040"/>
          </a:xfrm>
          <a:custGeom>
            <a:avLst/>
            <a:gdLst/>
            <a:ahLst/>
            <a:cxnLst/>
            <a:rect l="l" t="t" r="r" b="b"/>
            <a:pathLst>
              <a:path w="841248" h="320040">
                <a:moveTo>
                  <a:pt x="0" y="0"/>
                </a:moveTo>
                <a:lnTo>
                  <a:pt x="2645" y="35833"/>
                </a:lnTo>
                <a:lnTo>
                  <a:pt x="10546" y="71216"/>
                </a:lnTo>
                <a:lnTo>
                  <a:pt x="23604" y="105703"/>
                </a:lnTo>
                <a:lnTo>
                  <a:pt x="41655" y="138860"/>
                </a:lnTo>
                <a:lnTo>
                  <a:pt x="64471" y="170272"/>
                </a:lnTo>
                <a:lnTo>
                  <a:pt x="91767" y="199542"/>
                </a:lnTo>
                <a:lnTo>
                  <a:pt x="123198" y="226302"/>
                </a:lnTo>
                <a:lnTo>
                  <a:pt x="158369" y="250217"/>
                </a:lnTo>
                <a:lnTo>
                  <a:pt x="196839" y="270986"/>
                </a:lnTo>
                <a:lnTo>
                  <a:pt x="238122" y="288346"/>
                </a:lnTo>
                <a:lnTo>
                  <a:pt x="281701" y="302080"/>
                </a:lnTo>
                <a:lnTo>
                  <a:pt x="327026" y="312016"/>
                </a:lnTo>
                <a:lnTo>
                  <a:pt x="373529" y="318028"/>
                </a:lnTo>
                <a:lnTo>
                  <a:pt x="420624" y="320040"/>
                </a:lnTo>
                <a:lnTo>
                  <a:pt x="467719" y="318028"/>
                </a:lnTo>
                <a:lnTo>
                  <a:pt x="514222" y="312016"/>
                </a:lnTo>
                <a:lnTo>
                  <a:pt x="559547" y="302080"/>
                </a:lnTo>
                <a:lnTo>
                  <a:pt x="603126" y="288346"/>
                </a:lnTo>
                <a:lnTo>
                  <a:pt x="644409" y="270986"/>
                </a:lnTo>
                <a:lnTo>
                  <a:pt x="682879" y="250217"/>
                </a:lnTo>
                <a:lnTo>
                  <a:pt x="718050" y="226302"/>
                </a:lnTo>
                <a:lnTo>
                  <a:pt x="749481" y="199542"/>
                </a:lnTo>
                <a:lnTo>
                  <a:pt x="776777" y="170272"/>
                </a:lnTo>
                <a:lnTo>
                  <a:pt x="799593" y="138860"/>
                </a:lnTo>
                <a:lnTo>
                  <a:pt x="817644" y="105703"/>
                </a:lnTo>
                <a:lnTo>
                  <a:pt x="830702" y="71216"/>
                </a:lnTo>
                <a:lnTo>
                  <a:pt x="838603" y="35833"/>
                </a:lnTo>
                <a:lnTo>
                  <a:pt x="841248" y="0"/>
                </a:lnTo>
              </a:path>
            </a:pathLst>
          </a:custGeom>
          <a:noFill/>
          <a:ln w="2222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7120128" y="4531359"/>
            <a:ext cx="664464" cy="264160"/>
          </a:xfrm>
          <a:prstGeom prst="rect">
            <a:avLst/>
          </a:prstGeom>
          <a:noFill/>
        </p:spPr>
        <p:txBody>
          <a:bodyPr wrap="none" lIns="0" rIns="0" tIns="0" bIns="0" anchor="ctr">
            <a:spAutoFit/>
          </a:bodyPr>
          <a:lstStyle/>
          <a:p>
            <a:pPr algn="ctr"/>
            <a:r>
              <a:rPr sz="1300" b="1" i="0">
                <a:solidFill>
                  <a:srgbClr val="007A5A"/>
                </a:solidFill>
                <a:latin typeface="PT Sans"/>
              </a:rPr>
              <a:t>15 мүн</a:t>
            </a:r>
          </a:p>
        </p:txBody>
      </p:sp>
      <p:sp>
        <p:nvSpPr>
          <p:cNvPr id="128" name="TextBox 127"/>
          <p:cNvSpPr txBox="1"/>
          <p:nvPr/>
        </p:nvSpPr>
        <p:spPr>
          <a:xfrm>
            <a:off x="4389120" y="4988559"/>
            <a:ext cx="4114800" cy="264160"/>
          </a:xfrm>
          <a:prstGeom prst="rect">
            <a:avLst/>
          </a:prstGeom>
          <a:noFill/>
        </p:spPr>
        <p:txBody>
          <a:bodyPr wrap="none" lIns="0" rIns="0" tIns="0" bIns="0" anchor="ctr">
            <a:spAutoFit/>
          </a:bodyPr>
          <a:lstStyle/>
          <a:p>
            <a:pPr algn="ctr"/>
            <a:r>
              <a:rPr sz="1300" b="0" i="1">
                <a:solidFill>
                  <a:srgbClr val="4A5A70"/>
                </a:solidFill>
                <a:latin typeface="PT Sans"/>
              </a:rPr>
              <a:t>Карталар убакыт тартибинде.</a:t>
            </a:r>
          </a:p>
        </p:txBody>
      </p:sp>
      <p:sp>
        <p:nvSpPr>
          <p:cNvPr id="129" name="TextBox 128"/>
          <p:cNvSpPr txBox="1"/>
          <p:nvPr/>
        </p:nvSpPr>
        <p:spPr>
          <a:xfrm>
            <a:off x="4389120" y="5262880"/>
            <a:ext cx="4114800" cy="264160"/>
          </a:xfrm>
          <a:prstGeom prst="rect">
            <a:avLst/>
          </a:prstGeom>
          <a:noFill/>
        </p:spPr>
        <p:txBody>
          <a:bodyPr wrap="none" lIns="0" rIns="0" tIns="0" bIns="0" anchor="ctr">
            <a:spAutoFit/>
          </a:bodyPr>
          <a:lstStyle/>
          <a:p>
            <a:pPr algn="ctr"/>
            <a:r>
              <a:rPr sz="1300" b="0" i="1">
                <a:solidFill>
                  <a:srgbClr val="4A5A70"/>
                </a:solidFill>
                <a:latin typeface="PT Sans"/>
              </a:rPr>
              <a:t>Аралыгы = канча убакыт өттү.</a:t>
            </a:r>
          </a:p>
        </p:txBody>
      </p:sp>
      <p:sp>
        <p:nvSpPr>
          <p:cNvPr id="130" name="Rounded Rectangle 129"/>
          <p:cNvSpPr/>
          <p:nvPr/>
        </p:nvSpPr>
        <p:spPr>
          <a:xfrm>
            <a:off x="9006840" y="2057400"/>
            <a:ext cx="2743200" cy="3703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9144000" y="2121408"/>
            <a:ext cx="2514600" cy="3566160"/>
          </a:xfrm>
          <a:prstGeom prst="rect">
            <a:avLst/>
          </a:prstGeom>
          <a:noFill/>
        </p:spPr>
        <p:txBody>
          <a:bodyPr wrap="square" anchor="t" lIns="45720" rIns="45720" tIns="27432" bIns="27432">
            <a:spAutoFit/>
          </a:bodyPr>
          <a:lstStyle/>
          <a:p>
            <a:pPr algn="l">
              <a:lnSpc>
                <a:spcPct val="110000"/>
              </a:lnSpc>
            </a:pPr>
            <a:r>
              <a:rPr sz="1800" b="1" i="0">
                <a:solidFill>
                  <a:srgbClr val="1F2430"/>
                </a:solidFill>
                <a:latin typeface="PT Sans"/>
              </a:rPr>
              <a:t>Ар бир жупта:</a:t>
            </a:r>
          </a:p>
          <a:p>
            <a:pPr algn="l">
              <a:lnSpc>
                <a:spcPct val="110000"/>
              </a:lnSpc>
            </a:pPr>
            <a:r>
              <a:rPr sz="1500" b="0" i="0">
                <a:solidFill>
                  <a:srgbClr val="1F2430"/>
                </a:solidFill>
                <a:latin typeface="PT Sans"/>
              </a:rPr>
              <a:t>• кагаз тарелка же картон</a:t>
            </a:r>
          </a:p>
          <a:p>
            <a:pPr algn="l">
              <a:lnSpc>
                <a:spcPct val="110000"/>
              </a:lnSpc>
            </a:pPr>
            <a:r>
              <a:rPr sz="1500" b="0" i="0">
                <a:solidFill>
                  <a:srgbClr val="1F2430"/>
                </a:solidFill>
                <a:latin typeface="PT Sans"/>
              </a:rPr>
              <a:t>• 2 картон жебе (2 түс)</a:t>
            </a:r>
          </a:p>
          <a:p>
            <a:pPr algn="l">
              <a:lnSpc>
                <a:spcPct val="110000"/>
              </a:lnSpc>
            </a:pPr>
            <a:r>
              <a:rPr sz="1500" b="0" i="0">
                <a:solidFill>
                  <a:srgbClr val="1F2430"/>
                </a:solidFill>
                <a:latin typeface="PT Sans"/>
              </a:rPr>
              <a:t>• кадак же сым</a:t>
            </a:r>
          </a:p>
          <a:p>
            <a:pPr algn="l">
              <a:lnSpc>
                <a:spcPct val="110000"/>
              </a:lnSpc>
            </a:pPr>
            <a:r>
              <a:rPr sz="1500" b="0" i="0">
                <a:solidFill>
                  <a:srgbClr val="1F2430"/>
                </a:solidFill>
                <a:latin typeface="PT Sans"/>
              </a:rPr>
              <a:t>• күн тартиби карталары</a:t>
            </a:r>
          </a:p>
          <a:p>
            <a:pPr algn="l">
              <a:lnSpc>
                <a:spcPct val="110000"/>
              </a:lnSpc>
            </a:pPr>
            <a:r>
              <a:rPr sz="1500" b="0" i="0">
                <a:solidFill>
                  <a:srgbClr val="1F2430"/>
                </a:solidFill>
                <a:latin typeface="PT Sans"/>
              </a:rPr>
              <a:t>Класска: жип, кыскычтар</a:t>
            </a:r>
          </a:p>
          <a:p>
            <a:pPr algn="l">
              <a:lnSpc>
                <a:spcPct val="110000"/>
              </a:lnSpc>
            </a:pPr>
            <a:r>
              <a:rPr sz="1700" b="1" i="0">
                <a:solidFill>
                  <a:srgbClr val="24418C"/>
                </a:solidFill>
                <a:latin typeface="PT Sans"/>
              </a:rPr>
              <a:t>60 мүнөт = 1 айланыш</a:t>
            </a:r>
          </a:p>
        </p:txBody>
      </p:sp>
      <p:sp>
        <p:nvSpPr>
          <p:cNvPr id="132" name="Rounded Rectangle 131"/>
          <p:cNvSpPr/>
          <p:nvPr/>
        </p:nvSpPr>
        <p:spPr>
          <a:xfrm>
            <a:off x="8412480"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К</a:t>
            </a:r>
          </a:p>
        </p:txBody>
      </p:sp>
      <p:sp>
        <p:nvSpPr>
          <p:cNvPr id="133" name="Rounded Rectangle 132"/>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134" name="Rounded Rectangle 133"/>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С: саат жана убакыт тилкеси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Маршрутка 9:30да жөнөдү, 10:20да жетти. Адегенде так саатка чейин, анан андан ары.</a:t>
            </a:r>
          </a:p>
        </p:txBody>
      </p:sp>
      <p:sp>
        <p:nvSpPr>
          <p:cNvPr id="12" name="Oval 11"/>
          <p:cNvSpPr/>
          <p:nvPr/>
        </p:nvSpPr>
        <p:spPr>
          <a:xfrm>
            <a:off x="822960" y="2103120"/>
            <a:ext cx="1554480" cy="1554480"/>
          </a:xfrm>
          <a:prstGeom prst="ellipse">
            <a:avLst/>
          </a:prstGeom>
          <a:solidFill>
            <a:srgbClr val="FFFFFF"/>
          </a:solidFill>
          <a:ln w="28067">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flipH="1">
            <a:off x="1672506"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744021"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1813960"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1881557"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2006796"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2063066"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2114265"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2159832"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2232139"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a:off x="2258087"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a:off x="227682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288154"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288154"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27682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258087"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2232139"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2159832"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2114265"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2063066"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2006796"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881557"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H="1" flipV="1">
            <a:off x="1813960"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H="1" flipV="1">
            <a:off x="1744021"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flipV="1">
            <a:off x="1672506"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523018"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446682"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372028"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299874"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1166192"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106128"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51478"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1002839"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925658"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897960"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7795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865866"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65866"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7795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97960"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25658"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002839"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1478"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06128"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166192"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299874"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372028"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446682"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523018"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600200" y="2141982"/>
            <a:ext cx="0" cy="101041"/>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1934413" y="2240905"/>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2179074"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2237536" y="2880360"/>
            <a:ext cx="101042"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2179074"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1934413" y="3459234"/>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1600200" y="3517696"/>
            <a:ext cx="0" cy="101042"/>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231011" y="3459234"/>
            <a:ext cx="34975"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V="1">
            <a:off x="960745"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861822" y="2880360"/>
            <a:ext cx="101041"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960745"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1231010" y="2240905"/>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3" name="TextBox 72"/>
          <p:cNvSpPr txBox="1"/>
          <p:nvPr/>
        </p:nvSpPr>
        <p:spPr>
          <a:xfrm>
            <a:off x="1727301" y="2293105"/>
            <a:ext cx="274320" cy="259080"/>
          </a:xfrm>
          <a:prstGeom prst="rect">
            <a:avLst/>
          </a:prstGeom>
          <a:noFill/>
        </p:spPr>
        <p:txBody>
          <a:bodyPr wrap="none" lIns="0" rIns="0" tIns="0" bIns="0" anchor="ctr">
            <a:spAutoFit/>
          </a:bodyPr>
          <a:lstStyle/>
          <a:p>
            <a:pPr algn="ctr"/>
            <a:r>
              <a:rPr sz="1275" b="1" i="0">
                <a:solidFill>
                  <a:srgbClr val="1F2430"/>
                </a:solidFill>
                <a:latin typeface="PT Sans"/>
              </a:rPr>
              <a:t>1</a:t>
            </a:r>
          </a:p>
        </p:txBody>
      </p:sp>
      <p:sp>
        <p:nvSpPr>
          <p:cNvPr id="74" name="TextBox 73"/>
          <p:cNvSpPr txBox="1"/>
          <p:nvPr/>
        </p:nvSpPr>
        <p:spPr>
          <a:xfrm>
            <a:off x="1920754" y="2486558"/>
            <a:ext cx="274320" cy="259080"/>
          </a:xfrm>
          <a:prstGeom prst="rect">
            <a:avLst/>
          </a:prstGeom>
          <a:noFill/>
        </p:spPr>
        <p:txBody>
          <a:bodyPr wrap="none" lIns="0" rIns="0" tIns="0" bIns="0" anchor="ctr">
            <a:spAutoFit/>
          </a:bodyPr>
          <a:lstStyle/>
          <a:p>
            <a:pPr algn="ctr"/>
            <a:r>
              <a:rPr sz="1275" b="1" i="0">
                <a:solidFill>
                  <a:srgbClr val="1F2430"/>
                </a:solidFill>
                <a:latin typeface="PT Sans"/>
              </a:rPr>
              <a:t>2</a:t>
            </a:r>
          </a:p>
        </p:txBody>
      </p:sp>
      <p:sp>
        <p:nvSpPr>
          <p:cNvPr id="75" name="TextBox 74"/>
          <p:cNvSpPr txBox="1"/>
          <p:nvPr/>
        </p:nvSpPr>
        <p:spPr>
          <a:xfrm>
            <a:off x="1991563"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3</a:t>
            </a:r>
          </a:p>
        </p:txBody>
      </p:sp>
      <p:sp>
        <p:nvSpPr>
          <p:cNvPr id="76" name="TextBox 75"/>
          <p:cNvSpPr txBox="1"/>
          <p:nvPr/>
        </p:nvSpPr>
        <p:spPr>
          <a:xfrm>
            <a:off x="1920754"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4</a:t>
            </a:r>
          </a:p>
        </p:txBody>
      </p:sp>
      <p:sp>
        <p:nvSpPr>
          <p:cNvPr id="77" name="TextBox 76"/>
          <p:cNvSpPr txBox="1"/>
          <p:nvPr/>
        </p:nvSpPr>
        <p:spPr>
          <a:xfrm>
            <a:off x="1727301"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5</a:t>
            </a:r>
          </a:p>
        </p:txBody>
      </p:sp>
      <p:sp>
        <p:nvSpPr>
          <p:cNvPr id="78" name="TextBox 77"/>
          <p:cNvSpPr txBox="1"/>
          <p:nvPr/>
        </p:nvSpPr>
        <p:spPr>
          <a:xfrm>
            <a:off x="1463040" y="3279343"/>
            <a:ext cx="274320" cy="259080"/>
          </a:xfrm>
          <a:prstGeom prst="rect">
            <a:avLst/>
          </a:prstGeom>
          <a:noFill/>
        </p:spPr>
        <p:txBody>
          <a:bodyPr wrap="none" lIns="0" rIns="0" tIns="0" bIns="0" anchor="ctr">
            <a:spAutoFit/>
          </a:bodyPr>
          <a:lstStyle/>
          <a:p>
            <a:pPr algn="ctr"/>
            <a:r>
              <a:rPr sz="1275" b="1" i="0">
                <a:solidFill>
                  <a:srgbClr val="1F2430"/>
                </a:solidFill>
                <a:latin typeface="PT Sans"/>
              </a:rPr>
              <a:t>6</a:t>
            </a:r>
          </a:p>
        </p:txBody>
      </p:sp>
      <p:sp>
        <p:nvSpPr>
          <p:cNvPr id="79" name="TextBox 78"/>
          <p:cNvSpPr txBox="1"/>
          <p:nvPr/>
        </p:nvSpPr>
        <p:spPr>
          <a:xfrm>
            <a:off x="1198778"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7</a:t>
            </a:r>
          </a:p>
        </p:txBody>
      </p:sp>
      <p:sp>
        <p:nvSpPr>
          <p:cNvPr id="80" name="TextBox 79"/>
          <p:cNvSpPr txBox="1"/>
          <p:nvPr/>
        </p:nvSpPr>
        <p:spPr>
          <a:xfrm>
            <a:off x="1005325"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8</a:t>
            </a:r>
          </a:p>
        </p:txBody>
      </p:sp>
      <p:sp>
        <p:nvSpPr>
          <p:cNvPr id="81" name="TextBox 80"/>
          <p:cNvSpPr txBox="1"/>
          <p:nvPr/>
        </p:nvSpPr>
        <p:spPr>
          <a:xfrm>
            <a:off x="934516"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9</a:t>
            </a:r>
          </a:p>
        </p:txBody>
      </p:sp>
      <p:sp>
        <p:nvSpPr>
          <p:cNvPr id="82" name="TextBox 81"/>
          <p:cNvSpPr txBox="1"/>
          <p:nvPr/>
        </p:nvSpPr>
        <p:spPr>
          <a:xfrm>
            <a:off x="996943" y="2486558"/>
            <a:ext cx="291084" cy="259080"/>
          </a:xfrm>
          <a:prstGeom prst="rect">
            <a:avLst/>
          </a:prstGeom>
          <a:noFill/>
        </p:spPr>
        <p:txBody>
          <a:bodyPr wrap="none" lIns="0" rIns="0" tIns="0" bIns="0" anchor="ctr">
            <a:spAutoFit/>
          </a:bodyPr>
          <a:lstStyle/>
          <a:p>
            <a:pPr algn="ctr"/>
            <a:r>
              <a:rPr sz="1275" b="1" i="0">
                <a:solidFill>
                  <a:srgbClr val="1F2430"/>
                </a:solidFill>
                <a:latin typeface="PT Sans"/>
              </a:rPr>
              <a:t>10</a:t>
            </a:r>
          </a:p>
        </p:txBody>
      </p:sp>
      <p:sp>
        <p:nvSpPr>
          <p:cNvPr id="83" name="TextBox 82"/>
          <p:cNvSpPr txBox="1"/>
          <p:nvPr/>
        </p:nvSpPr>
        <p:spPr>
          <a:xfrm>
            <a:off x="1190396" y="2293105"/>
            <a:ext cx="291084" cy="259080"/>
          </a:xfrm>
          <a:prstGeom prst="rect">
            <a:avLst/>
          </a:prstGeom>
          <a:noFill/>
        </p:spPr>
        <p:txBody>
          <a:bodyPr wrap="none" lIns="0" rIns="0" tIns="0" bIns="0" anchor="ctr">
            <a:spAutoFit/>
          </a:bodyPr>
          <a:lstStyle/>
          <a:p>
            <a:pPr algn="ctr"/>
            <a:r>
              <a:rPr sz="1275" b="1" i="0">
                <a:solidFill>
                  <a:srgbClr val="1F2430"/>
                </a:solidFill>
                <a:latin typeface="PT Sans"/>
              </a:rPr>
              <a:t>11</a:t>
            </a:r>
          </a:p>
        </p:txBody>
      </p:sp>
      <p:sp>
        <p:nvSpPr>
          <p:cNvPr id="84" name="TextBox 83"/>
          <p:cNvSpPr txBox="1"/>
          <p:nvPr/>
        </p:nvSpPr>
        <p:spPr>
          <a:xfrm>
            <a:off x="1454657" y="2222296"/>
            <a:ext cx="291084" cy="259080"/>
          </a:xfrm>
          <a:prstGeom prst="rect">
            <a:avLst/>
          </a:prstGeom>
          <a:noFill/>
        </p:spPr>
        <p:txBody>
          <a:bodyPr wrap="none" lIns="0" rIns="0" tIns="0" bIns="0" anchor="ctr">
            <a:spAutoFit/>
          </a:bodyPr>
          <a:lstStyle/>
          <a:p>
            <a:pPr algn="ctr"/>
            <a:r>
              <a:rPr sz="1275" b="1" i="0">
                <a:solidFill>
                  <a:srgbClr val="1F2430"/>
                </a:solidFill>
                <a:latin typeface="PT Sans"/>
              </a:rPr>
              <a:t>12</a:t>
            </a:r>
          </a:p>
        </p:txBody>
      </p:sp>
      <p:cxnSp>
        <p:nvCxnSpPr>
          <p:cNvPr id="85" name="Connector 84"/>
          <p:cNvCxnSpPr/>
          <p:nvPr/>
        </p:nvCxnSpPr>
        <p:spPr>
          <a:xfrm flipH="1" flipV="1">
            <a:off x="1224821" y="2779777"/>
            <a:ext cx="375379" cy="100583"/>
          </a:xfrm>
          <a:prstGeom prst="line">
            <a:avLst/>
          </a:prstGeom>
          <a:ln w="7556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1600200" y="2880360"/>
            <a:ext cx="0" cy="621792"/>
          </a:xfrm>
          <a:prstGeom prst="line">
            <a:avLst/>
          </a:prstGeom>
          <a:ln w="45339"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Oval 86"/>
          <p:cNvSpPr/>
          <p:nvPr/>
        </p:nvSpPr>
        <p:spPr>
          <a:xfrm>
            <a:off x="1557451" y="2837611"/>
            <a:ext cx="85496" cy="85496"/>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2514600" y="2158999"/>
            <a:ext cx="2194560" cy="345440"/>
          </a:xfrm>
          <a:prstGeom prst="rect">
            <a:avLst/>
          </a:prstGeom>
          <a:noFill/>
        </p:spPr>
        <p:txBody>
          <a:bodyPr wrap="none" lIns="0" rIns="0" tIns="0" bIns="0" anchor="ctr">
            <a:spAutoFit/>
          </a:bodyPr>
          <a:lstStyle/>
          <a:p>
            <a:pPr algn="l"/>
            <a:r>
              <a:rPr sz="1700" b="1" i="0">
                <a:solidFill>
                  <a:srgbClr val="1D3557"/>
                </a:solidFill>
                <a:latin typeface="PT Sans"/>
              </a:rPr>
              <a:t>Жөнөдү: 9:30</a:t>
            </a:r>
          </a:p>
        </p:txBody>
      </p:sp>
      <p:sp>
        <p:nvSpPr>
          <p:cNvPr id="89" name="Oval 88"/>
          <p:cNvSpPr/>
          <p:nvPr/>
        </p:nvSpPr>
        <p:spPr>
          <a:xfrm>
            <a:off x="9784080" y="2103120"/>
            <a:ext cx="1554480" cy="1554480"/>
          </a:xfrm>
          <a:prstGeom prst="ellipse">
            <a:avLst/>
          </a:prstGeom>
          <a:solidFill>
            <a:srgbClr val="FFFFFF"/>
          </a:solidFill>
          <a:ln w="28067">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0" name="Connector 89"/>
          <p:cNvCxnSpPr/>
          <p:nvPr/>
        </p:nvCxnSpPr>
        <p:spPr>
          <a:xfrm flipH="1">
            <a:off x="10633626"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H="1">
            <a:off x="10705141"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H="1">
            <a:off x="10775080"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H="1">
            <a:off x="10842677"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H="1">
            <a:off x="10967916"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H="1">
            <a:off x="11024186"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H="1">
            <a:off x="11075385"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H="1">
            <a:off x="11120952"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a:off x="11193259"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a:off x="11219207"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1123794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a:off x="11249274"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11249274"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1123794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11219207"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11193259"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11120952"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11075385"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11024186"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flipV="1">
            <a:off x="10967916"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flipV="1">
            <a:off x="10842677"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flipV="1">
            <a:off x="10775080"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flipV="1">
            <a:off x="10705141"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flipV="1">
            <a:off x="10633626"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10484138" y="3568314"/>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10407802" y="355698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10333148" y="3538247"/>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10260994" y="3512299"/>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10127312" y="3439992"/>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10067248" y="3394425"/>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10012598" y="3343226"/>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9963959" y="3286956"/>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9886778" y="3161717"/>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9859080" y="3094120"/>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9839077" y="3024181"/>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flipV="1">
            <a:off x="9826986" y="2952666"/>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9826986" y="2803178"/>
            <a:ext cx="46379" cy="487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9839077" y="2726842"/>
            <a:ext cx="45615" cy="969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9859080" y="2652188"/>
            <a:ext cx="44352" cy="14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9886778" y="2580034"/>
            <a:ext cx="42602" cy="1896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9963959" y="2446352"/>
            <a:ext cx="37728" cy="27411"/>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a:off x="10012598" y="2386288"/>
            <a:ext cx="34656" cy="3120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10067248" y="2331638"/>
            <a:ext cx="31205" cy="34656"/>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10127312" y="2282999"/>
            <a:ext cx="27411" cy="37728"/>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a:off x="10260994" y="2205818"/>
            <a:ext cx="18968" cy="4260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10333148" y="2178120"/>
            <a:ext cx="14411" cy="44352"/>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10407802" y="2158117"/>
            <a:ext cx="9696" cy="45615"/>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10484138" y="2146026"/>
            <a:ext cx="4875" cy="46379"/>
          </a:xfrm>
          <a:prstGeom prst="line">
            <a:avLst/>
          </a:prstGeom>
          <a:ln w="6477"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a:off x="10561320" y="2141982"/>
            <a:ext cx="0" cy="101041"/>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10895533" y="2240905"/>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11140194"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11198656" y="2880360"/>
            <a:ext cx="101042"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flipV="1">
            <a:off x="11140194"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flipV="1">
            <a:off x="10895533" y="3459234"/>
            <a:ext cx="34976"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V="1">
            <a:off x="10561320" y="3517696"/>
            <a:ext cx="0" cy="101042"/>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0192131" y="3459234"/>
            <a:ext cx="34975"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flipV="1">
            <a:off x="9921865" y="3214573"/>
            <a:ext cx="60580" cy="34976"/>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9822942" y="2880360"/>
            <a:ext cx="101041" cy="0"/>
          </a:xfrm>
          <a:prstGeom prst="line">
            <a:avLst/>
          </a:prstGeom>
          <a:ln w="2159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9921865" y="2511171"/>
            <a:ext cx="60580" cy="34975"/>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0192131" y="2240905"/>
            <a:ext cx="34975" cy="60580"/>
          </a:xfrm>
          <a:prstGeom prst="line">
            <a:avLst/>
          </a:prstGeom>
          <a:ln w="14033"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50" name="TextBox 149"/>
          <p:cNvSpPr txBox="1"/>
          <p:nvPr/>
        </p:nvSpPr>
        <p:spPr>
          <a:xfrm>
            <a:off x="10688421" y="2293105"/>
            <a:ext cx="274320" cy="259080"/>
          </a:xfrm>
          <a:prstGeom prst="rect">
            <a:avLst/>
          </a:prstGeom>
          <a:noFill/>
        </p:spPr>
        <p:txBody>
          <a:bodyPr wrap="none" lIns="0" rIns="0" tIns="0" bIns="0" anchor="ctr">
            <a:spAutoFit/>
          </a:bodyPr>
          <a:lstStyle/>
          <a:p>
            <a:pPr algn="ctr"/>
            <a:r>
              <a:rPr sz="1275" b="1" i="0">
                <a:solidFill>
                  <a:srgbClr val="1F2430"/>
                </a:solidFill>
                <a:latin typeface="PT Sans"/>
              </a:rPr>
              <a:t>1</a:t>
            </a:r>
          </a:p>
        </p:txBody>
      </p:sp>
      <p:sp>
        <p:nvSpPr>
          <p:cNvPr id="151" name="TextBox 150"/>
          <p:cNvSpPr txBox="1"/>
          <p:nvPr/>
        </p:nvSpPr>
        <p:spPr>
          <a:xfrm>
            <a:off x="10881874" y="2486558"/>
            <a:ext cx="274320" cy="259080"/>
          </a:xfrm>
          <a:prstGeom prst="rect">
            <a:avLst/>
          </a:prstGeom>
          <a:noFill/>
        </p:spPr>
        <p:txBody>
          <a:bodyPr wrap="none" lIns="0" rIns="0" tIns="0" bIns="0" anchor="ctr">
            <a:spAutoFit/>
          </a:bodyPr>
          <a:lstStyle/>
          <a:p>
            <a:pPr algn="ctr"/>
            <a:r>
              <a:rPr sz="1275" b="1" i="0">
                <a:solidFill>
                  <a:srgbClr val="1F2430"/>
                </a:solidFill>
                <a:latin typeface="PT Sans"/>
              </a:rPr>
              <a:t>2</a:t>
            </a:r>
          </a:p>
        </p:txBody>
      </p:sp>
      <p:sp>
        <p:nvSpPr>
          <p:cNvPr id="152" name="TextBox 151"/>
          <p:cNvSpPr txBox="1"/>
          <p:nvPr/>
        </p:nvSpPr>
        <p:spPr>
          <a:xfrm>
            <a:off x="10952683"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3</a:t>
            </a:r>
          </a:p>
        </p:txBody>
      </p:sp>
      <p:sp>
        <p:nvSpPr>
          <p:cNvPr id="153" name="TextBox 152"/>
          <p:cNvSpPr txBox="1"/>
          <p:nvPr/>
        </p:nvSpPr>
        <p:spPr>
          <a:xfrm>
            <a:off x="10881874"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4</a:t>
            </a:r>
          </a:p>
        </p:txBody>
      </p:sp>
      <p:sp>
        <p:nvSpPr>
          <p:cNvPr id="154" name="TextBox 153"/>
          <p:cNvSpPr txBox="1"/>
          <p:nvPr/>
        </p:nvSpPr>
        <p:spPr>
          <a:xfrm>
            <a:off x="10688421"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5</a:t>
            </a:r>
          </a:p>
        </p:txBody>
      </p:sp>
      <p:sp>
        <p:nvSpPr>
          <p:cNvPr id="155" name="TextBox 154"/>
          <p:cNvSpPr txBox="1"/>
          <p:nvPr/>
        </p:nvSpPr>
        <p:spPr>
          <a:xfrm>
            <a:off x="10424160" y="3279343"/>
            <a:ext cx="274320" cy="259080"/>
          </a:xfrm>
          <a:prstGeom prst="rect">
            <a:avLst/>
          </a:prstGeom>
          <a:noFill/>
        </p:spPr>
        <p:txBody>
          <a:bodyPr wrap="none" lIns="0" rIns="0" tIns="0" bIns="0" anchor="ctr">
            <a:spAutoFit/>
          </a:bodyPr>
          <a:lstStyle/>
          <a:p>
            <a:pPr algn="ctr"/>
            <a:r>
              <a:rPr sz="1275" b="1" i="0">
                <a:solidFill>
                  <a:srgbClr val="1F2430"/>
                </a:solidFill>
                <a:latin typeface="PT Sans"/>
              </a:rPr>
              <a:t>6</a:t>
            </a:r>
          </a:p>
        </p:txBody>
      </p:sp>
      <p:sp>
        <p:nvSpPr>
          <p:cNvPr id="156" name="TextBox 155"/>
          <p:cNvSpPr txBox="1"/>
          <p:nvPr/>
        </p:nvSpPr>
        <p:spPr>
          <a:xfrm>
            <a:off x="10159898" y="3208534"/>
            <a:ext cx="274320" cy="259080"/>
          </a:xfrm>
          <a:prstGeom prst="rect">
            <a:avLst/>
          </a:prstGeom>
          <a:noFill/>
        </p:spPr>
        <p:txBody>
          <a:bodyPr wrap="none" lIns="0" rIns="0" tIns="0" bIns="0" anchor="ctr">
            <a:spAutoFit/>
          </a:bodyPr>
          <a:lstStyle/>
          <a:p>
            <a:pPr algn="ctr"/>
            <a:r>
              <a:rPr sz="1275" b="1" i="0">
                <a:solidFill>
                  <a:srgbClr val="1F2430"/>
                </a:solidFill>
                <a:latin typeface="PT Sans"/>
              </a:rPr>
              <a:t>7</a:t>
            </a:r>
          </a:p>
        </p:txBody>
      </p:sp>
      <p:sp>
        <p:nvSpPr>
          <p:cNvPr id="157" name="TextBox 156"/>
          <p:cNvSpPr txBox="1"/>
          <p:nvPr/>
        </p:nvSpPr>
        <p:spPr>
          <a:xfrm>
            <a:off x="9966445" y="3015081"/>
            <a:ext cx="274320" cy="259080"/>
          </a:xfrm>
          <a:prstGeom prst="rect">
            <a:avLst/>
          </a:prstGeom>
          <a:noFill/>
        </p:spPr>
        <p:txBody>
          <a:bodyPr wrap="none" lIns="0" rIns="0" tIns="0" bIns="0" anchor="ctr">
            <a:spAutoFit/>
          </a:bodyPr>
          <a:lstStyle/>
          <a:p>
            <a:pPr algn="ctr"/>
            <a:r>
              <a:rPr sz="1275" b="1" i="0">
                <a:solidFill>
                  <a:srgbClr val="1F2430"/>
                </a:solidFill>
                <a:latin typeface="PT Sans"/>
              </a:rPr>
              <a:t>8</a:t>
            </a:r>
          </a:p>
        </p:txBody>
      </p:sp>
      <p:sp>
        <p:nvSpPr>
          <p:cNvPr id="158" name="TextBox 157"/>
          <p:cNvSpPr txBox="1"/>
          <p:nvPr/>
        </p:nvSpPr>
        <p:spPr>
          <a:xfrm>
            <a:off x="9895636" y="2750820"/>
            <a:ext cx="274320" cy="259080"/>
          </a:xfrm>
          <a:prstGeom prst="rect">
            <a:avLst/>
          </a:prstGeom>
          <a:noFill/>
        </p:spPr>
        <p:txBody>
          <a:bodyPr wrap="none" lIns="0" rIns="0" tIns="0" bIns="0" anchor="ctr">
            <a:spAutoFit/>
          </a:bodyPr>
          <a:lstStyle/>
          <a:p>
            <a:pPr algn="ctr"/>
            <a:r>
              <a:rPr sz="1275" b="1" i="0">
                <a:solidFill>
                  <a:srgbClr val="1F2430"/>
                </a:solidFill>
                <a:latin typeface="PT Sans"/>
              </a:rPr>
              <a:t>9</a:t>
            </a:r>
          </a:p>
        </p:txBody>
      </p:sp>
      <p:sp>
        <p:nvSpPr>
          <p:cNvPr id="159" name="TextBox 158"/>
          <p:cNvSpPr txBox="1"/>
          <p:nvPr/>
        </p:nvSpPr>
        <p:spPr>
          <a:xfrm>
            <a:off x="9958063" y="2486558"/>
            <a:ext cx="291084" cy="259080"/>
          </a:xfrm>
          <a:prstGeom prst="rect">
            <a:avLst/>
          </a:prstGeom>
          <a:noFill/>
        </p:spPr>
        <p:txBody>
          <a:bodyPr wrap="none" lIns="0" rIns="0" tIns="0" bIns="0" anchor="ctr">
            <a:spAutoFit/>
          </a:bodyPr>
          <a:lstStyle/>
          <a:p>
            <a:pPr algn="ctr"/>
            <a:r>
              <a:rPr sz="1275" b="1" i="0">
                <a:solidFill>
                  <a:srgbClr val="1F2430"/>
                </a:solidFill>
                <a:latin typeface="PT Sans"/>
              </a:rPr>
              <a:t>10</a:t>
            </a:r>
          </a:p>
        </p:txBody>
      </p:sp>
      <p:sp>
        <p:nvSpPr>
          <p:cNvPr id="160" name="TextBox 159"/>
          <p:cNvSpPr txBox="1"/>
          <p:nvPr/>
        </p:nvSpPr>
        <p:spPr>
          <a:xfrm>
            <a:off x="10151516" y="2293105"/>
            <a:ext cx="291084" cy="259080"/>
          </a:xfrm>
          <a:prstGeom prst="rect">
            <a:avLst/>
          </a:prstGeom>
          <a:noFill/>
        </p:spPr>
        <p:txBody>
          <a:bodyPr wrap="none" lIns="0" rIns="0" tIns="0" bIns="0" anchor="ctr">
            <a:spAutoFit/>
          </a:bodyPr>
          <a:lstStyle/>
          <a:p>
            <a:pPr algn="ctr"/>
            <a:r>
              <a:rPr sz="1275" b="1" i="0">
                <a:solidFill>
                  <a:srgbClr val="1F2430"/>
                </a:solidFill>
                <a:latin typeface="PT Sans"/>
              </a:rPr>
              <a:t>11</a:t>
            </a:r>
          </a:p>
        </p:txBody>
      </p:sp>
      <p:sp>
        <p:nvSpPr>
          <p:cNvPr id="161" name="TextBox 160"/>
          <p:cNvSpPr txBox="1"/>
          <p:nvPr/>
        </p:nvSpPr>
        <p:spPr>
          <a:xfrm>
            <a:off x="10415778" y="2222296"/>
            <a:ext cx="291084" cy="259080"/>
          </a:xfrm>
          <a:prstGeom prst="rect">
            <a:avLst/>
          </a:prstGeom>
          <a:noFill/>
        </p:spPr>
        <p:txBody>
          <a:bodyPr wrap="none" lIns="0" rIns="0" tIns="0" bIns="0" anchor="ctr">
            <a:spAutoFit/>
          </a:bodyPr>
          <a:lstStyle/>
          <a:p>
            <a:pPr algn="ctr"/>
            <a:r>
              <a:rPr sz="1275" b="1" i="0">
                <a:solidFill>
                  <a:srgbClr val="1F2430"/>
                </a:solidFill>
                <a:latin typeface="PT Sans"/>
              </a:rPr>
              <a:t>12</a:t>
            </a:r>
          </a:p>
        </p:txBody>
      </p:sp>
      <p:cxnSp>
        <p:nvCxnSpPr>
          <p:cNvPr id="162" name="Connector 161"/>
          <p:cNvCxnSpPr/>
          <p:nvPr/>
        </p:nvCxnSpPr>
        <p:spPr>
          <a:xfrm flipH="1" flipV="1">
            <a:off x="10263619" y="2630559"/>
            <a:ext cx="297701" cy="249801"/>
          </a:xfrm>
          <a:prstGeom prst="line">
            <a:avLst/>
          </a:prstGeom>
          <a:ln w="75565"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10561320" y="2880360"/>
            <a:ext cx="538487" cy="310896"/>
          </a:xfrm>
          <a:prstGeom prst="line">
            <a:avLst/>
          </a:prstGeom>
          <a:ln w="45339"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Oval 163"/>
          <p:cNvSpPr/>
          <p:nvPr/>
        </p:nvSpPr>
        <p:spPr>
          <a:xfrm>
            <a:off x="10518571" y="2837611"/>
            <a:ext cx="85496" cy="85496"/>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7452360" y="2158999"/>
            <a:ext cx="2194560" cy="345440"/>
          </a:xfrm>
          <a:prstGeom prst="rect">
            <a:avLst/>
          </a:prstGeom>
          <a:noFill/>
        </p:spPr>
        <p:txBody>
          <a:bodyPr wrap="none" lIns="0" rIns="0" tIns="0" bIns="0" anchor="ctr">
            <a:spAutoFit/>
          </a:bodyPr>
          <a:lstStyle/>
          <a:p>
            <a:pPr algn="ctr"/>
            <a:r>
              <a:rPr sz="1700" b="1" i="0">
                <a:solidFill>
                  <a:srgbClr val="1D3557"/>
                </a:solidFill>
                <a:latin typeface="PT Sans"/>
              </a:rPr>
              <a:t>Жетти: 10:20</a:t>
            </a:r>
          </a:p>
        </p:txBody>
      </p:sp>
      <p:cxnSp>
        <p:nvCxnSpPr>
          <p:cNvPr id="166" name="Connector 165"/>
          <p:cNvCxnSpPr/>
          <p:nvPr/>
        </p:nvCxnSpPr>
        <p:spPr>
          <a:xfrm>
            <a:off x="731519" y="4709160"/>
            <a:ext cx="10698481" cy="0"/>
          </a:xfrm>
          <a:prstGeom prst="line">
            <a:avLst/>
          </a:prstGeom>
          <a:ln w="254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86868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628903" y="4818888"/>
            <a:ext cx="479552" cy="264160"/>
          </a:xfrm>
          <a:prstGeom prst="rect">
            <a:avLst/>
          </a:prstGeom>
          <a:noFill/>
        </p:spPr>
        <p:txBody>
          <a:bodyPr wrap="none" lIns="0" rIns="0" tIns="0" bIns="0" anchor="ctr">
            <a:spAutoFit/>
          </a:bodyPr>
          <a:lstStyle/>
          <a:p>
            <a:pPr algn="ctr"/>
            <a:r>
              <a:rPr sz="1300" b="0" i="0">
                <a:solidFill>
                  <a:srgbClr val="1F2430"/>
                </a:solidFill>
                <a:latin typeface="PT Sans"/>
              </a:rPr>
              <a:t>9:30</a:t>
            </a:r>
          </a:p>
        </p:txBody>
      </p:sp>
      <p:cxnSp>
        <p:nvCxnSpPr>
          <p:cNvPr id="169" name="Connector 168"/>
          <p:cNvCxnSpPr/>
          <p:nvPr/>
        </p:nvCxnSpPr>
        <p:spPr>
          <a:xfrm>
            <a:off x="173736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2606039"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71" name="TextBox 170"/>
          <p:cNvSpPr txBox="1"/>
          <p:nvPr/>
        </p:nvSpPr>
        <p:spPr>
          <a:xfrm>
            <a:off x="2366263" y="4818888"/>
            <a:ext cx="479552" cy="264160"/>
          </a:xfrm>
          <a:prstGeom prst="rect">
            <a:avLst/>
          </a:prstGeom>
          <a:noFill/>
        </p:spPr>
        <p:txBody>
          <a:bodyPr wrap="none" lIns="0" rIns="0" tIns="0" bIns="0" anchor="ctr">
            <a:spAutoFit/>
          </a:bodyPr>
          <a:lstStyle/>
          <a:p>
            <a:pPr algn="ctr"/>
            <a:r>
              <a:rPr sz="1300" b="0" i="0">
                <a:solidFill>
                  <a:srgbClr val="1F2430"/>
                </a:solidFill>
                <a:latin typeface="PT Sans"/>
              </a:rPr>
              <a:t>9:40</a:t>
            </a:r>
          </a:p>
        </p:txBody>
      </p:sp>
      <p:cxnSp>
        <p:nvCxnSpPr>
          <p:cNvPr id="172" name="Connector 171"/>
          <p:cNvCxnSpPr/>
          <p:nvPr/>
        </p:nvCxnSpPr>
        <p:spPr>
          <a:xfrm>
            <a:off x="347472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34340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4103624" y="4818888"/>
            <a:ext cx="479552" cy="264160"/>
          </a:xfrm>
          <a:prstGeom prst="rect">
            <a:avLst/>
          </a:prstGeom>
          <a:noFill/>
        </p:spPr>
        <p:txBody>
          <a:bodyPr wrap="none" lIns="0" rIns="0" tIns="0" bIns="0" anchor="ctr">
            <a:spAutoFit/>
          </a:bodyPr>
          <a:lstStyle/>
          <a:p>
            <a:pPr algn="ctr"/>
            <a:r>
              <a:rPr sz="1300" b="0" i="0">
                <a:solidFill>
                  <a:srgbClr val="1F2430"/>
                </a:solidFill>
                <a:latin typeface="PT Sans"/>
              </a:rPr>
              <a:t>9:50</a:t>
            </a:r>
          </a:p>
        </p:txBody>
      </p:sp>
      <p:cxnSp>
        <p:nvCxnSpPr>
          <p:cNvPr id="175" name="Connector 174"/>
          <p:cNvCxnSpPr/>
          <p:nvPr/>
        </p:nvCxnSpPr>
        <p:spPr>
          <a:xfrm>
            <a:off x="521208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a:off x="6080760" y="4590288"/>
            <a:ext cx="0" cy="237744"/>
          </a:xfrm>
          <a:prstGeom prst="line">
            <a:avLst/>
          </a:prstGeom>
          <a:ln w="254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77" name="TextBox 176"/>
          <p:cNvSpPr txBox="1"/>
          <p:nvPr/>
        </p:nvSpPr>
        <p:spPr>
          <a:xfrm>
            <a:off x="5794756" y="4818888"/>
            <a:ext cx="572008" cy="264160"/>
          </a:xfrm>
          <a:prstGeom prst="rect">
            <a:avLst/>
          </a:prstGeom>
          <a:noFill/>
        </p:spPr>
        <p:txBody>
          <a:bodyPr wrap="none" lIns="0" rIns="0" tIns="0" bIns="0" anchor="ctr">
            <a:spAutoFit/>
          </a:bodyPr>
          <a:lstStyle/>
          <a:p>
            <a:pPr algn="ctr"/>
            <a:r>
              <a:rPr sz="1300" b="1" i="0">
                <a:solidFill>
                  <a:srgbClr val="A84400"/>
                </a:solidFill>
                <a:latin typeface="PT Sans"/>
              </a:rPr>
              <a:t>10:00</a:t>
            </a:r>
          </a:p>
        </p:txBody>
      </p:sp>
      <p:cxnSp>
        <p:nvCxnSpPr>
          <p:cNvPr id="178" name="Connector 177"/>
          <p:cNvCxnSpPr/>
          <p:nvPr/>
        </p:nvCxnSpPr>
        <p:spPr>
          <a:xfrm>
            <a:off x="694944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7818119"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80" name="TextBox 179"/>
          <p:cNvSpPr txBox="1"/>
          <p:nvPr/>
        </p:nvSpPr>
        <p:spPr>
          <a:xfrm>
            <a:off x="7532116" y="4818888"/>
            <a:ext cx="572008" cy="264160"/>
          </a:xfrm>
          <a:prstGeom prst="rect">
            <a:avLst/>
          </a:prstGeom>
          <a:noFill/>
        </p:spPr>
        <p:txBody>
          <a:bodyPr wrap="none" lIns="0" rIns="0" tIns="0" bIns="0" anchor="ctr">
            <a:spAutoFit/>
          </a:bodyPr>
          <a:lstStyle/>
          <a:p>
            <a:pPr algn="ctr"/>
            <a:r>
              <a:rPr sz="1300" b="0" i="0">
                <a:solidFill>
                  <a:srgbClr val="1F2430"/>
                </a:solidFill>
                <a:latin typeface="PT Sans"/>
              </a:rPr>
              <a:t>10:10</a:t>
            </a:r>
          </a:p>
        </p:txBody>
      </p:sp>
      <p:cxnSp>
        <p:nvCxnSpPr>
          <p:cNvPr id="181" name="Connector 180"/>
          <p:cNvCxnSpPr/>
          <p:nvPr/>
        </p:nvCxnSpPr>
        <p:spPr>
          <a:xfrm>
            <a:off x="868680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955548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83" name="TextBox 182"/>
          <p:cNvSpPr txBox="1"/>
          <p:nvPr/>
        </p:nvSpPr>
        <p:spPr>
          <a:xfrm>
            <a:off x="9269475" y="4818888"/>
            <a:ext cx="572008" cy="264160"/>
          </a:xfrm>
          <a:prstGeom prst="rect">
            <a:avLst/>
          </a:prstGeom>
          <a:noFill/>
        </p:spPr>
        <p:txBody>
          <a:bodyPr wrap="none" lIns="0" rIns="0" tIns="0" bIns="0" anchor="ctr">
            <a:spAutoFit/>
          </a:bodyPr>
          <a:lstStyle/>
          <a:p>
            <a:pPr algn="ctr"/>
            <a:r>
              <a:rPr sz="1300" b="0" i="0">
                <a:solidFill>
                  <a:srgbClr val="1F2430"/>
                </a:solidFill>
                <a:latin typeface="PT Sans"/>
              </a:rPr>
              <a:t>10:20</a:t>
            </a:r>
          </a:p>
        </p:txBody>
      </p:sp>
      <p:cxnSp>
        <p:nvCxnSpPr>
          <p:cNvPr id="184" name="Connector 183"/>
          <p:cNvCxnSpPr/>
          <p:nvPr/>
        </p:nvCxnSpPr>
        <p:spPr>
          <a:xfrm>
            <a:off x="10424159"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11292840" y="4645152"/>
            <a:ext cx="0" cy="128016"/>
          </a:xfrm>
          <a:prstGeom prst="line">
            <a:avLst/>
          </a:prstGeom>
          <a:ln w="1270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86" name="TextBox 185"/>
          <p:cNvSpPr txBox="1"/>
          <p:nvPr/>
        </p:nvSpPr>
        <p:spPr>
          <a:xfrm>
            <a:off x="11006836" y="4818888"/>
            <a:ext cx="572008" cy="264160"/>
          </a:xfrm>
          <a:prstGeom prst="rect">
            <a:avLst/>
          </a:prstGeom>
          <a:noFill/>
        </p:spPr>
        <p:txBody>
          <a:bodyPr wrap="none" lIns="0" rIns="0" tIns="0" bIns="0" anchor="ctr">
            <a:spAutoFit/>
          </a:bodyPr>
          <a:lstStyle/>
          <a:p>
            <a:pPr algn="ctr"/>
            <a:r>
              <a:rPr sz="1300" b="0" i="0">
                <a:solidFill>
                  <a:srgbClr val="1F2430"/>
                </a:solidFill>
                <a:latin typeface="PT Sans"/>
              </a:rPr>
              <a:t>10:30</a:t>
            </a:r>
          </a:p>
        </p:txBody>
      </p:sp>
      <p:sp>
        <p:nvSpPr>
          <p:cNvPr id="187" name="Freeform 186"/>
          <p:cNvSpPr/>
          <p:nvPr/>
        </p:nvSpPr>
        <p:spPr>
          <a:xfrm>
            <a:off x="868680" y="3986784"/>
            <a:ext cx="5212080" cy="685800"/>
          </a:xfrm>
          <a:custGeom>
            <a:avLst/>
            <a:gdLst/>
            <a:ahLst/>
            <a:cxnLst/>
            <a:rect l="l" t="t" r="r" b="b"/>
            <a:pathLst>
              <a:path w="5212080" h="685800">
                <a:moveTo>
                  <a:pt x="0" y="685800"/>
                </a:moveTo>
                <a:lnTo>
                  <a:pt x="16386" y="609015"/>
                </a:lnTo>
                <a:lnTo>
                  <a:pt x="65339" y="533195"/>
                </a:lnTo>
                <a:lnTo>
                  <a:pt x="146242" y="459295"/>
                </a:lnTo>
                <a:lnTo>
                  <a:pt x="258079" y="388243"/>
                </a:lnTo>
                <a:lnTo>
                  <a:pt x="399443" y="320932"/>
                </a:lnTo>
                <a:lnTo>
                  <a:pt x="568556" y="258211"/>
                </a:lnTo>
                <a:lnTo>
                  <a:pt x="763291" y="200866"/>
                </a:lnTo>
                <a:lnTo>
                  <a:pt x="981201" y="149620"/>
                </a:lnTo>
                <a:lnTo>
                  <a:pt x="1219543" y="105117"/>
                </a:lnTo>
                <a:lnTo>
                  <a:pt x="1475322" y="67916"/>
                </a:lnTo>
                <a:lnTo>
                  <a:pt x="1745320" y="38485"/>
                </a:lnTo>
                <a:lnTo>
                  <a:pt x="2026142" y="17194"/>
                </a:lnTo>
                <a:lnTo>
                  <a:pt x="2314256" y="4312"/>
                </a:lnTo>
                <a:lnTo>
                  <a:pt x="2606040" y="0"/>
                </a:lnTo>
                <a:lnTo>
                  <a:pt x="2897824" y="4312"/>
                </a:lnTo>
                <a:lnTo>
                  <a:pt x="3185938" y="17194"/>
                </a:lnTo>
                <a:lnTo>
                  <a:pt x="3466760" y="38485"/>
                </a:lnTo>
                <a:lnTo>
                  <a:pt x="3736758" y="67916"/>
                </a:lnTo>
                <a:lnTo>
                  <a:pt x="3992537" y="105117"/>
                </a:lnTo>
                <a:lnTo>
                  <a:pt x="4230879" y="149620"/>
                </a:lnTo>
                <a:lnTo>
                  <a:pt x="4448789" y="200866"/>
                </a:lnTo>
                <a:lnTo>
                  <a:pt x="4643524" y="258211"/>
                </a:lnTo>
                <a:lnTo>
                  <a:pt x="4812637" y="320932"/>
                </a:lnTo>
                <a:lnTo>
                  <a:pt x="4954001" y="388243"/>
                </a:lnTo>
                <a:lnTo>
                  <a:pt x="5065838" y="459295"/>
                </a:lnTo>
                <a:lnTo>
                  <a:pt x="5146741" y="533195"/>
                </a:lnTo>
                <a:lnTo>
                  <a:pt x="5195694" y="609015"/>
                </a:lnTo>
                <a:lnTo>
                  <a:pt x="5212080" y="685800"/>
                </a:lnTo>
              </a:path>
            </a:pathLst>
          </a:custGeom>
          <a:noFill/>
          <a:ln w="28575" cap="rnd">
            <a:solidFill>
              <a:srgbClr val="007A5A"/>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TextBox 187"/>
          <p:cNvSpPr txBox="1"/>
          <p:nvPr/>
        </p:nvSpPr>
        <p:spPr>
          <a:xfrm>
            <a:off x="2993136" y="3689350"/>
            <a:ext cx="963167" cy="304800"/>
          </a:xfrm>
          <a:prstGeom prst="rect">
            <a:avLst/>
          </a:prstGeom>
          <a:noFill/>
        </p:spPr>
        <p:txBody>
          <a:bodyPr wrap="none" lIns="0" rIns="0" tIns="0" bIns="0" anchor="ctr">
            <a:spAutoFit/>
          </a:bodyPr>
          <a:lstStyle/>
          <a:p>
            <a:pPr algn="ctr"/>
            <a:r>
              <a:rPr sz="1500" b="1" i="0">
                <a:solidFill>
                  <a:srgbClr val="007A5A"/>
                </a:solidFill>
                <a:latin typeface="PT Sans"/>
              </a:rPr>
              <a:t>30 мүнөт</a:t>
            </a:r>
          </a:p>
        </p:txBody>
      </p:sp>
      <p:sp>
        <p:nvSpPr>
          <p:cNvPr id="189" name="Freeform 188"/>
          <p:cNvSpPr/>
          <p:nvPr/>
        </p:nvSpPr>
        <p:spPr>
          <a:xfrm>
            <a:off x="6080760" y="4215384"/>
            <a:ext cx="3474720" cy="457200"/>
          </a:xfrm>
          <a:custGeom>
            <a:avLst/>
            <a:gdLst/>
            <a:ahLst/>
            <a:cxnLst/>
            <a:rect l="l" t="t" r="r" b="b"/>
            <a:pathLst>
              <a:path w="3474720" h="457200">
                <a:moveTo>
                  <a:pt x="0" y="457200"/>
                </a:moveTo>
                <a:lnTo>
                  <a:pt x="10924" y="406010"/>
                </a:lnTo>
                <a:lnTo>
                  <a:pt x="43559" y="355463"/>
                </a:lnTo>
                <a:lnTo>
                  <a:pt x="97495" y="306196"/>
                </a:lnTo>
                <a:lnTo>
                  <a:pt x="172053" y="258828"/>
                </a:lnTo>
                <a:lnTo>
                  <a:pt x="266295" y="213955"/>
                </a:lnTo>
                <a:lnTo>
                  <a:pt x="379037" y="172140"/>
                </a:lnTo>
                <a:lnTo>
                  <a:pt x="508861" y="133911"/>
                </a:lnTo>
                <a:lnTo>
                  <a:pt x="654134" y="99747"/>
                </a:lnTo>
                <a:lnTo>
                  <a:pt x="813029" y="70078"/>
                </a:lnTo>
                <a:lnTo>
                  <a:pt x="983548" y="45277"/>
                </a:lnTo>
                <a:lnTo>
                  <a:pt x="1163546" y="25657"/>
                </a:lnTo>
                <a:lnTo>
                  <a:pt x="1350761" y="11463"/>
                </a:lnTo>
                <a:lnTo>
                  <a:pt x="1542837" y="2875"/>
                </a:lnTo>
                <a:lnTo>
                  <a:pt x="1737360" y="0"/>
                </a:lnTo>
                <a:lnTo>
                  <a:pt x="1931883" y="2875"/>
                </a:lnTo>
                <a:lnTo>
                  <a:pt x="2123959" y="11463"/>
                </a:lnTo>
                <a:lnTo>
                  <a:pt x="2311174" y="25657"/>
                </a:lnTo>
                <a:lnTo>
                  <a:pt x="2491172" y="45277"/>
                </a:lnTo>
                <a:lnTo>
                  <a:pt x="2661691" y="70078"/>
                </a:lnTo>
                <a:lnTo>
                  <a:pt x="2820586" y="99747"/>
                </a:lnTo>
                <a:lnTo>
                  <a:pt x="2965859" y="133911"/>
                </a:lnTo>
                <a:lnTo>
                  <a:pt x="3095683" y="172140"/>
                </a:lnTo>
                <a:lnTo>
                  <a:pt x="3208425" y="213955"/>
                </a:lnTo>
                <a:lnTo>
                  <a:pt x="3302667" y="258828"/>
                </a:lnTo>
                <a:lnTo>
                  <a:pt x="3377225" y="306196"/>
                </a:lnTo>
                <a:lnTo>
                  <a:pt x="3431161" y="355463"/>
                </a:lnTo>
                <a:lnTo>
                  <a:pt x="3463796" y="406010"/>
                </a:lnTo>
                <a:lnTo>
                  <a:pt x="3474720" y="457200"/>
                </a:lnTo>
              </a:path>
            </a:pathLst>
          </a:custGeom>
          <a:noFill/>
          <a:ln w="28575" cap="rnd">
            <a:solidFill>
              <a:srgbClr val="24418C"/>
            </a:solidFill>
            <a:tailEnd type="triangle" w="med" len="med"/>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TextBox 189"/>
          <p:cNvSpPr txBox="1"/>
          <p:nvPr/>
        </p:nvSpPr>
        <p:spPr>
          <a:xfrm>
            <a:off x="7336536" y="3917950"/>
            <a:ext cx="963167" cy="304800"/>
          </a:xfrm>
          <a:prstGeom prst="rect">
            <a:avLst/>
          </a:prstGeom>
          <a:noFill/>
        </p:spPr>
        <p:txBody>
          <a:bodyPr wrap="none" lIns="0" rIns="0" tIns="0" bIns="0" anchor="ctr">
            <a:spAutoFit/>
          </a:bodyPr>
          <a:lstStyle/>
          <a:p>
            <a:pPr algn="ctr"/>
            <a:r>
              <a:rPr sz="1500" b="1" i="0">
                <a:solidFill>
                  <a:srgbClr val="24418C"/>
                </a:solidFill>
                <a:latin typeface="PT Sans"/>
              </a:rPr>
              <a:t>20 мүнөт</a:t>
            </a:r>
          </a:p>
        </p:txBody>
      </p:sp>
      <p:sp>
        <p:nvSpPr>
          <p:cNvPr id="191" name="TextBox 190"/>
          <p:cNvSpPr txBox="1"/>
          <p:nvPr/>
        </p:nvSpPr>
        <p:spPr>
          <a:xfrm>
            <a:off x="2880360" y="5179568"/>
            <a:ext cx="6400800" cy="284480"/>
          </a:xfrm>
          <a:prstGeom prst="rect">
            <a:avLst/>
          </a:prstGeom>
          <a:noFill/>
        </p:spPr>
        <p:txBody>
          <a:bodyPr wrap="none" lIns="0" rIns="0" tIns="0" bIns="0" anchor="ctr">
            <a:spAutoFit/>
          </a:bodyPr>
          <a:lstStyle/>
          <a:p>
            <a:pPr algn="ctr"/>
            <a:r>
              <a:rPr sz="1400" b="0" i="1">
                <a:solidFill>
                  <a:srgbClr val="4A5A70"/>
                </a:solidFill>
                <a:latin typeface="PT Sans"/>
              </a:rPr>
              <a:t>Бир кичине сызык = 5 мүнөт. Секириктерди санайбыз.</a:t>
            </a:r>
          </a:p>
        </p:txBody>
      </p:sp>
      <p:sp>
        <p:nvSpPr>
          <p:cNvPr id="192" name="TextBox 191"/>
          <p:cNvSpPr txBox="1"/>
          <p:nvPr/>
        </p:nvSpPr>
        <p:spPr>
          <a:xfrm>
            <a:off x="429768" y="5623560"/>
            <a:ext cx="11329416" cy="457200"/>
          </a:xfrm>
          <a:prstGeom prst="rect">
            <a:avLst/>
          </a:prstGeom>
          <a:noFill/>
        </p:spPr>
        <p:txBody>
          <a:bodyPr wrap="square" anchor="t" lIns="45720" rIns="45720" tIns="27432" bIns="27432">
            <a:spAutoFit/>
          </a:bodyPr>
          <a:lstStyle/>
          <a:p>
            <a:pPr algn="ctr">
              <a:lnSpc>
                <a:spcPct val="105000"/>
              </a:lnSpc>
            </a:pPr>
            <a:r>
              <a:rPr sz="2200" b="1" i="0">
                <a:solidFill>
                  <a:srgbClr val="24418C"/>
                </a:solidFill>
                <a:latin typeface="PT Sans"/>
              </a:rPr>
              <a:t>30 мүнөт + 20 мүнөт = 50 мүнөт</a:t>
            </a:r>
          </a:p>
        </p:txBody>
      </p:sp>
      <p:sp>
        <p:nvSpPr>
          <p:cNvPr id="193" name="Rounded Rectangle 192"/>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194" name="Rounded Rectangle 193"/>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195" name="Rounded Rectangle 194"/>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
        <p:nvSpPr>
          <p:cNvPr id="196" name="Rounded Rectangle 19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А: эреже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13/26</a:t>
            </a:r>
          </a:p>
        </p:txBody>
      </p:sp>
      <p:sp>
        <p:nvSpPr>
          <p:cNvPr id="10" name="Rounded Rectangle 9"/>
          <p:cNvSpPr/>
          <p:nvPr/>
        </p:nvSpPr>
        <p:spPr>
          <a:xfrm>
            <a:off x="429768"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423035"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1</a:t>
            </a:r>
          </a:p>
        </p:txBody>
      </p:sp>
      <p:sp>
        <p:nvSpPr>
          <p:cNvPr id="12" name="TextBox 11"/>
          <p:cNvSpPr txBox="1"/>
          <p:nvPr/>
        </p:nvSpPr>
        <p:spPr>
          <a:xfrm>
            <a:off x="521207"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Кыска</a:t>
            </a:r>
          </a:p>
        </p:txBody>
      </p:sp>
      <p:sp>
        <p:nvSpPr>
          <p:cNvPr id="13" name="TextBox 12"/>
          <p:cNvSpPr txBox="1"/>
          <p:nvPr/>
        </p:nvSpPr>
        <p:spPr>
          <a:xfrm>
            <a:off x="521207"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Кыска жебе = саат</a:t>
            </a:r>
          </a:p>
        </p:txBody>
      </p:sp>
      <p:sp>
        <p:nvSpPr>
          <p:cNvPr id="14" name="TextBox 13"/>
          <p:cNvSpPr txBox="1"/>
          <p:nvPr/>
        </p:nvSpPr>
        <p:spPr>
          <a:xfrm>
            <a:off x="566928"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Ал кайсы сандан өттү?</a:t>
            </a:r>
          </a:p>
        </p:txBody>
      </p:sp>
      <p:cxnSp>
        <p:nvCxnSpPr>
          <p:cNvPr id="15" name="Connector 14"/>
          <p:cNvCxnSpPr/>
          <p:nvPr/>
        </p:nvCxnSpPr>
        <p:spPr>
          <a:xfrm>
            <a:off x="3056382"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3330702"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323969"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2</a:t>
            </a:r>
          </a:p>
        </p:txBody>
      </p:sp>
      <p:sp>
        <p:nvSpPr>
          <p:cNvPr id="18" name="TextBox 17"/>
          <p:cNvSpPr txBox="1"/>
          <p:nvPr/>
        </p:nvSpPr>
        <p:spPr>
          <a:xfrm>
            <a:off x="3422142"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Узун</a:t>
            </a:r>
          </a:p>
        </p:txBody>
      </p:sp>
      <p:sp>
        <p:nvSpPr>
          <p:cNvPr id="19" name="TextBox 18"/>
          <p:cNvSpPr txBox="1"/>
          <p:nvPr/>
        </p:nvSpPr>
        <p:spPr>
          <a:xfrm>
            <a:off x="3422142"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Узун жебе = мүнөт</a:t>
            </a:r>
          </a:p>
        </p:txBody>
      </p:sp>
      <p:sp>
        <p:nvSpPr>
          <p:cNvPr id="20" name="TextBox 19"/>
          <p:cNvSpPr txBox="1"/>
          <p:nvPr/>
        </p:nvSpPr>
        <p:spPr>
          <a:xfrm>
            <a:off x="3467862"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5тен сана: 5, 10, 15 …</a:t>
            </a:r>
          </a:p>
        </p:txBody>
      </p:sp>
      <p:cxnSp>
        <p:nvCxnSpPr>
          <p:cNvPr id="21" name="Connector 20"/>
          <p:cNvCxnSpPr/>
          <p:nvPr/>
        </p:nvCxnSpPr>
        <p:spPr>
          <a:xfrm>
            <a:off x="5957316"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231636"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4902"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3</a:t>
            </a:r>
          </a:p>
        </p:txBody>
      </p:sp>
      <p:sp>
        <p:nvSpPr>
          <p:cNvPr id="24" name="TextBox 23"/>
          <p:cNvSpPr txBox="1"/>
          <p:nvPr/>
        </p:nvSpPr>
        <p:spPr>
          <a:xfrm>
            <a:off x="6323075"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7:45</a:t>
            </a:r>
          </a:p>
        </p:txBody>
      </p:sp>
      <p:sp>
        <p:nvSpPr>
          <p:cNvPr id="25" name="TextBox 24"/>
          <p:cNvSpPr txBox="1"/>
          <p:nvPr/>
        </p:nvSpPr>
        <p:spPr>
          <a:xfrm>
            <a:off x="6323075"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Сан менен жаз</a:t>
            </a:r>
          </a:p>
        </p:txBody>
      </p:sp>
      <p:sp>
        <p:nvSpPr>
          <p:cNvPr id="26" name="TextBox 25"/>
          <p:cNvSpPr txBox="1"/>
          <p:nvPr/>
        </p:nvSpPr>
        <p:spPr>
          <a:xfrm>
            <a:off x="6368796"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саат : мүнөт</a:t>
            </a:r>
          </a:p>
        </p:txBody>
      </p:sp>
      <p:cxnSp>
        <p:nvCxnSpPr>
          <p:cNvPr id="27" name="Connector 26"/>
          <p:cNvCxnSpPr/>
          <p:nvPr/>
        </p:nvCxnSpPr>
        <p:spPr>
          <a:xfrm>
            <a:off x="8858250" y="2880360"/>
            <a:ext cx="274320" cy="0"/>
          </a:xfrm>
          <a:prstGeom prst="line">
            <a:avLst/>
          </a:prstGeom>
          <a:ln w="3175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132570" y="1371600"/>
            <a:ext cx="2626614" cy="3017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125837" y="1600200"/>
            <a:ext cx="640080" cy="64008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400" b="1">
                <a:solidFill>
                  <a:srgbClr val="1D3557"/>
                </a:solidFill>
                <a:latin typeface="PT Sans"/>
              </a:rPr>
              <a:t>4</a:t>
            </a:r>
          </a:p>
        </p:txBody>
      </p:sp>
      <p:sp>
        <p:nvSpPr>
          <p:cNvPr id="30" name="TextBox 29"/>
          <p:cNvSpPr txBox="1"/>
          <p:nvPr/>
        </p:nvSpPr>
        <p:spPr>
          <a:xfrm>
            <a:off x="9224010" y="2377440"/>
            <a:ext cx="2443734" cy="640080"/>
          </a:xfrm>
          <a:prstGeom prst="rect">
            <a:avLst/>
          </a:prstGeom>
          <a:noFill/>
        </p:spPr>
        <p:txBody>
          <a:bodyPr wrap="square" anchor="t" lIns="45720" rIns="45720" tIns="27432" bIns="27432">
            <a:spAutoFit/>
          </a:bodyPr>
          <a:lstStyle/>
          <a:p>
            <a:pPr algn="ctr">
              <a:lnSpc>
                <a:spcPct val="105000"/>
              </a:lnSpc>
            </a:pPr>
            <a:r>
              <a:rPr sz="3600" b="1" i="0">
                <a:solidFill>
                  <a:srgbClr val="24418C"/>
                </a:solidFill>
                <a:latin typeface="PT Sans"/>
              </a:rPr>
              <a:t>60</a:t>
            </a:r>
          </a:p>
        </p:txBody>
      </p:sp>
      <p:sp>
        <p:nvSpPr>
          <p:cNvPr id="31" name="TextBox 30"/>
          <p:cNvSpPr txBox="1"/>
          <p:nvPr/>
        </p:nvSpPr>
        <p:spPr>
          <a:xfrm>
            <a:off x="9224010" y="3063240"/>
            <a:ext cx="2443734" cy="457200"/>
          </a:xfrm>
          <a:prstGeom prst="rect">
            <a:avLst/>
          </a:prstGeom>
          <a:noFill/>
        </p:spPr>
        <p:txBody>
          <a:bodyPr wrap="square" anchor="t" lIns="45720" rIns="45720" tIns="27432" bIns="27432">
            <a:spAutoFit/>
          </a:bodyPr>
          <a:lstStyle/>
          <a:p>
            <a:pPr algn="ctr">
              <a:lnSpc>
                <a:spcPct val="105000"/>
              </a:lnSpc>
            </a:pPr>
            <a:r>
              <a:rPr sz="1700" b="1" i="0">
                <a:solidFill>
                  <a:srgbClr val="1F2430"/>
                </a:solidFill>
                <a:latin typeface="PT Sans"/>
              </a:rPr>
              <a:t>1 саат = 60 мүнөт</a:t>
            </a:r>
          </a:p>
        </p:txBody>
      </p:sp>
      <p:sp>
        <p:nvSpPr>
          <p:cNvPr id="32" name="TextBox 31"/>
          <p:cNvSpPr txBox="1"/>
          <p:nvPr/>
        </p:nvSpPr>
        <p:spPr>
          <a:xfrm>
            <a:off x="9269730" y="3566160"/>
            <a:ext cx="2352294" cy="731520"/>
          </a:xfrm>
          <a:prstGeom prst="rect">
            <a:avLst/>
          </a:prstGeom>
          <a:noFill/>
        </p:spPr>
        <p:txBody>
          <a:bodyPr wrap="square" anchor="t" lIns="45720" rIns="45720" tIns="27432" bIns="27432">
            <a:spAutoFit/>
          </a:bodyPr>
          <a:lstStyle/>
          <a:p>
            <a:pPr algn="ctr">
              <a:lnSpc>
                <a:spcPct val="105000"/>
              </a:lnSpc>
            </a:pPr>
            <a:r>
              <a:rPr sz="1800" b="0" i="0">
                <a:solidFill>
                  <a:srgbClr val="6B7280"/>
                </a:solidFill>
                <a:latin typeface="PT Sans"/>
              </a:rPr>
              <a:t>1 сутка = 24 саат</a:t>
            </a:r>
          </a:p>
        </p:txBody>
      </p:sp>
      <p:sp>
        <p:nvSpPr>
          <p:cNvPr id="33" name="Rounded Rectangle 32"/>
          <p:cNvSpPr/>
          <p:nvPr/>
        </p:nvSpPr>
        <p:spPr>
          <a:xfrm>
            <a:off x="1874519" y="4709160"/>
            <a:ext cx="8449056" cy="758952"/>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600" b="1">
                <a:solidFill>
                  <a:srgbClr val="A84400"/>
                </a:solidFill>
                <a:latin typeface="PT Sans"/>
              </a:rPr>
              <a:t>Кыска жебе 7ден өттү, узун жебе 9да → 7:45</a:t>
            </a:r>
          </a:p>
        </p:txBody>
      </p: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1: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14/26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Кыска жебе 10 менен 11дин ортосунда. Узун жебе 4тө. Саат канча?</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Кыска жебе 10дон өттү</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саат: 10</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Узун жебе: 5, 10, 15, 20</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мүнөт: 20</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 10:20</a:t>
            </a:r>
          </a:p>
        </p:txBody>
      </p:sp>
      <p:sp>
        <p:nvSpPr>
          <p:cNvPr id="17" name="TextBox 16"/>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Саат = </a:t>
            </a:r>
            <a:r>
              <a:rPr sz="3400" b="1">
                <a:solidFill>
                  <a:srgbClr val="24418C"/>
                </a:solidFill>
                <a:latin typeface="PT Sans"/>
              </a:rPr>
              <a:t>10:20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Мисал 2: мен көрсөтөм</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15/26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400" b="0" i="0">
                <a:solidFill>
                  <a:srgbClr val="1F2430"/>
                </a:solidFill>
                <a:latin typeface="PT Sans"/>
              </a:rPr>
              <a:t>Бурана мунарасына 10:50дө жөнөп, 11:25те жетишти. Канча мүнөт?</a:t>
            </a:r>
          </a:p>
        </p:txBody>
      </p:sp>
      <p:sp>
        <p:nvSpPr>
          <p:cNvPr id="12" name="TextBox 11"/>
          <p:cNvSpPr txBox="1"/>
          <p:nvPr/>
        </p:nvSpPr>
        <p:spPr>
          <a:xfrm>
            <a:off x="731520" y="2240280"/>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10:50 → 11:00</a:t>
            </a:r>
          </a:p>
        </p:txBody>
      </p:sp>
      <p:sp>
        <p:nvSpPr>
          <p:cNvPr id="13" name="TextBox 12"/>
          <p:cNvSpPr txBox="1"/>
          <p:nvPr/>
        </p:nvSpPr>
        <p:spPr>
          <a:xfrm>
            <a:off x="8366760" y="2240280"/>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10 мүнөт</a:t>
            </a:r>
          </a:p>
        </p:txBody>
      </p:sp>
      <p:sp>
        <p:nvSpPr>
          <p:cNvPr id="14" name="TextBox 13"/>
          <p:cNvSpPr txBox="1"/>
          <p:nvPr/>
        </p:nvSpPr>
        <p:spPr>
          <a:xfrm>
            <a:off x="731520" y="2898648"/>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1F2430"/>
                </a:solidFill>
                <a:latin typeface="PT Sans"/>
              </a:rPr>
              <a:t>11:00 → 11:25</a:t>
            </a:r>
          </a:p>
        </p:txBody>
      </p:sp>
      <p:sp>
        <p:nvSpPr>
          <p:cNvPr id="15" name="TextBox 14"/>
          <p:cNvSpPr txBox="1"/>
          <p:nvPr/>
        </p:nvSpPr>
        <p:spPr>
          <a:xfrm>
            <a:off x="8366760" y="2898648"/>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25 мүнөт</a:t>
            </a:r>
          </a:p>
        </p:txBody>
      </p:sp>
      <p:sp>
        <p:nvSpPr>
          <p:cNvPr id="16" name="TextBox 15"/>
          <p:cNvSpPr txBox="1"/>
          <p:nvPr/>
        </p:nvSpPr>
        <p:spPr>
          <a:xfrm>
            <a:off x="731520" y="3557016"/>
            <a:ext cx="7498079" cy="658368"/>
          </a:xfrm>
          <a:prstGeom prst="rect">
            <a:avLst/>
          </a:prstGeom>
          <a:noFill/>
        </p:spPr>
        <p:txBody>
          <a:bodyPr wrap="square" anchor="ctr" lIns="45720" rIns="45720" tIns="27432" bIns="27432">
            <a:spAutoFit/>
          </a:bodyPr>
          <a:lstStyle/>
          <a:p>
            <a:pPr algn="r">
              <a:lnSpc>
                <a:spcPct val="105000"/>
              </a:lnSpc>
            </a:pPr>
            <a:r>
              <a:rPr sz="2800" b="1" i="0">
                <a:solidFill>
                  <a:srgbClr val="24418C"/>
                </a:solidFill>
                <a:latin typeface="PT Sans"/>
              </a:rPr>
              <a:t>10 + 25 = 35</a:t>
            </a:r>
          </a:p>
        </p:txBody>
      </p:sp>
      <p:sp>
        <p:nvSpPr>
          <p:cNvPr id="17" name="TextBox 16"/>
          <p:cNvSpPr txBox="1"/>
          <p:nvPr/>
        </p:nvSpPr>
        <p:spPr>
          <a:xfrm>
            <a:off x="8366760" y="3557016"/>
            <a:ext cx="3108960" cy="658368"/>
          </a:xfrm>
          <a:prstGeom prst="rect">
            <a:avLst/>
          </a:prstGeom>
          <a:noFill/>
        </p:spPr>
        <p:txBody>
          <a:bodyPr wrap="square" anchor="ctr" lIns="45720" rIns="45720" tIns="27432" bIns="27432">
            <a:spAutoFit/>
          </a:bodyPr>
          <a:lstStyle/>
          <a:p>
            <a:pPr algn="l">
              <a:lnSpc>
                <a:spcPct val="105000"/>
              </a:lnSpc>
            </a:pPr>
            <a:r>
              <a:rPr sz="2000" b="1" i="0">
                <a:solidFill>
                  <a:srgbClr val="A84400"/>
                </a:solidFill>
                <a:latin typeface="PT Sans"/>
              </a:rPr>
              <a:t>мүнөт</a:t>
            </a:r>
          </a:p>
        </p:txBody>
      </p:sp>
      <p:sp>
        <p:nvSpPr>
          <p:cNvPr id="18" name="TextBox 17"/>
          <p:cNvSpPr txBox="1"/>
          <p:nvPr/>
        </p:nvSpPr>
        <p:spPr>
          <a:xfrm>
            <a:off x="429768" y="5596128"/>
            <a:ext cx="11329416" cy="640080"/>
          </a:xfrm>
          <a:prstGeom prst="rect">
            <a:avLst/>
          </a:prstGeom>
          <a:noFill/>
        </p:spPr>
        <p:txBody>
          <a:bodyPr wrap="square" anchor="t" lIns="45720" rIns="45720" tIns="27432" bIns="27432">
            <a:spAutoFit/>
          </a:bodyPr>
          <a:lstStyle/>
          <a:p>
            <a:pPr algn="ctr">
              <a:lnSpc>
                <a:spcPct val="105000"/>
              </a:lnSpc>
            </a:pPr>
            <a:r>
              <a:rPr sz="3400" b="1" i="0">
                <a:solidFill>
                  <a:srgbClr val="1F2430"/>
                </a:solidFill>
                <a:latin typeface="PT Sans"/>
              </a:rPr>
              <a:t>Жол = </a:t>
            </a:r>
            <a:r>
              <a:rPr sz="3400" b="1">
                <a:solidFill>
                  <a:srgbClr val="24418C"/>
                </a:solidFill>
                <a:latin typeface="PT Sans"/>
              </a:rPr>
              <a:t>35 мүнөт</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ыкма: саатка чейин секир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16/26</a:t>
            </a:r>
          </a:p>
        </p:txBody>
      </p:sp>
      <p:sp>
        <p:nvSpPr>
          <p:cNvPr id="10" name="Rounded Rectangle 9"/>
          <p:cNvSpPr/>
          <p:nvPr/>
        </p:nvSpPr>
        <p:spPr>
          <a:xfrm>
            <a:off x="429768"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12647"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2" name="TextBox 11"/>
          <p:cNvSpPr txBox="1"/>
          <p:nvPr/>
        </p:nvSpPr>
        <p:spPr>
          <a:xfrm>
            <a:off x="1207007"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Так саатка чейин</a:t>
            </a:r>
          </a:p>
        </p:txBody>
      </p:sp>
      <p:sp>
        <p:nvSpPr>
          <p:cNvPr id="13" name="TextBox 12"/>
          <p:cNvSpPr txBox="1"/>
          <p:nvPr/>
        </p:nvSpPr>
        <p:spPr>
          <a:xfrm>
            <a:off x="658368"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8:40 → 9:15</a:t>
            </a:r>
          </a:p>
        </p:txBody>
      </p:sp>
      <p:sp>
        <p:nvSpPr>
          <p:cNvPr id="14" name="TextBox 13"/>
          <p:cNvSpPr txBox="1"/>
          <p:nvPr/>
        </p:nvSpPr>
        <p:spPr>
          <a:xfrm>
            <a:off x="658368"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8:40 → 9:00: 20</a:t>
            </a:r>
          </a:p>
        </p:txBody>
      </p:sp>
      <p:sp>
        <p:nvSpPr>
          <p:cNvPr id="15" name="TextBox 14"/>
          <p:cNvSpPr txBox="1"/>
          <p:nvPr/>
        </p:nvSpPr>
        <p:spPr>
          <a:xfrm>
            <a:off x="658368"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9:00 → 9:15: 15</a:t>
            </a:r>
          </a:p>
        </p:txBody>
      </p:sp>
      <p:sp>
        <p:nvSpPr>
          <p:cNvPr id="16" name="TextBox 15"/>
          <p:cNvSpPr txBox="1"/>
          <p:nvPr/>
        </p:nvSpPr>
        <p:spPr>
          <a:xfrm>
            <a:off x="658368"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35 мүнөт</a:t>
            </a:r>
          </a:p>
        </p:txBody>
      </p:sp>
      <p:sp>
        <p:nvSpPr>
          <p:cNvPr id="17" name="TextBox 16"/>
          <p:cNvSpPr txBox="1"/>
          <p:nvPr/>
        </p:nvSpPr>
        <p:spPr>
          <a:xfrm>
            <a:off x="658368"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Адегенде так саатка, анан калганы.</a:t>
            </a:r>
          </a:p>
        </p:txBody>
      </p:sp>
      <p:sp>
        <p:nvSpPr>
          <p:cNvPr id="18" name="Rounded Rectangle 17"/>
          <p:cNvSpPr/>
          <p:nvPr/>
        </p:nvSpPr>
        <p:spPr>
          <a:xfrm>
            <a:off x="4297680"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80560"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20" name="TextBox 19"/>
          <p:cNvSpPr txBox="1"/>
          <p:nvPr/>
        </p:nvSpPr>
        <p:spPr>
          <a:xfrm>
            <a:off x="5074920"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5тен сана</a:t>
            </a:r>
          </a:p>
        </p:txBody>
      </p:sp>
      <p:sp>
        <p:nvSpPr>
          <p:cNvPr id="21" name="TextBox 20"/>
          <p:cNvSpPr txBox="1"/>
          <p:nvPr/>
        </p:nvSpPr>
        <p:spPr>
          <a:xfrm>
            <a:off x="4526280"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Узун жебе 7де</a:t>
            </a:r>
          </a:p>
        </p:txBody>
      </p:sp>
      <p:sp>
        <p:nvSpPr>
          <p:cNvPr id="22" name="TextBox 21"/>
          <p:cNvSpPr txBox="1"/>
          <p:nvPr/>
        </p:nvSpPr>
        <p:spPr>
          <a:xfrm>
            <a:off x="4526280"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5, 10, 15, 20,</a:t>
            </a:r>
          </a:p>
        </p:txBody>
      </p:sp>
      <p:sp>
        <p:nvSpPr>
          <p:cNvPr id="23" name="TextBox 22"/>
          <p:cNvSpPr txBox="1"/>
          <p:nvPr/>
        </p:nvSpPr>
        <p:spPr>
          <a:xfrm>
            <a:off x="4526280"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25, 30, 35</a:t>
            </a:r>
          </a:p>
        </p:txBody>
      </p:sp>
      <p:sp>
        <p:nvSpPr>
          <p:cNvPr id="24" name="TextBox 23"/>
          <p:cNvSpPr txBox="1"/>
          <p:nvPr/>
        </p:nvSpPr>
        <p:spPr>
          <a:xfrm>
            <a:off x="4526280"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 35 мүнөт</a:t>
            </a:r>
          </a:p>
        </p:txBody>
      </p:sp>
      <p:sp>
        <p:nvSpPr>
          <p:cNvPr id="25" name="TextBox 24"/>
          <p:cNvSpPr txBox="1"/>
          <p:nvPr/>
        </p:nvSpPr>
        <p:spPr>
          <a:xfrm>
            <a:off x="4526280"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Узун жебенин ар бир саны = 5 мүнөт.</a:t>
            </a:r>
          </a:p>
        </p:txBody>
      </p:sp>
      <p:sp>
        <p:nvSpPr>
          <p:cNvPr id="26" name="Rounded Rectangle 25"/>
          <p:cNvSpPr/>
          <p:nvPr/>
        </p:nvSpPr>
        <p:spPr>
          <a:xfrm>
            <a:off x="8165592" y="1280160"/>
            <a:ext cx="3593592" cy="41605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348472" y="1444752"/>
            <a:ext cx="457200" cy="45720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28" name="TextBox 27"/>
          <p:cNvSpPr txBox="1"/>
          <p:nvPr/>
        </p:nvSpPr>
        <p:spPr>
          <a:xfrm>
            <a:off x="8942832" y="1371600"/>
            <a:ext cx="2679192" cy="685800"/>
          </a:xfrm>
          <a:prstGeom prst="rect">
            <a:avLst/>
          </a:prstGeom>
          <a:noFill/>
        </p:spPr>
        <p:txBody>
          <a:bodyPr wrap="square" anchor="ctr" lIns="45720" rIns="45720" tIns="27432" bIns="27432">
            <a:spAutoFit/>
          </a:bodyPr>
          <a:lstStyle/>
          <a:p>
            <a:pPr algn="l">
              <a:lnSpc>
                <a:spcPct val="105000"/>
              </a:lnSpc>
            </a:pPr>
            <a:r>
              <a:rPr sz="2000" b="1" i="0">
                <a:solidFill>
                  <a:srgbClr val="1D3557"/>
                </a:solidFill>
                <a:latin typeface="PT Sans"/>
              </a:rPr>
              <a:t>Чейрек жана жарым</a:t>
            </a:r>
          </a:p>
        </p:txBody>
      </p:sp>
      <p:sp>
        <p:nvSpPr>
          <p:cNvPr id="29" name="TextBox 28"/>
          <p:cNvSpPr txBox="1"/>
          <p:nvPr/>
        </p:nvSpPr>
        <p:spPr>
          <a:xfrm>
            <a:off x="8394192" y="2194560"/>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чейрек = 15</a:t>
            </a:r>
          </a:p>
        </p:txBody>
      </p:sp>
      <p:sp>
        <p:nvSpPr>
          <p:cNvPr id="30" name="TextBox 29"/>
          <p:cNvSpPr txBox="1"/>
          <p:nvPr/>
        </p:nvSpPr>
        <p:spPr>
          <a:xfrm>
            <a:off x="8394192" y="2761488"/>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жарым = 30</a:t>
            </a:r>
          </a:p>
        </p:txBody>
      </p:sp>
      <p:sp>
        <p:nvSpPr>
          <p:cNvPr id="31" name="TextBox 30"/>
          <p:cNvSpPr txBox="1"/>
          <p:nvPr/>
        </p:nvSpPr>
        <p:spPr>
          <a:xfrm>
            <a:off x="8394192" y="3328415"/>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3 чейрек = 45</a:t>
            </a:r>
          </a:p>
        </p:txBody>
      </p:sp>
      <p:sp>
        <p:nvSpPr>
          <p:cNvPr id="32" name="TextBox 31"/>
          <p:cNvSpPr txBox="1"/>
          <p:nvPr/>
        </p:nvSpPr>
        <p:spPr>
          <a:xfrm>
            <a:off x="8394192" y="3895344"/>
            <a:ext cx="3136392" cy="566928"/>
          </a:xfrm>
          <a:prstGeom prst="rect">
            <a:avLst/>
          </a:prstGeom>
          <a:noFill/>
        </p:spPr>
        <p:txBody>
          <a:bodyPr wrap="square" anchor="ctr" lIns="45720" rIns="45720" tIns="27432" bIns="27432">
            <a:spAutoFit/>
          </a:bodyPr>
          <a:lstStyle/>
          <a:p>
            <a:pPr algn="l">
              <a:lnSpc>
                <a:spcPct val="105000"/>
              </a:lnSpc>
            </a:pPr>
            <a:r>
              <a:rPr sz="2200" b="1" i="0">
                <a:solidFill>
                  <a:srgbClr val="24418C"/>
                </a:solidFill>
                <a:latin typeface="PT Sans"/>
              </a:rPr>
              <a:t>толук = 60</a:t>
            </a:r>
          </a:p>
        </p:txBody>
      </p:sp>
      <p:sp>
        <p:nvSpPr>
          <p:cNvPr id="33" name="TextBox 32"/>
          <p:cNvSpPr txBox="1"/>
          <p:nvPr/>
        </p:nvSpPr>
        <p:spPr>
          <a:xfrm>
            <a:off x="8394192" y="4526280"/>
            <a:ext cx="3136392"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Саатты 4 бөлүккө бөл: 15, 30, 45, 60.</a:t>
            </a:r>
          </a:p>
        </p:txBody>
      </p:sp>
      <p:sp>
        <p:nvSpPr>
          <p:cNvPr id="34" name="Rounded Rectangle 33"/>
          <p:cNvSpPr/>
          <p:nvPr/>
        </p:nvSpPr>
        <p:spPr>
          <a:xfrm>
            <a:off x="429768" y="5577840"/>
            <a:ext cx="11329416" cy="502920"/>
          </a:xfrm>
          <a:prstGeom prst="roundRect">
            <a:avLst>
              <a:gd name="adj" fmla="val 40000"/>
            </a:avLst>
          </a:prstGeom>
          <a:solidFill>
            <a:srgbClr val="FFFFFF"/>
          </a:solidFill>
          <a:ln w="2222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700" b="1">
                <a:solidFill>
                  <a:srgbClr val="007A5A"/>
                </a:solidFill>
                <a:latin typeface="PT Sans"/>
              </a:rPr>
              <a:t>Ыкмаңды айт: «Адегенде так саатка чейин…, анан…».</a:t>
            </a:r>
          </a:p>
        </p:txBody>
      </p:sp>
      <p:sp>
        <p:nvSpPr>
          <p:cNvPr id="35" name="Rounded Rectangle 34"/>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
        <p:nvSpPr>
          <p:cNvPr id="36" name="Rounded Rectangle 35"/>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7" name="Rounded Rectangle 36"/>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8" name="Rounded Rectangle 37"/>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Чечүүчү суроо</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17/26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200" b="0" i="0">
                <a:solidFill>
                  <a:srgbClr val="1F2430"/>
                </a:solidFill>
                <a:latin typeface="PT Sans"/>
              </a:rPr>
              <a:t>Кагаз саатта кыска жебе 4 менен 5тин ортосунда, 5ке жакын. Узун жебе 9да. Саат канча?</a:t>
            </a:r>
          </a:p>
        </p:txBody>
      </p:sp>
      <p:sp>
        <p:nvSpPr>
          <p:cNvPr id="12" name="Rounded Rectangle 11"/>
          <p:cNvSpPr/>
          <p:nvPr/>
        </p:nvSpPr>
        <p:spPr>
          <a:xfrm>
            <a:off x="429768"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4088"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А</a:t>
            </a:r>
          </a:p>
        </p:txBody>
      </p:sp>
      <p:sp>
        <p:nvSpPr>
          <p:cNvPr id="14" name="TextBox 13"/>
          <p:cNvSpPr txBox="1"/>
          <p:nvPr/>
        </p:nvSpPr>
        <p:spPr>
          <a:xfrm>
            <a:off x="1527048"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5:45</a:t>
            </a:r>
          </a:p>
        </p:txBody>
      </p:sp>
      <p:sp>
        <p:nvSpPr>
          <p:cNvPr id="15" name="Rounded Rectangle 14"/>
          <p:cNvSpPr/>
          <p:nvPr/>
        </p:nvSpPr>
        <p:spPr>
          <a:xfrm>
            <a:off x="6208776" y="228600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83096" y="274320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Б</a:t>
            </a:r>
          </a:p>
        </p:txBody>
      </p:sp>
      <p:sp>
        <p:nvSpPr>
          <p:cNvPr id="17" name="TextBox 16"/>
          <p:cNvSpPr txBox="1"/>
          <p:nvPr/>
        </p:nvSpPr>
        <p:spPr>
          <a:xfrm>
            <a:off x="7306056" y="228600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4:45</a:t>
            </a:r>
          </a:p>
        </p:txBody>
      </p:sp>
      <p:sp>
        <p:nvSpPr>
          <p:cNvPr id="18" name="Rounded Rectangle 17"/>
          <p:cNvSpPr/>
          <p:nvPr/>
        </p:nvSpPr>
        <p:spPr>
          <a:xfrm>
            <a:off x="429768"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В</a:t>
            </a:r>
          </a:p>
        </p:txBody>
      </p:sp>
      <p:sp>
        <p:nvSpPr>
          <p:cNvPr id="20" name="TextBox 19"/>
          <p:cNvSpPr txBox="1"/>
          <p:nvPr/>
        </p:nvSpPr>
        <p:spPr>
          <a:xfrm>
            <a:off x="1527048"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9:20</a:t>
            </a:r>
          </a:p>
        </p:txBody>
      </p:sp>
      <p:sp>
        <p:nvSpPr>
          <p:cNvPr id="21" name="Rounded Rectangle 20"/>
          <p:cNvSpPr/>
          <p:nvPr/>
        </p:nvSpPr>
        <p:spPr>
          <a:xfrm>
            <a:off x="6208776" y="4023360"/>
            <a:ext cx="5550408" cy="150876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83096" y="4480560"/>
            <a:ext cx="594360" cy="594360"/>
          </a:xfrm>
          <a:prstGeom prst="ellipse">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1D3557"/>
                </a:solidFill>
                <a:latin typeface="PT Sans"/>
              </a:rPr>
              <a:t>Г</a:t>
            </a:r>
          </a:p>
        </p:txBody>
      </p:sp>
      <p:sp>
        <p:nvSpPr>
          <p:cNvPr id="23" name="TextBox 22"/>
          <p:cNvSpPr txBox="1"/>
          <p:nvPr/>
        </p:nvSpPr>
        <p:spPr>
          <a:xfrm>
            <a:off x="7306056" y="4023360"/>
            <a:ext cx="4297680" cy="1508760"/>
          </a:xfrm>
          <a:prstGeom prst="rect">
            <a:avLst/>
          </a:prstGeom>
          <a:noFill/>
        </p:spPr>
        <p:txBody>
          <a:bodyPr wrap="square" anchor="ctr" lIns="45720" rIns="45720" tIns="27432" bIns="27432">
            <a:spAutoFit/>
          </a:bodyPr>
          <a:lstStyle/>
          <a:p>
            <a:pPr algn="l">
              <a:lnSpc>
                <a:spcPct val="105000"/>
              </a:lnSpc>
            </a:pPr>
            <a:r>
              <a:rPr sz="3000" b="1" i="0">
                <a:solidFill>
                  <a:srgbClr val="1F2430"/>
                </a:solidFill>
                <a:latin typeface="PT Sans"/>
              </a:rPr>
              <a:t>4:09</a:t>
            </a:r>
          </a:p>
        </p:txBody>
      </p:sp>
      <p:sp>
        <p:nvSpPr>
          <p:cNvPr id="24" name="Rounded Rectangle 23"/>
          <p:cNvSpPr/>
          <p:nvPr/>
        </p:nvSpPr>
        <p:spPr>
          <a:xfrm>
            <a:off x="4449927" y="6327648"/>
            <a:ext cx="3291840" cy="411480"/>
          </a:xfrm>
          <a:prstGeom prst="roundRect">
            <a:avLst>
              <a:gd name="adj" fmla="val 50000"/>
            </a:avLst>
          </a:prstGeom>
          <a:noFill/>
          <a:ln w="15875">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007A5A"/>
                </a:solidFill>
                <a:latin typeface="PT Sans"/>
              </a:rPr>
              <a:t>3C · Сынчыл ой</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чий, анан эсепте</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18/26</a:t>
            </a:r>
          </a:p>
        </p:txBody>
      </p:sp>
      <p:sp>
        <p:nvSpPr>
          <p:cNvPr id="10" name="Rounded Rectangle 9"/>
          <p:cNvSpPr/>
          <p:nvPr/>
        </p:nvSpPr>
        <p:spPr>
          <a:xfrm>
            <a:off x="429768"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Айсулуу 7:50дө турду, 8:15те жолго чыкты. Канча мүнөт өттү?</a:t>
            </a:r>
          </a:p>
        </p:txBody>
      </p:sp>
      <p:sp>
        <p:nvSpPr>
          <p:cNvPr id="13" name="TextBox 12"/>
          <p:cNvSpPr txBox="1"/>
          <p:nvPr/>
        </p:nvSpPr>
        <p:spPr>
          <a:xfrm>
            <a:off x="704088"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14" name="TextBox 13"/>
          <p:cNvSpPr txBox="1"/>
          <p:nvPr/>
        </p:nvSpPr>
        <p:spPr>
          <a:xfrm>
            <a:off x="612647"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15" name="Connector 14"/>
          <p:cNvCxnSpPr/>
          <p:nvPr/>
        </p:nvCxnSpPr>
        <p:spPr>
          <a:xfrm>
            <a:off x="2167128" y="4956048"/>
            <a:ext cx="170383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12647"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17" name="Connector 16"/>
          <p:cNvCxnSpPr/>
          <p:nvPr/>
        </p:nvCxnSpPr>
        <p:spPr>
          <a:xfrm>
            <a:off x="1618488"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282439"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419600"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0" name="TextBox 19"/>
          <p:cNvSpPr txBox="1"/>
          <p:nvPr/>
        </p:nvSpPr>
        <p:spPr>
          <a:xfrm>
            <a:off x="4876800"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Зуура апа боорсокту 11:45тен 12:15ке чейин бышырды. Канча мүнөт?</a:t>
            </a:r>
          </a:p>
        </p:txBody>
      </p:sp>
      <p:sp>
        <p:nvSpPr>
          <p:cNvPr id="21" name="TextBox 20"/>
          <p:cNvSpPr txBox="1"/>
          <p:nvPr/>
        </p:nvSpPr>
        <p:spPr>
          <a:xfrm>
            <a:off x="4556759"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22" name="TextBox 21"/>
          <p:cNvSpPr txBox="1"/>
          <p:nvPr/>
        </p:nvSpPr>
        <p:spPr>
          <a:xfrm>
            <a:off x="4465320"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23" name="Connector 22"/>
          <p:cNvCxnSpPr/>
          <p:nvPr/>
        </p:nvCxnSpPr>
        <p:spPr>
          <a:xfrm>
            <a:off x="6019800" y="4956048"/>
            <a:ext cx="1703831"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465320"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25" name="Connector 24"/>
          <p:cNvCxnSpPr/>
          <p:nvPr/>
        </p:nvCxnSpPr>
        <p:spPr>
          <a:xfrm>
            <a:off x="5471159" y="5641848"/>
            <a:ext cx="2252472"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135112" y="1691640"/>
            <a:ext cx="3624072" cy="44348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72272" y="1828800"/>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8" name="TextBox 27"/>
          <p:cNvSpPr txBox="1"/>
          <p:nvPr/>
        </p:nvSpPr>
        <p:spPr>
          <a:xfrm>
            <a:off x="8729472" y="1755648"/>
            <a:ext cx="2892552" cy="1051560"/>
          </a:xfrm>
          <a:prstGeom prst="rect">
            <a:avLst/>
          </a:prstGeom>
          <a:noFill/>
        </p:spPr>
        <p:txBody>
          <a:bodyPr wrap="square" anchor="t" lIns="45720" rIns="45720" tIns="27432" bIns="27432">
            <a:spAutoFit/>
          </a:bodyPr>
          <a:lstStyle/>
          <a:p>
            <a:pPr algn="l">
              <a:lnSpc>
                <a:spcPct val="105000"/>
              </a:lnSpc>
            </a:pPr>
            <a:r>
              <a:rPr sz="1700" b="0" i="0">
                <a:solidFill>
                  <a:srgbClr val="1F2430"/>
                </a:solidFill>
                <a:latin typeface="PT Sans"/>
              </a:rPr>
              <a:t>Айсулуу мектепте 8:00дөн 12:00гө чейин. Канча саат? Ар бир бөлүк = 1 саат.</a:t>
            </a:r>
          </a:p>
        </p:txBody>
      </p:sp>
      <p:sp>
        <p:nvSpPr>
          <p:cNvPr id="29" name="TextBox 28"/>
          <p:cNvSpPr txBox="1"/>
          <p:nvPr/>
        </p:nvSpPr>
        <p:spPr>
          <a:xfrm>
            <a:off x="8409432" y="3429000"/>
            <a:ext cx="3075432" cy="1005840"/>
          </a:xfrm>
          <a:prstGeom prst="rect">
            <a:avLst/>
          </a:prstGeom>
          <a:noFill/>
        </p:spPr>
        <p:txBody>
          <a:bodyPr wrap="square" anchor="t" lIns="45720" rIns="45720" tIns="27432" bIns="27432">
            <a:spAutoFit/>
          </a:bodyPr>
          <a:lstStyle/>
          <a:p>
            <a:pPr algn="l">
              <a:lnSpc>
                <a:spcPct val="105000"/>
              </a:lnSpc>
            </a:pPr>
            <a:r>
              <a:rPr sz="1400" b="0" i="1">
                <a:solidFill>
                  <a:srgbClr val="6B7280"/>
                </a:solidFill>
                <a:latin typeface="PT Sans"/>
              </a:rPr>
              <a:t>Тилкени бул жерге чий</a:t>
            </a:r>
          </a:p>
        </p:txBody>
      </p:sp>
      <p:sp>
        <p:nvSpPr>
          <p:cNvPr id="30" name="TextBox 29"/>
          <p:cNvSpPr txBox="1"/>
          <p:nvPr/>
        </p:nvSpPr>
        <p:spPr>
          <a:xfrm>
            <a:off x="8317991" y="4572000"/>
            <a:ext cx="155448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Туюнтма:</a:t>
            </a:r>
          </a:p>
        </p:txBody>
      </p:sp>
      <p:cxnSp>
        <p:nvCxnSpPr>
          <p:cNvPr id="31" name="Connector 30"/>
          <p:cNvCxnSpPr/>
          <p:nvPr/>
        </p:nvCxnSpPr>
        <p:spPr>
          <a:xfrm>
            <a:off x="9872471" y="4956048"/>
            <a:ext cx="170383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317991" y="5257800"/>
            <a:ext cx="1005840" cy="411480"/>
          </a:xfrm>
          <a:prstGeom prst="rect">
            <a:avLst/>
          </a:prstGeom>
          <a:noFill/>
        </p:spPr>
        <p:txBody>
          <a:bodyPr wrap="square" anchor="b" lIns="45720" rIns="45720" tIns="27432" bIns="27432">
            <a:spAutoFit/>
          </a:bodyPr>
          <a:lstStyle/>
          <a:p>
            <a:pPr algn="l">
              <a:lnSpc>
                <a:spcPct val="105000"/>
              </a:lnSpc>
            </a:pPr>
            <a:r>
              <a:rPr sz="1800" b="0" i="0">
                <a:solidFill>
                  <a:srgbClr val="6B7280"/>
                </a:solidFill>
                <a:latin typeface="PT Sans"/>
              </a:rPr>
              <a:t>Жообу:</a:t>
            </a:r>
          </a:p>
        </p:txBody>
      </p:sp>
      <p:cxnSp>
        <p:nvCxnSpPr>
          <p:cNvPr id="33" name="Connector 32"/>
          <p:cNvCxnSpPr/>
          <p:nvPr/>
        </p:nvCxnSpPr>
        <p:spPr>
          <a:xfrm>
            <a:off x="9323831" y="5641848"/>
            <a:ext cx="2252473" cy="0"/>
          </a:xfrm>
          <a:prstGeom prst="line">
            <a:avLst/>
          </a:prstGeom>
          <a:ln w="12700">
            <a:solidFill>
              <a:srgbClr val="6B7280"/>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5" name="Rounded Rectangle 34"/>
          <p:cNvSpPr/>
          <p:nvPr/>
        </p:nvSpPr>
        <p:spPr>
          <a:xfrm>
            <a:off x="896111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С</a:t>
            </a:r>
          </a:p>
        </p:txBody>
      </p:sp>
      <p:sp>
        <p:nvSpPr>
          <p:cNvPr id="36" name="Rounded Rectangle 35"/>
          <p:cNvSpPr/>
          <p:nvPr/>
        </p:nvSpPr>
        <p:spPr>
          <a:xfrm>
            <a:off x="950975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Тилке машыгуусу: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19/26</a:t>
            </a:r>
          </a:p>
        </p:txBody>
      </p:sp>
      <p:sp>
        <p:nvSpPr>
          <p:cNvPr id="10" name="Rounded Rectangle 9"/>
          <p:cNvSpPr/>
          <p:nvPr/>
        </p:nvSpPr>
        <p:spPr>
          <a:xfrm>
            <a:off x="429768"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024128"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Айсулуу 7:50дө турду, 8:15те жолго чыкты. Канча мүнөт өттү?</a:t>
            </a:r>
          </a:p>
        </p:txBody>
      </p:sp>
      <p:sp>
        <p:nvSpPr>
          <p:cNvPr id="13" name="Rectangle 12"/>
          <p:cNvSpPr/>
          <p:nvPr/>
        </p:nvSpPr>
        <p:spPr>
          <a:xfrm>
            <a:off x="566928" y="3017520"/>
            <a:ext cx="937564"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10</a:t>
            </a:r>
          </a:p>
        </p:txBody>
      </p:sp>
      <p:sp>
        <p:nvSpPr>
          <p:cNvPr id="14" name="Rectangle 13"/>
          <p:cNvSpPr/>
          <p:nvPr/>
        </p:nvSpPr>
        <p:spPr>
          <a:xfrm>
            <a:off x="1504492" y="3017520"/>
            <a:ext cx="1406347"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cxnSp>
        <p:nvCxnSpPr>
          <p:cNvPr id="15" name="Connector 14"/>
          <p:cNvCxnSpPr/>
          <p:nvPr/>
        </p:nvCxnSpPr>
        <p:spPr>
          <a:xfrm>
            <a:off x="3002280"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39440"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3002280"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185160"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25</a:t>
            </a:r>
          </a:p>
        </p:txBody>
      </p:sp>
      <p:sp>
        <p:nvSpPr>
          <p:cNvPr id="19" name="TextBox 18"/>
          <p:cNvSpPr txBox="1"/>
          <p:nvPr/>
        </p:nvSpPr>
        <p:spPr>
          <a:xfrm>
            <a:off x="612647"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10 + 15 = 25 мүнөт</a:t>
            </a:r>
          </a:p>
        </p:txBody>
      </p:sp>
      <p:sp>
        <p:nvSpPr>
          <p:cNvPr id="20" name="Rounded Rectangle 19"/>
          <p:cNvSpPr/>
          <p:nvPr/>
        </p:nvSpPr>
        <p:spPr>
          <a:xfrm>
            <a:off x="4282439"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19600"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22" name="TextBox 21"/>
          <p:cNvSpPr txBox="1"/>
          <p:nvPr/>
        </p:nvSpPr>
        <p:spPr>
          <a:xfrm>
            <a:off x="4876800"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Зуура апа боорсокту 11:45тен 12:15ке чейин бышырды. Канча мүнөт?</a:t>
            </a:r>
          </a:p>
        </p:txBody>
      </p:sp>
      <p:sp>
        <p:nvSpPr>
          <p:cNvPr id="23" name="Rectangle 22"/>
          <p:cNvSpPr/>
          <p:nvPr/>
        </p:nvSpPr>
        <p:spPr>
          <a:xfrm>
            <a:off x="4419600" y="3017520"/>
            <a:ext cx="1171956"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sp>
        <p:nvSpPr>
          <p:cNvPr id="24" name="Rectangle 23"/>
          <p:cNvSpPr/>
          <p:nvPr/>
        </p:nvSpPr>
        <p:spPr>
          <a:xfrm>
            <a:off x="5591556" y="3017520"/>
            <a:ext cx="1171956" cy="384048"/>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15</a:t>
            </a:r>
          </a:p>
        </p:txBody>
      </p:sp>
      <p:cxnSp>
        <p:nvCxnSpPr>
          <p:cNvPr id="25" name="Connector 24"/>
          <p:cNvCxnSpPr/>
          <p:nvPr/>
        </p:nvCxnSpPr>
        <p:spPr>
          <a:xfrm>
            <a:off x="6854951" y="3017520"/>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6992112"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6854951" y="3401568"/>
            <a:ext cx="137161"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7037832"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30</a:t>
            </a:r>
          </a:p>
        </p:txBody>
      </p:sp>
      <p:sp>
        <p:nvSpPr>
          <p:cNvPr id="29" name="TextBox 28"/>
          <p:cNvSpPr txBox="1"/>
          <p:nvPr/>
        </p:nvSpPr>
        <p:spPr>
          <a:xfrm>
            <a:off x="4465320"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15 + 15 = 30 мүнөт</a:t>
            </a:r>
          </a:p>
        </p:txBody>
      </p:sp>
      <p:sp>
        <p:nvSpPr>
          <p:cNvPr id="30" name="Rounded Rectangle 29"/>
          <p:cNvSpPr/>
          <p:nvPr/>
        </p:nvSpPr>
        <p:spPr>
          <a:xfrm>
            <a:off x="8135112" y="1280160"/>
            <a:ext cx="3624072" cy="48463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272272" y="1417319"/>
            <a:ext cx="384048" cy="384048"/>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32" name="TextBox 31"/>
          <p:cNvSpPr txBox="1"/>
          <p:nvPr/>
        </p:nvSpPr>
        <p:spPr>
          <a:xfrm>
            <a:off x="8729472" y="1344168"/>
            <a:ext cx="2892552" cy="1463040"/>
          </a:xfrm>
          <a:prstGeom prst="rect">
            <a:avLst/>
          </a:prstGeom>
          <a:noFill/>
        </p:spPr>
        <p:txBody>
          <a:bodyPr wrap="square" anchor="t" lIns="45720" rIns="45720" tIns="27432" bIns="27432">
            <a:spAutoFit/>
          </a:bodyPr>
          <a:lstStyle/>
          <a:p>
            <a:pPr algn="l">
              <a:lnSpc>
                <a:spcPct val="105000"/>
              </a:lnSpc>
            </a:pPr>
            <a:r>
              <a:rPr sz="1400" b="0" i="0">
                <a:solidFill>
                  <a:srgbClr val="1F2430"/>
                </a:solidFill>
                <a:latin typeface="PT Sans"/>
              </a:rPr>
              <a:t>Айсулуу мектепте 8:00дөн 12:00гө чейин. Канча саат? Ар бир бөлүк = 1 саат.</a:t>
            </a:r>
          </a:p>
        </p:txBody>
      </p:sp>
      <p:sp>
        <p:nvSpPr>
          <p:cNvPr id="33" name="Rectangle 32"/>
          <p:cNvSpPr/>
          <p:nvPr/>
        </p:nvSpPr>
        <p:spPr>
          <a:xfrm>
            <a:off x="8272272"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sp>
        <p:nvSpPr>
          <p:cNvPr id="34" name="Rectangle 33"/>
          <p:cNvSpPr/>
          <p:nvPr/>
        </p:nvSpPr>
        <p:spPr>
          <a:xfrm>
            <a:off x="8858250"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sp>
        <p:nvSpPr>
          <p:cNvPr id="35" name="Rectangle 34"/>
          <p:cNvSpPr/>
          <p:nvPr/>
        </p:nvSpPr>
        <p:spPr>
          <a:xfrm>
            <a:off x="9444228"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sp>
        <p:nvSpPr>
          <p:cNvPr id="36" name="Rectangle 35"/>
          <p:cNvSpPr/>
          <p:nvPr/>
        </p:nvSpPr>
        <p:spPr>
          <a:xfrm>
            <a:off x="10030206" y="3017520"/>
            <a:ext cx="585978" cy="384048"/>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100" b="1">
                <a:solidFill>
                  <a:srgbClr val="1F2430"/>
                </a:solidFill>
                <a:latin typeface="PT Sans"/>
              </a:rPr>
              <a:t>1</a:t>
            </a:r>
          </a:p>
        </p:txBody>
      </p:sp>
      <p:cxnSp>
        <p:nvCxnSpPr>
          <p:cNvPr id="37" name="Connector 36"/>
          <p:cNvCxnSpPr/>
          <p:nvPr/>
        </p:nvCxnSpPr>
        <p:spPr>
          <a:xfrm>
            <a:off x="10707624" y="30175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844784" y="3017520"/>
            <a:ext cx="0" cy="384048"/>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707624" y="3401568"/>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10890503" y="2935224"/>
            <a:ext cx="1005840" cy="548640"/>
          </a:xfrm>
          <a:prstGeom prst="rect">
            <a:avLst/>
          </a:prstGeom>
          <a:noFill/>
        </p:spPr>
        <p:txBody>
          <a:bodyPr wrap="square" anchor="ctr" lIns="45720" rIns="45720" tIns="27432" bIns="27432">
            <a:spAutoFit/>
          </a:bodyPr>
          <a:lstStyle/>
          <a:p>
            <a:pPr algn="l">
              <a:lnSpc>
                <a:spcPct val="105000"/>
              </a:lnSpc>
            </a:pPr>
            <a:r>
              <a:rPr sz="1500" b="1" i="0">
                <a:solidFill>
                  <a:srgbClr val="A84400"/>
                </a:solidFill>
                <a:latin typeface="PT Sans"/>
              </a:rPr>
              <a:t>4</a:t>
            </a:r>
          </a:p>
        </p:txBody>
      </p:sp>
      <p:sp>
        <p:nvSpPr>
          <p:cNvPr id="41" name="TextBox 40"/>
          <p:cNvSpPr txBox="1"/>
          <p:nvPr/>
        </p:nvSpPr>
        <p:spPr>
          <a:xfrm>
            <a:off x="8317991" y="5120640"/>
            <a:ext cx="3258312" cy="822960"/>
          </a:xfrm>
          <a:prstGeom prst="rect">
            <a:avLst/>
          </a:prstGeom>
          <a:noFill/>
        </p:spPr>
        <p:txBody>
          <a:bodyPr wrap="square" anchor="t" lIns="45720" rIns="45720" tIns="27432" bIns="27432">
            <a:spAutoFit/>
          </a:bodyPr>
          <a:lstStyle/>
          <a:p>
            <a:pPr algn="ctr">
              <a:lnSpc>
                <a:spcPct val="105000"/>
              </a:lnSpc>
            </a:pPr>
            <a:r>
              <a:rPr sz="1700" b="1" i="0">
                <a:solidFill>
                  <a:srgbClr val="24418C"/>
                </a:solidFill>
                <a:latin typeface="PT Sans"/>
              </a:rPr>
              <a:t>4 саат (8→9→10→11→12)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20/26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Дептериңе чыгар. Кыйын болсо – жакшы! Мээң өсүп жатат.</a:t>
            </a:r>
          </a:p>
        </p:txBody>
      </p:sp>
      <p:sp>
        <p:nvSpPr>
          <p:cNvPr id="11" name="Rounded Rectangle 10"/>
          <p:cNvSpPr/>
          <p:nvPr/>
        </p:nvSpPr>
        <p:spPr>
          <a:xfrm>
            <a:off x="429768"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Саат канча?</a:t>
            </a:r>
          </a:p>
        </p:txBody>
      </p:sp>
      <p:sp>
        <p:nvSpPr>
          <p:cNvPr id="14" name="Rounded Rectangle 13"/>
          <p:cNvSpPr/>
          <p:nvPr/>
        </p:nvSpPr>
        <p:spPr>
          <a:xfrm>
            <a:off x="6208776" y="169164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91656"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6986016" y="169164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Саат канча?</a:t>
            </a:r>
          </a:p>
        </p:txBody>
      </p:sp>
      <p:sp>
        <p:nvSpPr>
          <p:cNvPr id="17" name="Rounded Rectangle 16"/>
          <p:cNvSpPr/>
          <p:nvPr/>
        </p:nvSpPr>
        <p:spPr>
          <a:xfrm>
            <a:off x="429768"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Узун жебе 8де. Канча мүнөт?</a:t>
            </a:r>
          </a:p>
        </p:txBody>
      </p:sp>
      <p:sp>
        <p:nvSpPr>
          <p:cNvPr id="20" name="Rounded Rectangle 19"/>
          <p:cNvSpPr/>
          <p:nvPr/>
        </p:nvSpPr>
        <p:spPr>
          <a:xfrm>
            <a:off x="6208776" y="323088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91656"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4</a:t>
            </a:r>
          </a:p>
        </p:txBody>
      </p:sp>
      <p:sp>
        <p:nvSpPr>
          <p:cNvPr id="22" name="TextBox 21"/>
          <p:cNvSpPr txBox="1"/>
          <p:nvPr/>
        </p:nvSpPr>
        <p:spPr>
          <a:xfrm>
            <a:off x="6986016" y="323088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2 саат = □ мүнөт</a:t>
            </a:r>
          </a:p>
        </p:txBody>
      </p:sp>
      <p:sp>
        <p:nvSpPr>
          <p:cNvPr id="23" name="Rounded Rectangle 22"/>
          <p:cNvSpPr/>
          <p:nvPr/>
        </p:nvSpPr>
        <p:spPr>
          <a:xfrm>
            <a:off x="429768"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5</a:t>
            </a:r>
          </a:p>
        </p:txBody>
      </p:sp>
      <p:sp>
        <p:nvSpPr>
          <p:cNvPr id="25" name="TextBox 24"/>
          <p:cNvSpPr txBox="1"/>
          <p:nvPr/>
        </p:nvSpPr>
        <p:spPr>
          <a:xfrm>
            <a:off x="1207007"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6:45тен 7:10го чейин канча мүнөт?</a:t>
            </a:r>
          </a:p>
        </p:txBody>
      </p:sp>
      <p:sp>
        <p:nvSpPr>
          <p:cNvPr id="26" name="Rounded Rectangle 25"/>
          <p:cNvSpPr/>
          <p:nvPr/>
        </p:nvSpPr>
        <p:spPr>
          <a:xfrm>
            <a:off x="6208776" y="4770120"/>
            <a:ext cx="5550408"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391656"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6</a:t>
            </a:r>
          </a:p>
        </p:txBody>
      </p:sp>
      <p:sp>
        <p:nvSpPr>
          <p:cNvPr id="28" name="TextBox 27"/>
          <p:cNvSpPr txBox="1"/>
          <p:nvPr/>
        </p:nvSpPr>
        <p:spPr>
          <a:xfrm>
            <a:off x="6986016" y="4770120"/>
            <a:ext cx="4636008" cy="1356359"/>
          </a:xfrm>
          <a:prstGeom prst="rect">
            <a:avLst/>
          </a:prstGeom>
          <a:noFill/>
        </p:spPr>
        <p:txBody>
          <a:bodyPr wrap="square" anchor="ctr" lIns="45720" rIns="45720" tIns="27432" bIns="27432">
            <a:spAutoFit/>
          </a:bodyPr>
          <a:lstStyle/>
          <a:p>
            <a:pPr algn="l">
              <a:lnSpc>
                <a:spcPct val="105000"/>
              </a:lnSpc>
            </a:pPr>
            <a:r>
              <a:rPr sz="2200" b="1" i="0">
                <a:solidFill>
                  <a:srgbClr val="1F2430"/>
                </a:solidFill>
                <a:latin typeface="PT Sans"/>
              </a:rPr>
              <a:t>Бүгүн жума күнү. 3 күндөн кийин кайсы күн?</a:t>
            </a:r>
          </a:p>
        </p:txBody>
      </p:sp>
      <p:sp>
        <p:nvSpPr>
          <p:cNvPr id="29" name="Rounded Rectangle 28"/>
          <p:cNvSpPr/>
          <p:nvPr/>
        </p:nvSpPr>
        <p:spPr>
          <a:xfrm>
            <a:off x="8412480"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К</a:t>
            </a:r>
          </a:p>
        </p:txBody>
      </p:sp>
      <p:sp>
        <p:nvSpPr>
          <p:cNvPr id="30" name="Rounded Rectangle 29"/>
          <p:cNvSpPr/>
          <p:nvPr/>
        </p:nvSpPr>
        <p:spPr>
          <a:xfrm>
            <a:off x="8961119" y="6327648"/>
            <a:ext cx="457200" cy="411480"/>
          </a:xfrm>
          <a:prstGeom prst="roundRect">
            <a:avLst>
              <a:gd name="adj" fmla="val 50000"/>
            </a:avLst>
          </a:prstGeom>
          <a:noFill/>
          <a:ln w="12700">
            <a:solidFill>
              <a:srgbClr val="6B728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0">
                <a:solidFill>
                  <a:srgbClr val="6B7280"/>
                </a:solidFill>
                <a:latin typeface="PT Sans"/>
              </a:rPr>
              <a:t>С</a:t>
            </a:r>
          </a:p>
        </p:txBody>
      </p:sp>
      <p:sp>
        <p:nvSpPr>
          <p:cNvPr id="31" name="Rounded Rectangle 30"/>
          <p:cNvSpPr/>
          <p:nvPr/>
        </p:nvSpPr>
        <p:spPr>
          <a:xfrm>
            <a:off x="9509759" y="6327648"/>
            <a:ext cx="457200" cy="411480"/>
          </a:xfrm>
          <a:prstGeom prst="roundRect">
            <a:avLst>
              <a:gd name="adj" fmla="val 50000"/>
            </a:avLst>
          </a:prstGeom>
          <a:noFill/>
          <a:ln w="2540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1D3557"/>
                </a:solidFill>
                <a:latin typeface="PT Sans"/>
              </a:rPr>
              <a:t>А</a:t>
            </a:r>
          </a:p>
        </p:txBody>
      </p:sp>
      <p:sp>
        <p:nvSpPr>
          <p:cNvPr id="32" name="g2clk"/>
          <p:cNvSpPr/>
          <p:nvPr/>
        </p:nvSpPr>
        <p:spPr>
          <a:xfrm>
            <a:off x="4462272" y="1766316"/>
            <a:ext cx="1207008" cy="1207008"/>
          </a:xfrm>
          <a:prstGeom prst="ellipse">
            <a:avLst/>
          </a:prstGeom>
          <a:solidFill>
            <a:srgbClr val="FFFFFF"/>
          </a:solidFill>
          <a:ln w="21793">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g2clk"/>
          <p:cNvCxnSpPr/>
          <p:nvPr/>
        </p:nvCxnSpPr>
        <p:spPr>
          <a:xfrm flipH="1">
            <a:off x="5121920"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4" name="g2clk"/>
          <p:cNvCxnSpPr/>
          <p:nvPr/>
        </p:nvCxnSpPr>
        <p:spPr>
          <a:xfrm flipH="1">
            <a:off x="5177449"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5" name="g2clk"/>
          <p:cNvCxnSpPr/>
          <p:nvPr/>
        </p:nvCxnSpPr>
        <p:spPr>
          <a:xfrm flipH="1">
            <a:off x="5231754"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6" name="g2clk"/>
          <p:cNvCxnSpPr/>
          <p:nvPr/>
        </p:nvCxnSpPr>
        <p:spPr>
          <a:xfrm flipH="1">
            <a:off x="5284241"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7" name="g2clk"/>
          <p:cNvCxnSpPr/>
          <p:nvPr/>
        </p:nvCxnSpPr>
        <p:spPr>
          <a:xfrm flipH="1">
            <a:off x="5381486"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8" name="g2clk"/>
          <p:cNvCxnSpPr/>
          <p:nvPr/>
        </p:nvCxnSpPr>
        <p:spPr>
          <a:xfrm flipH="1">
            <a:off x="5425178"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39" name="g2clk"/>
          <p:cNvCxnSpPr/>
          <p:nvPr/>
        </p:nvCxnSpPr>
        <p:spPr>
          <a:xfrm flipH="1">
            <a:off x="5464932"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0" name="g2clk"/>
          <p:cNvCxnSpPr/>
          <p:nvPr/>
        </p:nvCxnSpPr>
        <p:spPr>
          <a:xfrm flipH="1">
            <a:off x="5500314"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1" name="g2clk"/>
          <p:cNvCxnSpPr/>
          <p:nvPr/>
        </p:nvCxnSpPr>
        <p:spPr>
          <a:xfrm flipH="1">
            <a:off x="5556458"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2" name="g2clk"/>
          <p:cNvCxnSpPr/>
          <p:nvPr/>
        </p:nvCxnSpPr>
        <p:spPr>
          <a:xfrm flipH="1">
            <a:off x="5576606"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3" name="g2clk"/>
          <p:cNvCxnSpPr/>
          <p:nvPr/>
        </p:nvCxnSpPr>
        <p:spPr>
          <a:xfrm flipH="1">
            <a:off x="5591157"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4" name="g2clk"/>
          <p:cNvCxnSpPr/>
          <p:nvPr/>
        </p:nvCxnSpPr>
        <p:spPr>
          <a:xfrm flipH="1">
            <a:off x="5599952"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5" name="g2clk"/>
          <p:cNvCxnSpPr/>
          <p:nvPr/>
        </p:nvCxnSpPr>
        <p:spPr>
          <a:xfrm flipH="1" flipV="1">
            <a:off x="5599952"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6" name="g2clk"/>
          <p:cNvCxnSpPr/>
          <p:nvPr/>
        </p:nvCxnSpPr>
        <p:spPr>
          <a:xfrm flipH="1" flipV="1">
            <a:off x="5591157"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7" name="g2clk"/>
          <p:cNvCxnSpPr/>
          <p:nvPr/>
        </p:nvCxnSpPr>
        <p:spPr>
          <a:xfrm flipH="1" flipV="1">
            <a:off x="5576606"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8" name="g2clk"/>
          <p:cNvCxnSpPr/>
          <p:nvPr/>
        </p:nvCxnSpPr>
        <p:spPr>
          <a:xfrm flipH="1" flipV="1">
            <a:off x="5556458"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49" name="g2clk"/>
          <p:cNvCxnSpPr/>
          <p:nvPr/>
        </p:nvCxnSpPr>
        <p:spPr>
          <a:xfrm flipH="1" flipV="1">
            <a:off x="5500314"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0" name="g2clk"/>
          <p:cNvCxnSpPr/>
          <p:nvPr/>
        </p:nvCxnSpPr>
        <p:spPr>
          <a:xfrm flipH="1" flipV="1">
            <a:off x="5464932"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1" name="g2clk"/>
          <p:cNvCxnSpPr/>
          <p:nvPr/>
        </p:nvCxnSpPr>
        <p:spPr>
          <a:xfrm flipH="1" flipV="1">
            <a:off x="5425178"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2" name="g2clk"/>
          <p:cNvCxnSpPr/>
          <p:nvPr/>
        </p:nvCxnSpPr>
        <p:spPr>
          <a:xfrm flipH="1" flipV="1">
            <a:off x="5381486"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3" name="g2clk"/>
          <p:cNvCxnSpPr/>
          <p:nvPr/>
        </p:nvCxnSpPr>
        <p:spPr>
          <a:xfrm flipH="1" flipV="1">
            <a:off x="5284241"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4" name="g2clk"/>
          <p:cNvCxnSpPr/>
          <p:nvPr/>
        </p:nvCxnSpPr>
        <p:spPr>
          <a:xfrm flipH="1" flipV="1">
            <a:off x="5231754"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5" name="g2clk"/>
          <p:cNvCxnSpPr/>
          <p:nvPr/>
        </p:nvCxnSpPr>
        <p:spPr>
          <a:xfrm flipH="1" flipV="1">
            <a:off x="5177449"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6" name="g2clk"/>
          <p:cNvCxnSpPr/>
          <p:nvPr/>
        </p:nvCxnSpPr>
        <p:spPr>
          <a:xfrm flipH="1" flipV="1">
            <a:off x="5121920"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7" name="g2clk"/>
          <p:cNvCxnSpPr/>
          <p:nvPr/>
        </p:nvCxnSpPr>
        <p:spPr>
          <a:xfrm flipV="1">
            <a:off x="5005846"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8" name="g2clk"/>
          <p:cNvCxnSpPr/>
          <p:nvPr/>
        </p:nvCxnSpPr>
        <p:spPr>
          <a:xfrm flipV="1">
            <a:off x="4946574"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59" name="g2clk"/>
          <p:cNvCxnSpPr/>
          <p:nvPr/>
        </p:nvCxnSpPr>
        <p:spPr>
          <a:xfrm flipV="1">
            <a:off x="4888607"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0" name="g2clk"/>
          <p:cNvCxnSpPr/>
          <p:nvPr/>
        </p:nvCxnSpPr>
        <p:spPr>
          <a:xfrm flipV="1">
            <a:off x="4832582"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1" name="g2clk"/>
          <p:cNvCxnSpPr/>
          <p:nvPr/>
        </p:nvCxnSpPr>
        <p:spPr>
          <a:xfrm flipV="1">
            <a:off x="4728781"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2" name="g2clk"/>
          <p:cNvCxnSpPr/>
          <p:nvPr/>
        </p:nvCxnSpPr>
        <p:spPr>
          <a:xfrm flipV="1">
            <a:off x="4682144"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3" name="g2clk"/>
          <p:cNvCxnSpPr/>
          <p:nvPr/>
        </p:nvCxnSpPr>
        <p:spPr>
          <a:xfrm flipV="1">
            <a:off x="4639709"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4" name="g2clk"/>
          <p:cNvCxnSpPr/>
          <p:nvPr/>
        </p:nvCxnSpPr>
        <p:spPr>
          <a:xfrm flipV="1">
            <a:off x="4601943"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5" name="g2clk"/>
          <p:cNvCxnSpPr/>
          <p:nvPr/>
        </p:nvCxnSpPr>
        <p:spPr>
          <a:xfrm flipV="1">
            <a:off x="4542014"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6" name="g2clk"/>
          <p:cNvCxnSpPr/>
          <p:nvPr/>
        </p:nvCxnSpPr>
        <p:spPr>
          <a:xfrm flipV="1">
            <a:off x="4520507"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7" name="g2clk"/>
          <p:cNvCxnSpPr/>
          <p:nvPr/>
        </p:nvCxnSpPr>
        <p:spPr>
          <a:xfrm flipV="1">
            <a:off x="4504975"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8" name="g2clk"/>
          <p:cNvCxnSpPr/>
          <p:nvPr/>
        </p:nvCxnSpPr>
        <p:spPr>
          <a:xfrm flipV="1">
            <a:off x="4495587"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69" name="g2clk"/>
          <p:cNvCxnSpPr/>
          <p:nvPr/>
        </p:nvCxnSpPr>
        <p:spPr>
          <a:xfrm>
            <a:off x="4495587"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0" name="g2clk"/>
          <p:cNvCxnSpPr/>
          <p:nvPr/>
        </p:nvCxnSpPr>
        <p:spPr>
          <a:xfrm>
            <a:off x="4504975"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1" name="g2clk"/>
          <p:cNvCxnSpPr/>
          <p:nvPr/>
        </p:nvCxnSpPr>
        <p:spPr>
          <a:xfrm>
            <a:off x="4520507"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2" name="g2clk"/>
          <p:cNvCxnSpPr/>
          <p:nvPr/>
        </p:nvCxnSpPr>
        <p:spPr>
          <a:xfrm>
            <a:off x="4542014"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3" name="g2clk"/>
          <p:cNvCxnSpPr/>
          <p:nvPr/>
        </p:nvCxnSpPr>
        <p:spPr>
          <a:xfrm>
            <a:off x="4601943"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4" name="g2clk"/>
          <p:cNvCxnSpPr/>
          <p:nvPr/>
        </p:nvCxnSpPr>
        <p:spPr>
          <a:xfrm>
            <a:off x="4639709"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5" name="g2clk"/>
          <p:cNvCxnSpPr/>
          <p:nvPr/>
        </p:nvCxnSpPr>
        <p:spPr>
          <a:xfrm>
            <a:off x="4682144"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6" name="g2clk"/>
          <p:cNvCxnSpPr/>
          <p:nvPr/>
        </p:nvCxnSpPr>
        <p:spPr>
          <a:xfrm>
            <a:off x="4728781"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7" name="g2clk"/>
          <p:cNvCxnSpPr/>
          <p:nvPr/>
        </p:nvCxnSpPr>
        <p:spPr>
          <a:xfrm>
            <a:off x="4832582"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8" name="g2clk"/>
          <p:cNvCxnSpPr/>
          <p:nvPr/>
        </p:nvCxnSpPr>
        <p:spPr>
          <a:xfrm>
            <a:off x="4888607"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79" name="g2clk"/>
          <p:cNvCxnSpPr/>
          <p:nvPr/>
        </p:nvCxnSpPr>
        <p:spPr>
          <a:xfrm>
            <a:off x="4946574"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80" name="g2clk"/>
          <p:cNvCxnSpPr/>
          <p:nvPr/>
        </p:nvCxnSpPr>
        <p:spPr>
          <a:xfrm>
            <a:off x="5005846"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81" name="g2clk"/>
          <p:cNvCxnSpPr/>
          <p:nvPr/>
        </p:nvCxnSpPr>
        <p:spPr>
          <a:xfrm>
            <a:off x="5065776" y="1796491"/>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2" name="g2clk"/>
          <p:cNvCxnSpPr/>
          <p:nvPr/>
        </p:nvCxnSpPr>
        <p:spPr>
          <a:xfrm flipH="1">
            <a:off x="5325282"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3" name="g2clk"/>
          <p:cNvCxnSpPr/>
          <p:nvPr/>
        </p:nvCxnSpPr>
        <p:spPr>
          <a:xfrm flipH="1">
            <a:off x="5515254"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4" name="g2clk"/>
          <p:cNvCxnSpPr/>
          <p:nvPr/>
        </p:nvCxnSpPr>
        <p:spPr>
          <a:xfrm flipH="1">
            <a:off x="5560649"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5" name="g2clk"/>
          <p:cNvCxnSpPr/>
          <p:nvPr/>
        </p:nvCxnSpPr>
        <p:spPr>
          <a:xfrm flipH="1" flipV="1">
            <a:off x="5515254"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6" name="g2clk"/>
          <p:cNvCxnSpPr/>
          <p:nvPr/>
        </p:nvCxnSpPr>
        <p:spPr>
          <a:xfrm flipH="1" flipV="1">
            <a:off x="5325282"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7" name="g2clk"/>
          <p:cNvCxnSpPr/>
          <p:nvPr/>
        </p:nvCxnSpPr>
        <p:spPr>
          <a:xfrm flipV="1">
            <a:off x="5065776" y="2864693"/>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8" name="g2clk"/>
          <p:cNvCxnSpPr/>
          <p:nvPr/>
        </p:nvCxnSpPr>
        <p:spPr>
          <a:xfrm flipV="1">
            <a:off x="4779111"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89" name="g2clk"/>
          <p:cNvCxnSpPr/>
          <p:nvPr/>
        </p:nvCxnSpPr>
        <p:spPr>
          <a:xfrm flipV="1">
            <a:off x="4569258"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0" name="g2clk"/>
          <p:cNvCxnSpPr/>
          <p:nvPr/>
        </p:nvCxnSpPr>
        <p:spPr>
          <a:xfrm>
            <a:off x="4492447"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1" name="g2clk"/>
          <p:cNvCxnSpPr/>
          <p:nvPr/>
        </p:nvCxnSpPr>
        <p:spPr>
          <a:xfrm>
            <a:off x="4569258"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92" name="g2clk"/>
          <p:cNvCxnSpPr/>
          <p:nvPr/>
        </p:nvCxnSpPr>
        <p:spPr>
          <a:xfrm>
            <a:off x="4779111"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93" name="g2clk"/>
          <p:cNvSpPr txBox="1"/>
          <p:nvPr/>
        </p:nvSpPr>
        <p:spPr>
          <a:xfrm>
            <a:off x="5133807"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a:t>
            </a:r>
          </a:p>
        </p:txBody>
      </p:sp>
      <p:sp>
        <p:nvSpPr>
          <p:cNvPr id="94" name="g2clk"/>
          <p:cNvSpPr txBox="1"/>
          <p:nvPr/>
        </p:nvSpPr>
        <p:spPr>
          <a:xfrm>
            <a:off x="5284017"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2</a:t>
            </a:r>
          </a:p>
        </p:txBody>
      </p:sp>
      <p:sp>
        <p:nvSpPr>
          <p:cNvPr id="95" name="g2clk"/>
          <p:cNvSpPr txBox="1"/>
          <p:nvPr/>
        </p:nvSpPr>
        <p:spPr>
          <a:xfrm>
            <a:off x="5338998"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3</a:t>
            </a:r>
          </a:p>
        </p:txBody>
      </p:sp>
      <p:sp>
        <p:nvSpPr>
          <p:cNvPr id="96" name="g2clk"/>
          <p:cNvSpPr txBox="1"/>
          <p:nvPr/>
        </p:nvSpPr>
        <p:spPr>
          <a:xfrm>
            <a:off x="5284017"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4</a:t>
            </a:r>
          </a:p>
        </p:txBody>
      </p:sp>
      <p:sp>
        <p:nvSpPr>
          <p:cNvPr id="97" name="g2clk"/>
          <p:cNvSpPr txBox="1"/>
          <p:nvPr/>
        </p:nvSpPr>
        <p:spPr>
          <a:xfrm>
            <a:off x="5133807"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5</a:t>
            </a:r>
          </a:p>
        </p:txBody>
      </p:sp>
      <p:sp>
        <p:nvSpPr>
          <p:cNvPr id="98" name="g2clk"/>
          <p:cNvSpPr txBox="1"/>
          <p:nvPr/>
        </p:nvSpPr>
        <p:spPr>
          <a:xfrm>
            <a:off x="4928616" y="2679618"/>
            <a:ext cx="274320" cy="201168"/>
          </a:xfrm>
          <a:prstGeom prst="rect">
            <a:avLst/>
          </a:prstGeom>
          <a:noFill/>
        </p:spPr>
        <p:txBody>
          <a:bodyPr wrap="none" lIns="0" rIns="0" tIns="0" bIns="0" anchor="ctr">
            <a:spAutoFit/>
          </a:bodyPr>
          <a:lstStyle/>
          <a:p>
            <a:pPr algn="ctr"/>
            <a:r>
              <a:rPr sz="990" b="1" i="0">
                <a:solidFill>
                  <a:srgbClr val="1F2430"/>
                </a:solidFill>
                <a:latin typeface="PT Sans"/>
              </a:rPr>
              <a:t>6</a:t>
            </a:r>
          </a:p>
        </p:txBody>
      </p:sp>
      <p:sp>
        <p:nvSpPr>
          <p:cNvPr id="99" name="g2clk"/>
          <p:cNvSpPr txBox="1"/>
          <p:nvPr/>
        </p:nvSpPr>
        <p:spPr>
          <a:xfrm>
            <a:off x="4723424"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7</a:t>
            </a:r>
          </a:p>
        </p:txBody>
      </p:sp>
      <p:sp>
        <p:nvSpPr>
          <p:cNvPr id="100" name="g2clk"/>
          <p:cNvSpPr txBox="1"/>
          <p:nvPr/>
        </p:nvSpPr>
        <p:spPr>
          <a:xfrm>
            <a:off x="4573214"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8</a:t>
            </a:r>
          </a:p>
        </p:txBody>
      </p:sp>
      <p:sp>
        <p:nvSpPr>
          <p:cNvPr id="101" name="g2clk"/>
          <p:cNvSpPr txBox="1"/>
          <p:nvPr/>
        </p:nvSpPr>
        <p:spPr>
          <a:xfrm>
            <a:off x="4518233"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9</a:t>
            </a:r>
          </a:p>
        </p:txBody>
      </p:sp>
      <p:sp>
        <p:nvSpPr>
          <p:cNvPr id="102" name="g2clk"/>
          <p:cNvSpPr txBox="1"/>
          <p:nvPr/>
        </p:nvSpPr>
        <p:spPr>
          <a:xfrm>
            <a:off x="4573214"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10</a:t>
            </a:r>
          </a:p>
        </p:txBody>
      </p:sp>
      <p:sp>
        <p:nvSpPr>
          <p:cNvPr id="103" name="g2clk"/>
          <p:cNvSpPr txBox="1"/>
          <p:nvPr/>
        </p:nvSpPr>
        <p:spPr>
          <a:xfrm>
            <a:off x="4723424"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11</a:t>
            </a:r>
          </a:p>
        </p:txBody>
      </p:sp>
      <p:sp>
        <p:nvSpPr>
          <p:cNvPr id="104" name="g2clk"/>
          <p:cNvSpPr txBox="1"/>
          <p:nvPr/>
        </p:nvSpPr>
        <p:spPr>
          <a:xfrm>
            <a:off x="4928616" y="1858853"/>
            <a:ext cx="274320" cy="201168"/>
          </a:xfrm>
          <a:prstGeom prst="rect">
            <a:avLst/>
          </a:prstGeom>
          <a:noFill/>
        </p:spPr>
        <p:txBody>
          <a:bodyPr wrap="none" lIns="0" rIns="0" tIns="0" bIns="0" anchor="ctr">
            <a:spAutoFit/>
          </a:bodyPr>
          <a:lstStyle/>
          <a:p>
            <a:pPr algn="ctr"/>
            <a:r>
              <a:rPr sz="990" b="1" i="0">
                <a:solidFill>
                  <a:srgbClr val="1F2430"/>
                </a:solidFill>
                <a:latin typeface="PT Sans"/>
              </a:rPr>
              <a:t>12</a:t>
            </a:r>
          </a:p>
        </p:txBody>
      </p:sp>
      <p:cxnSp>
        <p:nvCxnSpPr>
          <p:cNvPr id="105" name="g2clk"/>
          <p:cNvCxnSpPr/>
          <p:nvPr/>
        </p:nvCxnSpPr>
        <p:spPr>
          <a:xfrm flipV="1">
            <a:off x="5065776" y="2218944"/>
            <a:ext cx="261324" cy="150876"/>
          </a:xfrm>
          <a:prstGeom prst="line">
            <a:avLst/>
          </a:prstGeom>
          <a:ln w="58674"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g2clk"/>
          <p:cNvCxnSpPr/>
          <p:nvPr/>
        </p:nvCxnSpPr>
        <p:spPr>
          <a:xfrm flipV="1">
            <a:off x="5065776" y="1887016"/>
            <a:ext cx="0" cy="482804"/>
          </a:xfrm>
          <a:prstGeom prst="line">
            <a:avLst/>
          </a:prstGeom>
          <a:ln w="35204"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7" name="g2clk"/>
          <p:cNvSpPr/>
          <p:nvPr/>
        </p:nvSpPr>
        <p:spPr>
          <a:xfrm>
            <a:off x="5032583" y="2336627"/>
            <a:ext cx="66385" cy="66385"/>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g2clk"/>
          <p:cNvSpPr/>
          <p:nvPr/>
        </p:nvSpPr>
        <p:spPr>
          <a:xfrm>
            <a:off x="10241280" y="1766316"/>
            <a:ext cx="1207008" cy="1207008"/>
          </a:xfrm>
          <a:prstGeom prst="ellipse">
            <a:avLst/>
          </a:prstGeom>
          <a:solidFill>
            <a:srgbClr val="FFFFFF"/>
          </a:solidFill>
          <a:ln w="21793">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9" name="g2clk"/>
          <p:cNvCxnSpPr/>
          <p:nvPr/>
        </p:nvCxnSpPr>
        <p:spPr>
          <a:xfrm flipH="1">
            <a:off x="10900928"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0" name="g2clk"/>
          <p:cNvCxnSpPr/>
          <p:nvPr/>
        </p:nvCxnSpPr>
        <p:spPr>
          <a:xfrm flipH="1">
            <a:off x="10956457"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1" name="g2clk"/>
          <p:cNvCxnSpPr/>
          <p:nvPr/>
        </p:nvCxnSpPr>
        <p:spPr>
          <a:xfrm flipH="1">
            <a:off x="11010762"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2" name="g2clk"/>
          <p:cNvCxnSpPr/>
          <p:nvPr/>
        </p:nvCxnSpPr>
        <p:spPr>
          <a:xfrm flipH="1">
            <a:off x="11063249"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3" name="g2clk"/>
          <p:cNvCxnSpPr/>
          <p:nvPr/>
        </p:nvCxnSpPr>
        <p:spPr>
          <a:xfrm flipH="1">
            <a:off x="11160494"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4" name="g2clk"/>
          <p:cNvCxnSpPr/>
          <p:nvPr/>
        </p:nvCxnSpPr>
        <p:spPr>
          <a:xfrm flipH="1">
            <a:off x="11204186"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5" name="g2clk"/>
          <p:cNvCxnSpPr/>
          <p:nvPr/>
        </p:nvCxnSpPr>
        <p:spPr>
          <a:xfrm flipH="1">
            <a:off x="11243940"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6" name="g2clk"/>
          <p:cNvCxnSpPr/>
          <p:nvPr/>
        </p:nvCxnSpPr>
        <p:spPr>
          <a:xfrm flipH="1">
            <a:off x="11279322"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7" name="g2clk"/>
          <p:cNvCxnSpPr/>
          <p:nvPr/>
        </p:nvCxnSpPr>
        <p:spPr>
          <a:xfrm flipH="1">
            <a:off x="11335466"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8" name="g2clk"/>
          <p:cNvCxnSpPr/>
          <p:nvPr/>
        </p:nvCxnSpPr>
        <p:spPr>
          <a:xfrm flipH="1">
            <a:off x="11355614"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19" name="g2clk"/>
          <p:cNvCxnSpPr/>
          <p:nvPr/>
        </p:nvCxnSpPr>
        <p:spPr>
          <a:xfrm flipH="1">
            <a:off x="11370165"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0" name="g2clk"/>
          <p:cNvCxnSpPr/>
          <p:nvPr/>
        </p:nvCxnSpPr>
        <p:spPr>
          <a:xfrm flipH="1">
            <a:off x="11378960"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1" name="g2clk"/>
          <p:cNvCxnSpPr/>
          <p:nvPr/>
        </p:nvCxnSpPr>
        <p:spPr>
          <a:xfrm flipH="1" flipV="1">
            <a:off x="11378960"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2" name="g2clk"/>
          <p:cNvCxnSpPr/>
          <p:nvPr/>
        </p:nvCxnSpPr>
        <p:spPr>
          <a:xfrm flipH="1" flipV="1">
            <a:off x="11370165"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3" name="g2clk"/>
          <p:cNvCxnSpPr/>
          <p:nvPr/>
        </p:nvCxnSpPr>
        <p:spPr>
          <a:xfrm flipH="1" flipV="1">
            <a:off x="11355614"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4" name="g2clk"/>
          <p:cNvCxnSpPr/>
          <p:nvPr/>
        </p:nvCxnSpPr>
        <p:spPr>
          <a:xfrm flipH="1" flipV="1">
            <a:off x="11335466"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5" name="g2clk"/>
          <p:cNvCxnSpPr/>
          <p:nvPr/>
        </p:nvCxnSpPr>
        <p:spPr>
          <a:xfrm flipH="1" flipV="1">
            <a:off x="11279322"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6" name="g2clk"/>
          <p:cNvCxnSpPr/>
          <p:nvPr/>
        </p:nvCxnSpPr>
        <p:spPr>
          <a:xfrm flipH="1" flipV="1">
            <a:off x="11243940"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7" name="g2clk"/>
          <p:cNvCxnSpPr/>
          <p:nvPr/>
        </p:nvCxnSpPr>
        <p:spPr>
          <a:xfrm flipH="1" flipV="1">
            <a:off x="11204186"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8" name="g2clk"/>
          <p:cNvCxnSpPr/>
          <p:nvPr/>
        </p:nvCxnSpPr>
        <p:spPr>
          <a:xfrm flipH="1" flipV="1">
            <a:off x="11160494"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29" name="g2clk"/>
          <p:cNvCxnSpPr/>
          <p:nvPr/>
        </p:nvCxnSpPr>
        <p:spPr>
          <a:xfrm flipH="1" flipV="1">
            <a:off x="11063249"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0" name="g2clk"/>
          <p:cNvCxnSpPr/>
          <p:nvPr/>
        </p:nvCxnSpPr>
        <p:spPr>
          <a:xfrm flipH="1" flipV="1">
            <a:off x="11010762"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1" name="g2clk"/>
          <p:cNvCxnSpPr/>
          <p:nvPr/>
        </p:nvCxnSpPr>
        <p:spPr>
          <a:xfrm flipH="1" flipV="1">
            <a:off x="10956457"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2" name="g2clk"/>
          <p:cNvCxnSpPr/>
          <p:nvPr/>
        </p:nvCxnSpPr>
        <p:spPr>
          <a:xfrm flipH="1" flipV="1">
            <a:off x="10900928"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3" name="g2clk"/>
          <p:cNvCxnSpPr/>
          <p:nvPr/>
        </p:nvCxnSpPr>
        <p:spPr>
          <a:xfrm flipV="1">
            <a:off x="10784854" y="2903996"/>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4" name="g2clk"/>
          <p:cNvCxnSpPr/>
          <p:nvPr/>
        </p:nvCxnSpPr>
        <p:spPr>
          <a:xfrm flipV="1">
            <a:off x="10725582" y="2895201"/>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5" name="g2clk"/>
          <p:cNvCxnSpPr/>
          <p:nvPr/>
        </p:nvCxnSpPr>
        <p:spPr>
          <a:xfrm flipV="1">
            <a:off x="10667615" y="2880650"/>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6" name="g2clk"/>
          <p:cNvCxnSpPr/>
          <p:nvPr/>
        </p:nvCxnSpPr>
        <p:spPr>
          <a:xfrm flipV="1">
            <a:off x="10611590" y="2860502"/>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7" name="g2clk"/>
          <p:cNvCxnSpPr/>
          <p:nvPr/>
        </p:nvCxnSpPr>
        <p:spPr>
          <a:xfrm flipV="1">
            <a:off x="10507789" y="2804358"/>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8" name="g2clk"/>
          <p:cNvCxnSpPr/>
          <p:nvPr/>
        </p:nvCxnSpPr>
        <p:spPr>
          <a:xfrm flipV="1">
            <a:off x="10461152" y="2768976"/>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39" name="g2clk"/>
          <p:cNvCxnSpPr/>
          <p:nvPr/>
        </p:nvCxnSpPr>
        <p:spPr>
          <a:xfrm flipV="1">
            <a:off x="10418717" y="2729222"/>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0" name="g2clk"/>
          <p:cNvCxnSpPr/>
          <p:nvPr/>
        </p:nvCxnSpPr>
        <p:spPr>
          <a:xfrm flipV="1">
            <a:off x="10380951" y="2685530"/>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1" name="g2clk"/>
          <p:cNvCxnSpPr/>
          <p:nvPr/>
        </p:nvCxnSpPr>
        <p:spPr>
          <a:xfrm flipV="1">
            <a:off x="10321022" y="2588285"/>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2" name="g2clk"/>
          <p:cNvCxnSpPr/>
          <p:nvPr/>
        </p:nvCxnSpPr>
        <p:spPr>
          <a:xfrm flipV="1">
            <a:off x="10299515" y="2535798"/>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3" name="g2clk"/>
          <p:cNvCxnSpPr/>
          <p:nvPr/>
        </p:nvCxnSpPr>
        <p:spPr>
          <a:xfrm flipV="1">
            <a:off x="10283983" y="2481493"/>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4" name="g2clk"/>
          <p:cNvCxnSpPr/>
          <p:nvPr/>
        </p:nvCxnSpPr>
        <p:spPr>
          <a:xfrm flipV="1">
            <a:off x="10274595" y="2425964"/>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5" name="g2clk"/>
          <p:cNvCxnSpPr/>
          <p:nvPr/>
        </p:nvCxnSpPr>
        <p:spPr>
          <a:xfrm>
            <a:off x="10274595" y="2309890"/>
            <a:ext cx="36012" cy="3785"/>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6" name="g2clk"/>
          <p:cNvCxnSpPr/>
          <p:nvPr/>
        </p:nvCxnSpPr>
        <p:spPr>
          <a:xfrm>
            <a:off x="10283983" y="2250618"/>
            <a:ext cx="35419" cy="75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7" name="g2clk"/>
          <p:cNvCxnSpPr/>
          <p:nvPr/>
        </p:nvCxnSpPr>
        <p:spPr>
          <a:xfrm>
            <a:off x="10299515" y="2192651"/>
            <a:ext cx="34438" cy="1119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8" name="g2clk"/>
          <p:cNvCxnSpPr/>
          <p:nvPr/>
        </p:nvCxnSpPr>
        <p:spPr>
          <a:xfrm>
            <a:off x="10321022" y="2136626"/>
            <a:ext cx="33079" cy="1472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49" name="g2clk"/>
          <p:cNvCxnSpPr/>
          <p:nvPr/>
        </p:nvCxnSpPr>
        <p:spPr>
          <a:xfrm>
            <a:off x="10380951" y="2032825"/>
            <a:ext cx="29294" cy="2128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0" name="g2clk"/>
          <p:cNvCxnSpPr/>
          <p:nvPr/>
        </p:nvCxnSpPr>
        <p:spPr>
          <a:xfrm>
            <a:off x="10418717" y="1986188"/>
            <a:ext cx="26910" cy="2422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1" name="g2clk"/>
          <p:cNvCxnSpPr/>
          <p:nvPr/>
        </p:nvCxnSpPr>
        <p:spPr>
          <a:xfrm>
            <a:off x="10461152" y="1943753"/>
            <a:ext cx="24229" cy="26910"/>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2" name="g2clk"/>
          <p:cNvCxnSpPr/>
          <p:nvPr/>
        </p:nvCxnSpPr>
        <p:spPr>
          <a:xfrm>
            <a:off x="10507789" y="1905987"/>
            <a:ext cx="21284" cy="29294"/>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3" name="g2clk"/>
          <p:cNvCxnSpPr/>
          <p:nvPr/>
        </p:nvCxnSpPr>
        <p:spPr>
          <a:xfrm>
            <a:off x="10611590" y="1846058"/>
            <a:ext cx="14728" cy="3307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4" name="g2clk"/>
          <p:cNvCxnSpPr/>
          <p:nvPr/>
        </p:nvCxnSpPr>
        <p:spPr>
          <a:xfrm>
            <a:off x="10667615" y="1824551"/>
            <a:ext cx="11190" cy="34438"/>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5" name="g2clk"/>
          <p:cNvCxnSpPr/>
          <p:nvPr/>
        </p:nvCxnSpPr>
        <p:spPr>
          <a:xfrm>
            <a:off x="10725582" y="1809019"/>
            <a:ext cx="7528" cy="35419"/>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6" name="g2clk"/>
          <p:cNvCxnSpPr/>
          <p:nvPr/>
        </p:nvCxnSpPr>
        <p:spPr>
          <a:xfrm>
            <a:off x="10784854" y="1799631"/>
            <a:ext cx="3785" cy="36012"/>
          </a:xfrm>
          <a:prstGeom prst="line">
            <a:avLst/>
          </a:prstGeom>
          <a:ln w="6350" cap="rnd">
            <a:solidFill>
              <a:srgbClr val="6B7280"/>
            </a:solidFill>
          </a:ln>
        </p:spPr>
        <p:style>
          <a:lnRef idx="2">
            <a:schemeClr val="accent1"/>
          </a:lnRef>
          <a:fillRef idx="0">
            <a:schemeClr val="accent1"/>
          </a:fillRef>
          <a:effectRef idx="1">
            <a:schemeClr val="accent1"/>
          </a:effectRef>
          <a:fontRef idx="minor">
            <a:schemeClr val="tx1"/>
          </a:fontRef>
        </p:style>
      </p:cxnSp>
      <p:cxnSp>
        <p:nvCxnSpPr>
          <p:cNvPr id="157" name="g2clk"/>
          <p:cNvCxnSpPr/>
          <p:nvPr/>
        </p:nvCxnSpPr>
        <p:spPr>
          <a:xfrm>
            <a:off x="10844784" y="1796491"/>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8" name="g2clk"/>
          <p:cNvCxnSpPr/>
          <p:nvPr/>
        </p:nvCxnSpPr>
        <p:spPr>
          <a:xfrm flipH="1">
            <a:off x="11104290"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59" name="g2clk"/>
          <p:cNvCxnSpPr/>
          <p:nvPr/>
        </p:nvCxnSpPr>
        <p:spPr>
          <a:xfrm flipH="1">
            <a:off x="11294262"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0" name="g2clk"/>
          <p:cNvCxnSpPr/>
          <p:nvPr/>
        </p:nvCxnSpPr>
        <p:spPr>
          <a:xfrm flipH="1">
            <a:off x="11339657"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1" name="g2clk"/>
          <p:cNvCxnSpPr/>
          <p:nvPr/>
        </p:nvCxnSpPr>
        <p:spPr>
          <a:xfrm flipH="1" flipV="1">
            <a:off x="11294262"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2" name="g2clk"/>
          <p:cNvCxnSpPr/>
          <p:nvPr/>
        </p:nvCxnSpPr>
        <p:spPr>
          <a:xfrm flipH="1" flipV="1">
            <a:off x="11104290"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3" name="g2clk"/>
          <p:cNvCxnSpPr/>
          <p:nvPr/>
        </p:nvCxnSpPr>
        <p:spPr>
          <a:xfrm flipV="1">
            <a:off x="10844784" y="2864693"/>
            <a:ext cx="0" cy="78455"/>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4" name="g2clk"/>
          <p:cNvCxnSpPr/>
          <p:nvPr/>
        </p:nvCxnSpPr>
        <p:spPr>
          <a:xfrm flipV="1">
            <a:off x="10558119" y="2819298"/>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5" name="g2clk"/>
          <p:cNvCxnSpPr/>
          <p:nvPr/>
        </p:nvCxnSpPr>
        <p:spPr>
          <a:xfrm flipV="1">
            <a:off x="10348266" y="2629326"/>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6" name="g2clk"/>
          <p:cNvCxnSpPr/>
          <p:nvPr/>
        </p:nvCxnSpPr>
        <p:spPr>
          <a:xfrm>
            <a:off x="10271455" y="2369820"/>
            <a:ext cx="78455" cy="0"/>
          </a:xfrm>
          <a:prstGeom prst="line">
            <a:avLst/>
          </a:prstGeom>
          <a:ln w="16764"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7" name="g2clk"/>
          <p:cNvCxnSpPr/>
          <p:nvPr/>
        </p:nvCxnSpPr>
        <p:spPr>
          <a:xfrm>
            <a:off x="10348266" y="2083155"/>
            <a:ext cx="47039" cy="27158"/>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168" name="g2clk"/>
          <p:cNvCxnSpPr/>
          <p:nvPr/>
        </p:nvCxnSpPr>
        <p:spPr>
          <a:xfrm>
            <a:off x="10558119" y="1873302"/>
            <a:ext cx="27158" cy="47039"/>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169" name="g2clk"/>
          <p:cNvSpPr txBox="1"/>
          <p:nvPr/>
        </p:nvSpPr>
        <p:spPr>
          <a:xfrm>
            <a:off x="10912815"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a:t>
            </a:r>
          </a:p>
        </p:txBody>
      </p:sp>
      <p:sp>
        <p:nvSpPr>
          <p:cNvPr id="170" name="g2clk"/>
          <p:cNvSpPr txBox="1"/>
          <p:nvPr/>
        </p:nvSpPr>
        <p:spPr>
          <a:xfrm>
            <a:off x="11063025"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2</a:t>
            </a:r>
          </a:p>
        </p:txBody>
      </p:sp>
      <p:sp>
        <p:nvSpPr>
          <p:cNvPr id="171" name="g2clk"/>
          <p:cNvSpPr txBox="1"/>
          <p:nvPr/>
        </p:nvSpPr>
        <p:spPr>
          <a:xfrm>
            <a:off x="11118006"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3</a:t>
            </a:r>
          </a:p>
        </p:txBody>
      </p:sp>
      <p:sp>
        <p:nvSpPr>
          <p:cNvPr id="172" name="g2clk"/>
          <p:cNvSpPr txBox="1"/>
          <p:nvPr/>
        </p:nvSpPr>
        <p:spPr>
          <a:xfrm>
            <a:off x="11063025"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4</a:t>
            </a:r>
          </a:p>
        </p:txBody>
      </p:sp>
      <p:sp>
        <p:nvSpPr>
          <p:cNvPr id="173" name="g2clk"/>
          <p:cNvSpPr txBox="1"/>
          <p:nvPr/>
        </p:nvSpPr>
        <p:spPr>
          <a:xfrm>
            <a:off x="10912815"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5</a:t>
            </a:r>
          </a:p>
        </p:txBody>
      </p:sp>
      <p:sp>
        <p:nvSpPr>
          <p:cNvPr id="174" name="g2clk"/>
          <p:cNvSpPr txBox="1"/>
          <p:nvPr/>
        </p:nvSpPr>
        <p:spPr>
          <a:xfrm>
            <a:off x="10707624" y="2679618"/>
            <a:ext cx="274320" cy="201168"/>
          </a:xfrm>
          <a:prstGeom prst="rect">
            <a:avLst/>
          </a:prstGeom>
          <a:noFill/>
        </p:spPr>
        <p:txBody>
          <a:bodyPr wrap="none" lIns="0" rIns="0" tIns="0" bIns="0" anchor="ctr">
            <a:spAutoFit/>
          </a:bodyPr>
          <a:lstStyle/>
          <a:p>
            <a:pPr algn="ctr"/>
            <a:r>
              <a:rPr sz="990" b="1" i="0">
                <a:solidFill>
                  <a:srgbClr val="1F2430"/>
                </a:solidFill>
                <a:latin typeface="PT Sans"/>
              </a:rPr>
              <a:t>6</a:t>
            </a:r>
          </a:p>
        </p:txBody>
      </p:sp>
      <p:sp>
        <p:nvSpPr>
          <p:cNvPr id="175" name="g2clk"/>
          <p:cNvSpPr txBox="1"/>
          <p:nvPr/>
        </p:nvSpPr>
        <p:spPr>
          <a:xfrm>
            <a:off x="10502432" y="2624637"/>
            <a:ext cx="274320" cy="201168"/>
          </a:xfrm>
          <a:prstGeom prst="rect">
            <a:avLst/>
          </a:prstGeom>
          <a:noFill/>
        </p:spPr>
        <p:txBody>
          <a:bodyPr wrap="none" lIns="0" rIns="0" tIns="0" bIns="0" anchor="ctr">
            <a:spAutoFit/>
          </a:bodyPr>
          <a:lstStyle/>
          <a:p>
            <a:pPr algn="ctr"/>
            <a:r>
              <a:rPr sz="990" b="1" i="0">
                <a:solidFill>
                  <a:srgbClr val="1F2430"/>
                </a:solidFill>
                <a:latin typeface="PT Sans"/>
              </a:rPr>
              <a:t>7</a:t>
            </a:r>
          </a:p>
        </p:txBody>
      </p:sp>
      <p:sp>
        <p:nvSpPr>
          <p:cNvPr id="176" name="g2clk"/>
          <p:cNvSpPr txBox="1"/>
          <p:nvPr/>
        </p:nvSpPr>
        <p:spPr>
          <a:xfrm>
            <a:off x="10352222" y="2474427"/>
            <a:ext cx="274320" cy="201168"/>
          </a:xfrm>
          <a:prstGeom prst="rect">
            <a:avLst/>
          </a:prstGeom>
          <a:noFill/>
        </p:spPr>
        <p:txBody>
          <a:bodyPr wrap="none" lIns="0" rIns="0" tIns="0" bIns="0" anchor="ctr">
            <a:spAutoFit/>
          </a:bodyPr>
          <a:lstStyle/>
          <a:p>
            <a:pPr algn="ctr"/>
            <a:r>
              <a:rPr sz="990" b="1" i="0">
                <a:solidFill>
                  <a:srgbClr val="1F2430"/>
                </a:solidFill>
                <a:latin typeface="PT Sans"/>
              </a:rPr>
              <a:t>8</a:t>
            </a:r>
          </a:p>
        </p:txBody>
      </p:sp>
      <p:sp>
        <p:nvSpPr>
          <p:cNvPr id="177" name="g2clk"/>
          <p:cNvSpPr txBox="1"/>
          <p:nvPr/>
        </p:nvSpPr>
        <p:spPr>
          <a:xfrm>
            <a:off x="10297241" y="2269236"/>
            <a:ext cx="274320" cy="201168"/>
          </a:xfrm>
          <a:prstGeom prst="rect">
            <a:avLst/>
          </a:prstGeom>
          <a:noFill/>
        </p:spPr>
        <p:txBody>
          <a:bodyPr wrap="none" lIns="0" rIns="0" tIns="0" bIns="0" anchor="ctr">
            <a:spAutoFit/>
          </a:bodyPr>
          <a:lstStyle/>
          <a:p>
            <a:pPr algn="ctr"/>
            <a:r>
              <a:rPr sz="990" b="1" i="0">
                <a:solidFill>
                  <a:srgbClr val="1F2430"/>
                </a:solidFill>
                <a:latin typeface="PT Sans"/>
              </a:rPr>
              <a:t>9</a:t>
            </a:r>
          </a:p>
        </p:txBody>
      </p:sp>
      <p:sp>
        <p:nvSpPr>
          <p:cNvPr id="178" name="g2clk"/>
          <p:cNvSpPr txBox="1"/>
          <p:nvPr/>
        </p:nvSpPr>
        <p:spPr>
          <a:xfrm>
            <a:off x="10352222" y="2064044"/>
            <a:ext cx="274320" cy="201168"/>
          </a:xfrm>
          <a:prstGeom prst="rect">
            <a:avLst/>
          </a:prstGeom>
          <a:noFill/>
        </p:spPr>
        <p:txBody>
          <a:bodyPr wrap="none" lIns="0" rIns="0" tIns="0" bIns="0" anchor="ctr">
            <a:spAutoFit/>
          </a:bodyPr>
          <a:lstStyle/>
          <a:p>
            <a:pPr algn="ctr"/>
            <a:r>
              <a:rPr sz="990" b="1" i="0">
                <a:solidFill>
                  <a:srgbClr val="1F2430"/>
                </a:solidFill>
                <a:latin typeface="PT Sans"/>
              </a:rPr>
              <a:t>10</a:t>
            </a:r>
          </a:p>
        </p:txBody>
      </p:sp>
      <p:sp>
        <p:nvSpPr>
          <p:cNvPr id="179" name="g2clk"/>
          <p:cNvSpPr txBox="1"/>
          <p:nvPr/>
        </p:nvSpPr>
        <p:spPr>
          <a:xfrm>
            <a:off x="10502432" y="1913834"/>
            <a:ext cx="274320" cy="201168"/>
          </a:xfrm>
          <a:prstGeom prst="rect">
            <a:avLst/>
          </a:prstGeom>
          <a:noFill/>
        </p:spPr>
        <p:txBody>
          <a:bodyPr wrap="none" lIns="0" rIns="0" tIns="0" bIns="0" anchor="ctr">
            <a:spAutoFit/>
          </a:bodyPr>
          <a:lstStyle/>
          <a:p>
            <a:pPr algn="ctr"/>
            <a:r>
              <a:rPr sz="990" b="1" i="0">
                <a:solidFill>
                  <a:srgbClr val="1F2430"/>
                </a:solidFill>
                <a:latin typeface="PT Sans"/>
              </a:rPr>
              <a:t>11</a:t>
            </a:r>
          </a:p>
        </p:txBody>
      </p:sp>
      <p:sp>
        <p:nvSpPr>
          <p:cNvPr id="180" name="g2clk"/>
          <p:cNvSpPr txBox="1"/>
          <p:nvPr/>
        </p:nvSpPr>
        <p:spPr>
          <a:xfrm>
            <a:off x="10707624" y="1858853"/>
            <a:ext cx="274320" cy="201168"/>
          </a:xfrm>
          <a:prstGeom prst="rect">
            <a:avLst/>
          </a:prstGeom>
          <a:noFill/>
        </p:spPr>
        <p:txBody>
          <a:bodyPr wrap="none" lIns="0" rIns="0" tIns="0" bIns="0" anchor="ctr">
            <a:spAutoFit/>
          </a:bodyPr>
          <a:lstStyle/>
          <a:p>
            <a:pPr algn="ctr"/>
            <a:r>
              <a:rPr sz="990" b="1" i="0">
                <a:solidFill>
                  <a:srgbClr val="1F2430"/>
                </a:solidFill>
                <a:latin typeface="PT Sans"/>
              </a:rPr>
              <a:t>12</a:t>
            </a:r>
          </a:p>
        </p:txBody>
      </p:sp>
      <p:cxnSp>
        <p:nvCxnSpPr>
          <p:cNvPr id="181" name="g2clk"/>
          <p:cNvCxnSpPr/>
          <p:nvPr/>
        </p:nvCxnSpPr>
        <p:spPr>
          <a:xfrm>
            <a:off x="10844784" y="2369820"/>
            <a:ext cx="78099" cy="291470"/>
          </a:xfrm>
          <a:prstGeom prst="line">
            <a:avLst/>
          </a:prstGeom>
          <a:ln w="58674"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g2clk"/>
          <p:cNvCxnSpPr/>
          <p:nvPr/>
        </p:nvCxnSpPr>
        <p:spPr>
          <a:xfrm>
            <a:off x="10844784" y="2369820"/>
            <a:ext cx="0" cy="482803"/>
          </a:xfrm>
          <a:prstGeom prst="line">
            <a:avLst/>
          </a:prstGeom>
          <a:ln w="35204"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g2clk"/>
          <p:cNvSpPr/>
          <p:nvPr/>
        </p:nvSpPr>
        <p:spPr>
          <a:xfrm>
            <a:off x="10811591" y="2336627"/>
            <a:ext cx="66385" cy="66385"/>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Өз алдынча иш: жооптор</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21/26</a:t>
            </a:r>
          </a:p>
        </p:txBody>
      </p:sp>
      <p:sp>
        <p:nvSpPr>
          <p:cNvPr id="10" name="Rounded Rectangle 9"/>
          <p:cNvSpPr/>
          <p:nvPr/>
        </p:nvSpPr>
        <p:spPr>
          <a:xfrm>
            <a:off x="429768"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566928"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2" name="TextBox 11"/>
          <p:cNvSpPr txBox="1"/>
          <p:nvPr/>
        </p:nvSpPr>
        <p:spPr>
          <a:xfrm>
            <a:off x="1115568"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Саат канча?</a:t>
            </a:r>
          </a:p>
        </p:txBody>
      </p:sp>
      <p:sp>
        <p:nvSpPr>
          <p:cNvPr id="13" name="TextBox 12"/>
          <p:cNvSpPr txBox="1"/>
          <p:nvPr/>
        </p:nvSpPr>
        <p:spPr>
          <a:xfrm>
            <a:off x="4334804"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2:00</a:t>
            </a:r>
          </a:p>
        </p:txBody>
      </p:sp>
      <p:sp>
        <p:nvSpPr>
          <p:cNvPr id="14" name="Rounded Rectangle 13"/>
          <p:cNvSpPr/>
          <p:nvPr/>
        </p:nvSpPr>
        <p:spPr>
          <a:xfrm>
            <a:off x="6208776" y="1325880"/>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45936" y="1581912"/>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6" name="TextBox 15"/>
          <p:cNvSpPr txBox="1"/>
          <p:nvPr/>
        </p:nvSpPr>
        <p:spPr>
          <a:xfrm>
            <a:off x="6894576" y="1325880"/>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Саат канча?</a:t>
            </a:r>
          </a:p>
        </p:txBody>
      </p:sp>
      <p:sp>
        <p:nvSpPr>
          <p:cNvPr id="17" name="TextBox 16"/>
          <p:cNvSpPr txBox="1"/>
          <p:nvPr/>
        </p:nvSpPr>
        <p:spPr>
          <a:xfrm>
            <a:off x="10113812" y="1325880"/>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5:30</a:t>
            </a:r>
          </a:p>
        </p:txBody>
      </p:sp>
      <p:sp>
        <p:nvSpPr>
          <p:cNvPr id="18" name="Rounded Rectangle 17"/>
          <p:cNvSpPr/>
          <p:nvPr/>
        </p:nvSpPr>
        <p:spPr>
          <a:xfrm>
            <a:off x="429768"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66928"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20" name="TextBox 19"/>
          <p:cNvSpPr txBox="1"/>
          <p:nvPr/>
        </p:nvSpPr>
        <p:spPr>
          <a:xfrm>
            <a:off x="1115568"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Узун жебе 8де. Канча мүнөт?</a:t>
            </a:r>
          </a:p>
        </p:txBody>
      </p:sp>
      <p:sp>
        <p:nvSpPr>
          <p:cNvPr id="21" name="TextBox 20"/>
          <p:cNvSpPr txBox="1"/>
          <p:nvPr/>
        </p:nvSpPr>
        <p:spPr>
          <a:xfrm>
            <a:off x="4334804"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40 мүнөт</a:t>
            </a:r>
          </a:p>
        </p:txBody>
      </p:sp>
      <p:sp>
        <p:nvSpPr>
          <p:cNvPr id="22" name="Rounded Rectangle 21"/>
          <p:cNvSpPr/>
          <p:nvPr/>
        </p:nvSpPr>
        <p:spPr>
          <a:xfrm>
            <a:off x="6208776" y="2350008"/>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45936" y="2606040"/>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24" name="TextBox 23"/>
          <p:cNvSpPr txBox="1"/>
          <p:nvPr/>
        </p:nvSpPr>
        <p:spPr>
          <a:xfrm>
            <a:off x="6894576" y="2350008"/>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2 саат = □ мүнөт</a:t>
            </a:r>
          </a:p>
        </p:txBody>
      </p:sp>
      <p:sp>
        <p:nvSpPr>
          <p:cNvPr id="25" name="TextBox 24"/>
          <p:cNvSpPr txBox="1"/>
          <p:nvPr/>
        </p:nvSpPr>
        <p:spPr>
          <a:xfrm>
            <a:off x="10113812" y="2350008"/>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120</a:t>
            </a:r>
          </a:p>
        </p:txBody>
      </p:sp>
      <p:sp>
        <p:nvSpPr>
          <p:cNvPr id="26" name="Rounded Rectangle 25"/>
          <p:cNvSpPr/>
          <p:nvPr/>
        </p:nvSpPr>
        <p:spPr>
          <a:xfrm>
            <a:off x="429768"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66928"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5</a:t>
            </a:r>
          </a:p>
        </p:txBody>
      </p:sp>
      <p:sp>
        <p:nvSpPr>
          <p:cNvPr id="28" name="TextBox 27"/>
          <p:cNvSpPr txBox="1"/>
          <p:nvPr/>
        </p:nvSpPr>
        <p:spPr>
          <a:xfrm>
            <a:off x="1115568"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6:45тен 7:10го чейин канча мүнөт?</a:t>
            </a:r>
          </a:p>
        </p:txBody>
      </p:sp>
      <p:sp>
        <p:nvSpPr>
          <p:cNvPr id="29" name="TextBox 28"/>
          <p:cNvSpPr txBox="1"/>
          <p:nvPr/>
        </p:nvSpPr>
        <p:spPr>
          <a:xfrm>
            <a:off x="4334804"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15 + 10 = 25 мүнөт</a:t>
            </a:r>
          </a:p>
        </p:txBody>
      </p:sp>
      <p:sp>
        <p:nvSpPr>
          <p:cNvPr id="30" name="Rounded Rectangle 29"/>
          <p:cNvSpPr/>
          <p:nvPr/>
        </p:nvSpPr>
        <p:spPr>
          <a:xfrm>
            <a:off x="6208776" y="3374136"/>
            <a:ext cx="5550408" cy="91440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5936" y="3630168"/>
            <a:ext cx="402336" cy="402336"/>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6</a:t>
            </a:r>
          </a:p>
        </p:txBody>
      </p:sp>
      <p:sp>
        <p:nvSpPr>
          <p:cNvPr id="32" name="TextBox 31"/>
          <p:cNvSpPr txBox="1"/>
          <p:nvPr/>
        </p:nvSpPr>
        <p:spPr>
          <a:xfrm>
            <a:off x="6894576" y="3374136"/>
            <a:ext cx="3219236" cy="914400"/>
          </a:xfrm>
          <a:prstGeom prst="rect">
            <a:avLst/>
          </a:prstGeom>
          <a:noFill/>
        </p:spPr>
        <p:txBody>
          <a:bodyPr wrap="square" anchor="ctr" lIns="45720" rIns="45720" tIns="27432" bIns="27432">
            <a:spAutoFit/>
          </a:bodyPr>
          <a:lstStyle/>
          <a:p>
            <a:pPr algn="l">
              <a:lnSpc>
                <a:spcPct val="105000"/>
              </a:lnSpc>
            </a:pPr>
            <a:r>
              <a:rPr sz="1700" b="0" i="0">
                <a:solidFill>
                  <a:srgbClr val="1F2430"/>
                </a:solidFill>
                <a:latin typeface="PT Sans"/>
              </a:rPr>
              <a:t>Бүгүн жума күнү. 3 күндөн кийин кайсы күн?</a:t>
            </a:r>
          </a:p>
        </p:txBody>
      </p:sp>
      <p:sp>
        <p:nvSpPr>
          <p:cNvPr id="33" name="TextBox 32"/>
          <p:cNvSpPr txBox="1"/>
          <p:nvPr/>
        </p:nvSpPr>
        <p:spPr>
          <a:xfrm>
            <a:off x="10113812" y="3374136"/>
            <a:ext cx="1508211" cy="914400"/>
          </a:xfrm>
          <a:prstGeom prst="rect">
            <a:avLst/>
          </a:prstGeom>
          <a:noFill/>
        </p:spPr>
        <p:txBody>
          <a:bodyPr wrap="square" anchor="ctr" lIns="45720" rIns="45720" tIns="27432" bIns="27432">
            <a:spAutoFit/>
          </a:bodyPr>
          <a:lstStyle/>
          <a:p>
            <a:pPr algn="r">
              <a:lnSpc>
                <a:spcPct val="105000"/>
              </a:lnSpc>
            </a:pPr>
            <a:r>
              <a:rPr sz="1800" b="1" i="0">
                <a:solidFill>
                  <a:srgbClr val="24418C"/>
                </a:solidFill>
                <a:latin typeface="PT Sans"/>
              </a:rPr>
              <a:t>Дүйшөмбү</a:t>
            </a:r>
          </a:p>
        </p:txBody>
      </p:sp>
      <p:sp>
        <p:nvSpPr>
          <p:cNvPr id="34" name="g2clk"/>
          <p:cNvSpPr/>
          <p:nvPr/>
        </p:nvSpPr>
        <p:spPr>
          <a:xfrm>
            <a:off x="3291839" y="1399032"/>
            <a:ext cx="768096" cy="768096"/>
          </a:xfrm>
          <a:prstGeom prst="ellipse">
            <a:avLst/>
          </a:prstGeom>
          <a:solidFill>
            <a:srgbClr val="FFFFFF"/>
          </a:solidFill>
          <a:ln w="13868">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g2clk"/>
          <p:cNvCxnSpPr/>
          <p:nvPr/>
        </p:nvCxnSpPr>
        <p:spPr>
          <a:xfrm>
            <a:off x="3675887" y="1418234"/>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6" name="g2clk"/>
          <p:cNvCxnSpPr/>
          <p:nvPr/>
        </p:nvCxnSpPr>
        <p:spPr>
          <a:xfrm flipH="1">
            <a:off x="3841028"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7" name="g2clk"/>
          <p:cNvCxnSpPr/>
          <p:nvPr/>
        </p:nvCxnSpPr>
        <p:spPr>
          <a:xfrm flipH="1">
            <a:off x="3961919"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8" name="g2clk"/>
          <p:cNvCxnSpPr/>
          <p:nvPr/>
        </p:nvCxnSpPr>
        <p:spPr>
          <a:xfrm flipH="1">
            <a:off x="3990807"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39" name="g2clk"/>
          <p:cNvCxnSpPr/>
          <p:nvPr/>
        </p:nvCxnSpPr>
        <p:spPr>
          <a:xfrm flipH="1" flipV="1">
            <a:off x="3961919"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0" name="g2clk"/>
          <p:cNvCxnSpPr/>
          <p:nvPr/>
        </p:nvCxnSpPr>
        <p:spPr>
          <a:xfrm flipH="1" flipV="1">
            <a:off x="3841028"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1" name="g2clk"/>
          <p:cNvCxnSpPr/>
          <p:nvPr/>
        </p:nvCxnSpPr>
        <p:spPr>
          <a:xfrm flipV="1">
            <a:off x="3675887" y="2097999"/>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2" name="g2clk"/>
          <p:cNvCxnSpPr/>
          <p:nvPr/>
        </p:nvCxnSpPr>
        <p:spPr>
          <a:xfrm flipV="1">
            <a:off x="3493465"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3" name="g2clk"/>
          <p:cNvCxnSpPr/>
          <p:nvPr/>
        </p:nvCxnSpPr>
        <p:spPr>
          <a:xfrm flipV="1">
            <a:off x="3359922"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4" name="g2clk"/>
          <p:cNvCxnSpPr/>
          <p:nvPr/>
        </p:nvCxnSpPr>
        <p:spPr>
          <a:xfrm>
            <a:off x="3311042"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5" name="g2clk"/>
          <p:cNvCxnSpPr/>
          <p:nvPr/>
        </p:nvCxnSpPr>
        <p:spPr>
          <a:xfrm>
            <a:off x="3359922"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46" name="g2clk"/>
          <p:cNvCxnSpPr/>
          <p:nvPr/>
        </p:nvCxnSpPr>
        <p:spPr>
          <a:xfrm>
            <a:off x="3493465"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47" name="g2clk"/>
          <p:cNvSpPr txBox="1"/>
          <p:nvPr/>
        </p:nvSpPr>
        <p:spPr>
          <a:xfrm>
            <a:off x="3661623"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a:t>
            </a:r>
          </a:p>
        </p:txBody>
      </p:sp>
      <p:sp>
        <p:nvSpPr>
          <p:cNvPr id="48" name="g2clk"/>
          <p:cNvSpPr txBox="1"/>
          <p:nvPr/>
        </p:nvSpPr>
        <p:spPr>
          <a:xfrm>
            <a:off x="3751589"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2</a:t>
            </a:r>
          </a:p>
        </p:txBody>
      </p:sp>
      <p:sp>
        <p:nvSpPr>
          <p:cNvPr id="49" name="g2clk"/>
          <p:cNvSpPr txBox="1"/>
          <p:nvPr/>
        </p:nvSpPr>
        <p:spPr>
          <a:xfrm>
            <a:off x="3784518"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3</a:t>
            </a:r>
          </a:p>
        </p:txBody>
      </p:sp>
      <p:sp>
        <p:nvSpPr>
          <p:cNvPr id="50" name="g2clk"/>
          <p:cNvSpPr txBox="1"/>
          <p:nvPr/>
        </p:nvSpPr>
        <p:spPr>
          <a:xfrm>
            <a:off x="3751589"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4</a:t>
            </a:r>
          </a:p>
        </p:txBody>
      </p:sp>
      <p:sp>
        <p:nvSpPr>
          <p:cNvPr id="51" name="g2clk"/>
          <p:cNvSpPr txBox="1"/>
          <p:nvPr/>
        </p:nvSpPr>
        <p:spPr>
          <a:xfrm>
            <a:off x="3661623"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5</a:t>
            </a:r>
          </a:p>
        </p:txBody>
      </p:sp>
      <p:sp>
        <p:nvSpPr>
          <p:cNvPr id="52" name="g2clk"/>
          <p:cNvSpPr txBox="1"/>
          <p:nvPr/>
        </p:nvSpPr>
        <p:spPr>
          <a:xfrm>
            <a:off x="3538727" y="1964862"/>
            <a:ext cx="274320" cy="128016"/>
          </a:xfrm>
          <a:prstGeom prst="rect">
            <a:avLst/>
          </a:prstGeom>
          <a:noFill/>
        </p:spPr>
        <p:txBody>
          <a:bodyPr wrap="none" lIns="0" rIns="0" tIns="0" bIns="0" anchor="ctr">
            <a:spAutoFit/>
          </a:bodyPr>
          <a:lstStyle/>
          <a:p>
            <a:pPr algn="ctr"/>
            <a:r>
              <a:rPr sz="630" b="1" i="0">
                <a:solidFill>
                  <a:srgbClr val="1F2430"/>
                </a:solidFill>
                <a:latin typeface="PT Sans"/>
              </a:rPr>
              <a:t>6</a:t>
            </a:r>
          </a:p>
        </p:txBody>
      </p:sp>
      <p:sp>
        <p:nvSpPr>
          <p:cNvPr id="53" name="g2clk"/>
          <p:cNvSpPr txBox="1"/>
          <p:nvPr/>
        </p:nvSpPr>
        <p:spPr>
          <a:xfrm>
            <a:off x="3415832"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7</a:t>
            </a:r>
          </a:p>
        </p:txBody>
      </p:sp>
      <p:sp>
        <p:nvSpPr>
          <p:cNvPr id="54" name="g2clk"/>
          <p:cNvSpPr txBox="1"/>
          <p:nvPr/>
        </p:nvSpPr>
        <p:spPr>
          <a:xfrm>
            <a:off x="3325866"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8</a:t>
            </a:r>
          </a:p>
        </p:txBody>
      </p:sp>
      <p:sp>
        <p:nvSpPr>
          <p:cNvPr id="55" name="g2clk"/>
          <p:cNvSpPr txBox="1"/>
          <p:nvPr/>
        </p:nvSpPr>
        <p:spPr>
          <a:xfrm>
            <a:off x="3292937"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9</a:t>
            </a:r>
          </a:p>
        </p:txBody>
      </p:sp>
      <p:sp>
        <p:nvSpPr>
          <p:cNvPr id="56" name="g2clk"/>
          <p:cNvSpPr txBox="1"/>
          <p:nvPr/>
        </p:nvSpPr>
        <p:spPr>
          <a:xfrm>
            <a:off x="3325866"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10</a:t>
            </a:r>
          </a:p>
        </p:txBody>
      </p:sp>
      <p:sp>
        <p:nvSpPr>
          <p:cNvPr id="57" name="g2clk"/>
          <p:cNvSpPr txBox="1"/>
          <p:nvPr/>
        </p:nvSpPr>
        <p:spPr>
          <a:xfrm>
            <a:off x="3415832"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11</a:t>
            </a:r>
          </a:p>
        </p:txBody>
      </p:sp>
      <p:sp>
        <p:nvSpPr>
          <p:cNvPr id="58" name="g2clk"/>
          <p:cNvSpPr txBox="1"/>
          <p:nvPr/>
        </p:nvSpPr>
        <p:spPr>
          <a:xfrm>
            <a:off x="3538727" y="1473281"/>
            <a:ext cx="274320" cy="128016"/>
          </a:xfrm>
          <a:prstGeom prst="rect">
            <a:avLst/>
          </a:prstGeom>
          <a:noFill/>
        </p:spPr>
        <p:txBody>
          <a:bodyPr wrap="none" lIns="0" rIns="0" tIns="0" bIns="0" anchor="ctr">
            <a:spAutoFit/>
          </a:bodyPr>
          <a:lstStyle/>
          <a:p>
            <a:pPr algn="ctr"/>
            <a:r>
              <a:rPr sz="630" b="1" i="0">
                <a:solidFill>
                  <a:srgbClr val="1F2430"/>
                </a:solidFill>
                <a:latin typeface="PT Sans"/>
              </a:rPr>
              <a:t>12</a:t>
            </a:r>
          </a:p>
        </p:txBody>
      </p:sp>
      <p:cxnSp>
        <p:nvCxnSpPr>
          <p:cNvPr id="59" name="g2clk"/>
          <p:cNvCxnSpPr/>
          <p:nvPr/>
        </p:nvCxnSpPr>
        <p:spPr>
          <a:xfrm flipV="1">
            <a:off x="3675887" y="1687068"/>
            <a:ext cx="166298" cy="96012"/>
          </a:xfrm>
          <a:prstGeom prst="line">
            <a:avLst/>
          </a:prstGeom>
          <a:ln w="37338"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g2clk"/>
          <p:cNvCxnSpPr/>
          <p:nvPr/>
        </p:nvCxnSpPr>
        <p:spPr>
          <a:xfrm flipV="1">
            <a:off x="3675887" y="1475841"/>
            <a:ext cx="0" cy="307239"/>
          </a:xfrm>
          <a:prstGeom prst="line">
            <a:avLst/>
          </a:prstGeom>
          <a:ln w="22402"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g2clk"/>
          <p:cNvSpPr/>
          <p:nvPr/>
        </p:nvSpPr>
        <p:spPr>
          <a:xfrm>
            <a:off x="3653027" y="1760220"/>
            <a:ext cx="45720" cy="45720"/>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g2clk"/>
          <p:cNvSpPr/>
          <p:nvPr/>
        </p:nvSpPr>
        <p:spPr>
          <a:xfrm>
            <a:off x="9070848" y="1399032"/>
            <a:ext cx="768096" cy="768096"/>
          </a:xfrm>
          <a:prstGeom prst="ellipse">
            <a:avLst/>
          </a:prstGeom>
          <a:solidFill>
            <a:srgbClr val="FFFFFF"/>
          </a:solidFill>
          <a:ln w="13868">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3" name="g2clk"/>
          <p:cNvCxnSpPr/>
          <p:nvPr/>
        </p:nvCxnSpPr>
        <p:spPr>
          <a:xfrm>
            <a:off x="9454896" y="1418234"/>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4" name="g2clk"/>
          <p:cNvCxnSpPr/>
          <p:nvPr/>
        </p:nvCxnSpPr>
        <p:spPr>
          <a:xfrm flipH="1">
            <a:off x="9620036"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5" name="g2clk"/>
          <p:cNvCxnSpPr/>
          <p:nvPr/>
        </p:nvCxnSpPr>
        <p:spPr>
          <a:xfrm flipH="1">
            <a:off x="9740927"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6" name="g2clk"/>
          <p:cNvCxnSpPr/>
          <p:nvPr/>
        </p:nvCxnSpPr>
        <p:spPr>
          <a:xfrm flipH="1">
            <a:off x="9769815"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7" name="g2clk"/>
          <p:cNvCxnSpPr/>
          <p:nvPr/>
        </p:nvCxnSpPr>
        <p:spPr>
          <a:xfrm flipH="1" flipV="1">
            <a:off x="9740927"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8" name="g2clk"/>
          <p:cNvCxnSpPr/>
          <p:nvPr/>
        </p:nvCxnSpPr>
        <p:spPr>
          <a:xfrm flipH="1" flipV="1">
            <a:off x="9620036"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69" name="g2clk"/>
          <p:cNvCxnSpPr/>
          <p:nvPr/>
        </p:nvCxnSpPr>
        <p:spPr>
          <a:xfrm flipV="1">
            <a:off x="9454896" y="2097999"/>
            <a:ext cx="0" cy="49926"/>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0" name="g2clk"/>
          <p:cNvCxnSpPr/>
          <p:nvPr/>
        </p:nvCxnSpPr>
        <p:spPr>
          <a:xfrm flipV="1">
            <a:off x="9272473" y="2069111"/>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1" name="g2clk"/>
          <p:cNvCxnSpPr/>
          <p:nvPr/>
        </p:nvCxnSpPr>
        <p:spPr>
          <a:xfrm flipV="1">
            <a:off x="9138930" y="1948220"/>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2" name="g2clk"/>
          <p:cNvCxnSpPr/>
          <p:nvPr/>
        </p:nvCxnSpPr>
        <p:spPr>
          <a:xfrm>
            <a:off x="9090050" y="1783080"/>
            <a:ext cx="49926" cy="0"/>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3" name="g2clk"/>
          <p:cNvCxnSpPr/>
          <p:nvPr/>
        </p:nvCxnSpPr>
        <p:spPr>
          <a:xfrm>
            <a:off x="9138930" y="1600657"/>
            <a:ext cx="29934" cy="17282"/>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cxnSp>
        <p:nvCxnSpPr>
          <p:cNvPr id="74" name="g2clk"/>
          <p:cNvCxnSpPr/>
          <p:nvPr/>
        </p:nvCxnSpPr>
        <p:spPr>
          <a:xfrm>
            <a:off x="9272473" y="1467114"/>
            <a:ext cx="17282" cy="29934"/>
          </a:xfrm>
          <a:prstGeom prst="line">
            <a:avLst/>
          </a:prstGeom>
          <a:ln w="11430" cap="rnd">
            <a:solidFill>
              <a:srgbClr val="1D3557"/>
            </a:solidFill>
          </a:ln>
        </p:spPr>
        <p:style>
          <a:lnRef idx="2">
            <a:schemeClr val="accent1"/>
          </a:lnRef>
          <a:fillRef idx="0">
            <a:schemeClr val="accent1"/>
          </a:fillRef>
          <a:effectRef idx="1">
            <a:schemeClr val="accent1"/>
          </a:effectRef>
          <a:fontRef idx="minor">
            <a:schemeClr val="tx1"/>
          </a:fontRef>
        </p:style>
      </p:cxnSp>
      <p:sp>
        <p:nvSpPr>
          <p:cNvPr id="75" name="g2clk"/>
          <p:cNvSpPr txBox="1"/>
          <p:nvPr/>
        </p:nvSpPr>
        <p:spPr>
          <a:xfrm>
            <a:off x="9440631"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a:t>
            </a:r>
          </a:p>
        </p:txBody>
      </p:sp>
      <p:sp>
        <p:nvSpPr>
          <p:cNvPr id="76" name="g2clk"/>
          <p:cNvSpPr txBox="1"/>
          <p:nvPr/>
        </p:nvSpPr>
        <p:spPr>
          <a:xfrm>
            <a:off x="9530597"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2</a:t>
            </a:r>
          </a:p>
        </p:txBody>
      </p:sp>
      <p:sp>
        <p:nvSpPr>
          <p:cNvPr id="77" name="g2clk"/>
          <p:cNvSpPr txBox="1"/>
          <p:nvPr/>
        </p:nvSpPr>
        <p:spPr>
          <a:xfrm>
            <a:off x="9563526"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3</a:t>
            </a:r>
          </a:p>
        </p:txBody>
      </p:sp>
      <p:sp>
        <p:nvSpPr>
          <p:cNvPr id="78" name="g2clk"/>
          <p:cNvSpPr txBox="1"/>
          <p:nvPr/>
        </p:nvSpPr>
        <p:spPr>
          <a:xfrm>
            <a:off x="9530597"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4</a:t>
            </a:r>
          </a:p>
        </p:txBody>
      </p:sp>
      <p:sp>
        <p:nvSpPr>
          <p:cNvPr id="79" name="g2clk"/>
          <p:cNvSpPr txBox="1"/>
          <p:nvPr/>
        </p:nvSpPr>
        <p:spPr>
          <a:xfrm>
            <a:off x="9440631"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5</a:t>
            </a:r>
          </a:p>
        </p:txBody>
      </p:sp>
      <p:sp>
        <p:nvSpPr>
          <p:cNvPr id="80" name="g2clk"/>
          <p:cNvSpPr txBox="1"/>
          <p:nvPr/>
        </p:nvSpPr>
        <p:spPr>
          <a:xfrm>
            <a:off x="9317736" y="1964862"/>
            <a:ext cx="274320" cy="128016"/>
          </a:xfrm>
          <a:prstGeom prst="rect">
            <a:avLst/>
          </a:prstGeom>
          <a:noFill/>
        </p:spPr>
        <p:txBody>
          <a:bodyPr wrap="none" lIns="0" rIns="0" tIns="0" bIns="0" anchor="ctr">
            <a:spAutoFit/>
          </a:bodyPr>
          <a:lstStyle/>
          <a:p>
            <a:pPr algn="ctr"/>
            <a:r>
              <a:rPr sz="630" b="1" i="0">
                <a:solidFill>
                  <a:srgbClr val="1F2430"/>
                </a:solidFill>
                <a:latin typeface="PT Sans"/>
              </a:rPr>
              <a:t>6</a:t>
            </a:r>
          </a:p>
        </p:txBody>
      </p:sp>
      <p:sp>
        <p:nvSpPr>
          <p:cNvPr id="81" name="g2clk"/>
          <p:cNvSpPr txBox="1"/>
          <p:nvPr/>
        </p:nvSpPr>
        <p:spPr>
          <a:xfrm>
            <a:off x="9194840" y="1931933"/>
            <a:ext cx="274320" cy="128016"/>
          </a:xfrm>
          <a:prstGeom prst="rect">
            <a:avLst/>
          </a:prstGeom>
          <a:noFill/>
        </p:spPr>
        <p:txBody>
          <a:bodyPr wrap="none" lIns="0" rIns="0" tIns="0" bIns="0" anchor="ctr">
            <a:spAutoFit/>
          </a:bodyPr>
          <a:lstStyle/>
          <a:p>
            <a:pPr algn="ctr"/>
            <a:r>
              <a:rPr sz="630" b="1" i="0">
                <a:solidFill>
                  <a:srgbClr val="1F2430"/>
                </a:solidFill>
                <a:latin typeface="PT Sans"/>
              </a:rPr>
              <a:t>7</a:t>
            </a:r>
          </a:p>
        </p:txBody>
      </p:sp>
      <p:sp>
        <p:nvSpPr>
          <p:cNvPr id="82" name="g2clk"/>
          <p:cNvSpPr txBox="1"/>
          <p:nvPr/>
        </p:nvSpPr>
        <p:spPr>
          <a:xfrm>
            <a:off x="9104874" y="1841967"/>
            <a:ext cx="274320" cy="128016"/>
          </a:xfrm>
          <a:prstGeom prst="rect">
            <a:avLst/>
          </a:prstGeom>
          <a:noFill/>
        </p:spPr>
        <p:txBody>
          <a:bodyPr wrap="none" lIns="0" rIns="0" tIns="0" bIns="0" anchor="ctr">
            <a:spAutoFit/>
          </a:bodyPr>
          <a:lstStyle/>
          <a:p>
            <a:pPr algn="ctr"/>
            <a:r>
              <a:rPr sz="630" b="1" i="0">
                <a:solidFill>
                  <a:srgbClr val="1F2430"/>
                </a:solidFill>
                <a:latin typeface="PT Sans"/>
              </a:rPr>
              <a:t>8</a:t>
            </a:r>
          </a:p>
        </p:txBody>
      </p:sp>
      <p:sp>
        <p:nvSpPr>
          <p:cNvPr id="83" name="g2clk"/>
          <p:cNvSpPr txBox="1"/>
          <p:nvPr/>
        </p:nvSpPr>
        <p:spPr>
          <a:xfrm>
            <a:off x="9071945" y="1719072"/>
            <a:ext cx="274320" cy="128016"/>
          </a:xfrm>
          <a:prstGeom prst="rect">
            <a:avLst/>
          </a:prstGeom>
          <a:noFill/>
        </p:spPr>
        <p:txBody>
          <a:bodyPr wrap="none" lIns="0" rIns="0" tIns="0" bIns="0" anchor="ctr">
            <a:spAutoFit/>
          </a:bodyPr>
          <a:lstStyle/>
          <a:p>
            <a:pPr algn="ctr"/>
            <a:r>
              <a:rPr sz="630" b="1" i="0">
                <a:solidFill>
                  <a:srgbClr val="1F2430"/>
                </a:solidFill>
                <a:latin typeface="PT Sans"/>
              </a:rPr>
              <a:t>9</a:t>
            </a:r>
          </a:p>
        </p:txBody>
      </p:sp>
      <p:sp>
        <p:nvSpPr>
          <p:cNvPr id="84" name="g2clk"/>
          <p:cNvSpPr txBox="1"/>
          <p:nvPr/>
        </p:nvSpPr>
        <p:spPr>
          <a:xfrm>
            <a:off x="9104874" y="1596176"/>
            <a:ext cx="274320" cy="128016"/>
          </a:xfrm>
          <a:prstGeom prst="rect">
            <a:avLst/>
          </a:prstGeom>
          <a:noFill/>
        </p:spPr>
        <p:txBody>
          <a:bodyPr wrap="none" lIns="0" rIns="0" tIns="0" bIns="0" anchor="ctr">
            <a:spAutoFit/>
          </a:bodyPr>
          <a:lstStyle/>
          <a:p>
            <a:pPr algn="ctr"/>
            <a:r>
              <a:rPr sz="630" b="1" i="0">
                <a:solidFill>
                  <a:srgbClr val="1F2430"/>
                </a:solidFill>
                <a:latin typeface="PT Sans"/>
              </a:rPr>
              <a:t>10</a:t>
            </a:r>
          </a:p>
        </p:txBody>
      </p:sp>
      <p:sp>
        <p:nvSpPr>
          <p:cNvPr id="85" name="g2clk"/>
          <p:cNvSpPr txBox="1"/>
          <p:nvPr/>
        </p:nvSpPr>
        <p:spPr>
          <a:xfrm>
            <a:off x="9194840" y="1506210"/>
            <a:ext cx="274320" cy="128016"/>
          </a:xfrm>
          <a:prstGeom prst="rect">
            <a:avLst/>
          </a:prstGeom>
          <a:noFill/>
        </p:spPr>
        <p:txBody>
          <a:bodyPr wrap="none" lIns="0" rIns="0" tIns="0" bIns="0" anchor="ctr">
            <a:spAutoFit/>
          </a:bodyPr>
          <a:lstStyle/>
          <a:p>
            <a:pPr algn="ctr"/>
            <a:r>
              <a:rPr sz="630" b="1" i="0">
                <a:solidFill>
                  <a:srgbClr val="1F2430"/>
                </a:solidFill>
                <a:latin typeface="PT Sans"/>
              </a:rPr>
              <a:t>11</a:t>
            </a:r>
          </a:p>
        </p:txBody>
      </p:sp>
      <p:sp>
        <p:nvSpPr>
          <p:cNvPr id="86" name="g2clk"/>
          <p:cNvSpPr txBox="1"/>
          <p:nvPr/>
        </p:nvSpPr>
        <p:spPr>
          <a:xfrm>
            <a:off x="9317736" y="1473281"/>
            <a:ext cx="274320" cy="128016"/>
          </a:xfrm>
          <a:prstGeom prst="rect">
            <a:avLst/>
          </a:prstGeom>
          <a:noFill/>
        </p:spPr>
        <p:txBody>
          <a:bodyPr wrap="none" lIns="0" rIns="0" tIns="0" bIns="0" anchor="ctr">
            <a:spAutoFit/>
          </a:bodyPr>
          <a:lstStyle/>
          <a:p>
            <a:pPr algn="ctr"/>
            <a:r>
              <a:rPr sz="630" b="1" i="0">
                <a:solidFill>
                  <a:srgbClr val="1F2430"/>
                </a:solidFill>
                <a:latin typeface="PT Sans"/>
              </a:rPr>
              <a:t>12</a:t>
            </a:r>
          </a:p>
        </p:txBody>
      </p:sp>
      <p:cxnSp>
        <p:nvCxnSpPr>
          <p:cNvPr id="87" name="g2clk"/>
          <p:cNvCxnSpPr/>
          <p:nvPr/>
        </p:nvCxnSpPr>
        <p:spPr>
          <a:xfrm>
            <a:off x="9454896" y="1783080"/>
            <a:ext cx="49699" cy="185480"/>
          </a:xfrm>
          <a:prstGeom prst="line">
            <a:avLst/>
          </a:prstGeom>
          <a:ln w="37338" cap="rnd">
            <a:solidFill>
              <a:srgbClr val="A844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8" name="g2clk"/>
          <p:cNvCxnSpPr/>
          <p:nvPr/>
        </p:nvCxnSpPr>
        <p:spPr>
          <a:xfrm>
            <a:off x="9454896" y="1783080"/>
            <a:ext cx="0" cy="307238"/>
          </a:xfrm>
          <a:prstGeom prst="line">
            <a:avLst/>
          </a:prstGeom>
          <a:ln w="22402" cap="rnd">
            <a:solidFill>
              <a:srgbClr val="2441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g2clk"/>
          <p:cNvSpPr/>
          <p:nvPr/>
        </p:nvSpPr>
        <p:spPr>
          <a:xfrm>
            <a:off x="9432036" y="1760220"/>
            <a:ext cx="45720" cy="45720"/>
          </a:xfrm>
          <a:prstGeom prst="ellipse">
            <a:avLst/>
          </a:prstGeom>
          <a:solidFill>
            <a:srgbClr val="1D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Окуяга кайтабыз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22/26</a:t>
            </a:r>
          </a:p>
        </p:txBody>
      </p:sp>
      <p:sp>
        <p:nvSpPr>
          <p:cNvPr id="10" name="Rounded Rectangle 9"/>
          <p:cNvSpPr/>
          <p:nvPr/>
        </p:nvSpPr>
        <p:spPr>
          <a:xfrm>
            <a:off x="429768" y="1225296"/>
            <a:ext cx="11329416" cy="713232"/>
          </a:xfrm>
          <a:prstGeom prst="roundRect">
            <a:avLst>
              <a:gd name="adj" fmla="val 258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25296"/>
            <a:ext cx="10780776" cy="713232"/>
          </a:xfrm>
          <a:prstGeom prst="rect">
            <a:avLst/>
          </a:prstGeom>
          <a:noFill/>
        </p:spPr>
        <p:txBody>
          <a:bodyPr wrap="square" anchor="ctr" lIns="45720" rIns="45720" tIns="27432" bIns="27432">
            <a:spAutoFit/>
          </a:bodyPr>
          <a:lstStyle/>
          <a:p>
            <a:pPr algn="l">
              <a:lnSpc>
                <a:spcPct val="105000"/>
              </a:lnSpc>
            </a:pPr>
            <a:r>
              <a:rPr sz="2000" b="0" i="0">
                <a:solidFill>
                  <a:srgbClr val="1F2430"/>
                </a:solidFill>
                <a:latin typeface="PT Sans"/>
              </a:rPr>
              <a:t>Маршрутка 9:30да жөнөп, 10:20да Токмокко жетти. Жол канча убакыт алды?</a:t>
            </a:r>
          </a:p>
        </p:txBody>
      </p:sp>
      <p:sp>
        <p:nvSpPr>
          <p:cNvPr id="12" name="TextBox 11"/>
          <p:cNvSpPr txBox="1"/>
          <p:nvPr/>
        </p:nvSpPr>
        <p:spPr>
          <a:xfrm>
            <a:off x="914400" y="2240280"/>
            <a:ext cx="1371600" cy="548640"/>
          </a:xfrm>
          <a:prstGeom prst="rect">
            <a:avLst/>
          </a:prstGeom>
          <a:noFill/>
        </p:spPr>
        <p:txBody>
          <a:bodyPr wrap="square" anchor="ctr" lIns="45720" rIns="45720" tIns="27432" bIns="27432">
            <a:spAutoFit/>
          </a:bodyPr>
          <a:lstStyle/>
          <a:p>
            <a:pPr algn="r">
              <a:lnSpc>
                <a:spcPct val="105000"/>
              </a:lnSpc>
            </a:pPr>
            <a:r>
              <a:rPr sz="1800" b="1" i="0">
                <a:solidFill>
                  <a:srgbClr val="1F2430"/>
                </a:solidFill>
                <a:latin typeface="PT Sans"/>
              </a:rPr>
              <a:t>Жол</a:t>
            </a:r>
          </a:p>
        </p:txBody>
      </p:sp>
      <p:sp>
        <p:nvSpPr>
          <p:cNvPr id="13" name="Rectangle 12"/>
          <p:cNvSpPr/>
          <p:nvPr/>
        </p:nvSpPr>
        <p:spPr>
          <a:xfrm>
            <a:off x="2377440" y="2240280"/>
            <a:ext cx="4553712" cy="548640"/>
          </a:xfrm>
          <a:prstGeom prst="rect">
            <a:avLst/>
          </a:prstGeom>
          <a:solidFill>
            <a:srgbClr val="B5E2D3"/>
          </a:solidFill>
          <a:ln w="2032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10:00гө чейин 30</a:t>
            </a:r>
          </a:p>
        </p:txBody>
      </p:sp>
      <p:sp>
        <p:nvSpPr>
          <p:cNvPr id="14" name="Rectangle 13"/>
          <p:cNvSpPr/>
          <p:nvPr/>
        </p:nvSpPr>
        <p:spPr>
          <a:xfrm>
            <a:off x="6931152" y="2240280"/>
            <a:ext cx="3035807" cy="548640"/>
          </a:xfrm>
          <a:prstGeom prst="rect">
            <a:avLst/>
          </a:prstGeom>
          <a:solidFill>
            <a:srgbClr val="F5E9E0"/>
          </a:solidFill>
          <a:ln w="2032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F2430"/>
                </a:solidFill>
                <a:latin typeface="PT Sans"/>
              </a:rPr>
              <a:t>20</a:t>
            </a:r>
          </a:p>
        </p:txBody>
      </p:sp>
      <p:cxnSp>
        <p:nvCxnSpPr>
          <p:cNvPr id="15" name="Connector 14"/>
          <p:cNvCxnSpPr/>
          <p:nvPr/>
        </p:nvCxnSpPr>
        <p:spPr>
          <a:xfrm>
            <a:off x="10058399" y="224028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195559" y="2240280"/>
            <a:ext cx="0" cy="54864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058399" y="2788920"/>
            <a:ext cx="13716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241279" y="2240280"/>
            <a:ext cx="1005840" cy="548640"/>
          </a:xfrm>
          <a:prstGeom prst="rect">
            <a:avLst/>
          </a:prstGeom>
          <a:noFill/>
        </p:spPr>
        <p:txBody>
          <a:bodyPr wrap="square" anchor="ctr" lIns="45720" rIns="45720" tIns="27432" bIns="27432">
            <a:spAutoFit/>
          </a:bodyPr>
          <a:lstStyle/>
          <a:p>
            <a:pPr algn="l">
              <a:lnSpc>
                <a:spcPct val="105000"/>
              </a:lnSpc>
            </a:pPr>
            <a:r>
              <a:rPr sz="2200" b="1" i="0">
                <a:solidFill>
                  <a:srgbClr val="A84400"/>
                </a:solidFill>
                <a:latin typeface="PT Sans"/>
              </a:rPr>
              <a:t>50</a:t>
            </a:r>
          </a:p>
        </p:txBody>
      </p:sp>
      <p:sp>
        <p:nvSpPr>
          <p:cNvPr id="19" name="TextBox 18"/>
          <p:cNvSpPr txBox="1"/>
          <p:nvPr/>
        </p:nvSpPr>
        <p:spPr>
          <a:xfrm>
            <a:off x="731520" y="3127248"/>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9:30 → 10:00</a:t>
            </a:r>
          </a:p>
        </p:txBody>
      </p:sp>
      <p:sp>
        <p:nvSpPr>
          <p:cNvPr id="20" name="TextBox 19"/>
          <p:cNvSpPr txBox="1"/>
          <p:nvPr/>
        </p:nvSpPr>
        <p:spPr>
          <a:xfrm>
            <a:off x="8366760" y="3127248"/>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30 мүнөт</a:t>
            </a:r>
          </a:p>
        </p:txBody>
      </p:sp>
      <p:sp>
        <p:nvSpPr>
          <p:cNvPr id="21" name="TextBox 20"/>
          <p:cNvSpPr txBox="1"/>
          <p:nvPr/>
        </p:nvSpPr>
        <p:spPr>
          <a:xfrm>
            <a:off x="731520" y="3694176"/>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1F2430"/>
                </a:solidFill>
                <a:latin typeface="PT Sans"/>
              </a:rPr>
              <a:t>10:00 → 10:20</a:t>
            </a:r>
          </a:p>
        </p:txBody>
      </p:sp>
      <p:sp>
        <p:nvSpPr>
          <p:cNvPr id="22" name="TextBox 21"/>
          <p:cNvSpPr txBox="1"/>
          <p:nvPr/>
        </p:nvSpPr>
        <p:spPr>
          <a:xfrm>
            <a:off x="8366760" y="3694176"/>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20 мүнөт</a:t>
            </a:r>
          </a:p>
        </p:txBody>
      </p:sp>
      <p:sp>
        <p:nvSpPr>
          <p:cNvPr id="23" name="TextBox 22"/>
          <p:cNvSpPr txBox="1"/>
          <p:nvPr/>
        </p:nvSpPr>
        <p:spPr>
          <a:xfrm>
            <a:off x="731520" y="4261104"/>
            <a:ext cx="7498079" cy="566928"/>
          </a:xfrm>
          <a:prstGeom prst="rect">
            <a:avLst/>
          </a:prstGeom>
          <a:noFill/>
        </p:spPr>
        <p:txBody>
          <a:bodyPr wrap="square" anchor="ctr" lIns="45720" rIns="45720" tIns="27432" bIns="27432">
            <a:spAutoFit/>
          </a:bodyPr>
          <a:lstStyle/>
          <a:p>
            <a:pPr algn="r">
              <a:lnSpc>
                <a:spcPct val="105000"/>
              </a:lnSpc>
            </a:pPr>
            <a:r>
              <a:rPr sz="2600" b="1" i="0">
                <a:solidFill>
                  <a:srgbClr val="24418C"/>
                </a:solidFill>
                <a:latin typeface="PT Sans"/>
              </a:rPr>
              <a:t>30 + 20 = 50</a:t>
            </a:r>
          </a:p>
        </p:txBody>
      </p:sp>
      <p:sp>
        <p:nvSpPr>
          <p:cNvPr id="24" name="TextBox 23"/>
          <p:cNvSpPr txBox="1"/>
          <p:nvPr/>
        </p:nvSpPr>
        <p:spPr>
          <a:xfrm>
            <a:off x="8366760" y="4261104"/>
            <a:ext cx="3108960" cy="566928"/>
          </a:xfrm>
          <a:prstGeom prst="rect">
            <a:avLst/>
          </a:prstGeom>
          <a:noFill/>
        </p:spPr>
        <p:txBody>
          <a:bodyPr wrap="square" anchor="ctr" lIns="45720" rIns="45720" tIns="27432" bIns="27432">
            <a:spAutoFit/>
          </a:bodyPr>
          <a:lstStyle/>
          <a:p>
            <a:pPr algn="l">
              <a:lnSpc>
                <a:spcPct val="105000"/>
              </a:lnSpc>
            </a:pPr>
            <a:r>
              <a:rPr sz="1800" b="1" i="0">
                <a:solidFill>
                  <a:srgbClr val="A84400"/>
                </a:solidFill>
                <a:latin typeface="PT Sans"/>
              </a:rPr>
              <a:t>мүнөт</a:t>
            </a:r>
          </a:p>
        </p:txBody>
      </p:sp>
      <p:sp>
        <p:nvSpPr>
          <p:cNvPr id="25" name="Rounded Rectangle 24"/>
          <p:cNvSpPr/>
          <p:nvPr/>
        </p:nvSpPr>
        <p:spPr>
          <a:xfrm>
            <a:off x="1874519" y="5486400"/>
            <a:ext cx="8449056" cy="640080"/>
          </a:xfrm>
          <a:prstGeom prst="roundRect">
            <a:avLst>
              <a:gd name="adj" fmla="val 24400"/>
            </a:avLst>
          </a:prstGeom>
          <a:solidFill>
            <a:srgbClr val="FFFFFF"/>
          </a:solidFill>
          <a:ln w="285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Жол 50 мүнөт алды: 1 сааттан 10 мүнөт аз.</a:t>
            </a:r>
          </a:p>
        </p:txBody>
      </p:sp>
      <p:sp>
        <p:nvSpPr>
          <p:cNvPr id="26" name="Rounded Rectangle 25"/>
          <p:cNvSpPr/>
          <p:nvPr/>
        </p:nvSpPr>
        <p:spPr>
          <a:xfrm>
            <a:off x="4449927" y="6327648"/>
            <a:ext cx="3291840" cy="411480"/>
          </a:xfrm>
          <a:prstGeom prst="roundRect">
            <a:avLst>
              <a:gd name="adj" fmla="val 50000"/>
            </a:avLst>
          </a:prstGeom>
          <a:noFill/>
          <a:ln w="15875">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24418C"/>
                </a:solidFill>
                <a:latin typeface="PT Sans"/>
              </a:rPr>
              <a:t>3C · Байланыштыруу</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Түз: өзүң маселе түз</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23/26</a:t>
            </a:r>
          </a:p>
        </p:txBody>
      </p:sp>
      <p:sp>
        <p:nvSpPr>
          <p:cNvPr id="10" name="Rounded Rectangle 9"/>
          <p:cNvSpPr/>
          <p:nvPr/>
        </p:nvSpPr>
        <p:spPr>
          <a:xfrm>
            <a:off x="429768" y="1225296"/>
            <a:ext cx="11329416" cy="489204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371600"/>
            <a:ext cx="10780776" cy="914400"/>
          </a:xfrm>
          <a:prstGeom prst="rect">
            <a:avLst/>
          </a:prstGeom>
          <a:noFill/>
        </p:spPr>
        <p:txBody>
          <a:bodyPr wrap="square" anchor="t" lIns="45720" rIns="45720" tIns="27432" bIns="27432">
            <a:spAutoFit/>
          </a:bodyPr>
          <a:lstStyle/>
          <a:p>
            <a:pPr algn="l">
              <a:lnSpc>
                <a:spcPct val="105000"/>
              </a:lnSpc>
            </a:pPr>
            <a:r>
              <a:rPr sz="2400" b="1" i="0">
                <a:solidFill>
                  <a:srgbClr val="1F2430"/>
                </a:solidFill>
                <a:latin typeface="PT Sans"/>
              </a:rPr>
              <a:t>Токмокко сапар жөнүндө маселе түз: качан башталды, качан бүттү, канча убакыт өттү?</a:t>
            </a:r>
          </a:p>
        </p:txBody>
      </p:sp>
      <p:sp>
        <p:nvSpPr>
          <p:cNvPr id="12" name="Oval 11"/>
          <p:cNvSpPr/>
          <p:nvPr/>
        </p:nvSpPr>
        <p:spPr>
          <a:xfrm>
            <a:off x="704088" y="256032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254203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Окуядагы каармандарды колдон: Айсулуу, Бекзат, Зуура апа.</a:t>
            </a:r>
          </a:p>
        </p:txBody>
      </p:sp>
      <p:sp>
        <p:nvSpPr>
          <p:cNvPr id="14" name="Oval 13"/>
          <p:cNvSpPr/>
          <p:nvPr/>
        </p:nvSpPr>
        <p:spPr>
          <a:xfrm>
            <a:off x="704088" y="338327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3364991"/>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Тилкесин чий жана туюнтмасын жаз.</a:t>
            </a:r>
          </a:p>
        </p:txBody>
      </p:sp>
      <p:sp>
        <p:nvSpPr>
          <p:cNvPr id="16" name="Oval 15"/>
          <p:cNvSpPr/>
          <p:nvPr/>
        </p:nvSpPr>
        <p:spPr>
          <a:xfrm>
            <a:off x="704088" y="4206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4187952"/>
            <a:ext cx="10049256" cy="822960"/>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Жупуңа бер: ал чыгарсын, сен текшер.</a:t>
            </a:r>
          </a:p>
        </p:txBody>
      </p:sp>
      <p:sp>
        <p:nvSpPr>
          <p:cNvPr id="18" name="Rounded Rectangle 17"/>
          <p:cNvSpPr/>
          <p:nvPr/>
        </p:nvSpPr>
        <p:spPr>
          <a:xfrm>
            <a:off x="4449927" y="6327648"/>
            <a:ext cx="3291840" cy="411480"/>
          </a:xfrm>
          <a:prstGeom prst="roundRect">
            <a:avLst>
              <a:gd name="adj" fmla="val 50000"/>
            </a:avLst>
          </a:prstGeom>
          <a:noFill/>
          <a:ln w="15875">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400" b="1">
                <a:solidFill>
                  <a:srgbClr val="A84400"/>
                </a:solidFill>
                <a:latin typeface="PT Sans"/>
              </a:rPr>
              <a:t>3C · Кызматташуу</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Чыгуу билети</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24/26</a:t>
            </a:r>
          </a:p>
        </p:txBody>
      </p:sp>
      <p:sp>
        <p:nvSpPr>
          <p:cNvPr id="10" name="TextBox 9"/>
          <p:cNvSpPr txBox="1"/>
          <p:nvPr/>
        </p:nvSpPr>
        <p:spPr>
          <a:xfrm>
            <a:off x="429768" y="1143000"/>
            <a:ext cx="11329416" cy="457200"/>
          </a:xfrm>
          <a:prstGeom prst="rect">
            <a:avLst/>
          </a:prstGeom>
          <a:noFill/>
        </p:spPr>
        <p:txBody>
          <a:bodyPr wrap="square" anchor="t" lIns="45720" rIns="45720" tIns="27432" bIns="27432">
            <a:spAutoFit/>
          </a:bodyPr>
          <a:lstStyle/>
          <a:p>
            <a:pPr algn="l">
              <a:lnSpc>
                <a:spcPct val="105000"/>
              </a:lnSpc>
            </a:pPr>
            <a:r>
              <a:rPr sz="2200" b="0" i="1">
                <a:solidFill>
                  <a:srgbClr val="6B7280"/>
                </a:solidFill>
                <a:latin typeface="PT Sans"/>
              </a:rPr>
              <a:t>Өз алдынча, 3 мүнөт. Кагазыңа жазып бер.</a:t>
            </a:r>
          </a:p>
        </p:txBody>
      </p:sp>
      <p:sp>
        <p:nvSpPr>
          <p:cNvPr id="11" name="Rounded Rectangle 10"/>
          <p:cNvSpPr/>
          <p:nvPr/>
        </p:nvSpPr>
        <p:spPr>
          <a:xfrm>
            <a:off x="429768" y="169164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12647" y="215036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1</a:t>
            </a:r>
          </a:p>
        </p:txBody>
      </p:sp>
      <p:sp>
        <p:nvSpPr>
          <p:cNvPr id="13" name="TextBox 12"/>
          <p:cNvSpPr txBox="1"/>
          <p:nvPr/>
        </p:nvSpPr>
        <p:spPr>
          <a:xfrm>
            <a:off x="1207007" y="169164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Кыска жебе 8 менен 9дун ортосунда. Узун жебе 6да. Саат канча?</a:t>
            </a:r>
          </a:p>
        </p:txBody>
      </p:sp>
      <p:sp>
        <p:nvSpPr>
          <p:cNvPr id="14" name="Rounded Rectangle 13"/>
          <p:cNvSpPr/>
          <p:nvPr/>
        </p:nvSpPr>
        <p:spPr>
          <a:xfrm>
            <a:off x="429768" y="323088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12647" y="3689603"/>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2</a:t>
            </a:r>
          </a:p>
        </p:txBody>
      </p:sp>
      <p:sp>
        <p:nvSpPr>
          <p:cNvPr id="16" name="TextBox 15"/>
          <p:cNvSpPr txBox="1"/>
          <p:nvPr/>
        </p:nvSpPr>
        <p:spPr>
          <a:xfrm>
            <a:off x="1207007" y="323088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1 саат = ? мүнөт.  1 сутка = ? саат.</a:t>
            </a:r>
          </a:p>
        </p:txBody>
      </p:sp>
      <p:sp>
        <p:nvSpPr>
          <p:cNvPr id="17" name="Rounded Rectangle 16"/>
          <p:cNvSpPr/>
          <p:nvPr/>
        </p:nvSpPr>
        <p:spPr>
          <a:xfrm>
            <a:off x="429768" y="4770120"/>
            <a:ext cx="11329416" cy="1356359"/>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12647" y="5228844"/>
            <a:ext cx="438912" cy="43891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800" b="1">
                <a:solidFill>
                  <a:srgbClr val="1D3557"/>
                </a:solidFill>
                <a:latin typeface="PT Sans"/>
              </a:rPr>
              <a:t>3</a:t>
            </a:r>
          </a:p>
        </p:txBody>
      </p:sp>
      <p:sp>
        <p:nvSpPr>
          <p:cNvPr id="19" name="TextBox 18"/>
          <p:cNvSpPr txBox="1"/>
          <p:nvPr/>
        </p:nvSpPr>
        <p:spPr>
          <a:xfrm>
            <a:off x="1207007" y="4770120"/>
            <a:ext cx="10415016" cy="1356359"/>
          </a:xfrm>
          <a:prstGeom prst="rect">
            <a:avLst/>
          </a:prstGeom>
          <a:noFill/>
        </p:spPr>
        <p:txBody>
          <a:bodyPr wrap="square" anchor="ctr" lIns="45720" rIns="45720" tIns="27432" bIns="27432">
            <a:spAutoFit/>
          </a:bodyPr>
          <a:lstStyle/>
          <a:p>
            <a:pPr algn="l">
              <a:lnSpc>
                <a:spcPct val="105000"/>
              </a:lnSpc>
            </a:pPr>
            <a:r>
              <a:rPr sz="2400" b="1" i="0">
                <a:solidFill>
                  <a:srgbClr val="1F2430"/>
                </a:solidFill>
                <a:latin typeface="PT Sans"/>
              </a:rPr>
              <a:t>Кино 10:40та башталып, 11:15те бүттү. Канча мүнөт?</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Оозеки талкуу</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25/26</a:t>
            </a:r>
          </a:p>
        </p:txBody>
      </p:sp>
      <p:sp>
        <p:nvSpPr>
          <p:cNvPr id="10" name="Rounded Rectangle 9"/>
          <p:cNvSpPr/>
          <p:nvPr/>
        </p:nvSpPr>
        <p:spPr>
          <a:xfrm>
            <a:off x="429768" y="1225296"/>
            <a:ext cx="11329416" cy="3246120"/>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280160"/>
            <a:ext cx="10780776" cy="548640"/>
          </a:xfrm>
          <a:prstGeom prst="rect">
            <a:avLst/>
          </a:prstGeom>
          <a:noFill/>
        </p:spPr>
        <p:txBody>
          <a:bodyPr wrap="square" anchor="t" lIns="45720" rIns="45720" tIns="27432" bIns="27432">
            <a:spAutoFit/>
          </a:bodyPr>
          <a:lstStyle/>
          <a:p>
            <a:pPr algn="l">
              <a:lnSpc>
                <a:spcPct val="105000"/>
              </a:lnSpc>
            </a:pPr>
            <a:r>
              <a:rPr sz="2400" b="1" i="0">
                <a:solidFill>
                  <a:srgbClr val="1D3557"/>
                </a:solidFill>
                <a:latin typeface="PT Sans"/>
              </a:rPr>
              <a:t>Оозеки талкуу</a:t>
            </a:r>
          </a:p>
        </p:txBody>
      </p:sp>
      <p:sp>
        <p:nvSpPr>
          <p:cNvPr id="12" name="Oval 11"/>
          <p:cNvSpPr/>
          <p:nvPr/>
        </p:nvSpPr>
        <p:spPr>
          <a:xfrm>
            <a:off x="704088" y="1920240"/>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234440" y="1901952"/>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Кыска жебе менен узун жебенин айырмасы эмнеде?</a:t>
            </a:r>
          </a:p>
        </p:txBody>
      </p:sp>
      <p:sp>
        <p:nvSpPr>
          <p:cNvPr id="14" name="Oval 13"/>
          <p:cNvSpPr/>
          <p:nvPr/>
        </p:nvSpPr>
        <p:spPr>
          <a:xfrm>
            <a:off x="704088" y="2542032"/>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234440" y="2523744"/>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Эмне үчүн 9:50дөн 10:10го чейин 60 эмес, 20 мүнөт?</a:t>
            </a:r>
          </a:p>
        </p:txBody>
      </p:sp>
      <p:sp>
        <p:nvSpPr>
          <p:cNvPr id="16" name="Oval 15"/>
          <p:cNvSpPr/>
          <p:nvPr/>
        </p:nvSpPr>
        <p:spPr>
          <a:xfrm>
            <a:off x="704088" y="316382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234440" y="3145536"/>
            <a:ext cx="10049256" cy="621792"/>
          </a:xfrm>
          <a:prstGeom prst="rect">
            <a:avLst/>
          </a:prstGeom>
          <a:noFill/>
        </p:spPr>
        <p:txBody>
          <a:bodyPr wrap="square" anchor="t" lIns="45720" rIns="45720" tIns="27432" bIns="27432">
            <a:spAutoFit/>
          </a:bodyPr>
          <a:lstStyle/>
          <a:p>
            <a:pPr algn="l">
              <a:lnSpc>
                <a:spcPct val="105000"/>
              </a:lnSpc>
            </a:pPr>
            <a:r>
              <a:rPr sz="2200" b="0" i="0">
                <a:solidFill>
                  <a:srgbClr val="1F2430"/>
                </a:solidFill>
                <a:latin typeface="PT Sans"/>
              </a:rPr>
              <a:t>Сенин күнүңдө эмне 30 мүнөткө созулат?</a:t>
            </a:r>
          </a:p>
        </p:txBody>
      </p:sp>
      <p:sp>
        <p:nvSpPr>
          <p:cNvPr id="18" name="TextBox 17"/>
          <p:cNvSpPr txBox="1"/>
          <p:nvPr/>
        </p:nvSpPr>
        <p:spPr>
          <a:xfrm>
            <a:off x="429768" y="4617720"/>
            <a:ext cx="11329416" cy="457200"/>
          </a:xfrm>
          <a:prstGeom prst="rect">
            <a:avLst/>
          </a:prstGeom>
          <a:noFill/>
        </p:spPr>
        <p:txBody>
          <a:bodyPr wrap="square" anchor="t" lIns="45720" rIns="45720" tIns="27432" bIns="27432">
            <a:spAutoFit/>
          </a:bodyPr>
          <a:lstStyle/>
          <a:p>
            <a:pPr algn="ctr">
              <a:lnSpc>
                <a:spcPct val="105000"/>
              </a:lnSpc>
            </a:pPr>
            <a:r>
              <a:rPr sz="2000" b="0" i="1">
                <a:solidFill>
                  <a:srgbClr val="6B7280"/>
                </a:solidFill>
                <a:latin typeface="PT Sans"/>
              </a:rPr>
              <a:t>Өзүңдү баала: колуңду көтөр.</a:t>
            </a:r>
          </a:p>
        </p:txBody>
      </p:sp>
      <p:sp>
        <p:nvSpPr>
          <p:cNvPr id="19" name="Rounded Rectangle 18"/>
          <p:cNvSpPr/>
          <p:nvPr/>
        </p:nvSpPr>
        <p:spPr>
          <a:xfrm>
            <a:off x="978407" y="5120640"/>
            <a:ext cx="3291840" cy="731520"/>
          </a:xfrm>
          <a:prstGeom prst="roundRect">
            <a:avLst>
              <a:gd name="adj" fmla="val 50000"/>
            </a:avLst>
          </a:prstGeom>
          <a:noFill/>
          <a:ln w="25400">
            <a:solidFill>
              <a:srgbClr val="007A5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007A5A"/>
                </a:solidFill>
                <a:latin typeface="PT Sans"/>
              </a:rPr>
              <a:t>Түшүндүм</a:t>
            </a:r>
          </a:p>
        </p:txBody>
      </p:sp>
      <p:sp>
        <p:nvSpPr>
          <p:cNvPr id="20" name="Rounded Rectangle 19"/>
          <p:cNvSpPr/>
          <p:nvPr/>
        </p:nvSpPr>
        <p:spPr>
          <a:xfrm>
            <a:off x="4636008" y="5120640"/>
            <a:ext cx="3291840" cy="731520"/>
          </a:xfrm>
          <a:prstGeom prst="roundRect">
            <a:avLst>
              <a:gd name="adj" fmla="val 50000"/>
            </a:avLst>
          </a:prstGeom>
          <a:noFill/>
          <a:ln w="25400">
            <a:solidFill>
              <a:srgbClr val="A8440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A84400"/>
                </a:solidFill>
                <a:latin typeface="PT Sans"/>
              </a:rPr>
              <a:t>Дагы машыгам</a:t>
            </a:r>
          </a:p>
        </p:txBody>
      </p:sp>
      <p:sp>
        <p:nvSpPr>
          <p:cNvPr id="21" name="Rounded Rectangle 20"/>
          <p:cNvSpPr/>
          <p:nvPr/>
        </p:nvSpPr>
        <p:spPr>
          <a:xfrm>
            <a:off x="8293608" y="5120640"/>
            <a:ext cx="3291840" cy="731520"/>
          </a:xfrm>
          <a:prstGeom prst="roundRect">
            <a:avLst>
              <a:gd name="adj" fmla="val 50000"/>
            </a:avLst>
          </a:prstGeom>
          <a:noFill/>
          <a:ln w="25400">
            <a:solidFill>
              <a:srgbClr val="2441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2200" b="1">
                <a:solidFill>
                  <a:srgbClr val="24418C"/>
                </a:solidFill>
                <a:latin typeface="PT Sans"/>
              </a:rPr>
              <a:t>Жардам керек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29768" y="219456"/>
            <a:ext cx="11332159" cy="795528"/>
          </a:xfrm>
          <a:prstGeom prst="roundRect">
            <a:avLst>
              <a:gd name="adj" fmla="val 23300"/>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12648" y="384048"/>
            <a:ext cx="100584" cy="457200"/>
          </a:xfrm>
          <a:prstGeom prst="roundRect">
            <a:avLst>
              <a:gd name="adj" fmla="val 50000"/>
            </a:avLst>
          </a:prstGeom>
          <a:solidFill>
            <a:srgbClr val="007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63524" y="384048"/>
            <a:ext cx="100584" cy="457200"/>
          </a:xfrm>
          <a:prstGeom prst="roundRect">
            <a:avLst>
              <a:gd name="adj" fmla="val 50000"/>
            </a:avLst>
          </a:prstGeom>
          <a:solidFill>
            <a:srgbClr val="A84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914400" y="384048"/>
            <a:ext cx="100584" cy="457200"/>
          </a:xfrm>
          <a:prstGeom prst="roundRect">
            <a:avLst>
              <a:gd name="adj" fmla="val 50000"/>
            </a:avLst>
          </a:prstGeom>
          <a:solidFill>
            <a:srgbClr val="2441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34440" y="219456"/>
            <a:ext cx="7345375" cy="795528"/>
          </a:xfrm>
          <a:prstGeom prst="rect">
            <a:avLst/>
          </a:prstGeom>
          <a:noFill/>
        </p:spPr>
        <p:txBody>
          <a:bodyPr wrap="square" anchor="ctr" lIns="45720" rIns="45720" tIns="27432" bIns="27432">
            <a:spAutoFit/>
          </a:bodyPr>
          <a:lstStyle/>
          <a:p>
            <a:pPr algn="l">
              <a:lnSpc>
                <a:spcPct val="105000"/>
              </a:lnSpc>
            </a:pPr>
            <a:r>
              <a:rPr sz="2800" b="1" i="0">
                <a:solidFill>
                  <a:srgbClr val="1D3557"/>
                </a:solidFill>
                <a:latin typeface="PT Sans"/>
              </a:rPr>
              <a:t>Мугалим үчүн</a:t>
            </a:r>
          </a:p>
        </p:txBody>
      </p:sp>
      <p:sp>
        <p:nvSpPr>
          <p:cNvPr id="7" name="TextBox 6"/>
          <p:cNvSpPr txBox="1"/>
          <p:nvPr/>
        </p:nvSpPr>
        <p:spPr>
          <a:xfrm>
            <a:off x="8323783" y="219456"/>
            <a:ext cx="3246120" cy="795528"/>
          </a:xfrm>
          <a:prstGeom prst="rect">
            <a:avLst/>
          </a:prstGeom>
          <a:noFill/>
        </p:spPr>
        <p:txBody>
          <a:bodyPr wrap="square" anchor="ctr" lIns="45720" rIns="45720" tIns="27432" bIns="27432">
            <a:spAutoFit/>
          </a:bodyPr>
          <a:lstStyle/>
          <a:p>
            <a:pPr algn="r">
              <a:lnSpc>
                <a:spcPct val="100000"/>
              </a:lnSpc>
            </a:pPr>
            <a:r>
              <a:rPr sz="1400" b="0" i="0">
                <a:solidFill>
                  <a:srgbClr val="4A5A70"/>
                </a:solidFill>
                <a:latin typeface="PT Sans"/>
              </a:rPr>
              <a:t/>
            </a:r>
          </a:p>
          <a:p>
            <a:pPr algn="r">
              <a:lnSpc>
                <a:spcPct val="100000"/>
              </a:lnSpc>
            </a:pPr>
            <a:r>
              <a:rPr sz="1400" b="0" i="0">
                <a:solidFill>
                  <a:srgbClr val="4A5A70"/>
                </a:solidFill>
                <a:latin typeface="PT Sans"/>
              </a:rPr>
              <a:t>Убакыт</a:t>
            </a:r>
          </a:p>
        </p:txBody>
      </p:sp>
      <p:sp>
        <p:nvSpPr>
          <p:cNvPr id="8" name="TextBox 7"/>
          <p:cNvSpPr txBox="1"/>
          <p:nvPr/>
        </p:nvSpPr>
        <p:spPr>
          <a:xfrm>
            <a:off x="429768" y="6355080"/>
            <a:ext cx="5760720" cy="365760"/>
          </a:xfrm>
          <a:prstGeom prst="rect">
            <a:avLst/>
          </a:prstGeom>
          <a:noFill/>
        </p:spPr>
        <p:txBody>
          <a:bodyPr wrap="square" anchor="t" lIns="45720" rIns="45720" tIns="27432" bIns="27432">
            <a:spAutoFit/>
          </a:bodyPr>
          <a:lstStyle/>
          <a:p>
            <a:pPr algn="l">
              <a:lnSpc>
                <a:spcPct val="105000"/>
              </a:lnSpc>
            </a:pPr>
            <a:r>
              <a:rPr sz="1400" b="0" i="0">
                <a:solidFill>
                  <a:srgbClr val="6B7280"/>
                </a:solidFill>
                <a:latin typeface="PT Sans"/>
              </a:rPr>
              <a:t>MathKG · Математика кыргызча</a:t>
            </a:r>
          </a:p>
        </p:txBody>
      </p:sp>
      <p:sp>
        <p:nvSpPr>
          <p:cNvPr id="9" name="TextBox 8"/>
          <p:cNvSpPr txBox="1"/>
          <p:nvPr/>
        </p:nvSpPr>
        <p:spPr>
          <a:xfrm>
            <a:off x="8881567" y="6355080"/>
            <a:ext cx="2880360" cy="365760"/>
          </a:xfrm>
          <a:prstGeom prst="rect">
            <a:avLst/>
          </a:prstGeom>
          <a:noFill/>
        </p:spPr>
        <p:txBody>
          <a:bodyPr wrap="square" anchor="t" lIns="45720" rIns="45720" tIns="27432" bIns="27432">
            <a:spAutoFit/>
          </a:bodyPr>
          <a:lstStyle/>
          <a:p>
            <a:pPr algn="r">
              <a:lnSpc>
                <a:spcPct val="105000"/>
              </a:lnSpc>
            </a:pPr>
            <a:r>
              <a:rPr sz="1400" b="0" i="0">
                <a:solidFill>
                  <a:srgbClr val="6B7280"/>
                </a:solidFill>
                <a:latin typeface="PT Sans"/>
              </a:rPr>
              <a:t>26/26</a:t>
            </a:r>
          </a:p>
        </p:txBody>
      </p:sp>
      <p:sp>
        <p:nvSpPr>
          <p:cNvPr id="10" name="Rounded Rectangle 9"/>
          <p:cNvSpPr/>
          <p:nvPr/>
        </p:nvSpPr>
        <p:spPr>
          <a:xfrm>
            <a:off x="429768" y="1225296"/>
            <a:ext cx="5120640"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466344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Тилке моделин кантип үйрөтөбүз</a:t>
            </a:r>
          </a:p>
        </p:txBody>
      </p:sp>
      <p:sp>
        <p:nvSpPr>
          <p:cNvPr id="12" name="Oval 11"/>
          <p:cNvSpPr/>
          <p:nvPr/>
        </p:nvSpPr>
        <p:spPr>
          <a:xfrm>
            <a:off x="658368" y="1874519"/>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1</a:t>
            </a:r>
          </a:p>
        </p:txBody>
      </p:sp>
      <p:sp>
        <p:nvSpPr>
          <p:cNvPr id="13" name="TextBox 12"/>
          <p:cNvSpPr txBox="1"/>
          <p:nvPr/>
        </p:nvSpPr>
        <p:spPr>
          <a:xfrm>
            <a:off x="1188719" y="1856231"/>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Ар бир окуучуда кагаз саат: жебени өзү айлантат, анан гана сүрөт (К → С).</a:t>
            </a:r>
          </a:p>
        </p:txBody>
      </p:sp>
      <p:sp>
        <p:nvSpPr>
          <p:cNvPr id="14" name="Oval 13"/>
          <p:cNvSpPr/>
          <p:nvPr/>
        </p:nvSpPr>
        <p:spPr>
          <a:xfrm>
            <a:off x="658368" y="2898648"/>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2</a:t>
            </a:r>
          </a:p>
        </p:txBody>
      </p:sp>
      <p:sp>
        <p:nvSpPr>
          <p:cNvPr id="15" name="TextBox 14"/>
          <p:cNvSpPr txBox="1"/>
          <p:nvPr/>
        </p:nvSpPr>
        <p:spPr>
          <a:xfrm>
            <a:off x="1188719" y="2880360"/>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«Кыска – саат, узун – мүнөт» деп үн чыгарып айттырам (М1, М5).</a:t>
            </a:r>
          </a:p>
        </p:txBody>
      </p:sp>
      <p:sp>
        <p:nvSpPr>
          <p:cNvPr id="16" name="Oval 15"/>
          <p:cNvSpPr/>
          <p:nvPr/>
        </p:nvSpPr>
        <p:spPr>
          <a:xfrm>
            <a:off x="658368" y="3922776"/>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3</a:t>
            </a:r>
          </a:p>
        </p:txBody>
      </p:sp>
      <p:sp>
        <p:nvSpPr>
          <p:cNvPr id="17" name="TextBox 16"/>
          <p:cNvSpPr txBox="1"/>
          <p:nvPr/>
        </p:nvSpPr>
        <p:spPr>
          <a:xfrm>
            <a:off x="1188719" y="3904488"/>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«Кыска жебе кайсы сандан өттү?» деп сурайм, «кайсыга жакын» эмес (М2).</a:t>
            </a:r>
          </a:p>
        </p:txBody>
      </p:sp>
      <p:sp>
        <p:nvSpPr>
          <p:cNvPr id="18" name="Oval 17"/>
          <p:cNvSpPr/>
          <p:nvPr/>
        </p:nvSpPr>
        <p:spPr>
          <a:xfrm>
            <a:off x="658368" y="4946904"/>
            <a:ext cx="393192" cy="393192"/>
          </a:xfrm>
          <a:prstGeom prst="ellipse">
            <a:avLst/>
          </a:prstGeom>
          <a:no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0" bIns="0"/>
          <a:lstStyle/>
          <a:p>
            <a:pPr algn="ctr"/>
            <a:r>
              <a:rPr sz="1600" b="1">
                <a:solidFill>
                  <a:srgbClr val="1D3557"/>
                </a:solidFill>
                <a:latin typeface="PT Sans"/>
              </a:rPr>
              <a:t>4</a:t>
            </a:r>
          </a:p>
        </p:txBody>
      </p:sp>
      <p:sp>
        <p:nvSpPr>
          <p:cNvPr id="19" name="TextBox 18"/>
          <p:cNvSpPr txBox="1"/>
          <p:nvPr/>
        </p:nvSpPr>
        <p:spPr>
          <a:xfrm>
            <a:off x="1188719" y="4928616"/>
            <a:ext cx="4114800" cy="1024128"/>
          </a:xfrm>
          <a:prstGeom prst="rect">
            <a:avLst/>
          </a:prstGeom>
          <a:noFill/>
        </p:spPr>
        <p:txBody>
          <a:bodyPr wrap="square" anchor="t" lIns="45720" rIns="45720" tIns="27432" bIns="27432">
            <a:spAutoFit/>
          </a:bodyPr>
          <a:lstStyle/>
          <a:p>
            <a:pPr algn="l">
              <a:lnSpc>
                <a:spcPct val="105000"/>
              </a:lnSpc>
            </a:pPr>
            <a:r>
              <a:rPr sz="1500" b="0" i="0">
                <a:solidFill>
                  <a:srgbClr val="1F2430"/>
                </a:solidFill>
                <a:latin typeface="PT Sans"/>
              </a:rPr>
              <a:t>Узактык – жиптеги тилкеде: так саатка чейин, анан андан ары (М3, М4).</a:t>
            </a:r>
          </a:p>
        </p:txBody>
      </p:sp>
      <p:sp>
        <p:nvSpPr>
          <p:cNvPr id="20" name="Rounded Rectangle 19"/>
          <p:cNvSpPr/>
          <p:nvPr/>
        </p:nvSpPr>
        <p:spPr>
          <a:xfrm>
            <a:off x="5779007" y="1225296"/>
            <a:ext cx="5980176" cy="4928616"/>
          </a:xfrm>
          <a:prstGeom prst="roundRect">
            <a:avLst>
              <a:gd name="adj" fmla="val 6000"/>
            </a:avLst>
          </a:prstGeom>
          <a:solidFill>
            <a:srgbClr val="FFFFFF"/>
          </a:solidFill>
          <a:ln w="19050">
            <a:solidFill>
              <a:srgbClr val="1D35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007607" y="1280160"/>
            <a:ext cx="5486400" cy="502920"/>
          </a:xfrm>
          <a:prstGeom prst="rect">
            <a:avLst/>
          </a:prstGeom>
          <a:noFill/>
        </p:spPr>
        <p:txBody>
          <a:bodyPr wrap="square" anchor="t" lIns="45720" rIns="45720" tIns="27432" bIns="27432">
            <a:spAutoFit/>
          </a:bodyPr>
          <a:lstStyle/>
          <a:p>
            <a:pPr algn="l">
              <a:lnSpc>
                <a:spcPct val="105000"/>
              </a:lnSpc>
            </a:pPr>
            <a:r>
              <a:rPr sz="2000" b="1" i="0">
                <a:solidFill>
                  <a:srgbClr val="1D3557"/>
                </a:solidFill>
                <a:latin typeface="PT Sans"/>
              </a:rPr>
              <a:t>Ой жүгүртүү: эмне деп айтабыз?</a:t>
            </a:r>
          </a:p>
        </p:txBody>
      </p:sp>
      <p:sp>
        <p:nvSpPr>
          <p:cNvPr id="22" name="TextBox 21"/>
          <p:cNvSpPr txBox="1"/>
          <p:nvPr/>
        </p:nvSpPr>
        <p:spPr>
          <a:xfrm>
            <a:off x="6007607" y="1783080"/>
            <a:ext cx="2651760" cy="365760"/>
          </a:xfrm>
          <a:prstGeom prst="rect">
            <a:avLst/>
          </a:prstGeom>
          <a:noFill/>
        </p:spPr>
        <p:txBody>
          <a:bodyPr wrap="square" anchor="t" lIns="45720" rIns="45720" tIns="27432" bIns="27432">
            <a:spAutoFit/>
          </a:bodyPr>
          <a:lstStyle/>
          <a:p>
            <a:pPr algn="l">
              <a:lnSpc>
                <a:spcPct val="105000"/>
              </a:lnSpc>
            </a:pPr>
            <a:r>
              <a:rPr sz="1500" b="1" i="0">
                <a:solidFill>
                  <a:srgbClr val="6B7280"/>
                </a:solidFill>
                <a:latin typeface="PT Sans"/>
              </a:rPr>
              <a:t>Айтпайбыз</a:t>
            </a:r>
          </a:p>
        </p:txBody>
      </p:sp>
      <p:sp>
        <p:nvSpPr>
          <p:cNvPr id="23" name="TextBox 22"/>
          <p:cNvSpPr txBox="1"/>
          <p:nvPr/>
        </p:nvSpPr>
        <p:spPr>
          <a:xfrm>
            <a:off x="8796528" y="1783080"/>
            <a:ext cx="2926080" cy="365760"/>
          </a:xfrm>
          <a:prstGeom prst="rect">
            <a:avLst/>
          </a:prstGeom>
          <a:noFill/>
        </p:spPr>
        <p:txBody>
          <a:bodyPr wrap="square" anchor="t" lIns="45720" rIns="45720" tIns="27432" bIns="27432">
            <a:spAutoFit/>
          </a:bodyPr>
          <a:lstStyle/>
          <a:p>
            <a:pPr algn="l">
              <a:lnSpc>
                <a:spcPct val="105000"/>
              </a:lnSpc>
            </a:pPr>
            <a:r>
              <a:rPr sz="1500" b="1" i="0">
                <a:solidFill>
                  <a:srgbClr val="007A5A"/>
                </a:solidFill>
                <a:latin typeface="PT Sans"/>
              </a:rPr>
              <a:t>Айтабыз</a:t>
            </a:r>
          </a:p>
        </p:txBody>
      </p:sp>
      <p:sp>
        <p:nvSpPr>
          <p:cNvPr id="24" name="TextBox 23"/>
          <p:cNvSpPr txBox="1"/>
          <p:nvPr/>
        </p:nvSpPr>
        <p:spPr>
          <a:xfrm>
            <a:off x="6007607" y="219456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«Бул оңой эмеспи?»</a:t>
            </a:r>
          </a:p>
        </p:txBody>
      </p:sp>
      <p:cxnSp>
        <p:nvCxnSpPr>
          <p:cNvPr id="25" name="Connector 24"/>
          <p:cNvCxnSpPr/>
          <p:nvPr/>
        </p:nvCxnSpPr>
        <p:spPr>
          <a:xfrm>
            <a:off x="8567928" y="2468879"/>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8796528" y="219456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«Кадамдарды бирге карайлы.»</a:t>
            </a:r>
          </a:p>
        </p:txBody>
      </p:sp>
      <p:sp>
        <p:nvSpPr>
          <p:cNvPr id="27" name="TextBox 26"/>
          <p:cNvSpPr txBox="1"/>
          <p:nvPr/>
        </p:nvSpPr>
        <p:spPr>
          <a:xfrm>
            <a:off x="6007607" y="315468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«Туура эмес!»</a:t>
            </a:r>
          </a:p>
        </p:txBody>
      </p:sp>
      <p:cxnSp>
        <p:nvCxnSpPr>
          <p:cNvPr id="28" name="Connector 27"/>
          <p:cNvCxnSpPr/>
          <p:nvPr/>
        </p:nvCxnSpPr>
        <p:spPr>
          <a:xfrm>
            <a:off x="8567928" y="342900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796528" y="315468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«Кантип таптың? Текшерип көрөлүчү.»</a:t>
            </a:r>
          </a:p>
        </p:txBody>
      </p:sp>
      <p:sp>
        <p:nvSpPr>
          <p:cNvPr id="30" name="TextBox 29"/>
          <p:cNvSpPr txBox="1"/>
          <p:nvPr/>
        </p:nvSpPr>
        <p:spPr>
          <a:xfrm>
            <a:off x="6007607" y="411480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«Сен математикага жөндөмсүзсүң»</a:t>
            </a:r>
          </a:p>
        </p:txBody>
      </p:sp>
      <p:cxnSp>
        <p:nvCxnSpPr>
          <p:cNvPr id="31" name="Connector 30"/>
          <p:cNvCxnSpPr/>
          <p:nvPr/>
        </p:nvCxnSpPr>
        <p:spPr>
          <a:xfrm>
            <a:off x="8567928" y="438912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8796528" y="411480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«Азырынча. Машыксаң, үйрөнөсүң.»</a:t>
            </a:r>
          </a:p>
        </p:txBody>
      </p:sp>
      <p:sp>
        <p:nvSpPr>
          <p:cNvPr id="33" name="TextBox 32"/>
          <p:cNvSpPr txBox="1"/>
          <p:nvPr/>
        </p:nvSpPr>
        <p:spPr>
          <a:xfrm>
            <a:off x="6007607" y="5074920"/>
            <a:ext cx="2651760" cy="868680"/>
          </a:xfrm>
          <a:prstGeom prst="rect">
            <a:avLst/>
          </a:prstGeom>
          <a:noFill/>
        </p:spPr>
        <p:txBody>
          <a:bodyPr wrap="square" anchor="t" lIns="45720" rIns="45720" tIns="27432" bIns="27432">
            <a:spAutoFit/>
          </a:bodyPr>
          <a:lstStyle/>
          <a:p>
            <a:pPr algn="l">
              <a:lnSpc>
                <a:spcPct val="105000"/>
              </a:lnSpc>
            </a:pPr>
            <a:r>
              <a:rPr sz="1500" b="0" i="1">
                <a:solidFill>
                  <a:srgbClr val="6B7280"/>
                </a:solidFill>
                <a:latin typeface="PT Sans"/>
              </a:rPr>
              <a:t>«Тез чыгар»</a:t>
            </a:r>
          </a:p>
        </p:txBody>
      </p:sp>
      <p:cxnSp>
        <p:nvCxnSpPr>
          <p:cNvPr id="34" name="Connector 33"/>
          <p:cNvCxnSpPr/>
          <p:nvPr/>
        </p:nvCxnSpPr>
        <p:spPr>
          <a:xfrm>
            <a:off x="8567928" y="5349240"/>
            <a:ext cx="182880" cy="0"/>
          </a:xfrm>
          <a:prstGeom prst="line">
            <a:avLst/>
          </a:prstGeom>
          <a:ln w="25400">
            <a:solidFill>
              <a:srgbClr val="A8440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8796528" y="5074920"/>
            <a:ext cx="2880360" cy="868680"/>
          </a:xfrm>
          <a:prstGeom prst="rect">
            <a:avLst/>
          </a:prstGeom>
          <a:noFill/>
        </p:spPr>
        <p:txBody>
          <a:bodyPr wrap="square" anchor="t" lIns="45720" rIns="45720" tIns="27432" bIns="27432">
            <a:spAutoFit/>
          </a:bodyPr>
          <a:lstStyle/>
          <a:p>
            <a:pPr algn="l">
              <a:lnSpc>
                <a:spcPct val="105000"/>
              </a:lnSpc>
            </a:pPr>
            <a:r>
              <a:rPr sz="1500" b="1" i="0">
                <a:solidFill>
                  <a:srgbClr val="1F2430"/>
                </a:solidFill>
                <a:latin typeface="PT Sans"/>
              </a:rPr>
              <a:t>«Шашпа, адегенде тилке чий.»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