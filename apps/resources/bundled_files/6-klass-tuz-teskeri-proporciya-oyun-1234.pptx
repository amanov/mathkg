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1234 оюну: ар бир окуучу өз деңгээлинен баштайт. Жооп слайдында ар бир суроонун жообу жана кыскача түшүндүрмөсү бар.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1234: төрт 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Түз жана тескери пропорциялуулук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1/9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80160"/>
            <a:ext cx="11332159" cy="4206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31520" y="1536192"/>
            <a:ext cx="457200" cy="457200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1490472"/>
            <a:ext cx="996696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 i="0">
                <a:solidFill>
                  <a:srgbClr val="1F2430"/>
                </a:solidFill>
                <a:latin typeface="PT Sans"/>
              </a:rPr>
              <a:t>Ар бир раундда 4 суроо: ① жеңил … ④ эң кыйын.</a:t>
            </a:r>
          </a:p>
        </p:txBody>
      </p:sp>
      <p:sp>
        <p:nvSpPr>
          <p:cNvPr id="13" name="Oval 12"/>
          <p:cNvSpPr/>
          <p:nvPr/>
        </p:nvSpPr>
        <p:spPr>
          <a:xfrm>
            <a:off x="731520" y="2404872"/>
            <a:ext cx="457200" cy="457200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2359152"/>
            <a:ext cx="996696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 i="0">
                <a:solidFill>
                  <a:srgbClr val="1F2430"/>
                </a:solidFill>
                <a:latin typeface="PT Sans"/>
              </a:rPr>
              <a:t>Ар бир окуучу өзүнө ылайыктуусунан баштайт, андан кийин кийинкисине өтөт.</a:t>
            </a:r>
          </a:p>
        </p:txBody>
      </p:sp>
      <p:sp>
        <p:nvSpPr>
          <p:cNvPr id="15" name="Oval 14"/>
          <p:cNvSpPr/>
          <p:nvPr/>
        </p:nvSpPr>
        <p:spPr>
          <a:xfrm>
            <a:off x="731520" y="3273552"/>
            <a:ext cx="457200" cy="457200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227832"/>
            <a:ext cx="996696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 i="0">
                <a:solidFill>
                  <a:srgbClr val="1F2430"/>
                </a:solidFill>
                <a:latin typeface="PT Sans"/>
              </a:rPr>
              <a:t>Жоопторду мини-тактага жазгыла. Жооп слайдында текшергиле.</a:t>
            </a:r>
          </a:p>
        </p:txBody>
      </p:sp>
      <p:sp>
        <p:nvSpPr>
          <p:cNvPr id="17" name="Oval 16"/>
          <p:cNvSpPr/>
          <p:nvPr/>
        </p:nvSpPr>
        <p:spPr>
          <a:xfrm>
            <a:off x="731520" y="4142231"/>
            <a:ext cx="457200" cy="457200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4096511"/>
            <a:ext cx="996696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 i="0">
                <a:solidFill>
                  <a:srgbClr val="1F2430"/>
                </a:solidFill>
                <a:latin typeface="PT Sans"/>
              </a:rPr>
              <a:t>Кыйын болсо – жакшы! Мээң өсүп жатат.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007047" y="5669280"/>
            <a:ext cx="4754880" cy="41148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1D3557"/>
                </a:solidFill>
                <a:latin typeface="PT Sans"/>
              </a:rPr>
              <a:t>Блум: Колдонуу · Талдоо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29768" y="5669280"/>
            <a:ext cx="5852160" cy="41148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A84400"/>
                </a:solidFill>
                <a:latin typeface="PT Sans"/>
              </a:rPr>
              <a:t>Бүгүнкү окуя: Тоңдогу ашар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1-раунд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Түз жана тескери пропорциялуулук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2/9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66928" y="1371600"/>
            <a:ext cx="502920" cy="502920"/>
          </a:xfrm>
          <a:prstGeom prst="ellipse">
            <a:avLst/>
          </a:prstGeom>
          <a:noFill/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007A5A"/>
                </a:solidFill>
                <a:latin typeface="PT Sans"/>
              </a:rPr>
              <a:t>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7007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1 нан 30 сом. 7 нан канча сом?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63055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300216" y="1371600"/>
            <a:ext cx="502920" cy="502920"/>
          </a:xfrm>
          <a:prstGeom prst="ellipse">
            <a:avLst/>
          </a:prstGeom>
          <a:noFill/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A84400"/>
                </a:solidFill>
                <a:latin typeface="PT Sans"/>
              </a:rPr>
              <a:t>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0295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4 кг мейиз 1 000 сом. 1 кг канча?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9768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66928" y="3886200"/>
            <a:ext cx="502920" cy="502920"/>
          </a:xfrm>
          <a:prstGeom prst="ellipse">
            <a:avLst/>
          </a:prstGeom>
          <a:noFill/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24418C"/>
                </a:solidFill>
                <a:latin typeface="PT Sans"/>
              </a:rPr>
              <a:t>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07007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6 кап 3 000 сом. 9 кап канча?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63055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300216" y="3886200"/>
            <a:ext cx="502920" cy="50292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1D3557"/>
                </a:solidFill>
                <a:latin typeface="PT Sans"/>
              </a:rPr>
              <a:t>④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40295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2,5 кг мейиз 625 сом. 4 кг канча?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1-раунд — жооптор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Түз жана тескери пропорциялуулук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3/9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66928" y="1371600"/>
            <a:ext cx="502920" cy="502920"/>
          </a:xfrm>
          <a:prstGeom prst="ellipse">
            <a:avLst/>
          </a:prstGeom>
          <a:noFill/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007A5A"/>
                </a:solidFill>
                <a:latin typeface="PT Sans"/>
              </a:rPr>
              <a:t>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7007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1 нан 30 сом. 7 нан канча сом?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207007" y="28346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210 сом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63055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300216" y="1371600"/>
            <a:ext cx="502920" cy="502920"/>
          </a:xfrm>
          <a:prstGeom prst="ellipse">
            <a:avLst/>
          </a:prstGeom>
          <a:noFill/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A84400"/>
                </a:solidFill>
                <a:latin typeface="PT Sans"/>
              </a:rPr>
              <a:t>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0295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4 кг мейиз 1 000 сом. 1 кг канча?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940295" y="28346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250 сом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9768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66928" y="3886200"/>
            <a:ext cx="502920" cy="502920"/>
          </a:xfrm>
          <a:prstGeom prst="ellipse">
            <a:avLst/>
          </a:prstGeom>
          <a:noFill/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24418C"/>
                </a:solidFill>
                <a:latin typeface="PT Sans"/>
              </a:rPr>
              <a:t>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07007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6 кап 3 000 сом. 9 кап канча?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207007" y="53492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4 500 сом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63055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300216" y="3886200"/>
            <a:ext cx="502920" cy="50292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1D3557"/>
                </a:solidFill>
                <a:latin typeface="PT Sans"/>
              </a:rPr>
              <a:t>④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40295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2,5 кг мейиз 625 сом. 4 кг канча?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940295" y="53492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1 000 сом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2-раунд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Түз жана тескери пропорциялуулук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4/9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66928" y="1371600"/>
            <a:ext cx="502920" cy="502920"/>
          </a:xfrm>
          <a:prstGeom prst="ellipse">
            <a:avLst/>
          </a:prstGeom>
          <a:noFill/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007A5A"/>
                </a:solidFill>
                <a:latin typeface="PT Sans"/>
              </a:rPr>
              <a:t>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7007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2 киши 8 саат. 4 киши канча саат?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63055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300216" y="1371600"/>
            <a:ext cx="502920" cy="502920"/>
          </a:xfrm>
          <a:prstGeom prst="ellipse">
            <a:avLst/>
          </a:prstGeom>
          <a:noFill/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A84400"/>
                </a:solidFill>
                <a:latin typeface="PT Sans"/>
              </a:rPr>
              <a:t>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0295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3 киши 10 күн. 5 киши канча күн?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9768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66928" y="3886200"/>
            <a:ext cx="502920" cy="502920"/>
          </a:xfrm>
          <a:prstGeom prst="ellipse">
            <a:avLst/>
          </a:prstGeom>
          <a:noFill/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24418C"/>
                </a:solidFill>
                <a:latin typeface="PT Sans"/>
              </a:rPr>
              <a:t>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07007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60 км/саат менен 3 саат. 90 км/саат менен канча?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63055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300216" y="3886200"/>
            <a:ext cx="502920" cy="50292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1D3557"/>
                </a:solidFill>
                <a:latin typeface="PT Sans"/>
              </a:rPr>
              <a:t>④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40295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Суу 6 кишиге 10 күнгө жетет. 2 киши кетти. Канча күнгө жетет?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2-раунд — жооптор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Түз жана тескери пропорциялуулук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5/9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66928" y="1371600"/>
            <a:ext cx="502920" cy="502920"/>
          </a:xfrm>
          <a:prstGeom prst="ellipse">
            <a:avLst/>
          </a:prstGeom>
          <a:noFill/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007A5A"/>
                </a:solidFill>
                <a:latin typeface="PT Sans"/>
              </a:rPr>
              <a:t>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7007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2 киши 8 саат. 4 киши канча саат?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207007" y="28346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4 саат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63055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300216" y="1371600"/>
            <a:ext cx="502920" cy="502920"/>
          </a:xfrm>
          <a:prstGeom prst="ellipse">
            <a:avLst/>
          </a:prstGeom>
          <a:noFill/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A84400"/>
                </a:solidFill>
                <a:latin typeface="PT Sans"/>
              </a:rPr>
              <a:t>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0295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3 киши 10 күн. 5 киши канча күн?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940295" y="28346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6 күн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9768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66928" y="3886200"/>
            <a:ext cx="502920" cy="502920"/>
          </a:xfrm>
          <a:prstGeom prst="ellipse">
            <a:avLst/>
          </a:prstGeom>
          <a:noFill/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24418C"/>
                </a:solidFill>
                <a:latin typeface="PT Sans"/>
              </a:rPr>
              <a:t>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07007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60 км/саат менен 3 саат. 90 км/саат менен канча?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207007" y="53492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2 саат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63055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300216" y="3886200"/>
            <a:ext cx="502920" cy="50292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1D3557"/>
                </a:solidFill>
                <a:latin typeface="PT Sans"/>
              </a:rPr>
              <a:t>④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40295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Суу 6 кишиге 10 күнгө жетет. 2 киши кетти. Канча күнгө жетет?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940295" y="53492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15 күн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3-раунд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Түз жана тескери пропорциялуулук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6/9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66928" y="1371600"/>
            <a:ext cx="502920" cy="502920"/>
          </a:xfrm>
          <a:prstGeom prst="ellipse">
            <a:avLst/>
          </a:prstGeom>
          <a:noFill/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007A5A"/>
                </a:solidFill>
                <a:latin typeface="PT Sans"/>
              </a:rPr>
              <a:t>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7007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x: 1, 2, 3;  y: 7, 14, 21. Түзбү?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63055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300216" y="1371600"/>
            <a:ext cx="502920" cy="502920"/>
          </a:xfrm>
          <a:prstGeom prst="ellipse">
            <a:avLst/>
          </a:prstGeom>
          <a:noFill/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A84400"/>
                </a:solidFill>
                <a:latin typeface="PT Sans"/>
              </a:rPr>
              <a:t>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0295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x: 2, 4, 8;  y: 20, 10, 5. Кайсы?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9768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66928" y="3886200"/>
            <a:ext cx="502920" cy="502920"/>
          </a:xfrm>
          <a:prstGeom prst="ellipse">
            <a:avLst/>
          </a:prstGeom>
          <a:noFill/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24418C"/>
                </a:solidFill>
                <a:latin typeface="PT Sans"/>
              </a:rPr>
              <a:t>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07007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x: 1, 2, 3;  y: 5, 8, 11. Кайсы?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63055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300216" y="3886200"/>
            <a:ext cx="502920" cy="50292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1D3557"/>
                </a:solidFill>
                <a:latin typeface="PT Sans"/>
              </a:rPr>
              <a:t>④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40295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Тескери: x 3, 6, □;  y 12, □, 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3-раунд — жооптор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Түз жана тескери пропорциялуулук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7/9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66928" y="1371600"/>
            <a:ext cx="502920" cy="502920"/>
          </a:xfrm>
          <a:prstGeom prst="ellipse">
            <a:avLst/>
          </a:prstGeom>
          <a:noFill/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007A5A"/>
                </a:solidFill>
                <a:latin typeface="PT Sans"/>
              </a:rPr>
              <a:t>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7007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x: 1, 2, 3;  y: 7, 14, 21. Түзбү?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207007" y="28346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Ооба, түз: y ÷ x = 7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63055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300216" y="1371600"/>
            <a:ext cx="502920" cy="502920"/>
          </a:xfrm>
          <a:prstGeom prst="ellipse">
            <a:avLst/>
          </a:prstGeom>
          <a:noFill/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A84400"/>
                </a:solidFill>
                <a:latin typeface="PT Sans"/>
              </a:rPr>
              <a:t>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0295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x: 2, 4, 8;  y: 20, 10, 5. Кайсы?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940295" y="28346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Тескери: x × y = 40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9768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66928" y="3886200"/>
            <a:ext cx="502920" cy="502920"/>
          </a:xfrm>
          <a:prstGeom prst="ellipse">
            <a:avLst/>
          </a:prstGeom>
          <a:noFill/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24418C"/>
                </a:solidFill>
                <a:latin typeface="PT Sans"/>
              </a:rPr>
              <a:t>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07007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x: 1, 2, 3;  y: 5, 8, 11. Кайсы?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207007" y="53492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Эч кайсысы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63055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300216" y="3886200"/>
            <a:ext cx="502920" cy="50292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1D3557"/>
                </a:solidFill>
                <a:latin typeface="PT Sans"/>
              </a:rPr>
              <a:t>④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40295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Тескери: x 3, 6, □;  y 12, □, 4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940295" y="53492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6 жана 9 (x × y = 36)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4-раунд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Түз жана тескери пропорциялуулук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8/9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66928" y="1371600"/>
            <a:ext cx="502920" cy="502920"/>
          </a:xfrm>
          <a:prstGeom prst="ellipse">
            <a:avLst/>
          </a:prstGeom>
          <a:noFill/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007A5A"/>
                </a:solidFill>
                <a:latin typeface="PT Sans"/>
              </a:rPr>
              <a:t>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7007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4 киши 5 күндө 1 000 кирпич тизет. 1 киши 1 күндө канча?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63055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300216" y="1371600"/>
            <a:ext cx="502920" cy="502920"/>
          </a:xfrm>
          <a:prstGeom prst="ellipse">
            <a:avLst/>
          </a:prstGeom>
          <a:noFill/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A84400"/>
                </a:solidFill>
                <a:latin typeface="PT Sans"/>
              </a:rPr>
              <a:t>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0295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6 киши 9 күн. 3 күндө бүтүрүш үчүн канча киши?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9768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66928" y="3886200"/>
            <a:ext cx="502920" cy="502920"/>
          </a:xfrm>
          <a:prstGeom prst="ellipse">
            <a:avLst/>
          </a:prstGeom>
          <a:noFill/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24418C"/>
                </a:solidFill>
                <a:latin typeface="PT Sans"/>
              </a:rPr>
              <a:t>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07007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90 км 1 саат 30 мүнөттө. 150 км канча убакытта?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63055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300216" y="3886200"/>
            <a:ext cx="502920" cy="50292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1D3557"/>
                </a:solidFill>
                <a:latin typeface="PT Sans"/>
              </a:rPr>
              <a:t>④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40295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5 киши 8 саат. 2 саатта бүтүш үчүн канча киши кошулат?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4-раунд — жооптор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Түз жана тескери пропорциялуулук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9/9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66928" y="1371600"/>
            <a:ext cx="502920" cy="502920"/>
          </a:xfrm>
          <a:prstGeom prst="ellipse">
            <a:avLst/>
          </a:prstGeom>
          <a:noFill/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007A5A"/>
                </a:solidFill>
                <a:latin typeface="PT Sans"/>
              </a:rPr>
              <a:t>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7007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4 киши 5 күндө 1 000 кирпич тизет. 1 киши 1 күндө канча?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207007" y="28346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50 кирпич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63055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300216" y="1371600"/>
            <a:ext cx="502920" cy="502920"/>
          </a:xfrm>
          <a:prstGeom prst="ellipse">
            <a:avLst/>
          </a:prstGeom>
          <a:noFill/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A84400"/>
                </a:solidFill>
                <a:latin typeface="PT Sans"/>
              </a:rPr>
              <a:t>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0295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6 киши 9 күн. 3 күндө бүтүрүш үчүн канча киши?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940295" y="28346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18 киши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9768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66928" y="3886200"/>
            <a:ext cx="502920" cy="502920"/>
          </a:xfrm>
          <a:prstGeom prst="ellipse">
            <a:avLst/>
          </a:prstGeom>
          <a:noFill/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24418C"/>
                </a:solidFill>
                <a:latin typeface="PT Sans"/>
              </a:rPr>
              <a:t>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07007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90 км 1 саат 30 мүнөттө. 150 км канча убакытта?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207007" y="53492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2 саат 30 мүнөт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63055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300216" y="3886200"/>
            <a:ext cx="502920" cy="50292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1D3557"/>
                </a:solidFill>
                <a:latin typeface="PT Sans"/>
              </a:rPr>
              <a:t>④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40295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5 киши 8 саат. 2 саатта бүтүш үчүн канча киши кошулат?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940295" y="53492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15 киши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