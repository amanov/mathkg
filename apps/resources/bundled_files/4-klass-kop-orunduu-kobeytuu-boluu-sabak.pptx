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кымыз 200 литрден көппү, азбы? Куту 30дан көппү? Жоопту сабактын аягында (22-слайд) текшеребиз. Сабаа – кымыз ачытуучу чоң тери идиш.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Айбийке: 282. Болжол 50 × 6 = 300, ал эми 482 өтө чоң. Бекжан эсте калган 4тү көбөйтүүдөн мурун кошту (М3): адегенде 4 × 6 = 24, анан 24 + 4 = 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чакмак дептерден кесилген 25 тилке (10 чакмактан), 2 чоң квадрат (10 × 10) жана 40 жалгыз чакмак (же таякча боолору: 10 таякча = 1 боо). 1) 4 топ түзүшөт, ар биринде 5 тилке жана 8 чакмак = 58. 2) Тилкелерди чогултушат: 20 тилке = 200, 10 тилке = 1 чоң квадрат. 3) 32 чакмактан 30ун 3 тилкеге алмаштырышат, 2 калат. 4) Баары: 2 чоң квадрат, 3 тилке, 2 чакмак = 232. Бөлүү үчүн: 232ни 6 кагаз табакка бөлүшөт, чоң квадратты тилкеге алмаштырып.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Үч сүрөттү чакмак дептерге бирге чийебиз. 1) Тор: 4 катар (4 сабаа), туурасы 50 жана 8. 200 + 32 = 232. 2) Мамыча: ошол эле 32 жана 200; эсте калган 3 кичине жазылат, КӨБӨЙТКӨНДӨН КИЙИН кошулат (М2, М3). 4 × 58 = 58 × 4: мамычада чоң санды үстүнө жазабыз. 3) Кыска бөлүү: 2 жүздүк 6га бөлүнбөйт → 23 ондук : 6 = 3 (калд. 5), 52 : 6 = 8 (калд. 4). Китептеги «бурчтук» менен бөлүү – ушунун узун жазылышы.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Тор жана мамыча – бир эле эсеп: разряд боюнча көбөйтүп, кошобуз (бөлүштүрүү касиети). Эки орундуу санга: 23 × 14 = 23 × 10 + 23 × 4, экинчи сап 230 (М4). Бөлүүдө: калдык бөлүүчүдөн кичине (М6); текшерүү: тийинди × бөлүүчү + калдык = бөлүнүүчү. Ката коддору М1–М8 мугалим картасында.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2–3 окуучу үн чыгарып айтат: «4 × 30 жана 4 × 4». 3-класстагы «10 топтон бир топ ал» ыкмасы эми чоң сандар менен. «Оозеки беш мүнөт» (класста колдонуу картасы, 3-бет)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✓; В = М3; Г = М1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бирдей топтор → калдык → эки кадам. Жооптор: 6 × 24 = 144 бөтөлкө; 75 : 8 = 9 (калд. 3); 192 : 5 = 38 (калд. 2 л)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× 58: тор менен 4 × 50 = 200 жана 4 × 8 = 32, баары 232 литр. 232 : 6 = 38 (калд. 4): 38 куту толот, 4 бөтөлкө калат. Текшерүү: 38 × 6 + 4 = 232. 4 бөтөлкө да кутуга салынышы керек, ошондуктан 39 куту (М7: «38 куту» деп токтоп калбайбыз).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252; 345; 70 : 8 = 8 (калд. 6) → 9 дасторкон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Суусамырдагы кымыз майрамы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Айбийке менен Бекжан Суусамыр жайлоосунда Асан атасына кымыз майрамына даярданууга жардам беришет.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КББА, «Математика боюнча мугалимдер үчүн колдонмо, 1–4-класстар» (2011), 4-класс: 4.3.1–4.3.9 (көп орундуу санды бир жана эки орундуу санга көбөйтүү, бөлүү). Тапшырмалар MathKG үчүн жаңы түзүлдү.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Суусамырдагы кымыз майрамы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Жайында Суусамыр жайлоосунда кымыз майрамы өтөт: эл кымыз, боорсок, каймак алып келет.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Асан ата майрамга 4 сабаа кымыз даярдады, ар бир сабаада 58 литр.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Айбийке менен Бекжан кымызды 1 литрлик бөтөлкөлөргө куюшат.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Бөтөлкөлөр 6дан кутуга салынат. Канча куту даярдаш керек?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сабаада 58 литрден кымыз бар. Аны 1 литрлик бөтөлкөлөргө куюп, 6 бөтөлкөдөн кутуга салышат. Канча литр кымыз бар? Канча куту керек?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Эки-үч орундуу санды бир орундуу санга тор жана мамыча ыкмасы менен көбөйтөм.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Эки орундуу санды эки орундуу санга тор менен көбөйтүп, мамычага өткөрөм.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Үч орундуу санды бир орундуу санга калдык менен бөлөм жана көбөйтүү менен текшерем.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Тор, × бир орундуу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Мамыча, эсте калган сан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× эки орундуу, калдык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Болжол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чакмак тилкелер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Кымыз майрамы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Куту, бөтөлкө, сом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 = топтор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2, 3, 4кө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Жадыбал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Массив, сан үй-бүлөсү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Тор, мамыча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Калдык менен бөлүү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Көп орундуу бөлүү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 бөлчөк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×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×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56 :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236 = 200 + □ + 6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 ×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×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56 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236 = 200 + □ + 6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Асан ата: «47 кутуда 6дан бөтөлкө. Баары канча?» Мамычада 47 × 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Бекжан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7 × 6 = 42: 2, эсте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+ 4 = 8;  8 × 6 = 48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Жооп: 482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Айбийке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40 × 6 = 240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7 × 6 = 42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240 + 42 = 282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Адегенде болжолдо: 50 × 6 =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чакмак кагаздан тилкелер (10 чакмак) жана жалгыз чакмактар. 4 × 58: 4 топ, ар биринде 5 тилке жана 8 чакмак. Анан 10 чакмакты 1 тилкеге алмаштыр.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1-сабаа: 58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85800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54964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54964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4964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4964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4964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4964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4964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4964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54964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4964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24128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24128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4128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24128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4128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4128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24128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24128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24128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4128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93292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193292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93292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93292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93292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93292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93292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93292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93292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93292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362456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362456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62456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362456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362456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362456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362456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362456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362456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362456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604772" y="256032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46504" y="256032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04772" y="272033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46504" y="272033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04772" y="288036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46504" y="288036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04772" y="304037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46504" y="304037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94360" y="2468879"/>
            <a:ext cx="1385316" cy="123444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79" y="2103120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2-сабаа: 58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2560320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560320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560320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560320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560320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560320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560320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560320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560320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2729484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2729484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729484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729484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729484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729484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729484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729484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729484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729484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2898648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2898648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898648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898648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898648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898648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898648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898648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898648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898648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3067811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3067811" y="2665476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067811" y="2770632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067811" y="2875788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067811" y="2980944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067811" y="3086100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067811" y="3191256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067811" y="3296412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067811" y="3401568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067811" y="3506724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3236976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3236976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236976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236976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236976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236976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236976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236976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236976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236976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3479291" y="256032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21023" y="256032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479291" y="272033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621023" y="272033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479291" y="288036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621023" y="288036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479291" y="304037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621023" y="304037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2468879" y="2468879"/>
            <a:ext cx="1385316" cy="123444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43400" y="2103120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3-сабаа: 58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434840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4434840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434840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434840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434840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434840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434840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434840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434840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434840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4604003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4604003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604003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604003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604003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604003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604003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604003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604003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604003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4773168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4773168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773168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73168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773168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773168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773168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773168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773168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773168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4942331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4942331" y="2665476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4942331" y="2770632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4942331" y="2875788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4942331" y="2980944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4942331" y="3086100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4942331" y="3191256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4942331" y="3296412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4942331" y="3401568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942331" y="3506724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5111496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5111496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5111496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5111496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5111496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5111496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111496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5111496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111496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111496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5353812" y="256032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495544" y="256032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353812" y="272033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95544" y="272033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353812" y="288036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95544" y="288036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353812" y="304037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95544" y="304037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4343400" y="2468879"/>
            <a:ext cx="1385316" cy="123444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217920" y="2103120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4-сабаа: 58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309359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6309359" y="2665476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309359" y="2770632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309359" y="2875788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309359" y="2980944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309359" y="3086100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309359" y="3191256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6309359" y="3296412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6309359" y="3401568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6309359" y="3506724"/>
            <a:ext cx="105157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202"/>
          <p:cNvSpPr/>
          <p:nvPr/>
        </p:nvSpPr>
        <p:spPr>
          <a:xfrm>
            <a:off x="6478523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>
            <a:off x="6478523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6478523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6478523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478523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478523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6478523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6478523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6478523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6478523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ctangle 212"/>
          <p:cNvSpPr/>
          <p:nvPr/>
        </p:nvSpPr>
        <p:spPr>
          <a:xfrm>
            <a:off x="6647688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6647688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6647688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6647688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6647688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6647688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6647688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6647688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6647688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6647688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Rectangle 222"/>
          <p:cNvSpPr/>
          <p:nvPr/>
        </p:nvSpPr>
        <p:spPr>
          <a:xfrm>
            <a:off x="6816851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6816851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6816851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6816851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6816851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6816851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6816851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6816851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6816851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6816851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ectangle 232"/>
          <p:cNvSpPr/>
          <p:nvPr/>
        </p:nvSpPr>
        <p:spPr>
          <a:xfrm>
            <a:off x="6986016" y="256032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Connector 233"/>
          <p:cNvCxnSpPr/>
          <p:nvPr/>
        </p:nvCxnSpPr>
        <p:spPr>
          <a:xfrm>
            <a:off x="6986016" y="26654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6986016" y="277063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6986016" y="28757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6986016" y="29809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6986016" y="308610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6986016" y="319125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6986016" y="329641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6986016" y="340156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6986016" y="350672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ectangle 242"/>
          <p:cNvSpPr/>
          <p:nvPr/>
        </p:nvSpPr>
        <p:spPr>
          <a:xfrm>
            <a:off x="7228331" y="256032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370063" y="256032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228331" y="272033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370063" y="272033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228331" y="288036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370063" y="2880360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228331" y="304037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370063" y="3040379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6217920" y="2468879"/>
            <a:ext cx="1385316" cy="123444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48640" y="3749039"/>
            <a:ext cx="74980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4A5A70"/>
                </a:solidFill>
                <a:latin typeface="PT Sans"/>
              </a:rPr>
              <a:t>4 топ: 20 тилке + 32 чакмак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85800" y="4206240"/>
            <a:ext cx="1051560" cy="105156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790956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685800" y="4311396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96112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85800" y="4416552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01268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85800" y="4521707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106424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685800" y="4626864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211580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685800" y="4732020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316736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85800" y="4837176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421892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685800" y="4942331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527048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685800" y="5047488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632204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685800" y="5152644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Rectangle 271"/>
          <p:cNvSpPr/>
          <p:nvPr/>
        </p:nvSpPr>
        <p:spPr>
          <a:xfrm>
            <a:off x="1874520" y="4206240"/>
            <a:ext cx="1051560" cy="105156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3" name="Connector 272"/>
          <p:cNvCxnSpPr/>
          <p:nvPr/>
        </p:nvCxnSpPr>
        <p:spPr>
          <a:xfrm>
            <a:off x="1979676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874520" y="4311396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2084832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874520" y="4416552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2189988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874520" y="4521707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2295144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874520" y="4626864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2400300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874520" y="4732020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2505456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874520" y="4837176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2610612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874520" y="4942331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2715768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874520" y="5047488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2820924" y="4206240"/>
            <a:ext cx="0" cy="105156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874520" y="5152644"/>
            <a:ext cx="1051560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Rectangle 290"/>
          <p:cNvSpPr/>
          <p:nvPr/>
        </p:nvSpPr>
        <p:spPr>
          <a:xfrm>
            <a:off x="3154680" y="420624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>
            <a:off x="3154680" y="431139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3154680" y="441655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3154680" y="4521707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3154680" y="462686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3154680" y="473202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3154680" y="48371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3154680" y="4942331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3154680" y="50474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3154680" y="51526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Rectangle 300"/>
          <p:cNvSpPr/>
          <p:nvPr/>
        </p:nvSpPr>
        <p:spPr>
          <a:xfrm>
            <a:off x="3323844" y="420624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Connector 301"/>
          <p:cNvCxnSpPr/>
          <p:nvPr/>
        </p:nvCxnSpPr>
        <p:spPr>
          <a:xfrm>
            <a:off x="3323844" y="431139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3323844" y="441655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3323844" y="4521707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3323844" y="462686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323844" y="473202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3323844" y="48371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3323844" y="4942331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3323844" y="50474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3323844" y="51526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ectangle 310"/>
          <p:cNvSpPr/>
          <p:nvPr/>
        </p:nvSpPr>
        <p:spPr>
          <a:xfrm>
            <a:off x="3493008" y="4206240"/>
            <a:ext cx="105156" cy="1051560"/>
          </a:xfrm>
          <a:prstGeom prst="rect">
            <a:avLst/>
          </a:prstGeom>
          <a:solidFill>
            <a:srgbClr val="B5E2D3"/>
          </a:solidFill>
          <a:ln w="1143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2" name="Connector 311"/>
          <p:cNvCxnSpPr/>
          <p:nvPr/>
        </p:nvCxnSpPr>
        <p:spPr>
          <a:xfrm>
            <a:off x="3493008" y="431139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3493008" y="4416552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3493008" y="4521707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3493008" y="462686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3493008" y="4732020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3493008" y="4837176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3493008" y="4942331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3493008" y="5047488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493008" y="5152644"/>
            <a:ext cx="105156" cy="0"/>
          </a:xfrm>
          <a:prstGeom prst="line">
            <a:avLst/>
          </a:prstGeom>
          <a:ln w="63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Rectangle 320"/>
          <p:cNvSpPr/>
          <p:nvPr/>
        </p:nvSpPr>
        <p:spPr>
          <a:xfrm>
            <a:off x="3799332" y="5152644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3950208" y="5152644"/>
            <a:ext cx="105156" cy="105156"/>
          </a:xfrm>
          <a:prstGeom prst="rect">
            <a:avLst/>
          </a:prstGeom>
          <a:solidFill>
            <a:srgbClr val="F5E9E0"/>
          </a:solidFill>
          <a:ln w="1143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685800" y="5285232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2 жүздүк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3017520" y="5285232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3 ондук, 2 бирдик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4160520" y="4160520"/>
            <a:ext cx="40233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20 тилке = 2 жүздүк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30 чакмак = 3 тилке, 2 калат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4 × 58 = 232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8778240" y="2103120"/>
            <a:ext cx="29718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8915400" y="2167128"/>
            <a:ext cx="2743200" cy="3520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25 тилке (10 чакмак)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 чоң квадрат (100)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40 жалгыз чакмак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6 кагаз табак (бөлүү)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10 чакмак = 1 тилке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10 тилке = 1 жүздүк</a:t>
            </a:r>
          </a:p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4A5A70"/>
                </a:solidFill>
                <a:latin typeface="PT Sans"/>
              </a:rPr>
              <a:t>Бөлүүдө тескерисинче: 1 жүздүк → 10 тилке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тор → мамыча → бөлүү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Тор: ар бир разряд өзүнчө. Мамыча: ошол эле эсеп кыска. Бөлүү: разрядды кезек менен бөлөбүз.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362407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21284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76272"/>
            <a:ext cx="293827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Тор ыкмасы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74320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4A5A70"/>
                </a:solidFill>
                <a:latin typeface="PT Sans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743200"/>
            <a:ext cx="777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4A5A70"/>
                </a:solidFill>
                <a:latin typeface="PT San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090672"/>
            <a:ext cx="45720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4A5A70"/>
                </a:solidFill>
                <a:latin typeface="PT Sa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1288" y="3090672"/>
            <a:ext cx="1828800" cy="118872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F2430"/>
                </a:solidFill>
                <a:latin typeface="PT Sans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90088" y="3090672"/>
            <a:ext cx="777240" cy="118872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F2430"/>
                </a:solidFill>
                <a:latin typeface="PT Sans"/>
              </a:rP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4416552"/>
            <a:ext cx="325831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200 + 32 = 232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4873752"/>
            <a:ext cx="325831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4 катар = 4 сабаа; туурасы 50 жана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39" y="2103120"/>
            <a:ext cx="362407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9600" y="221284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2176272"/>
            <a:ext cx="293827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Мамыча: 58 × 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11039" y="2788920"/>
            <a:ext cx="0" cy="192024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95087" y="2788920"/>
            <a:ext cx="0" cy="192024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79135" y="2788920"/>
            <a:ext cx="0" cy="192024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3183" y="2788920"/>
            <a:ext cx="0" cy="192024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47231" y="2788920"/>
            <a:ext cx="0" cy="192024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11039" y="2788920"/>
            <a:ext cx="153619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1039" y="3172968"/>
            <a:ext cx="153619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11039" y="3557015"/>
            <a:ext cx="153619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11039" y="3941063"/>
            <a:ext cx="153619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11039" y="4325112"/>
            <a:ext cx="153619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11039" y="4709160"/>
            <a:ext cx="153619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79135" y="2807208"/>
            <a:ext cx="384048" cy="30723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3183" y="31729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9135" y="31729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3183" y="3557015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1039" y="3557015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×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11039" y="3968496"/>
            <a:ext cx="1536192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3183" y="3986783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9135" y="3986783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5087" y="3986783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4391" y="2834639"/>
            <a:ext cx="16764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8 × 4 = 32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A84400"/>
                </a:solidFill>
                <a:latin typeface="PT Sans"/>
              </a:rPr>
              <a:t>2 жаз, 3 эсте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5 × 4 = 20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A84400"/>
                </a:solidFill>
                <a:latin typeface="PT Sans"/>
              </a:rPr>
              <a:t>20 + 3 = 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5320" y="4846320"/>
            <a:ext cx="325831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4 × 58 = 58 × 4: чоң сан үстүндө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5112" y="2103120"/>
            <a:ext cx="362407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272272" y="221284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29472" y="2176272"/>
            <a:ext cx="293827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Кыска бөлүү, текшерүү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63712" y="2788920"/>
            <a:ext cx="0" cy="1152143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747760" y="2788920"/>
            <a:ext cx="0" cy="1152143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31808" y="2788920"/>
            <a:ext cx="0" cy="1152143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515856" y="2788920"/>
            <a:ext cx="0" cy="1152143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899904" y="2788920"/>
            <a:ext cx="0" cy="1152143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283952" y="2788920"/>
            <a:ext cx="0" cy="1152143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668000" y="2788920"/>
            <a:ext cx="0" cy="1152143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363712" y="2788920"/>
            <a:ext cx="23042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363712" y="3172968"/>
            <a:ext cx="23042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363712" y="3557015"/>
            <a:ext cx="23042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363712" y="3941063"/>
            <a:ext cx="2304288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363712" y="31729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766048" y="3172968"/>
            <a:ext cx="0" cy="384047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766048" y="3172968"/>
            <a:ext cx="1179576" cy="0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747760" y="31729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76944" y="3154679"/>
            <a:ext cx="23042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1808" y="31729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31808" y="278892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60992" y="3154679"/>
            <a:ext cx="230428" cy="2304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15856" y="31729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5856" y="2788920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45624" y="2788920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калд. 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17991" y="4023360"/>
            <a:ext cx="3258312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 &lt; 6: 2 жүздүк = 20 ондук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23 : 6 = 3 (калд. 5)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52 : 6 = 8 (калд. 4)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17991" y="4800600"/>
            <a:ext cx="32583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Текшер: 38 × 6 + 4 = 232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081272" y="3817620"/>
            <a:ext cx="173735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933943" y="3817620"/>
            <a:ext cx="173737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4 × 58 = 200 + 32 = 232;    232 : 6 = 38 (калд. 4);    38 × 6 + 4 = 232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Болжолдо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4 × 58 ≈ 4 × 60 = 240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50 |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Разрядга бөл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Ар бир разрядды көбөйт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Эстегини кош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Көбөйткөндөн КИЙИН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Текшер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Болжол менен; бөлүүнү × менен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4 × 58 = 4 × 50 + 4 × 8 = 200 + 32 = 232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Майрамга 23 үй-бүлө келди. Ар бир үй-бүлөгө 14 боорсок. Канча боорсок керек?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23 ×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23 × 10 + 23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тор: 10 жана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230 + 92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эки сап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322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≈ 20 × 15 = 300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Боорсок = </a:t>
            </a:r>
            <a:r>
              <a:rPr sz="3400" b="1">
                <a:solidFill>
                  <a:srgbClr val="24418C"/>
                </a:solidFill>
                <a:latin typeface="PT Sans"/>
              </a:rPr>
              <a:t>322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Айбийке 158 бөтөлкөнү 6дан кутуга салат. Канча куту толот, канча бөтөлкө калат?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158 : 6 =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1. Түшүн: 6дан топ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150 : 6 =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2. План: болжол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15 ондук : 6 = 2 (калд.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3. Аткар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38 : 6 = 6 (калд.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3. Аткар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73752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26 × 6 + 2 = 158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873752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4. Текшер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158 : 6 = </a:t>
            </a:r>
            <a:r>
              <a:rPr sz="3400" b="1">
                <a:solidFill>
                  <a:srgbClr val="24418C"/>
                </a:solidFill>
                <a:latin typeface="PT Sans"/>
              </a:rPr>
              <a:t>26 (калд. 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Разряд боюнча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× 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5 × 30 + 5 ×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150 + 20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Ондуктарды жана бирдиктерди өзүнчө көбөйт, анан кош.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Жакын ондуктан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× 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 × 30 − 4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120 − 4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29 = 30 − 1: 30 топтон бир топ ал.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Бөлүп бөлүү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96 :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80 : 4 + 16 :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20 + 4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Бөлүнүүчүнү ыңгайлуу бөлүктөргө бөл.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→ разряд боюнча эсепте → болжол менен салыштыр.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47 кутуда 6дан бөтөлкө. Баары канча?  47 × 6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482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Бир кутуда 24 бөтөлкө. Асан ата 6 куту алып келди. Баары канча бөтөлкө?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75 бөтөлкөнү 8ден кутуга салышты. Канча куту толду? Канча бөтөлкө калды?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сабаада 64 литрден кымыз. Аны 5 литрлик бидондорго куюшат. Канча бидон толот, канча литр калат?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Бир кутуда 24 бөтөлкө. Асан ата 6 куту алып келди. Баары канча бөтөлкө?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580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48232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8884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9536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0188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× 24 = 144 бөтөлкө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75 бөтөлкөнү 8ден кутуга салышты. Канча куту толду? Канча бөтөлкө калды?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9600" y="3017520"/>
            <a:ext cx="210952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 × 8 = 72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29120" y="3017520"/>
            <a:ext cx="23439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75 : 8 = 9 (калд. 3)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 сабаада 64 литрден кымыз. Аны 5 литрлик бидондорго куюшат. Канча бидон толот, канча литр калат?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227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357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34880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192 : 5 = 38 (калд. 2 л)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36 ×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214 ×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15 × 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435 :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247 :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Бир бөтөлкө кымыз 95 сом. 8 бөтөлкө канча турат?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36 ×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214 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642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15 ×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435 :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247 :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41 (калд. 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Бир бөтөлкө кымыз 95 сом. 8 бөтөлкө канча турат?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760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4 сабаада 58 литрден кымыз бар. Аны 1 литрлик бөтөлкөлөргө куюп, 6 бөтөлкөдөн кутуга салышат. Канча литр кымыз бар? Канча куту керек?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Кымыз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58 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2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58 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58 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9579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58 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232 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 × 58 = 232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литр = 232 бөтөлкө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232 : 6 = 38 (калд. 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38 куту толот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38 × 6 + 4 = 232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текшердик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38 + 1 = 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куту керек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232 литр; 38 куту + 4 бөтөлкө → 39 куту керек.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Кымыз майрамы жөнүндө маселе түз: көбөйтүү же калдык менен бөлүү керек болсун. Жообун көбөйтүү менен текшер.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Айбийке, Бекжан, Асан ата.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36 × 7 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23 × 15 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Майрамга 70 конок. Бир дасторконго 8 киши. Канча дасторкон керек?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Тор ыкмасы менен мамычанын кайсы жери окшош?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23 × 14тө экинчи сап 230, 23 эмес?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Калдык качан жоопко 1 кошууну талап кылат?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Чакмак тилкелер (10, 100) ар бир жупта: алмаштырууну колу менен жасашсын.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эсептен мурун болжолдотом: «4 × 60 = 240, жооп ушуга жакын».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Тордогу сандарды мамычадагы сандар менен бир түс менен байланыштырам (М1, М4, М8).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Калдык &lt; бөлүүчү; жоопту маселеге кайтарып окуйбуз (М6, М7).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