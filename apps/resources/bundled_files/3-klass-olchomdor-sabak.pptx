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баштык толобу же жокпу? 1 кгдан аз калабы? Жоопту сабактын аягында (22-слайд) текшеребиз. Проектор жок болсо, таразаны доскага чийем.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Айпери: узундук = аягы − башы, 9 − 2 = 7 см (Бектур – 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окуучуга: чакмак дептерден кесилген кагаз тилке (2 чакмак = 1 см, 0дөн 15ке чейин белгилешет). Ар бир топко: кийим илгич, жип, эки пакет (илгич тараза), суу куюлган 1 л бөтөлкө (≈ 1 кг), стакан. Окуучулар бутакты, карандашты өлчөшөт; жаңгак салынган пакетти 1 л суу менен салыштырышат; бөтөлкөнү стакан менен толтурушат. Эрежени окуучулар өздөрү айтышат: 0дөн баштайбыз; 1 л = 5 стакан.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куралды кезек менен талкуулайбыз. Сызгыч: бутак 2ден 9га чейин, 9 − 2 = 7 см (М3). Тараза: 1 кг 5 бөлүккө бөлүнгөн, бир бөлүк 1000 ÷ 5 = 200 г; жебе 3 кгдан 2 бөлүк ары: 3 кг 400 г, Бектурдун жаңгагы (М4). Идиш: белгилер 200 сайын жазылган, ортосунда бир сызыкча, демек бир бөлүк 100 мл; суу 700 мл. Окуучулар дептерге ар бирин жазышат.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Чоң бирдиктен кичине бирдикке өткөндө көбөйтөбүз. Эсте: метр гана 100 сантиметр, калгандары 1000 (М1). Аттуу санда ар бир бөлүктү айландырып, анан кошобуз; бош разрядга 0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«1000ге чейин 650».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М5; Б = ✓; В = М1;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калганы → салыштыруу. Жооптор: 1 кг 300 г + 900 г = 2 кг 200 г; 5 л − 2 л 300 мл = 2 л 700 мл; 2 м 10 см − 1 м 35 см = 75 см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Килограммдарды жана граммдарды өзүнчө кошобуз: 5 кг 1200 г. 1200 г = 1 кг 200 г, ошондуктан 6 кг 200 г. Калганы: 7 кг − 6 кг 200 г = 800 г (1000 г − 200 г). Текшерүү: 6 кг 200 г + 800 г = 7 кг.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2070 г; 8 см; 1 л 700 мл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Узундук, масса жана көлөм: өлчөө, айландыруу,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Арстанбаптагы жаңгак түшүмү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Бектур менен Айпери Турдубай чоң аталарынын жаңгак багында жаңгак терип, тараза, сызгыч жана идиш менен өлчөшөт.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(2011), 3-класс: узундук жана масса бирдиктери, аттуу сандар; көлөм (л, мл).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Арстанбаптагы жаңгак түшүмү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 келди. Арстанбаптагы жаңгак токоюнда жаңгак бышты.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Бектур менен Айпери Турдубай чоң аталарына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ата үч курал алып келди: сызгыч, тараза жана суу үчүн өлчөөчү идиш.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Бектур 3 кг 400 г, Айпери 2 кг 800 г жаңгак терди. Чоң атанын баштыгына 7 кг жаңгак батат.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Бектур 3 кг 400 г, Айпери 2 кг 800 г жаңгак терди. Баары канча? Баштыкка 7 кг батат. Баштыкка дагы канча жаңгак батат?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Сызгыч, тараза жана өлчөөчү идиш менен өлчөйм; адегенде шкаланын бир бөлүгү канча экенин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Бирдиктерди айландырам: 1 м = 100 см, 1 кг = 1000 г, 1 л = 1000 мл, 1 км = 1000 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Аттуу сандарды салыштырам, кошом, кемитем жана маселе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Өлчөө жана шкала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Айландыруу, салыштыруу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Кошуу, кемитүү,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Шкаланы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өлчөп, жазабыз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Арстанбап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Жаңгак түшүмү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см, м, кг, 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Сызгыч менен өлчөө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мм, дм, км, г, мл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Аттуу сандар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Тонна, центнер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Аянт, кыймыл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бөлчөк: 1,5 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Көлөм: см³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100 − 35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□ + 600 = 1000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Кайсынысы чоң: 1050 же 1500?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250 + 750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100 − 35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□ + 600 = 1000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Кайсынысы чоң: 1050 же 1500?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 + 750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Турдубай ата: «Бутактын узундугу канча?» Бутак сызгычтын 2 белгисинен 9 белгисине чейин жатат.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Бектур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Бутактын учу 9да.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9 см.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Айпери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2ден 9га чейин аралыкты санайм.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9 − 2 =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7 см.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Сызгыч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сызгыч, кийим илгич тараза жана бөтөлкө менен өлчөйбүз.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675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1. Кагаз сызгыч: 2 чакмак = 1 см. 0дөн баштайбыз!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2788920"/>
            <a:ext cx="6364224" cy="502920"/>
          </a:xfrm>
          <a:prstGeom prst="rect">
            <a:avLst/>
          </a:prstGeom>
          <a:solidFill>
            <a:srgbClr val="F7EBC4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6868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17319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8719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91639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6596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73736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4028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1460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8600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8892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063239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834639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37559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1188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38328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8620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6052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93192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43484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0916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8056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8348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5780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3212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80644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57784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8076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35508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12648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62940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90372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67512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2990088"/>
            <a:ext cx="41148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" y="2560320"/>
            <a:ext cx="3840480" cy="182880"/>
          </a:xfrm>
          <a:prstGeom prst="roundRect">
            <a:avLst>
              <a:gd name="adj" fmla="val 50000"/>
            </a:avLst>
          </a:prstGeom>
          <a:solidFill>
            <a:srgbClr val="8C5A32"/>
          </a:solidFill>
          <a:ln w="6350">
            <a:solidFill>
              <a:srgbClr val="8C5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5688" y="2377439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27832" y="2377439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00600" y="2395728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= 7 см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3520440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2. Илгич тараза: 1 л суу ≈ 1 кг</a:t>
            </a:r>
          </a:p>
        </p:txBody>
      </p:sp>
      <p:sp>
        <p:nvSpPr>
          <p:cNvPr id="55" name="Oval 54"/>
          <p:cNvSpPr/>
          <p:nvPr/>
        </p:nvSpPr>
        <p:spPr>
          <a:xfrm>
            <a:off x="2121408" y="3886200"/>
            <a:ext cx="237744" cy="237744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240280" y="4114800"/>
            <a:ext cx="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868680" y="4389120"/>
            <a:ext cx="137160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40280" y="4389120"/>
            <a:ext cx="137160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68680" y="4663440"/>
            <a:ext cx="274320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88719" y="4663440"/>
            <a:ext cx="0" cy="457200"/>
          </a:xfrm>
          <a:prstGeom prst="line">
            <a:avLst/>
          </a:prstGeom>
          <a:ln w="1587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804671" y="5120640"/>
            <a:ext cx="768096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77823" y="5349240"/>
            <a:ext cx="621792" cy="384048"/>
          </a:xfrm>
          <a:prstGeom prst="roundRect">
            <a:avLst>
              <a:gd name="adj" fmla="val 20000"/>
            </a:avLst>
          </a:prstGeom>
          <a:solidFill>
            <a:srgbClr val="8C5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79" y="5833872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жаңгак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291840" y="4663440"/>
            <a:ext cx="0" cy="457200"/>
          </a:xfrm>
          <a:prstGeom prst="line">
            <a:avLst/>
          </a:prstGeom>
          <a:ln w="1587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2907792" y="5120640"/>
            <a:ext cx="768096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980944" y="5349240"/>
            <a:ext cx="621792" cy="384048"/>
          </a:xfrm>
          <a:prstGeom prst="roundRect">
            <a:avLst>
              <a:gd name="adj" fmla="val 20000"/>
            </a:avLst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0" y="5833872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1 л суу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60520" y="352044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3. Бөтөлкө жана стакан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34840" y="4069080"/>
            <a:ext cx="68580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36008" y="3886200"/>
            <a:ext cx="283464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489704" y="4343400"/>
            <a:ext cx="576072" cy="1133856"/>
          </a:xfrm>
          <a:prstGeom prst="roundRect">
            <a:avLst>
              <a:gd name="adj" fmla="val 12000"/>
            </a:avLst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5559552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 л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94960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22392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79008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806440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63056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90488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47104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74536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31152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58584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03520" y="555955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5 × 200 мл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49240" y="4069080"/>
            <a:ext cx="201168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 л = 1000 мл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863840" y="2057400"/>
            <a:ext cx="388620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0" y="2130552"/>
            <a:ext cx="361188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топто: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дептерден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кийим илгич, жип, 2 пакет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суу куюлган 1 л бөтөлкө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стакан, жаңгак же таш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1F2430"/>
                </a:solidFill>
                <a:latin typeface="PT Sans"/>
              </a:rPr>
              <a:t>Суроолор: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Бутак канча см? 0 кайда?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Жаңгак 1 кгдан оорбу, жеңилби?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л бөтөлкөгө канча стакан?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1" i="0">
                <a:solidFill>
                  <a:srgbClr val="24418C"/>
                </a:solidFill>
                <a:latin typeface="PT Sans"/>
              </a:rPr>
              <a:t>Өлчөйбүз → жазабыз → салыштырабыз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шкаланы окуйбуз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Адегенде: бир бөлүк канча? Анан санайбыз. Сызгычта: аягы минус башы.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363931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48839"/>
            <a:ext cx="33649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Сызгыч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4983480"/>
            <a:ext cx="2724912" cy="43891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9 − 2 = 7 см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4820" y="2103120"/>
            <a:ext cx="363931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980" y="2148839"/>
            <a:ext cx="33649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Тараза: 1 бөлүк = 200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2020" y="4983480"/>
            <a:ext cx="2724912" cy="43891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3 кг 400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363931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2148839"/>
            <a:ext cx="33649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Идиш: 1 бөлүк = 100 мл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7072" y="4983480"/>
            <a:ext cx="2724912" cy="43891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700 мл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5" y="3429000"/>
            <a:ext cx="3255264" cy="502920"/>
          </a:xfrm>
          <a:prstGeom prst="rect">
            <a:avLst/>
          </a:prstGeom>
          <a:solidFill>
            <a:srgbClr val="F7EBC4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49808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21207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906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759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685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96112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2537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463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389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1315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2415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3815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7167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093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3019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5945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19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1798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24724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27650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30576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335024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06424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36428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9354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42280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45206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81328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1058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3984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6911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9837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27631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399031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65689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8615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1541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4467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73936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80319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83245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86171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89097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920240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691640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4950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97876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0802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03728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066543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580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12506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5432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18358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12848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984248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4210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27136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30063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32989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359152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841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41767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4693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47619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505456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276856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53471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56397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59323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2249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51760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8102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1028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3954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6880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98064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569464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82732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85658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8584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1510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44368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7362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0288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3215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6141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90672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862072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11993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14919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17845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20771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236976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6623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29549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32475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35401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383279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3154679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341254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44180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47106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50032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529584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55884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58810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61736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64662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675888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447288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767328" y="3630168"/>
            <a:ext cx="41148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B7280"/>
                </a:solidFill>
                <a:latin typeface="PT Sans"/>
              </a:rPr>
              <a:t>см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335024" y="3200400"/>
            <a:ext cx="2048255" cy="182880"/>
          </a:xfrm>
          <a:prstGeom prst="roundRect">
            <a:avLst>
              <a:gd name="adj" fmla="val 50000"/>
            </a:avLst>
          </a:prstGeom>
          <a:solidFill>
            <a:srgbClr val="8C5A32"/>
          </a:solidFill>
          <a:ln w="6350">
            <a:solidFill>
              <a:srgbClr val="8C5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914753" y="3017520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529230" y="3017520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1335024" y="2926080"/>
            <a:ext cx="0" cy="502920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383279" y="2926080"/>
            <a:ext cx="0" cy="502920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612647" y="4069080"/>
            <a:ext cx="327355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Башы: 2.  Аягы: 9.</a:t>
            </a:r>
          </a:p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Аралыкты санайбыз: 7 см.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127040" y="2799892"/>
            <a:ext cx="1934870" cy="164592"/>
          </a:xfrm>
          <a:prstGeom prst="roundRect">
            <a:avLst>
              <a:gd name="adj" fmla="val 50000"/>
            </a:avLst>
          </a:prstGeom>
          <a:solidFill>
            <a:srgbClr val="4A5A70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984748" y="2926079"/>
            <a:ext cx="219456" cy="252374"/>
          </a:xfrm>
          <a:prstGeom prst="rect">
            <a:avLst/>
          </a:prstGeom>
          <a:solidFill>
            <a:srgbClr val="4A5A70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152278" y="3136391"/>
            <a:ext cx="1884395" cy="185074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53228" y="3136391"/>
            <a:ext cx="1682496" cy="16824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 flipV="1">
            <a:off x="5703295" y="4502190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5634532" y="4222890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 flipV="1">
            <a:off x="5570974" y="4490278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5461532" y="4383107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5379753" y="4258216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329211" y="4121062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312115" y="3977639"/>
            <a:ext cx="176662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5403189" y="3822191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5329211" y="3814978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379753" y="3659425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5461532" y="3517779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570974" y="3396232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03295" y="3300095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634532" y="3421493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5852713" y="3233570"/>
            <a:ext cx="28595" cy="8800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6012697" y="3199565"/>
            <a:ext cx="9672" cy="9203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6166582" y="3199565"/>
            <a:ext cx="9672" cy="9203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6307643" y="3233570"/>
            <a:ext cx="28595" cy="8800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6397325" y="3300095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6097219" y="3421493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6556057" y="3396232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6652554" y="3517779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6724660" y="3659425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H="1">
            <a:off x="6769225" y="3814978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700174" y="3977639"/>
            <a:ext cx="176662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6328562" y="3822191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71" name="Connector 170"/>
          <p:cNvCxnSpPr/>
          <p:nvPr/>
        </p:nvCxnSpPr>
        <p:spPr>
          <a:xfrm flipH="1" flipV="1">
            <a:off x="6769225" y="4121062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 flipV="1">
            <a:off x="6724660" y="4258216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 flipV="1">
            <a:off x="6652554" y="4383107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 flipV="1">
            <a:off x="6556057" y="4490278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6397325" y="4502190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6097219" y="4222890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728716" y="4230014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кг</a:t>
            </a:r>
          </a:p>
        </p:txBody>
      </p:sp>
      <p:cxnSp>
        <p:nvCxnSpPr>
          <p:cNvPr id="178" name="Connector 177"/>
          <p:cNvCxnSpPr/>
          <p:nvPr/>
        </p:nvCxnSpPr>
        <p:spPr>
          <a:xfrm flipV="1">
            <a:off x="6094476" y="3552393"/>
            <a:ext cx="585302" cy="425246"/>
          </a:xfrm>
          <a:prstGeom prst="line">
            <a:avLst/>
          </a:prstGeom>
          <a:ln w="381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6030468" y="3913631"/>
            <a:ext cx="128016" cy="128016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10222992" y="3119018"/>
            <a:ext cx="548640" cy="1049274"/>
          </a:xfrm>
          <a:prstGeom prst="roundRect">
            <a:avLst>
              <a:gd name="adj" fmla="val 45000"/>
            </a:avLst>
          </a:prstGeom>
          <a:noFill/>
          <a:ln w="317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9262872" y="2606040"/>
            <a:ext cx="118872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9290304" y="3443630"/>
            <a:ext cx="1133856" cy="1466697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3" name="Connector 182"/>
          <p:cNvCxnSpPr/>
          <p:nvPr/>
        </p:nvCxnSpPr>
        <p:spPr>
          <a:xfrm>
            <a:off x="9290304" y="3443630"/>
            <a:ext cx="1133856" cy="0"/>
          </a:xfrm>
          <a:prstGeom prst="line">
            <a:avLst/>
          </a:prstGeom>
          <a:ln w="190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9262872" y="4661611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9262872" y="4458614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9555480" y="4321454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9262872" y="4255617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9262872" y="4052620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9555480" y="3915460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400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9262872" y="3849624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9262872" y="3646627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9555480" y="3509467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600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9262872" y="3443630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262872" y="3240633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9555480" y="3103473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800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9262872" y="3037636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9262872" y="2834640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9555480" y="2697480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884664" y="263347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6B7280"/>
                </a:solidFill>
                <a:latin typeface="PT Sans"/>
              </a:rPr>
              <a:t>мл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Сызгыч: 9 − 2 = 7 см;    тараза: 3 кг + 2 × 200 г = 3 кг 400 г;    идиш: 700 мл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см = 10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дм = 10 см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м = 100 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м = 10 дм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км = 1000 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кг = 1000 г,  1 л = 1000 мл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Аттуу сан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2 м 5 см = 200 см + 5 см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 кг 50 г = 3000 г + 50 г = 3050 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Турдубай ата эртең менен 2 кг 700 г, кечинде 1 кг 600 г жаңгак чакты. Баары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кг 700 г + 1 кг 600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кг 1300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кг жана г өзүнчө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 кг 300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1300 г = 1 кг 300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кг 300 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Жип 3 м 20 см. Айпери 1 м 50 см кесип алды. Канча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м 20 см − 1 м 50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 м 120 см − 1 м 50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м = 100 см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 м 70 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Калды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 м 70 см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1000ге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кг − 350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1000 г − 350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350 + 650 = 1000: толуктоочу санды тап.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 метрге чейин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м 70 см + 50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 м + 20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 м 20 см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70 + 30 = 100: адегенде толук метр, анан калган 20 см.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Майдала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л − 300 мл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= 1 л 1000 мл − 300 мл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 л 700 мл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литрди 1000 мл кылып майдалайбыз.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Турдубай ата жаңгак кагуучу таякты өлчөдү: 3 м 5 см. Бул канча сантиметр?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35 см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305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3005 см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 см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Айпери 1 кг 300 г, Бектур 900 г жаңгак чакты. Экөө баары канча жаңгак чакты?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Чакада 5 л суу бар эле. Жаңгак жууганга 2 л 300 мл кетти. Чакада канча суу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Бектурдун бою 1 м 35 см. Жаңгак көчөтүнүн бою 2 м 10 см. Көчөт Бектурдан канча бийик?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Айпери 1 кг 300 г, Бектур 900 г жаңгак чакты. Экөө баары канча жаңгак чакты?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3850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 кг 300 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51966" y="3017520"/>
            <a:ext cx="9588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900 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кг 300 г + 900 г = 2 кг 200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Чакада 5 л суу бар эле. Жаңгак жууганга 2 л 300 мл кетти. Чакада канча суу калды?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07819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 л 300 мл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97799" y="3017520"/>
            <a:ext cx="126571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5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л − 2 л 300 мл = 2 л 700 мл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Бектурдун бою 1 м 35 см. Жаңгак көчөтүнүн бою 2 м 10 см. Көчөт Бектурдан канча бийик?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15068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Бектур 1 м 35 см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2272" y="3574389"/>
            <a:ext cx="15068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Көчөт 1 м 35 см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9072" y="3574389"/>
            <a:ext cx="8371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м 10 см − 1 м 35 см = 75 см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см 5 мм = □ мм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кг 60 г = □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л 400 мл + 800 мл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м − 1 м 30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Салыштыр: 1 км 5 м □ 1050 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Чайнекке 1 л 500 мл суу батат. 600 мл ичишти. Канча калды?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см 5 мм = □ мм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 мм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кг 60 г = □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3060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л 400 мл + 800 мл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л 200 мл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м − 1 м 30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м 70 см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1 км 5 м □ 1050 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км 5 м &lt; 1050 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Чайнекке 1 л 500 мл суу батат. 600 мл ичишти. Канча калды?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900 мл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Бектур 3 кг 400 г, Айпери 2 кг 800 г жаңгак терди. Баары канча? Баштыкка 7 кг батат. Баштыкка дагы канча жаңгак батат?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439695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Бектур 3 кг 400 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1357" y="2240280"/>
            <a:ext cx="3621023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Айпери 2 кг 800 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2381" y="2240280"/>
            <a:ext cx="1034578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 кг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кг 400 г + 2 кг 800 г = 5 кг 1200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6 кг 200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1200 г = 1 кг 200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7 кг − 6 кг 200 г = 800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дагы батат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Баары 6 кг 200 г; баштыкка дагы 800 г жаңгак батат.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Арстанбаптагы жаңгак түшүмү жөнүндө маселе түз: эки аттуу санды кош же кемит (кг жана г, же м жана см).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Бектур, Айпери, Турдубай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кг 70 г = □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Бутак сызгычтын 3 белгисинен 11 белгисине чейин жатат. Узундугу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Чакада 3 л 200 мл суу бар эле. 1 л 500 мл төгүлдү. Канча калды?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 м = 100 см, бирок 1 кг = 1000 г? Кантип эстеп калабыз?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Таразаны же идишти окуудан мурун эмнени текшеребиз?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м 5 см канча сантиметр? Эмне үчүн 35 эмес?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окуучуга кагаз сызгыч жасатууну сунуштайм: 0 белгиси өзү коёт (М3).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Шкаланы окуудан мурун «бир бөлүк канча?» деп сурайм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Бирдиктер таблицасын доскада калтырам: метр гана 100, калгандары 1000 (М1).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Аттуу санды кемитүүдө тилке чийдирем: 1 м = 100 см майдаланат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