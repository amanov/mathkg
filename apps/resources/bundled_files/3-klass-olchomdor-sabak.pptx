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бериңиз. Окуучулар болжолдошсун: баштык толобу же жокпу? 1 кгдан аз калабы? Жоопту сабактын аягында (22-слайд) текшеребиз. Проектор жок болсо, таразаны доскага чийем.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2,6).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Айпери: узундук = аягы − башы, 9 − 2 = 7 см (Бектур – М3).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окуучуга: чакмак дептерден кесилген кагаз тилке (2 чакмак = 1 см, 0дөн 15ке чейин белгилешет). Ар бир топко: кийим илгич, жип, эки пакет (илгич тараза), суу куюлган 1 л бөтөлкө (≈ 1 кг), стакан. Окуучулар бутакты, карандашты өлчөшөт; жаңгак салынган пакетти 1 л суу менен салыштырышат; бөтөлкөнү стакан менен толтурушат. Эрежени окуучулар өздөрү айтышат: 0дөн баштайбыз; 1 л = 5 стакан. Проектор жок болсо, ушул сүрөттү доскага чийем.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Үч куралды кезек менен талкуулайбыз. Сызгыч: бутак 2ден 9га чейин, 9 − 2 = 7 см (М3). Тараза: 1 кг 5 бөлүккө бөлүнгөн, бир бөлүк 1000 ÷ 5 = 200 г; жебе 3 кгдан 2 бөлүк ары: 3 кг 400 г, Бектурдун жаңгагы (М4). Идиш: белгилер 200 сайын жазылган, ортосунда бир сызыкча, демек бир бөлүк 100 мл; суу 700 мл. Окуучулар дептерге ар бирин жазышат.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Чоң бирдиктен кичине бирдикке өткөндө көбөйтөбүз. Эсте: метр гана 100 сантиметр, калгандары 1000 (М1). Аттуу санда ар бир бөлүктү айландырып, анан кошобуз; бош разрядга 0 (М5).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ыкманы окуучу үн чыгарып айтат: «1000ге чейин 650». «Оозеки беш мүнөт» (класста колдонуу картасы) эки апта ушул ыкмаларды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М5; Б = ✓; В = М1; Г = М2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бөлүк – бүтүн → калганы → салыштыруу. Жооптор: 1 кг 300 г + 900 г = 2 кг 200 г; 5 л − 2 л 300 мл = 2 л 700 мл; 2 м 10 см − 1 м 35 см = 75 см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Килограммдарды жана граммдарды өзүнчө кошобуз: 5 кг 1200 г. 1200 г = 1 кг 200 г, ошондуктан 6 кг 200 г. Калганы: 7 кг − 6 кг 200 г = 800 г (1000 г − 200 г). Текшерүү: 6 кг 200 г + 800 г = 7 кг.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2070 г; 8 см; 1 л 700 мл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Узундук, масса жана көлөм: өлчөө, айландыруу, кошуу жана кемитүү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Арстанбаптагы жаңгак түшүмү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Бектур менен Айпери Турдубай чоң аталарынын жаңгак багында жаңгак терип, тараза, сызгыч жана идиш менен өлчөшөт.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Математика стандарты (2011), 3-класс: узундук жана масса бирдиктери, аттуу сандар; көлөм (л, мл). Мазмуну толук жаңы.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Арстанбаптагы жаңгак түшүмү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Күз келди. Арстанбаптагы жаңгак токоюнда жаңгак бышты.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Бектур менен Айпери Турдубай чоң аталарына жардам беришет.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Чоң ата үч курал алып келди: сызгыч, тараза жана суу үчүн өлчөөчү идиш.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Бектур 3 кг 400 г, Айпери 2 кг 800 г жаңгак терди. Чоң атанын баштыгына 7 кг жаңгак батат.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Бектур 3 кг 400 г, Айпери 2 кг 800 г жаңгак терди. Баары канча? Баштыкка 7 кг батат. Баштыкка дагы канча жаңгак батат?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Сызгыч, тараза жана өлчөөчү идиш менен өлчөйм; адегенде шкаланын бир бөлүгү канча экенин табам.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Бирдиктерди айландырам: 1 м = 100 см, 1 кг = 1000 г, 1 л = 1000 мл, 1 км = 1000 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Аттуу сандарды салыштырам, кошом, кемитем жана маселе чыгарам.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Өлчөө жана шкала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Айландыруу, салыштыруу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Кошуу, кемитүү, маселе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Шкаланы текшерүү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Жупта: өлчөп, жазабыз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Арстанбап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Жаңгак түшүмү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см, м, кг, л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Сызгыч менен өлчөө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/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мм, дм, км, г, мл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Аттуу сандар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18204" y="2057400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Тонна, центнер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Аянт, кыймыл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Ондук бөлчөк: 1,5 м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Көлөм: см³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100 − 35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□ + 600 = 1000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Кайсынысы чоң: 1050 же 1500?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250 + 750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100 − 35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□ + 600 = 1000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Кайсынысы чоң: 1050 же 1500?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1500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250 + 750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Турдубай ата: «Бутактын узундугу канча?» Бутак сызгычтын 2 белгисинен 9 белгисине чейин жатат.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Бектур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Бутактын учу 9да.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Демек 9 см.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Айпери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2ден 9га чейин аралыкты санайм.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9 − 2 = 7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Демек 7 см.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Сызгыч менен текшер.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кагаз сызгыч, кийим илгич тараза жана бөтөлкө менен өлчөйбүз.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66751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1. Кагаз сызгыч: 2 чакмак = 1 см. 0дөн баштайбыз!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" y="2788920"/>
            <a:ext cx="6364224" cy="502920"/>
          </a:xfrm>
          <a:prstGeom prst="rect">
            <a:avLst/>
          </a:prstGeom>
          <a:solidFill>
            <a:srgbClr val="F7EBC4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868680" y="2788920"/>
            <a:ext cx="0" cy="211226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2990088"/>
            <a:ext cx="457200" cy="3017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43000" y="2788920"/>
            <a:ext cx="0" cy="140817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417319" y="2788920"/>
            <a:ext cx="0" cy="211226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88719" y="2990088"/>
            <a:ext cx="457200" cy="3017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91639" y="2788920"/>
            <a:ext cx="0" cy="140817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965960" y="2788920"/>
            <a:ext cx="0" cy="211226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737360" y="2990088"/>
            <a:ext cx="457200" cy="3017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240280" y="2788920"/>
            <a:ext cx="0" cy="140817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514600" y="2788920"/>
            <a:ext cx="0" cy="211226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286000" y="2990088"/>
            <a:ext cx="457200" cy="3017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88920" y="2788920"/>
            <a:ext cx="0" cy="140817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063239" y="2788920"/>
            <a:ext cx="0" cy="211226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834639" y="2990088"/>
            <a:ext cx="457200" cy="3017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337559" y="2788920"/>
            <a:ext cx="0" cy="140817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611880" y="2788920"/>
            <a:ext cx="0" cy="211226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383280" y="2990088"/>
            <a:ext cx="457200" cy="3017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886200" y="2788920"/>
            <a:ext cx="0" cy="140817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160520" y="2788920"/>
            <a:ext cx="0" cy="211226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931920" y="2990088"/>
            <a:ext cx="457200" cy="3017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434840" y="2788920"/>
            <a:ext cx="0" cy="140817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709160" y="2788920"/>
            <a:ext cx="0" cy="211226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480560" y="2990088"/>
            <a:ext cx="457200" cy="3017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983480" y="2788920"/>
            <a:ext cx="0" cy="140817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257800" y="2788920"/>
            <a:ext cx="0" cy="211226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029200" y="2990088"/>
            <a:ext cx="457200" cy="3017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532120" y="2788920"/>
            <a:ext cx="0" cy="140817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806440" y="2788920"/>
            <a:ext cx="0" cy="211226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577840" y="2990088"/>
            <a:ext cx="457200" cy="3017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080760" y="2788920"/>
            <a:ext cx="0" cy="140817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355080" y="2788920"/>
            <a:ext cx="0" cy="211226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126480" y="2990088"/>
            <a:ext cx="457200" cy="3017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629400" y="2788920"/>
            <a:ext cx="0" cy="140817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903720" y="2788920"/>
            <a:ext cx="0" cy="211226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675120" y="2990088"/>
            <a:ext cx="457200" cy="3017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F2430"/>
                </a:solidFill>
                <a:latin typeface="PT Sans"/>
              </a:rP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95159" y="2990088"/>
            <a:ext cx="411480" cy="3017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B7280"/>
                </a:solidFill>
                <a:latin typeface="PT Sans"/>
              </a:rPr>
              <a:t>см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8680" y="2560320"/>
            <a:ext cx="3840480" cy="182880"/>
          </a:xfrm>
          <a:prstGeom prst="roundRect">
            <a:avLst>
              <a:gd name="adj" fmla="val 50000"/>
            </a:avLst>
          </a:prstGeom>
          <a:solidFill>
            <a:srgbClr val="8C5A32"/>
          </a:solidFill>
          <a:ln w="6350">
            <a:solidFill>
              <a:srgbClr val="8C5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075688" y="2377439"/>
            <a:ext cx="274320" cy="182880"/>
          </a:xfrm>
          <a:prstGeom prst="ellipse">
            <a:avLst/>
          </a:prstGeom>
          <a:solidFill>
            <a:srgbClr val="6FAF7A"/>
          </a:solidFill>
          <a:ln w="6350">
            <a:solidFill>
              <a:srgbClr val="6F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227832" y="2377439"/>
            <a:ext cx="274320" cy="182880"/>
          </a:xfrm>
          <a:prstGeom prst="ellipse">
            <a:avLst/>
          </a:prstGeom>
          <a:solidFill>
            <a:srgbClr val="6FAF7A"/>
          </a:solidFill>
          <a:ln w="6350">
            <a:solidFill>
              <a:srgbClr val="6F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00600" y="2395728"/>
            <a:ext cx="14630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007A5A"/>
                </a:solidFill>
                <a:latin typeface="PT Sans"/>
              </a:rPr>
              <a:t>= 7 см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3520440"/>
            <a:ext cx="3474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2. Илгич тараза: 1 л суу ≈ 1 кг</a:t>
            </a:r>
          </a:p>
        </p:txBody>
      </p:sp>
      <p:sp>
        <p:nvSpPr>
          <p:cNvPr id="55" name="Oval 54"/>
          <p:cNvSpPr/>
          <p:nvPr/>
        </p:nvSpPr>
        <p:spPr>
          <a:xfrm>
            <a:off x="2121408" y="3886200"/>
            <a:ext cx="237744" cy="237744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2240280" y="4114800"/>
            <a:ext cx="0" cy="27432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868680" y="4389120"/>
            <a:ext cx="1371600" cy="27432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240280" y="4389120"/>
            <a:ext cx="1371600" cy="27432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68680" y="4663440"/>
            <a:ext cx="2743200" cy="0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188719" y="4663440"/>
            <a:ext cx="0" cy="457200"/>
          </a:xfrm>
          <a:prstGeom prst="line">
            <a:avLst/>
          </a:prstGeom>
          <a:ln w="15875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804671" y="5120640"/>
            <a:ext cx="768096" cy="685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77823" y="5349240"/>
            <a:ext cx="621792" cy="384048"/>
          </a:xfrm>
          <a:prstGeom prst="roundRect">
            <a:avLst>
              <a:gd name="adj" fmla="val 20000"/>
            </a:avLst>
          </a:prstGeom>
          <a:solidFill>
            <a:srgbClr val="8C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79" y="5833872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жаңгак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3291840" y="4663440"/>
            <a:ext cx="0" cy="457200"/>
          </a:xfrm>
          <a:prstGeom prst="line">
            <a:avLst/>
          </a:prstGeom>
          <a:ln w="15875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2907792" y="5120640"/>
            <a:ext cx="768096" cy="685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2980944" y="5349240"/>
            <a:ext cx="621792" cy="384048"/>
          </a:xfrm>
          <a:prstGeom prst="roundRect">
            <a:avLst>
              <a:gd name="adj" fmla="val 20000"/>
            </a:avLst>
          </a:prstGeom>
          <a:solidFill>
            <a:srgbClr val="CF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43200" y="5833872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1 л суу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60520" y="352044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3. Бөтөлкө жана стакан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434840" y="4069080"/>
            <a:ext cx="685800" cy="14630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636008" y="3886200"/>
            <a:ext cx="283464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4489704" y="4343400"/>
            <a:ext cx="576072" cy="1133856"/>
          </a:xfrm>
          <a:prstGeom prst="roundRect">
            <a:avLst>
              <a:gd name="adj" fmla="val 12000"/>
            </a:avLst>
          </a:prstGeom>
          <a:solidFill>
            <a:srgbClr val="CF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97680" y="5559552"/>
            <a:ext cx="9601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24418C"/>
                </a:solidFill>
                <a:latin typeface="PT Sans"/>
              </a:rPr>
              <a:t>1 л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94960" y="4983480"/>
            <a:ext cx="310896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422392" y="5120640"/>
            <a:ext cx="256032" cy="338328"/>
          </a:xfrm>
          <a:prstGeom prst="rect">
            <a:avLst/>
          </a:prstGeom>
          <a:solidFill>
            <a:srgbClr val="CF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779008" y="4983480"/>
            <a:ext cx="310896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806440" y="5120640"/>
            <a:ext cx="256032" cy="338328"/>
          </a:xfrm>
          <a:prstGeom prst="rect">
            <a:avLst/>
          </a:prstGeom>
          <a:solidFill>
            <a:srgbClr val="CF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163056" y="4983480"/>
            <a:ext cx="310896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190488" y="5120640"/>
            <a:ext cx="256032" cy="338328"/>
          </a:xfrm>
          <a:prstGeom prst="rect">
            <a:avLst/>
          </a:prstGeom>
          <a:solidFill>
            <a:srgbClr val="CF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47104" y="4983480"/>
            <a:ext cx="310896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74536" y="5120640"/>
            <a:ext cx="256032" cy="338328"/>
          </a:xfrm>
          <a:prstGeom prst="rect">
            <a:avLst/>
          </a:prstGeom>
          <a:solidFill>
            <a:srgbClr val="CF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31152" y="4983480"/>
            <a:ext cx="310896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58584" y="5120640"/>
            <a:ext cx="256032" cy="338328"/>
          </a:xfrm>
          <a:prstGeom prst="rect">
            <a:avLst/>
          </a:prstGeom>
          <a:solidFill>
            <a:srgbClr val="CF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303520" y="5559552"/>
            <a:ext cx="21031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24418C"/>
                </a:solidFill>
                <a:latin typeface="PT Sans"/>
              </a:rPr>
              <a:t>5 × 200 мл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49240" y="4069080"/>
            <a:ext cx="201168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1 л = 1000 мл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863840" y="2057400"/>
            <a:ext cx="3886200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046720" y="2130552"/>
            <a:ext cx="3611880" cy="3657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Ар бир топто: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чакмак дептерден кагаз тилке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кийим илгич, жип, 2 пакет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суу куюлган 1 л бөтөлкө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стакан, жаңгак же таш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sz="1800" b="1" i="0">
                <a:solidFill>
                  <a:srgbClr val="1F2430"/>
                </a:solidFill>
                <a:latin typeface="PT Sans"/>
              </a:rPr>
              <a:t>Суроолор: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Бутак канча см? 0 кайда?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Жаңгак 1 кгдан оорбу, жеңилби?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 л бөтөлкөгө канча стакан?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sz="1600" b="1" i="0">
                <a:solidFill>
                  <a:srgbClr val="24418C"/>
                </a:solidFill>
                <a:latin typeface="PT Sans"/>
              </a:rPr>
              <a:t>Өлчөйбүз → жазабыз → салыштырабыз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шкаланы окуйбуз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Адегенде: бир бөлүк канча? Анан санайбыз. Сызгычта: аягы минус башы.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3639312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48839"/>
            <a:ext cx="33649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D3557"/>
                </a:solidFill>
                <a:latin typeface="PT Sans"/>
              </a:rPr>
              <a:t>Сызгыч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" y="4983480"/>
            <a:ext cx="2724912" cy="438912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24418C"/>
                </a:solidFill>
                <a:latin typeface="PT Sans"/>
              </a:rPr>
              <a:t>9 − 2 = 7 см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4820" y="2103120"/>
            <a:ext cx="3639312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1980" y="2148839"/>
            <a:ext cx="33649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D3557"/>
                </a:solidFill>
                <a:latin typeface="PT Sans"/>
              </a:rPr>
              <a:t>Тараза: 1 бөлүк = 200 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32020" y="4983480"/>
            <a:ext cx="2724912" cy="438912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24418C"/>
                </a:solidFill>
                <a:latin typeface="PT Sans"/>
              </a:rPr>
              <a:t>3 кг 400 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2103120"/>
            <a:ext cx="3639312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2" y="2148839"/>
            <a:ext cx="33649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D3557"/>
                </a:solidFill>
                <a:latin typeface="PT Sans"/>
              </a:rPr>
              <a:t>Идиш: 1 бөлүк = 100 мл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77072" y="4983480"/>
            <a:ext cx="2724912" cy="438912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24418C"/>
                </a:solidFill>
                <a:latin typeface="PT Sans"/>
              </a:rPr>
              <a:t>700 мл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5" y="3429000"/>
            <a:ext cx="3255264" cy="502920"/>
          </a:xfrm>
          <a:prstGeom prst="rect">
            <a:avLst/>
          </a:prstGeom>
          <a:solidFill>
            <a:srgbClr val="F7EBC4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49808" y="3429000"/>
            <a:ext cx="0" cy="211226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1207" y="3630168"/>
            <a:ext cx="457200" cy="3017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9068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08329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37590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66851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96112" y="3429000"/>
            <a:ext cx="0" cy="140817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25372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54633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83894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13155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42415" y="3429000"/>
            <a:ext cx="0" cy="211226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13815" y="3630168"/>
            <a:ext cx="457200" cy="3017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71676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00937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30198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159459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88719" y="3429000"/>
            <a:ext cx="0" cy="140817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217980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247241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276502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305763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335024" y="3429000"/>
            <a:ext cx="0" cy="211226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106424" y="3630168"/>
            <a:ext cx="457200" cy="3017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364284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393545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422806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452067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481328" y="3429000"/>
            <a:ext cx="0" cy="140817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510588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539849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569110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598371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627631" y="3429000"/>
            <a:ext cx="0" cy="211226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399031" y="3630168"/>
            <a:ext cx="457200" cy="3017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656892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686153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715414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744675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773936" y="3429000"/>
            <a:ext cx="0" cy="140817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803196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832457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861718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890979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920240" y="3429000"/>
            <a:ext cx="0" cy="211226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691640" y="3630168"/>
            <a:ext cx="457200" cy="3017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949500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978761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08022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37283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66543" y="3429000"/>
            <a:ext cx="0" cy="140817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95804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125065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154326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183587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212848" y="3429000"/>
            <a:ext cx="0" cy="211226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984248" y="3630168"/>
            <a:ext cx="457200" cy="3017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2242108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271369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300630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329891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359152" y="3429000"/>
            <a:ext cx="0" cy="140817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388412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417673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446934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476195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505456" y="3429000"/>
            <a:ext cx="0" cy="211226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2276856" y="3630168"/>
            <a:ext cx="457200" cy="3017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2534716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2563977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2593238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2622499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2651760" y="3429000"/>
            <a:ext cx="0" cy="140817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2681020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2710281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2739542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2768803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2798064" y="3429000"/>
            <a:ext cx="0" cy="211226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2569464" y="3630168"/>
            <a:ext cx="457200" cy="3017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2827324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2856585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2885846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2915107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2944368" y="3429000"/>
            <a:ext cx="0" cy="140817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2973628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3002889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3032150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3061411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3090672" y="3429000"/>
            <a:ext cx="0" cy="211226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2862072" y="3630168"/>
            <a:ext cx="457200" cy="3017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3119932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3149193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3178454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3207715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3236976" y="3429000"/>
            <a:ext cx="0" cy="140817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3266236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3295497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3324758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3354019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3383279" y="3429000"/>
            <a:ext cx="0" cy="211226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3154679" y="3630168"/>
            <a:ext cx="457200" cy="3017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3412540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441801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3471062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3500323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3529584" y="3429000"/>
            <a:ext cx="0" cy="140817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3558844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3588105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3617366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3646627" y="3429000"/>
            <a:ext cx="0" cy="85496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3675888" y="3429000"/>
            <a:ext cx="0" cy="211226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3447288" y="3630168"/>
            <a:ext cx="457200" cy="3017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767328" y="3630168"/>
            <a:ext cx="411480" cy="3017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B7280"/>
                </a:solidFill>
                <a:latin typeface="PT Sans"/>
              </a:rPr>
              <a:t>см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1335024" y="3200400"/>
            <a:ext cx="2048255" cy="182880"/>
          </a:xfrm>
          <a:prstGeom prst="roundRect">
            <a:avLst>
              <a:gd name="adj" fmla="val 50000"/>
            </a:avLst>
          </a:prstGeom>
          <a:solidFill>
            <a:srgbClr val="8C5A32"/>
          </a:solidFill>
          <a:ln w="6350">
            <a:solidFill>
              <a:srgbClr val="8C5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1914753" y="3017520"/>
            <a:ext cx="274320" cy="182880"/>
          </a:xfrm>
          <a:prstGeom prst="ellipse">
            <a:avLst/>
          </a:prstGeom>
          <a:solidFill>
            <a:srgbClr val="6FAF7A"/>
          </a:solidFill>
          <a:ln w="6350">
            <a:solidFill>
              <a:srgbClr val="6F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2529230" y="3017520"/>
            <a:ext cx="274320" cy="182880"/>
          </a:xfrm>
          <a:prstGeom prst="ellipse">
            <a:avLst/>
          </a:prstGeom>
          <a:solidFill>
            <a:srgbClr val="6FAF7A"/>
          </a:solidFill>
          <a:ln w="6350">
            <a:solidFill>
              <a:srgbClr val="6F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>
            <a:off x="1335024" y="2926080"/>
            <a:ext cx="0" cy="502920"/>
          </a:xfrm>
          <a:prstGeom prst="line">
            <a:avLst/>
          </a:prstGeom>
          <a:ln w="15875">
            <a:solidFill>
              <a:srgbClr val="A844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3383279" y="2926080"/>
            <a:ext cx="0" cy="502920"/>
          </a:xfrm>
          <a:prstGeom prst="line">
            <a:avLst/>
          </a:prstGeom>
          <a:ln w="15875">
            <a:solidFill>
              <a:srgbClr val="A844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612647" y="4069080"/>
            <a:ext cx="327355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Башы: 2.  Аягы: 9.</a:t>
            </a:r>
          </a:p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Аралыкты санайбыз: 7 см.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5127040" y="2799892"/>
            <a:ext cx="1934870" cy="164592"/>
          </a:xfrm>
          <a:prstGeom prst="roundRect">
            <a:avLst>
              <a:gd name="adj" fmla="val 50000"/>
            </a:avLst>
          </a:prstGeom>
          <a:solidFill>
            <a:srgbClr val="4A5A70"/>
          </a:solidFill>
          <a:ln w="127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984748" y="2926079"/>
            <a:ext cx="219456" cy="252374"/>
          </a:xfrm>
          <a:prstGeom prst="rect">
            <a:avLst/>
          </a:prstGeom>
          <a:solidFill>
            <a:srgbClr val="4A5A70"/>
          </a:solidFill>
          <a:ln w="127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5152278" y="3136391"/>
            <a:ext cx="1884395" cy="185074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5253228" y="3136391"/>
            <a:ext cx="1682496" cy="16824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5" name="Connector 144"/>
          <p:cNvCxnSpPr/>
          <p:nvPr/>
        </p:nvCxnSpPr>
        <p:spPr>
          <a:xfrm flipV="1">
            <a:off x="5703295" y="4502190"/>
            <a:ext cx="88331" cy="152994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/>
          <p:cNvSpPr txBox="1"/>
          <p:nvPr/>
        </p:nvSpPr>
        <p:spPr>
          <a:xfrm>
            <a:off x="5634532" y="4222890"/>
            <a:ext cx="45720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cxnSp>
        <p:nvCxnSpPr>
          <p:cNvPr id="147" name="Connector 146"/>
          <p:cNvCxnSpPr/>
          <p:nvPr/>
        </p:nvCxnSpPr>
        <p:spPr>
          <a:xfrm flipV="1">
            <a:off x="5570974" y="4490278"/>
            <a:ext cx="61920" cy="68769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5461532" y="4383107"/>
            <a:ext cx="74865" cy="54393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5379753" y="4258216"/>
            <a:ext cx="84538" cy="37638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5329211" y="4121062"/>
            <a:ext cx="90515" cy="19239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5312115" y="3977639"/>
            <a:ext cx="176662" cy="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5403189" y="3822191"/>
            <a:ext cx="45720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5329211" y="3814978"/>
            <a:ext cx="90515" cy="19239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5379753" y="3659425"/>
            <a:ext cx="84538" cy="37638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5461532" y="3517779"/>
            <a:ext cx="74865" cy="54393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5570974" y="3396232"/>
            <a:ext cx="61920" cy="68769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5703295" y="3300095"/>
            <a:ext cx="88331" cy="152994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>
            <a:off x="5634532" y="3421493"/>
            <a:ext cx="45720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5852713" y="3233570"/>
            <a:ext cx="28595" cy="88008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6012697" y="3199565"/>
            <a:ext cx="9672" cy="92030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H="1">
            <a:off x="6166582" y="3199565"/>
            <a:ext cx="9672" cy="92030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H="1">
            <a:off x="6307643" y="3233570"/>
            <a:ext cx="28595" cy="88008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H="1">
            <a:off x="6397325" y="3300095"/>
            <a:ext cx="88331" cy="152994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6097219" y="3421493"/>
            <a:ext cx="45720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cxnSp>
        <p:nvCxnSpPr>
          <p:cNvPr id="165" name="Connector 164"/>
          <p:cNvCxnSpPr/>
          <p:nvPr/>
        </p:nvCxnSpPr>
        <p:spPr>
          <a:xfrm flipH="1">
            <a:off x="6556057" y="3396232"/>
            <a:ext cx="61920" cy="68769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H="1">
            <a:off x="6652554" y="3517779"/>
            <a:ext cx="74865" cy="54393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H="1">
            <a:off x="6724660" y="3659425"/>
            <a:ext cx="84538" cy="37638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H="1">
            <a:off x="6769225" y="3814978"/>
            <a:ext cx="90515" cy="19239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H="1">
            <a:off x="6700174" y="3977639"/>
            <a:ext cx="176662" cy="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Box 169"/>
          <p:cNvSpPr txBox="1"/>
          <p:nvPr/>
        </p:nvSpPr>
        <p:spPr>
          <a:xfrm>
            <a:off x="6328562" y="3822191"/>
            <a:ext cx="45720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cxnSp>
        <p:nvCxnSpPr>
          <p:cNvPr id="171" name="Connector 170"/>
          <p:cNvCxnSpPr/>
          <p:nvPr/>
        </p:nvCxnSpPr>
        <p:spPr>
          <a:xfrm flipH="1" flipV="1">
            <a:off x="6769225" y="4121062"/>
            <a:ext cx="90515" cy="19239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H="1" flipV="1">
            <a:off x="6724660" y="4258216"/>
            <a:ext cx="84538" cy="37638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H="1" flipV="1">
            <a:off x="6652554" y="4383107"/>
            <a:ext cx="74865" cy="54393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H="1" flipV="1">
            <a:off x="6556057" y="4490278"/>
            <a:ext cx="61920" cy="68769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H="1" flipV="1">
            <a:off x="6397325" y="4502190"/>
            <a:ext cx="88331" cy="152994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6097219" y="4222890"/>
            <a:ext cx="45720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5728716" y="4230014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6B7280"/>
                </a:solidFill>
                <a:latin typeface="PT Sans"/>
              </a:rPr>
              <a:t>кг</a:t>
            </a:r>
          </a:p>
        </p:txBody>
      </p:sp>
      <p:cxnSp>
        <p:nvCxnSpPr>
          <p:cNvPr id="178" name="Connector 177"/>
          <p:cNvCxnSpPr/>
          <p:nvPr/>
        </p:nvCxnSpPr>
        <p:spPr>
          <a:xfrm flipV="1">
            <a:off x="6094476" y="3552393"/>
            <a:ext cx="585302" cy="425246"/>
          </a:xfrm>
          <a:prstGeom prst="line">
            <a:avLst/>
          </a:prstGeom>
          <a:ln w="381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Oval 178"/>
          <p:cNvSpPr/>
          <p:nvPr/>
        </p:nvSpPr>
        <p:spPr>
          <a:xfrm>
            <a:off x="6030468" y="3913631"/>
            <a:ext cx="128016" cy="128016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ounded Rectangle 179"/>
          <p:cNvSpPr/>
          <p:nvPr/>
        </p:nvSpPr>
        <p:spPr>
          <a:xfrm>
            <a:off x="10222992" y="3119018"/>
            <a:ext cx="548640" cy="1049274"/>
          </a:xfrm>
          <a:prstGeom prst="roundRect">
            <a:avLst>
              <a:gd name="adj" fmla="val 45000"/>
            </a:avLst>
          </a:prstGeom>
          <a:noFill/>
          <a:ln w="317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9262872" y="2606040"/>
            <a:ext cx="118872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9290304" y="3443630"/>
            <a:ext cx="1133856" cy="1466697"/>
          </a:xfrm>
          <a:prstGeom prst="rect">
            <a:avLst/>
          </a:prstGeom>
          <a:solidFill>
            <a:srgbClr val="CF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>
            <a:off x="9290304" y="3443630"/>
            <a:ext cx="1133856" cy="0"/>
          </a:xfrm>
          <a:prstGeom prst="line">
            <a:avLst/>
          </a:prstGeom>
          <a:ln w="19050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9262872" y="4661611"/>
            <a:ext cx="146304" cy="0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9262872" y="4458614"/>
            <a:ext cx="27432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TextBox 185"/>
          <p:cNvSpPr txBox="1"/>
          <p:nvPr/>
        </p:nvSpPr>
        <p:spPr>
          <a:xfrm>
            <a:off x="9555480" y="4321454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200</a:t>
            </a:r>
          </a:p>
        </p:txBody>
      </p:sp>
      <p:cxnSp>
        <p:nvCxnSpPr>
          <p:cNvPr id="187" name="Connector 186"/>
          <p:cNvCxnSpPr/>
          <p:nvPr/>
        </p:nvCxnSpPr>
        <p:spPr>
          <a:xfrm>
            <a:off x="9262872" y="4255617"/>
            <a:ext cx="146304" cy="0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9262872" y="4052620"/>
            <a:ext cx="27432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TextBox 188"/>
          <p:cNvSpPr txBox="1"/>
          <p:nvPr/>
        </p:nvSpPr>
        <p:spPr>
          <a:xfrm>
            <a:off x="9555480" y="391546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400</a:t>
            </a:r>
          </a:p>
        </p:txBody>
      </p:sp>
      <p:cxnSp>
        <p:nvCxnSpPr>
          <p:cNvPr id="190" name="Connector 189"/>
          <p:cNvCxnSpPr/>
          <p:nvPr/>
        </p:nvCxnSpPr>
        <p:spPr>
          <a:xfrm>
            <a:off x="9262872" y="3849624"/>
            <a:ext cx="146304" cy="0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9262872" y="3646627"/>
            <a:ext cx="27432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9555480" y="3509467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600</a:t>
            </a:r>
          </a:p>
        </p:txBody>
      </p:sp>
      <p:cxnSp>
        <p:nvCxnSpPr>
          <p:cNvPr id="193" name="Connector 192"/>
          <p:cNvCxnSpPr/>
          <p:nvPr/>
        </p:nvCxnSpPr>
        <p:spPr>
          <a:xfrm>
            <a:off x="9262872" y="3443630"/>
            <a:ext cx="146304" cy="0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9262872" y="3240633"/>
            <a:ext cx="27432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/>
        </p:nvSpPr>
        <p:spPr>
          <a:xfrm>
            <a:off x="9555480" y="3103473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800</a:t>
            </a:r>
          </a:p>
        </p:txBody>
      </p:sp>
      <p:cxnSp>
        <p:nvCxnSpPr>
          <p:cNvPr id="196" name="Connector 195"/>
          <p:cNvCxnSpPr/>
          <p:nvPr/>
        </p:nvCxnSpPr>
        <p:spPr>
          <a:xfrm>
            <a:off x="9262872" y="3037636"/>
            <a:ext cx="146304" cy="0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9262872" y="2834640"/>
            <a:ext cx="274320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TextBox 197"/>
          <p:cNvSpPr txBox="1"/>
          <p:nvPr/>
        </p:nvSpPr>
        <p:spPr>
          <a:xfrm>
            <a:off x="9555480" y="269748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1000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9884664" y="2633472"/>
            <a:ext cx="54864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6B7280"/>
                </a:solidFill>
                <a:latin typeface="PT Sans"/>
              </a:rPr>
              <a:t>мл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Сызгыч: 9 − 2 = 7 см;    тараза: 3 кг + 2 × 200 г = 3 кг 400 г;    идиш: 700 мл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3035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×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1 см = 10 мм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1 дм = 10 см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638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0702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23969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142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×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142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1 м = 100 см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862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1 м = 10 дм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7316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1636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4902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5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× 1000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5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1 км = 1000 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1 кг = 1000 г,  1 л = 1000 мл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5825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32570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25837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010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4010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Аттуу сан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9730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2 м 5 см = 200 см + 5 см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3 кг 50 г = 3000 г + 50 г = 3050 г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Турдубай ата эртең менен 2 кг 700 г, кечинде 1 кг 600 г жаңгак чакты. Баары канча?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 кг 700 г + 1 кг 600 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3 кг 1300 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кг жана г өзүнчө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4 кг 300 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1300 г = 1 кг 300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Баары = </a:t>
            </a:r>
            <a:r>
              <a:rPr sz="3400" b="1">
                <a:solidFill>
                  <a:srgbClr val="24418C"/>
                </a:solidFill>
                <a:latin typeface="PT Sans"/>
              </a:rPr>
              <a:t>4 кг 300 г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Жип 3 м 20 см. Айпери 1 м 50 см кесип алды. Канча калды?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 м 20 см − 1 м 50 см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2 м 120 см − 1 м 50 см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1 м = 100 см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1 м 70 см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Калды = </a:t>
            </a:r>
            <a:r>
              <a:rPr sz="3400" b="1">
                <a:solidFill>
                  <a:srgbClr val="24418C"/>
                </a:solidFill>
                <a:latin typeface="PT Sans"/>
              </a:rPr>
              <a:t>1 м 70 см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үч жол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1000ге толуктоо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 кг − 350 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1000 г − 350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650 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350 + 650 = 1000: толуктоочу санды тап.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Толук метрге чейин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 м 70 см + 50 см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2 м + 20 см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2 м 20 см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70 + 30 = 100: адегенде толук метр, анан калган 20 см.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Майдала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 л − 300 мл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= 1 л 1000 мл − 300 мл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1 л 700 мл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1 литрди 1000 мл кылып майдалайбыз.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Түшүн → ыкма → эркин эсеп. Ыкмаңды үн чыгарып айт: «Мен ... деп ойлодум».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Турдубай ата жаңгак кагуучу таякты өлчөдү: 3 м 5 см. Бул канча сантиметр?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35 см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305 см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3005 см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8 см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Айпери 1 кг 300 г, Бектур 900 г жаңгак чакты. Экөө баары канча жаңгак чакты?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Чакада 5 л суу бар эле. Жаңгак жууганга 2 л 300 мл кетти. Чакада канча суу калды?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Бектурдун бою 1 м 35 см. Жаңгак көчөтүнүн бою 2 м 10 см. Көчөт Бектурдан канча бийик?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Айпери 1 кг 300 г, Бектур 900 г жаңгак чакты. Экөө баары канча жаңгак чакты?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138503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 кг 300 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51966" y="3017520"/>
            <a:ext cx="958873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900 г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 кг 300 г + 900 г = 2 кг 200 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Чакада 5 л суу бар эле. Жаңгак жууганга 2 л 300 мл кетти. Чакада канча суу калды?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19600" y="3017520"/>
            <a:ext cx="1078199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 л 300 мл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97799" y="3017520"/>
            <a:ext cx="1265712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4951" y="3017520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992112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4951" y="3401568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037832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5 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5 л − 2 л 300 мл = 2 л 700 мл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Бектурдун бою 1 м 35 см. Жаңгак көчөтүнүн бою 2 м 10 см. Көчөт Бектурдан канча бийик?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2272" y="3017520"/>
            <a:ext cx="1506800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Бектур 1 м 35 см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2272" y="3574389"/>
            <a:ext cx="1506800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Көчөт 1 м 35 см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79072" y="3574389"/>
            <a:ext cx="837111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2 м 10 см − 1 м 35 см = 75 см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 см 5 мм = □ мм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 кг 60 г = □ 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 л 400 мл + 800 мл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5 м − 1 м 30 см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Салыштыр: 1 км 5 м □ 1050 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Чайнекке 1 л 500 мл суу батат. 600 мл ичишти. Канча калды?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 см 5 мм = □ мм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45 мм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 кг 60 г = □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3060 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 л 400 мл + 800 мл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 л 200 мл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5 м − 1 м 30 см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 м 70 см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Салыштыр: 1 км 5 м □ 1050 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 км 5 м &lt; 1050 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Чайнекке 1 л 500 мл суу батат. 600 мл ичишти. Канча калды?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900 мл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Бектур 3 кг 400 г, Айпери 2 кг 800 г жаңгак терди. Баары канча? Баштыкка 7 кг батат. Баштыкка дагы канча жаңгак батат?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240280"/>
            <a:ext cx="439695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Бектур 3 кг 400 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11357" y="2240280"/>
            <a:ext cx="3621023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Айпери 2 кг 800 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32381" y="2240280"/>
            <a:ext cx="1034578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195559" y="2240280"/>
            <a:ext cx="0" cy="54864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399" y="27889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241279" y="22402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7 кг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3 кг 400 г + 2 кг 800 г = 5 кг 1200 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= 6 кг 200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1200 г = 1 кг 200 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611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7 кг − 6 кг 200 г = 800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2611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дагы батат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Баары 6 кг 200 г; баштыкка дагы 800 г жаңгак батат.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Арстанбаптагы жаңгак түшүмү жөнүндө маселе түз: эки аттуу санды кош же кемит (кг жана г, же м жана см).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Бектур, Айпери, Турдубай ата.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2 кг 70 г = □ 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Бутак сызгычтын 3 белгисинен 11 белгисине чейин жатат. Узундугу канча?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Чакада 3 л 200 мл суу бар эле. 1 л 500 мл төгүлдү. Канча калды?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1 м = 100 см, бирок 1 кг = 1000 г? Кантип эстеп калабыз?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Таразаны же идишти окуудан мурун эмнени текшеребиз?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3 м 5 см канча сантиметр? Эмне үчүн 35 эмес?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Узундук, масса жана көлөм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окуучуга кагаз сызгыч жасатууну сунуштайм: 0 белгиси өзү коёт (М3).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Шкаланы окуудан мурун «бир бөлүк канча?» деп сурайм (М4).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Бирдиктер таблицасын доскада калтырам: метр гана 100, калгандары 1000 (М1).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Аттуу санды кемитүүдө тилке чийдирем: 1 м = 100 см майдаланат (М6).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