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Адегенде болжолдошсун: Эрлан туурабы? Колун көтөртүп добуш алам.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Мээрим: 0,3 = 30 чакмак, 0,25 = 25 чакмак. Эрлан узун ондукту чоң деп ойлоду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чакмак дептерден кесилген 10 × 10 тор (100 чакмак), эски дептерден кесилген 2 кагаз тилке, 100 мончок тизилген жип (же 100 түйүн, же 10 топ капкак). 1) Торду экиге, анан дагы экиге бүктөшөт: 1/4 = 25 чакмак = 25/100 = 0,25 = 25%. 2) Тилкени 4кө бүктөп, бир бөлүгүн боёшот: тор менен салыштырат. 3) 100 мончоктун 25ин санашат. Үчөө тең бир эле сан. Проектор жок болсо, доскага чоң тор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Доскага узун тилке чийип, 10 бирдей бөлүккө бөлөм. Үстүнө 0; 0,1; …; 1, астына 0%; 10%; …; 100% жазам. Окуучулар ар бир арзандатууну тилке менен көрсөтөт. Кагаз тилкени 4кө бүктөп, 1/4 кайда экенин көрсөтүшөт. Ушул эки сан огун дептерге чийишет.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Үч түр – бир эле сан. Пайыз = «жүздөн канча». Ондуктан пайызга: 100гө көбөйтөбүз (0,6 = 60%, 6% эмес). Салыштыруудан мурун баарын бир түргө келтиребиз. 1/3 = 0,333… бүтпөйт: болжол менен 33%. Ката коддору: М1 (узун ондук), М2 (3/5 = 0,35), М3 (0,6 = 6%), М7 (аралаш тизме).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айтышат. «Оозеки беш мүнөт» (класста колдонуу картасы, 3-бет)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М2; Б = М3; В = ✓; Г = М5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бөлүктөн пайызга → салыштыруу → үч арзандатуу. Жооптор: 5/20 = 1/4 = 0,25 = 25%; Мээрим; 0,05 кг (50 г) көп; 20% &gt; 18% &gt; 15%: 1/5 эң чоң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1/4 = 25/100 = 25%, 0,3 = 0,30 = 30%. Эми баары пайыз: 25% &lt; 28% &lt; 30%. Эрлан «28» деген цифраны көрүп, сандарды бир түргө келтирбей салыштырды (М7).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45% = 9/20; 0,7 &gt; 0,65; 35%; 3/8; 0,4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Бөлчөк, ондук бөлчөк жана пайыз: айландыруу жана салыштыруу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Ош базарындагы арзандатуулар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Мээрим менен Эрлан Ош базарында мектепке кийим издешет: арзандатуулар үч башка түрдө жазылган.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Стандарт 2018, 6-класс: «Ондук бөлчөктөр», «Пайыз». Даярдык: 5-класстын «Кадимки бөлчөктөр» пакети.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Ош базарындагы арзандатуулар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Жайдын аягы. Мээрим менен Эрлан апасы менен Ош базарына мектепке кийим алганы барышты.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Сапар байкенин дүкөнүнүн жанында үч такта турат. Бирөөндө «1/4 арзан», экинчисинде «0,3 арзан», үчүнчүсүндө «28% арзан» деп жазылган.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Эрлан: «28 эң чоң сан, ошол дүкөнгө баралы!» Мээрим ойлонуп калды.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Сандар ар башка түрдө жазылса, кантип салыштырабыз?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Үч дүкөндө арзандатуу: «1/4 арзан», «0,3 арзан», «28% арзан». Кайсы дүкөндүн арзандатуусу эң чоң?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Бөлчөктү, ондук бөлчөктү жана пайызды бири-бирине айландырам (100 чакмак тор).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Таяныч бөлчөктөрдүн ондук жана пайыз түрүн оозеки билем.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Аралаш тизмени бир түргө келтирип, тартипке тизем.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1/2, 1/4, 1/10: айландыруу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Каалаган бөлчөк: a ÷ 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Аралаш тизме, 1/3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0,3 же 0,25?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тор, тилке,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Ош базары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Арзандатуулар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Үлүштөр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Сом жана тыйын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Кадимки бөлчөктөр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Ондук бөлчөктөр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Бөлчөк ↔ ондук ↔ пайыз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Аралаш тизме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Кийинки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Сандын пайызы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Пропорция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1/2 = □/10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3/4 = □/100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0,7 – канча ондук үлүш?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сом = 100 тыйын. 50 тыйын – сомдун канча бөлүгү?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1/2 = □/10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5/10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3/4 = □/100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75/100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0,7 – канча ондук үлүш?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7/10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сом = 100 тыйын. 50 тыйын – сомдун канча бөлүгү?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1/2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Сапар байке: «Кайсынысы чоң: 0,3 же 0,25?»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Эрлан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25 &gt; 3, демек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0,25 &gt; 0,3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Мээрим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0,3 = 0,30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30 &gt; 25, демек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0,3 &gt; 0,25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100 чакмак тор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10 × 10 чакмак тор = 1 бүтүн. Тордун 1/4ин боёгула. Канча чакмак? Ондук менен? Пайыз менен?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945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3272" y="21945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35024" y="21945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36776" y="21945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38528" y="21945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40280" y="219456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42032" y="219456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43784" y="219456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45536" y="219456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47288" y="219456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24963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33272" y="24963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35024" y="24963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636776" y="24963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38528" y="24963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40280" y="249631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542032" y="249631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843784" y="249631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145536" y="249631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47288" y="249631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1520" y="27980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33272" y="27980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335024" y="27980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36776" y="27980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38528" y="27980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40280" y="279806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542032" y="279806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43784" y="279806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45536" y="279806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47288" y="279806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3099815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33272" y="3099815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35024" y="3099815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36776" y="3099815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938528" y="3099815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40280" y="3099815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542032" y="3099815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843784" y="3099815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145536" y="3099815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447288" y="3099815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1520" y="34015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33272" y="34015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35024" y="34015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636776" y="34015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938528" y="34015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240280" y="340156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542032" y="340156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43784" y="340156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145536" y="340156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447288" y="340156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1520" y="370332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33272" y="370332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335024" y="370332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636776" y="370332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938528" y="370332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240280" y="370332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542032" y="370332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843784" y="370332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145536" y="370332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447288" y="370332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1520" y="400507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33272" y="400507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335024" y="400507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636776" y="400507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938528" y="400507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40280" y="400507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42032" y="400507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3784" y="400507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45536" y="400507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447288" y="400507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1520" y="430682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33272" y="430682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35024" y="430682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636776" y="430682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938528" y="430682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240280" y="430682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542032" y="430682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843784" y="430682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145536" y="430682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447288" y="430682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1520" y="4608576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33272" y="4608576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335024" y="4608576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636776" y="4608576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8528" y="4608576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240280" y="4608576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542032" y="4608576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2843784" y="4608576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145536" y="4608576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447288" y="4608576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31520" y="491032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33272" y="491032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35024" y="491032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636776" y="491032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938528" y="491032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240280" y="491032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542032" y="491032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843784" y="491032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145536" y="491032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447288" y="491032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40080" y="525780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Тор: 25 чакмак / 100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160520" y="2148840"/>
            <a:ext cx="28346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Тилке: 4кө бүктөдүк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160520" y="2560320"/>
            <a:ext cx="70866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1/4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869180" y="2560320"/>
            <a:ext cx="708660" cy="45720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577840" y="2560320"/>
            <a:ext cx="708660" cy="45720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286500" y="2560320"/>
            <a:ext cx="708660" cy="45720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4869180" y="2468880"/>
            <a:ext cx="0" cy="640080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5577840" y="2468880"/>
            <a:ext cx="0" cy="640080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6286500" y="2468880"/>
            <a:ext cx="0" cy="640080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4160520" y="3337560"/>
            <a:ext cx="28346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Жип: 100 мончок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4160520" y="3851452"/>
            <a:ext cx="2834640" cy="0"/>
          </a:xfrm>
          <a:prstGeom prst="line">
            <a:avLst/>
          </a:prstGeom>
          <a:ln w="9525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Oval 122"/>
          <p:cNvSpPr/>
          <p:nvPr/>
        </p:nvSpPr>
        <p:spPr>
          <a:xfrm>
            <a:off x="4169663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4283049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4396435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4509820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4623206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4736592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4849977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4963363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5076748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5190134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5303520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5416905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5530291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5643676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5757062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5870448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5983833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6097219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6210604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6323990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6437375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6550761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6664147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6777532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6890918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4160520" y="4144060"/>
            <a:ext cx="2834640" cy="0"/>
          </a:xfrm>
          <a:prstGeom prst="line">
            <a:avLst/>
          </a:prstGeom>
          <a:ln w="9525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148"/>
          <p:cNvSpPr/>
          <p:nvPr/>
        </p:nvSpPr>
        <p:spPr>
          <a:xfrm>
            <a:off x="4169663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4283049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396435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509820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623206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4736592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4849977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4963363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5076748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5190134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5303520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5416905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5530291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5643676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5757062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5870448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5983833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6097219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6210604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6323990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6437375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6550761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6664147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6777532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6890918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4" name="Connector 173"/>
          <p:cNvCxnSpPr/>
          <p:nvPr/>
        </p:nvCxnSpPr>
        <p:spPr>
          <a:xfrm>
            <a:off x="4160520" y="4436668"/>
            <a:ext cx="2834640" cy="0"/>
          </a:xfrm>
          <a:prstGeom prst="line">
            <a:avLst/>
          </a:prstGeom>
          <a:ln w="9525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Oval 174"/>
          <p:cNvSpPr/>
          <p:nvPr/>
        </p:nvSpPr>
        <p:spPr>
          <a:xfrm>
            <a:off x="4169663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4283049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4396435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4509820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4623206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4736592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4849977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4963363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5076748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5190134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5303520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5416905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5530291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5643676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5757062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5870448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5983833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6097219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6210604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6323990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6437375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6550761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6664147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6777532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6890918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0" name="Connector 199"/>
          <p:cNvCxnSpPr/>
          <p:nvPr/>
        </p:nvCxnSpPr>
        <p:spPr>
          <a:xfrm>
            <a:off x="4160520" y="4729276"/>
            <a:ext cx="2834640" cy="0"/>
          </a:xfrm>
          <a:prstGeom prst="line">
            <a:avLst/>
          </a:prstGeom>
          <a:ln w="9525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Oval 200"/>
          <p:cNvSpPr/>
          <p:nvPr/>
        </p:nvSpPr>
        <p:spPr>
          <a:xfrm>
            <a:off x="4169663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283049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4396435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509820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623206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736592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4849977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963363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076748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190134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5303520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5416905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5530291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5643676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5757062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5870448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5983833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6097219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6210604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6323990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6437375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6550761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6664147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6777532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6890918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4160520" y="4983480"/>
            <a:ext cx="28346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25 мончок / 100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7315200" y="2194560"/>
            <a:ext cx="443484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7498079" y="2286000"/>
            <a:ext cx="411480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 × 10 чакмак тор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 кагаз тилке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100 мончок же 100 түйүн жип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Үчөө тең – бир эле сан: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1/4 = 25/100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= 0,25 = 25%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эки сан огу (0–1 жана 0%–100%)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Үч арзандатууну бир эле тилкеге жана эки сан огуна кой: 1/4, 28% жана 0,3.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148840"/>
            <a:ext cx="9601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1/4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2148840"/>
            <a:ext cx="2468880" cy="420624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25%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2148840"/>
            <a:ext cx="7406640" cy="420624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3931920" y="2569464"/>
            <a:ext cx="0" cy="1225296"/>
          </a:xfrm>
          <a:prstGeom prst="line">
            <a:avLst/>
          </a:prstGeom>
          <a:ln w="15875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" y="2679192"/>
            <a:ext cx="9601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28%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2679192"/>
            <a:ext cx="2765145" cy="420624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28%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28185" y="2679192"/>
            <a:ext cx="7110374" cy="420624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4228185" y="3099816"/>
            <a:ext cx="0" cy="694944"/>
          </a:xfrm>
          <a:prstGeom prst="line">
            <a:avLst/>
          </a:prstGeom>
          <a:ln w="15875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11480" y="3209544"/>
            <a:ext cx="9601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0,3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63040" y="3209544"/>
            <a:ext cx="2962656" cy="420624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30%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25696" y="3209544"/>
            <a:ext cx="6912864" cy="420624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425696" y="3630168"/>
            <a:ext cx="0" cy="164592"/>
          </a:xfrm>
          <a:prstGeom prst="line">
            <a:avLst/>
          </a:prstGeom>
          <a:ln w="15875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463040" y="4343400"/>
            <a:ext cx="9875520" cy="0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463040" y="4233672"/>
            <a:ext cx="0" cy="219456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97280" y="3840480"/>
            <a:ext cx="73152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480560"/>
            <a:ext cx="82296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0%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50592" y="4233672"/>
            <a:ext cx="0" cy="219456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084832" y="3840480"/>
            <a:ext cx="73152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0,1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39112" y="4480560"/>
            <a:ext cx="82296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10%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438144" y="4233672"/>
            <a:ext cx="0" cy="219456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072384" y="3840480"/>
            <a:ext cx="73152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0,2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26664" y="4480560"/>
            <a:ext cx="82296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20%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425696" y="4233672"/>
            <a:ext cx="0" cy="219456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059935" y="3840480"/>
            <a:ext cx="73152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0,3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14215" y="4480560"/>
            <a:ext cx="82296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30%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13248" y="4233672"/>
            <a:ext cx="0" cy="219456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047488" y="3840480"/>
            <a:ext cx="73152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0,4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01768" y="4480560"/>
            <a:ext cx="82296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40%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00800" y="4233672"/>
            <a:ext cx="0" cy="219456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035040" y="3840480"/>
            <a:ext cx="73152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0,5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9320" y="4480560"/>
            <a:ext cx="82296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50%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388352" y="4233672"/>
            <a:ext cx="0" cy="219456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022592" y="3840480"/>
            <a:ext cx="73152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0,6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76872" y="4480560"/>
            <a:ext cx="82296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60%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375904" y="4233672"/>
            <a:ext cx="0" cy="219456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010144" y="3840480"/>
            <a:ext cx="73152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0,7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4424" y="4480560"/>
            <a:ext cx="82296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70%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363456" y="4233672"/>
            <a:ext cx="0" cy="219456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997696" y="3840480"/>
            <a:ext cx="73152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0,8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51976" y="4480560"/>
            <a:ext cx="82296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80%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0351008" y="4233672"/>
            <a:ext cx="0" cy="219456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985248" y="3840480"/>
            <a:ext cx="73152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0,9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39528" y="4480560"/>
            <a:ext cx="82296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90%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1338560" y="4233672"/>
            <a:ext cx="0" cy="219456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10972800" y="3840480"/>
            <a:ext cx="73152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27080" y="4480560"/>
            <a:ext cx="82296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100%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7160" y="3840480"/>
            <a:ext cx="8686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0" i="1">
                <a:solidFill>
                  <a:srgbClr val="24418C"/>
                </a:solidFill>
                <a:latin typeface="PT Sans"/>
              </a:rPr>
              <a:t>ондук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7160" y="4480560"/>
            <a:ext cx="8686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0" i="1">
                <a:solidFill>
                  <a:srgbClr val="007A5A"/>
                </a:solidFill>
                <a:latin typeface="PT Sans"/>
              </a:rPr>
              <a:t>пайыз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63040" y="4983480"/>
            <a:ext cx="98755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4A5A70"/>
                </a:solidFill>
                <a:latin typeface="PT Sans"/>
              </a:rPr>
              <a:t>Үч тилке бирдей узун = 100%. Ким узунураак боёлсо, ошол арзандатуу чоң.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1/4 = 0,25 = 25%  &lt;  28%  &lt;  30% = 0,3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÷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Бөлчөк → ондук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Же бөлүмдү 10, 100гө жеткир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× 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Ондук → пайыз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0,35 = 35%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÷ 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Пайыз → бөлчөк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35% = 35/100 = 7/20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% &lt;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Салыштыруу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Баарын пайызга, анан тиз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1/4 = 25/100 = 0,25 = 25%      0,3 = 0,30 = 30%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Бөлчөктү ондук бөлчөк жана пайыз менен жаз: 3/8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3/8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 ÷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бөлүү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0,375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ондук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37,5%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× 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3/8 = </a:t>
            </a:r>
            <a:r>
              <a:rPr sz="3400" b="1">
                <a:solidFill>
                  <a:srgbClr val="24418C"/>
                </a:solidFill>
                <a:latin typeface="PT Sans"/>
              </a:rPr>
              <a:t>37,5%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Өсүү тартибинде жаз: 0,4;  3/8;  35%;  0,38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0,4 = 40%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× 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3/8 = 37,5%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 ÷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0,38 = 38%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× 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Тартип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35%; 3/8; 0,38; 0,4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ыкма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Таяныч сандар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1/2 = 0,5 = 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1/4 = 0,25 = 25%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1/5 = 0,2 = 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1/8 = 0,125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Булар жатта болсо, 3/4, 2/5, 3/8 ушулардан чыгат.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100гө жеткир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7/20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35/100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0,35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20 × 5 = 100: алымын да 5ке көбөйтөбүз.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Нөл кош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0,3 жана 0,25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0,30 жана 0,25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30 &gt; 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0,3 &gt; 0,25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Үтүрдөн кийинки цифралардын санын теңештиребиз.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болжолдо (жарымдан чоңбу?) → бир түргө келтир → салыштыр.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3/5ти пайыз менен жаз.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0,6%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Сапар байке 20 дыня тизди. Түшкө чейин 5и сатылды. Сатылганы дыналардын канча бөлүгү? Бөлчөк, ондук жана пайыз менен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Эрлан 1/4 кг мейиз, Мээрим 0,3 кг мейиз алды. Ким көп алды жана канча килограммга көп?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Үч дүкөн: «1/5 арзан», «0,15 арзан», «18% арзан». Пайызга айландырып, чоңунан баштап тиз.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Сапар байке 20 дыня тизди. Түшкө чейин 5и сатылды. Сатылганы дыналардын канча бөлүгү? Бөлчөк, ондук жана пайыз менен жаз.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52906" y="3017520"/>
            <a:ext cx="585978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38884" y="3017520"/>
            <a:ext cx="585978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24862" y="3017520"/>
            <a:ext cx="585978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5/20 = 1/4 = 0,25 = 25%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Эрлан 1/4 кг мейиз, Мээрим 0,3 кг мейиз алды. Ким көп алды жана канча килограммга көп?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Эрлан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82640" y="3017520"/>
            <a:ext cx="73405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Мээрим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82640" y="3574389"/>
            <a:ext cx="73405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0,25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16700" y="3574389"/>
            <a:ext cx="146811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Мээрим; 0,05 кг (50 г) көп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Үч дүкөн: «1/5 арзан», «0,15 арзан», «18% арзан». Пайызга айландырып, чоңунан баштап тиз.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2272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1/5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35312" y="3017520"/>
            <a:ext cx="88087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2272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18%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35312" y="3574389"/>
            <a:ext cx="79278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2272" y="413125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0,15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35312" y="4131259"/>
            <a:ext cx="66065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20% &gt; 18% &gt; 15%: 1/5 эң чоң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0,6 → 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3/20 → ондук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45% → бөлчөк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5/8 → 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Кайсынысы чоң: 0,09 же 0,1?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Өсүү тартибинде: 2/5;  0,35;  38%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0,6 →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3/20 → ондук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0,15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45% → бөлчөк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9/20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5/8 →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62,5%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Кайсынысы чоң: 0,09 же 0,1?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0,1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Өсүү тартибинде: 2/5;  0,35;  38%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0,35; 38%; 2/5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Үч дүкөндө арзандатуу: «1/4 арзан», «0,3 арзан», «28% арзан». Кайсы дүкөндүн арзандатуусу эң чоң?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1/4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4820" y="2240280"/>
            <a:ext cx="5692140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035808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28%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3035808"/>
            <a:ext cx="2125065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02505" y="3035808"/>
            <a:ext cx="5464454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31336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0,3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7440" y="3831336"/>
            <a:ext cx="2276856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54296" y="3831336"/>
            <a:ext cx="5312664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1/4 = 25%,  0,3 = 30%:   25% &lt; 28% &lt; 30%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7183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бир түргө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Эң чоңу: «0,3 арзан» = 30%. Мээрим туура!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Ош базары жөнүндө маселе түз: үч дүкөндө арзандатуу бөлчөк, ондук жана пайыз менен жазылсын.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Мээрим, Эрлан, Сапар байке.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0,45ти пайыз жана кыскарбас бөлчөк менен жаз.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Белги кой (&gt;, &lt; же =):  0,7 ○ 0,65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Өсүү тартибинде жаз: 3/8;  0,4;  35%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0,3 &gt; 0,25, бирок 3 &lt; 25?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0,6 = 60%, 6% эмес?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Аралаш тизмени тизүүдөн мурун эмне кылабыз?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10 × 10 чакмак тор: 1 бүтүн = 100 чакмак.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Тилке менен эки сан огу: үстү 0–1, асты 0%–100%.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салыштыруудан мурун: «Баарын бир түргө келтирдикпи?» (М7)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1/3 ар сабакта эскертүү катары: 0,333…, болжол менен 33% (М6).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