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аталышы жана бүгүнкү окуя.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жолу: ар бир бөлүк өз слайды менен ачылат.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Окуяны окуп бериңиз. «Төрттөн үчү» деген сөздүн маанисин азыр түшүндүрбөйбүз: окуучулар өздөрү ойлонушат. Сабактын аягында кайтабыз (22-слайд).</a:t>
            </a:r>
          </a:p>
          <a:p>
            <a:r>
              <a:t>3C (Байланыштыруу): Окуя турмуштан: бул суроого сабактын аягында кайтабыз.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Ой жүгүртүү маданияты (Wenxi Lee, 2.6).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Ийгилик критерийлери: сабактын аягында ар бирине ✓ коёбуз.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Спираль: тема класстан класска тереңдейт.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Мини-тактага жазышат.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Жоопту дароо айтпайбыз. Жупта талкуулашат. Жооп: Нурсулу: 3 бөлүк керек. Темир бир бөлүгүн гана тапты (М2).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жупка: 24 бурчак (же таш, капкак, жаңгак), 4 кагаз табак жана 1 кагаз тилке. 1) 24 бурчакты 4 табакка бирден таратышат: ар биринде 6 → 1 бөлүк = 24 : 4 = 6. 2) 3 табакты тегеректешет: 3 × 6 = 18. 3) Кагаз тилкени 4кө бүктөп, 3 бөлүгүн боёшот. Анан чакмак дептерде 24 чакмак узундуктагы тилке чийип, 6дан бөлүшөт (1 чакмак = 1 боорсок).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Тилкени кадам менен чийебиз. 4 бирдей бөлүк; 3 бөлүгү белгисиз (үзүк сызык).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Китепте (12 : 4) · 2 деп жазылат. Биз «2 бөлүк, ар бири 12 : 4» деп окуп, 2 × (12 : 4) деп жазабыз: экөө тең 6. Бөлүгү боюнча бүтүн: бир бөлүк × бөлүктөрдүн саны.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ыкманы кагаз тилкени бүктөп көрсөтөм. Окуучу «Мен адегенде теңин таптым» деп айтат. Кайсы ыкма бул сандарга ыңгайлуу экенин окуучу өзү тандайт.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Баары бир убакта манжа менен көрсөтөт (1–4). Туура эмес жооптун коду: А = М2; Б = ✓; В = М3; Г = М1 (36 − 4)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деңгээл: бөлүк–бүтүн → салыштыруу → көп кадам. Жооптор: 18 : 3 = 6 шар; 40 : 5 = 8;  3 × 8 = 24 стул; 6 × 4 = 24 бала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Жеңилден баштап, мүмкүн болушунча алдыга.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Окуяга кайтабыз: 24 : 4 = 6 (1 бөлүк), 3 × 6 = 18 (3 бөлүк), калганы 1 бөлүк =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Блум: Түзүү. Жупта алмашып, бири-биринин маселесин чыгарышат.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Жооптор: 8; 5 × 5 = 25; 4 × 9 = 36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Бул слайд окуучуларга көрсөтүлбөйт.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728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37160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0" y="1188720"/>
            <a:ext cx="96012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4A5A70"/>
                </a:solidFill>
                <a:latin typeface="PT Sans"/>
              </a:rPr>
              <a:t>3-класс · Математика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691640"/>
            <a:ext cx="9601200" cy="1737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D3557"/>
                </a:solidFill>
                <a:latin typeface="PT Sans"/>
              </a:rPr>
              <a:t>Сандын бөлүгүн табуу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28800" y="3611880"/>
            <a:ext cx="8778240" cy="14630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57400" y="3657600"/>
            <a:ext cx="83210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Бүгүнкү окуя: Той даярдыгы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4160520"/>
            <a:ext cx="832104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Нурсулу менен Темир Батма апага тойго даярданууга жардам берип, боорсоктун жана шарлардын бөлүгүн эсептешет.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5349240"/>
            <a:ext cx="96012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6B7280"/>
                </a:solidFill>
                <a:latin typeface="PT Sans"/>
              </a:rPr>
              <a:t>Китеп: КББА, «Математика боюнча мугалимдер үчүн колдонмо, 1–4-класстар» (2011), 3-класс: 3.3.8; 2-класс: 2.3.8.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Сабактын мазмуну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Сандын бөлүгүн табуу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0080" y="1463039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1280160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Кириш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1280160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Окуя, эрежелер, максаттар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2212848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0080" y="2395728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2212848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Даярдык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2212848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Эстейбиз, «Ким туура?»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145536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0080" y="3328416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145536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Түшүнөбүз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3145536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 → С → А: буюм, тилке, эреже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" y="4078224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0080" y="426110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4078224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Машыгабыз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4078224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Чечүүчү суроо, тилке, өз алдынча иш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5010912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0080" y="5193792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5010912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Жыйынтык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5010912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Окуяга кайтуу, түзүү, чыгуу билети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Окуя: Той даярдыгы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Сандын бөлүгүн табуу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766560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25880"/>
            <a:ext cx="6217920" cy="4389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Нурсулунун агасынын тою жакындап калды.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Батма апа боорсок бышырат, Нурсулу менен Темир табак, кесе жана шар даярдашат.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Апа: «Боорсоктун төрттөн үчүн табактарга салгыла», – деди.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Сандын бөлүгүн табуу үчүн аны бирдей бөлүктөргө бөлөбүз.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0" y="1225296"/>
            <a:ext cx="4352544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35240" y="1325880"/>
            <a:ext cx="39319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Суроо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1828800"/>
            <a:ext cx="393192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Батма апа тойго 24 боорсок бышырды. Анын төрттөн үчүн табактарга салыш керек. Канча боорсок табакка салынат? Канчасы калат?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0" y="4572000"/>
            <a:ext cx="39319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1">
                <a:solidFill>
                  <a:srgbClr val="6B7280"/>
                </a:solidFill>
                <a:latin typeface="PT Sans"/>
              </a:rPr>
              <a:t>Азыр жообун айтпайбыз. Ойлон: кантип билебиз?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Математикада биз…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Сандын бөлүгүн табуу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Ката – үйрөнүүнүн бир бөлүгү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Ката кетсе, эмне үчүн кеткенин издейбиз.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2439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11039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«Азырынча билбейм»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1039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«Билбейм» эмес, «азырынча». Машыксак, үйрөнөбүз.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5112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363712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Адегенде түшүн, анан эсепте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3712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Сүрөт же тилке чийип, анан сан менен жазабыз.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Максаттар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Сандын бөлүгүн табуу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409944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429768" y="1865376"/>
            <a:ext cx="6409944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12648" y="1225296"/>
            <a:ext cx="6044184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Бүгүн биз үйрөнөбүз</a:t>
            </a:r>
          </a:p>
        </p:txBody>
      </p:sp>
      <p:sp>
        <p:nvSpPr>
          <p:cNvPr id="13" name="Oval 12"/>
          <p:cNvSpPr/>
          <p:nvPr/>
        </p:nvSpPr>
        <p:spPr>
          <a:xfrm>
            <a:off x="722376" y="21488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61872" y="211226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Санды бирдей бөлүктөргө бөлүп, бир бөлүгүн табам.</a:t>
            </a:r>
          </a:p>
        </p:txBody>
      </p:sp>
      <p:sp>
        <p:nvSpPr>
          <p:cNvPr id="15" name="Oval 14"/>
          <p:cNvSpPr/>
          <p:nvPr/>
        </p:nvSpPr>
        <p:spPr>
          <a:xfrm>
            <a:off x="722376" y="342900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61872" y="339242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Бир нече бөлүгүн табам: 2 × (12 : 4).</a:t>
            </a:r>
          </a:p>
        </p:txBody>
      </p:sp>
      <p:sp>
        <p:nvSpPr>
          <p:cNvPr id="17" name="Oval 16"/>
          <p:cNvSpPr/>
          <p:nvPr/>
        </p:nvSpPr>
        <p:spPr>
          <a:xfrm>
            <a:off x="722376" y="470916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61872" y="467258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Бөлүгү боюнча бүтүн санды табам жана тилке чийем.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0" y="1225296"/>
            <a:ext cx="4636008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7132320" y="1865376"/>
            <a:ext cx="46360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306056" y="1225296"/>
            <a:ext cx="4270248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Деңгээлдер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60920" y="2103120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007A5A"/>
                </a:solidFill>
                <a:latin typeface="PT Sans"/>
              </a:rPr>
              <a:t>Жеңил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41080" y="2057400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Бир бөлүгү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60920" y="3127248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Орто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41080" y="3081528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Бир нече бөлүгү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60920" y="4151376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4A5A70"/>
                </a:solidFill>
                <a:latin typeface="PT Sans"/>
              </a:rPr>
              <a:t>Оор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41080" y="4105656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6B7280"/>
                </a:solidFill>
                <a:latin typeface="PT Sans"/>
              </a:rPr>
              <a:t>Бөлүгү боюнча бүтүн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3C: бүгүн кантип ойлонобуз?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Сандын бөлүгүн табуу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04088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Сынчыл ой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Текшеребиз, далилдейбиз, катаны издейбиз.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04088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58368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«Ким туура?»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Тилке менен текшерүү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572000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Кызматташуу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Жупта жана топто сүйлөшөбүз.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572000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526280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Жупта бурчак жана табак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65592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439912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Байланыштыруу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4192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Математиканы турмуш менен байланыштырабыз.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439912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394192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94192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Той даярдыгы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Тилке модели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Мурун – бүгүн – кийин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Сандын бөлүгүн табуу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3017520"/>
            <a:ext cx="2660904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1089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07A5A"/>
                </a:solidFill>
                <a:latin typeface="PT Sans"/>
              </a:rPr>
              <a:t>2-класс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04088" y="3657600"/>
            <a:ext cx="2112264" cy="0"/>
          </a:xfrm>
          <a:prstGeom prst="line">
            <a:avLst/>
          </a:prstGeom>
          <a:ln w="127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12647" y="3749039"/>
            <a:ext cx="2295144" cy="1920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Жарымы, үчтөн бири, төрттөн бири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19272" y="2560320"/>
            <a:ext cx="2660904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56432" y="26517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3-класс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593591" y="3200400"/>
            <a:ext cx="2112265" cy="0"/>
          </a:xfrm>
          <a:prstGeom prst="line">
            <a:avLst/>
          </a:prstGeom>
          <a:ln w="127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502152" y="3291839"/>
            <a:ext cx="2295144" cy="2377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Сандын бөлүгүн табуу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Бир нече бөлүгү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918204" y="2057400"/>
            <a:ext cx="1463040" cy="38404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Бүгүн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08776" y="2103120"/>
            <a:ext cx="2660904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45936" y="21945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4A5A70"/>
                </a:solidFill>
                <a:latin typeface="PT Sans"/>
              </a:rPr>
              <a:t>4-класс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483096" y="2743200"/>
            <a:ext cx="2112263" cy="0"/>
          </a:xfrm>
          <a:prstGeom prst="line">
            <a:avLst/>
          </a:prstGeom>
          <a:ln w="1270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391656" y="2834639"/>
            <a:ext cx="2295144" cy="2834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Үлүштөр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98280" y="1645919"/>
            <a:ext cx="2660904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0" y="17373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4A5A70"/>
                </a:solidFill>
                <a:latin typeface="PT Sans"/>
              </a:rPr>
              <a:t>5-класс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372600" y="2286000"/>
            <a:ext cx="2112264" cy="0"/>
          </a:xfrm>
          <a:prstGeom prst="line">
            <a:avLst/>
          </a:prstGeom>
          <a:ln w="1270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281160" y="2377439"/>
            <a:ext cx="2295144" cy="3291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Кадимки бөлчөктөр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768" y="5806440"/>
            <a:ext cx="11329416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1">
                <a:solidFill>
                  <a:srgbClr val="6B7280"/>
                </a:solidFill>
                <a:latin typeface="PT Sans"/>
              </a:rPr>
              <a:t>Ар бир класс мурункусунун үстүнө курулат.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эстейли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Сандын бөлүгүн табуу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Мини-тактага жаз. 2 мүнөт.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24 : 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3 × 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18 :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20 = 4 × ___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Сандын бөлүгүн табуу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24 :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3 × 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21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18 :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6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20 = 4 × ___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Ким туура?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Сандын бөлүгүн табуу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10/26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Нурсулу: «24түн төрттөн үчү 18». Темир: «24түн төрттөн үчү 6».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429768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29768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Нурсулу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24 : 4 = 6 (1 бөлүк)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3 × 6 = 18 (3 бөлүк)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8776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6208776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208776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Темир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24 : 4 = 6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Жообу: 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349240"/>
            <a:ext cx="1132941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 i="0">
                <a:solidFill>
                  <a:srgbClr val="A84400"/>
                </a:solidFill>
                <a:latin typeface="PT Sans"/>
              </a:rPr>
              <a:t>Ким туура? Кагаз тилке менен текшер.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К: буюм менен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Сандын бөлүгүн табуу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24 боорсоктун төрттөн үчү. Жупта 24 бурчак (таш же капкак) жана 4 кагаз табак менен.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2331720"/>
            <a:ext cx="1554480" cy="15544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14400" y="2743200"/>
            <a:ext cx="292608" cy="292608"/>
          </a:xfrm>
          <a:prstGeom prst="ellipse">
            <a:avLst/>
          </a:prstGeom>
          <a:solidFill>
            <a:srgbClr val="F5E9E0"/>
          </a:solidFill>
          <a:ln w="1397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280160" y="2743200"/>
            <a:ext cx="292608" cy="292608"/>
          </a:xfrm>
          <a:prstGeom prst="ellipse">
            <a:avLst/>
          </a:prstGeom>
          <a:solidFill>
            <a:srgbClr val="F5E9E0"/>
          </a:solidFill>
          <a:ln w="1397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645920" y="2743200"/>
            <a:ext cx="292608" cy="292608"/>
          </a:xfrm>
          <a:prstGeom prst="ellipse">
            <a:avLst/>
          </a:prstGeom>
          <a:solidFill>
            <a:srgbClr val="F5E9E0"/>
          </a:solidFill>
          <a:ln w="1397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14400" y="3154680"/>
            <a:ext cx="292608" cy="292608"/>
          </a:xfrm>
          <a:prstGeom prst="ellipse">
            <a:avLst/>
          </a:prstGeom>
          <a:solidFill>
            <a:srgbClr val="F5E9E0"/>
          </a:solidFill>
          <a:ln w="1397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280160" y="3154680"/>
            <a:ext cx="292608" cy="292608"/>
          </a:xfrm>
          <a:prstGeom prst="ellipse">
            <a:avLst/>
          </a:prstGeom>
          <a:solidFill>
            <a:srgbClr val="F5E9E0"/>
          </a:solidFill>
          <a:ln w="1397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645920" y="3154680"/>
            <a:ext cx="292608" cy="292608"/>
          </a:xfrm>
          <a:prstGeom prst="ellipse">
            <a:avLst/>
          </a:prstGeom>
          <a:solidFill>
            <a:srgbClr val="F5E9E0"/>
          </a:solidFill>
          <a:ln w="1397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904487"/>
            <a:ext cx="155448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1-табак: 6</a:t>
            </a:r>
          </a:p>
        </p:txBody>
      </p:sp>
      <p:sp>
        <p:nvSpPr>
          <p:cNvPr id="20" name="Oval 19"/>
          <p:cNvSpPr/>
          <p:nvPr/>
        </p:nvSpPr>
        <p:spPr>
          <a:xfrm>
            <a:off x="2331720" y="2331720"/>
            <a:ext cx="1554480" cy="15544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606039" y="2743200"/>
            <a:ext cx="292608" cy="292608"/>
          </a:xfrm>
          <a:prstGeom prst="ellipse">
            <a:avLst/>
          </a:prstGeom>
          <a:solidFill>
            <a:srgbClr val="F5E9E0"/>
          </a:solidFill>
          <a:ln w="1397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971799" y="2743200"/>
            <a:ext cx="292608" cy="292608"/>
          </a:xfrm>
          <a:prstGeom prst="ellipse">
            <a:avLst/>
          </a:prstGeom>
          <a:solidFill>
            <a:srgbClr val="F5E9E0"/>
          </a:solidFill>
          <a:ln w="1397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337559" y="2743200"/>
            <a:ext cx="292608" cy="292608"/>
          </a:xfrm>
          <a:prstGeom prst="ellipse">
            <a:avLst/>
          </a:prstGeom>
          <a:solidFill>
            <a:srgbClr val="F5E9E0"/>
          </a:solidFill>
          <a:ln w="1397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606039" y="3154680"/>
            <a:ext cx="292608" cy="292608"/>
          </a:xfrm>
          <a:prstGeom prst="ellipse">
            <a:avLst/>
          </a:prstGeom>
          <a:solidFill>
            <a:srgbClr val="F5E9E0"/>
          </a:solidFill>
          <a:ln w="1397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971799" y="3154680"/>
            <a:ext cx="292608" cy="292608"/>
          </a:xfrm>
          <a:prstGeom prst="ellipse">
            <a:avLst/>
          </a:prstGeom>
          <a:solidFill>
            <a:srgbClr val="F5E9E0"/>
          </a:solidFill>
          <a:ln w="1397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337559" y="3154680"/>
            <a:ext cx="292608" cy="292608"/>
          </a:xfrm>
          <a:prstGeom prst="ellipse">
            <a:avLst/>
          </a:prstGeom>
          <a:solidFill>
            <a:srgbClr val="F5E9E0"/>
          </a:solidFill>
          <a:ln w="1397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331720" y="3904487"/>
            <a:ext cx="155448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2-табак: 6</a:t>
            </a:r>
          </a:p>
        </p:txBody>
      </p:sp>
      <p:sp>
        <p:nvSpPr>
          <p:cNvPr id="28" name="Oval 27"/>
          <p:cNvSpPr/>
          <p:nvPr/>
        </p:nvSpPr>
        <p:spPr>
          <a:xfrm>
            <a:off x="4023360" y="2331720"/>
            <a:ext cx="1554480" cy="15544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297680" y="2743200"/>
            <a:ext cx="292608" cy="292608"/>
          </a:xfrm>
          <a:prstGeom prst="ellipse">
            <a:avLst/>
          </a:prstGeom>
          <a:solidFill>
            <a:srgbClr val="F5E9E0"/>
          </a:solidFill>
          <a:ln w="1397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663440" y="2743200"/>
            <a:ext cx="292608" cy="292608"/>
          </a:xfrm>
          <a:prstGeom prst="ellipse">
            <a:avLst/>
          </a:prstGeom>
          <a:solidFill>
            <a:srgbClr val="F5E9E0"/>
          </a:solidFill>
          <a:ln w="1397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5029200" y="2743200"/>
            <a:ext cx="292608" cy="292608"/>
          </a:xfrm>
          <a:prstGeom prst="ellipse">
            <a:avLst/>
          </a:prstGeom>
          <a:solidFill>
            <a:srgbClr val="F5E9E0"/>
          </a:solidFill>
          <a:ln w="1397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4297680" y="3154680"/>
            <a:ext cx="292608" cy="292608"/>
          </a:xfrm>
          <a:prstGeom prst="ellipse">
            <a:avLst/>
          </a:prstGeom>
          <a:solidFill>
            <a:srgbClr val="F5E9E0"/>
          </a:solidFill>
          <a:ln w="1397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4663440" y="3154680"/>
            <a:ext cx="292608" cy="292608"/>
          </a:xfrm>
          <a:prstGeom prst="ellipse">
            <a:avLst/>
          </a:prstGeom>
          <a:solidFill>
            <a:srgbClr val="F5E9E0"/>
          </a:solidFill>
          <a:ln w="1397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5029200" y="3154680"/>
            <a:ext cx="292608" cy="292608"/>
          </a:xfrm>
          <a:prstGeom prst="ellipse">
            <a:avLst/>
          </a:prstGeom>
          <a:solidFill>
            <a:srgbClr val="F5E9E0"/>
          </a:solidFill>
          <a:ln w="1397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023360" y="3904487"/>
            <a:ext cx="155448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3-табак: 6</a:t>
            </a:r>
          </a:p>
        </p:txBody>
      </p:sp>
      <p:sp>
        <p:nvSpPr>
          <p:cNvPr id="36" name="Oval 35"/>
          <p:cNvSpPr/>
          <p:nvPr/>
        </p:nvSpPr>
        <p:spPr>
          <a:xfrm>
            <a:off x="5715000" y="2331720"/>
            <a:ext cx="1554480" cy="15544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5989320" y="2743200"/>
            <a:ext cx="292608" cy="292608"/>
          </a:xfrm>
          <a:prstGeom prst="ellipse">
            <a:avLst/>
          </a:prstGeom>
          <a:solidFill>
            <a:srgbClr val="B5E2D3"/>
          </a:solidFill>
          <a:ln w="1397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6355080" y="2743200"/>
            <a:ext cx="292608" cy="292608"/>
          </a:xfrm>
          <a:prstGeom prst="ellipse">
            <a:avLst/>
          </a:prstGeom>
          <a:solidFill>
            <a:srgbClr val="B5E2D3"/>
          </a:solidFill>
          <a:ln w="1397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6720840" y="2743200"/>
            <a:ext cx="292608" cy="292608"/>
          </a:xfrm>
          <a:prstGeom prst="ellipse">
            <a:avLst/>
          </a:prstGeom>
          <a:solidFill>
            <a:srgbClr val="B5E2D3"/>
          </a:solidFill>
          <a:ln w="1397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5989320" y="3154680"/>
            <a:ext cx="292608" cy="292608"/>
          </a:xfrm>
          <a:prstGeom prst="ellipse">
            <a:avLst/>
          </a:prstGeom>
          <a:solidFill>
            <a:srgbClr val="B5E2D3"/>
          </a:solidFill>
          <a:ln w="1397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6355080" y="3154680"/>
            <a:ext cx="292608" cy="292608"/>
          </a:xfrm>
          <a:prstGeom prst="ellipse">
            <a:avLst/>
          </a:prstGeom>
          <a:solidFill>
            <a:srgbClr val="B5E2D3"/>
          </a:solidFill>
          <a:ln w="1397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720840" y="3154680"/>
            <a:ext cx="292608" cy="292608"/>
          </a:xfrm>
          <a:prstGeom prst="ellipse">
            <a:avLst/>
          </a:prstGeom>
          <a:solidFill>
            <a:srgbClr val="B5E2D3"/>
          </a:solidFill>
          <a:ln w="1397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715000" y="3904487"/>
            <a:ext cx="155448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4-табак: 6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02920" y="2194560"/>
            <a:ext cx="5029200" cy="2103120"/>
          </a:xfrm>
          <a:prstGeom prst="roundRect">
            <a:avLst>
              <a:gd name="adj" fmla="val 20000"/>
            </a:avLst>
          </a:prstGeom>
          <a:noFill/>
          <a:ln w="22225">
            <a:solidFill>
              <a:srgbClr val="A844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4297680"/>
            <a:ext cx="5029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1" i="0">
                <a:solidFill>
                  <a:srgbClr val="A84400"/>
                </a:solidFill>
                <a:latin typeface="PT Sans"/>
              </a:rPr>
              <a:t>3 табак = төрттөн үчү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40080" y="4709160"/>
            <a:ext cx="1600200" cy="548640"/>
          </a:xfrm>
          <a:prstGeom prst="rect">
            <a:avLst/>
          </a:prstGeom>
          <a:solidFill>
            <a:srgbClr val="F5E9E0"/>
          </a:solidFill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240280" y="4709160"/>
            <a:ext cx="1600200" cy="548640"/>
          </a:xfrm>
          <a:prstGeom prst="rect">
            <a:avLst/>
          </a:prstGeom>
          <a:solidFill>
            <a:srgbClr val="F5E9E0"/>
          </a:solidFill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840480" y="4709160"/>
            <a:ext cx="1600200" cy="548640"/>
          </a:xfrm>
          <a:prstGeom prst="rect">
            <a:avLst/>
          </a:prstGeom>
          <a:solidFill>
            <a:srgbClr val="F5E9E0"/>
          </a:solidFill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440680" y="4709160"/>
            <a:ext cx="1600200" cy="548640"/>
          </a:xfrm>
          <a:prstGeom prst="rect">
            <a:avLst/>
          </a:prstGeom>
          <a:solidFill>
            <a:srgbClr val="FFFFFF"/>
          </a:solidFill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0080" y="5303520"/>
            <a:ext cx="6400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Кагаз тилкени 4кө бүктөп, 3 бөлүгүн боёдук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589520" y="2286000"/>
            <a:ext cx="411480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772400" y="2377440"/>
            <a:ext cx="3749039" cy="3108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24 : 4 = 6</a:t>
            </a:r>
          </a:p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1 бөлүк = 6 боорсок</a:t>
            </a:r>
          </a:p>
          <a:p>
            <a:pPr algn="l">
              <a:lnSpc>
                <a:spcPct val="120000"/>
              </a:lnSpc>
            </a:pPr>
            <a:r>
              <a:rPr sz="2800" b="1" i="0">
                <a:solidFill>
                  <a:srgbClr val="A84400"/>
                </a:solidFill>
                <a:latin typeface="PT Sans"/>
              </a:rPr>
              <a:t>3 × 6 = 18</a:t>
            </a:r>
          </a:p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3 бөлүк – табакка</a:t>
            </a:r>
          </a:p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007A5A"/>
                </a:solidFill>
                <a:latin typeface="PT Sans"/>
              </a:rPr>
              <a:t>Калды: 1 бөлүк = 6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К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С: тилке модели – 4 кадам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Сандын бөлүгүн табуу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Батма апа тойго 24 боорсок бышырды. Анын төрттөн үчүн табактарга салыш керек. Канча боорсок табакка салынат? Канчасы калат?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103120"/>
            <a:ext cx="2695194" cy="3337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66928" y="2212848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2167128"/>
            <a:ext cx="2009394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D3557"/>
                </a:solidFill>
                <a:latin typeface="PT Sans"/>
              </a:rPr>
              <a:t>Оку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7" y="2834640"/>
            <a:ext cx="2329434" cy="2377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Бүтүн: 24 боорсок.</a:t>
            </a:r>
          </a:p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Канчага бөлөбүз? 4 бирдей бөлүк.</a:t>
            </a:r>
          </a:p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Канча бөлүгү? 3.</a:t>
            </a:r>
          </a:p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Суроо: 3 бөлүгү канча, калганы канча?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124962" y="3749039"/>
            <a:ext cx="18288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3307842" y="2103120"/>
            <a:ext cx="2695194" cy="3337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445002" y="2212848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02202" y="2167128"/>
            <a:ext cx="2009394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D3557"/>
                </a:solidFill>
                <a:latin typeface="PT Sans"/>
              </a:rPr>
              <a:t>Чий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90722" y="3108960"/>
            <a:ext cx="353758" cy="41148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844480" y="3108960"/>
            <a:ext cx="353758" cy="41148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98239" y="3108960"/>
            <a:ext cx="353758" cy="41148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51997" y="3108960"/>
            <a:ext cx="353758" cy="4114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4997196" y="310896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134356" y="3108960"/>
            <a:ext cx="0" cy="41148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4997196" y="352044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180076" y="3040380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A84400"/>
                </a:solidFill>
                <a:latin typeface="PT Sans"/>
              </a:rPr>
              <a:t>?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003036" y="3749039"/>
            <a:ext cx="18288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6185916" y="2103120"/>
            <a:ext cx="2695194" cy="3337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23076" y="2212848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80276" y="2167128"/>
            <a:ext cx="2009394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D3557"/>
                </a:solidFill>
                <a:latin typeface="PT Sans"/>
              </a:rPr>
              <a:t>Сандарды жаз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68796" y="3108960"/>
            <a:ext cx="353758" cy="41148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6B7280"/>
                </a:solidFill>
                <a:latin typeface="PT Sans"/>
              </a:rPr>
              <a:t>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722554" y="3108960"/>
            <a:ext cx="353758" cy="41148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6B7280"/>
                </a:solidFill>
                <a:latin typeface="PT Sans"/>
              </a:rPr>
              <a:t>6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076313" y="3108960"/>
            <a:ext cx="353758" cy="41148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6B7280"/>
                </a:solidFill>
                <a:latin typeface="PT Sans"/>
              </a:rPr>
              <a:t>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30071" y="3108960"/>
            <a:ext cx="353758" cy="4114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F2430"/>
                </a:solidFill>
                <a:latin typeface="PT Sans"/>
              </a:rPr>
              <a:t>6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7875270" y="310896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8012430" y="3108960"/>
            <a:ext cx="0" cy="41148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7875270" y="352044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8058150" y="3040380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A84400"/>
                </a:solidFill>
                <a:latin typeface="PT Sans"/>
              </a:rPr>
              <a:t>?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8881110" y="3749039"/>
            <a:ext cx="18288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9063990" y="2103120"/>
            <a:ext cx="2695194" cy="3337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9201150" y="2212848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58350" y="2167128"/>
            <a:ext cx="2009394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D3557"/>
                </a:solidFill>
                <a:latin typeface="PT Sans"/>
              </a:rPr>
              <a:t>Суроону белгиле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246870" y="3108960"/>
            <a:ext cx="353758" cy="41148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6B7280"/>
                </a:solidFill>
                <a:latin typeface="PT Sans"/>
              </a:rPr>
              <a:t>6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600628" y="3108960"/>
            <a:ext cx="353758" cy="41148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6B7280"/>
                </a:solidFill>
                <a:latin typeface="PT Sans"/>
              </a:rPr>
              <a:t>6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954387" y="3108960"/>
            <a:ext cx="353758" cy="41148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6B7280"/>
                </a:solidFill>
                <a:latin typeface="PT Sans"/>
              </a:rPr>
              <a:t>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0308145" y="3108960"/>
            <a:ext cx="353758" cy="4114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F2430"/>
                </a:solidFill>
                <a:latin typeface="PT Sans"/>
              </a:rPr>
              <a:t>6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10753344" y="310896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0890504" y="3108960"/>
            <a:ext cx="0" cy="41148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0753344" y="352044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10936224" y="3040380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A84400"/>
                </a:solidFill>
                <a:latin typeface="PT Sans"/>
              </a:rPr>
              <a:t>24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8" y="562356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Туюнтма: 3 × (24 : 4) = 18;   24 − 18 = 6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А: эреже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Сандын бөлүгүн табуу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71600"/>
            <a:ext cx="3593592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906524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7" y="2377440"/>
            <a:ext cx="3410712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: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7" y="3063240"/>
            <a:ext cx="3410712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Бөл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3566160"/>
            <a:ext cx="3319272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Бүтүндү бирдей бөлүккө бөл: 24 : 4 = 6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023360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297680" y="1371600"/>
            <a:ext cx="3593592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74436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2377440"/>
            <a:ext cx="3410712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×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3063240"/>
            <a:ext cx="3410712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Көбөйт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4840" y="3566160"/>
            <a:ext cx="3319272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Керектүү бөлүктөр: 3 × 6 = 18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891272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8165592" y="1371600"/>
            <a:ext cx="3593592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42348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57032" y="2377440"/>
            <a:ext cx="3410712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57032" y="3063240"/>
            <a:ext cx="3410712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Текшер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02752" y="3566160"/>
            <a:ext cx="3319272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Калганы менен: 18 + 6 = 24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874519" y="4709160"/>
            <a:ext cx="8449056" cy="758952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600" b="1">
                <a:solidFill>
                  <a:srgbClr val="A84400"/>
                </a:solidFill>
                <a:latin typeface="PT Sans"/>
              </a:rPr>
              <a:t>24түн төрттөн үчү = 3 × (24 : 4) = 3 × 6 = 18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1: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Сандын бөлүгүн табуу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Тойго 40 стул алып келишти. Бештен үчүн короого коюшту. Короодо канча стул?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40 : 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2240280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1 бөлүк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= 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557016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3 × 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3557016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3 бөлүк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215384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= 24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Короодо = </a:t>
            </a:r>
            <a:r>
              <a:rPr sz="3400" b="1">
                <a:solidFill>
                  <a:srgbClr val="24418C"/>
                </a:solidFill>
                <a:latin typeface="PT Sans"/>
              </a:rPr>
              <a:t>24 стул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2: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Сандын бөлүгүн табуу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Темир акчасынын төрттөн бирине, 9 сомго шар алды. Анын бардык акчасы канча эле?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1 бөлүк = 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2240280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төрттөн бири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4 бөлүк = 4 × 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557016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= 36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Баары = </a:t>
            </a:r>
            <a:r>
              <a:rPr sz="3400" b="1">
                <a:solidFill>
                  <a:srgbClr val="24418C"/>
                </a:solidFill>
                <a:latin typeface="PT Sans"/>
              </a:rPr>
              <a:t>36 сом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ыкма: сандын бөлүгү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Сандын бөлүгүн табуу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12647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Теңинин теңи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48дин төрттөн бири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48 → 24 → 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Төрттөн бири = теңинин теңи.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0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480560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Бир бөлүктөн баштайм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6280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36нын үчтөн экиси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үчтөн бири 12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6280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2 × 12 = 24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Адегенде 1 бөлүк, анан канча керек.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65592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348472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42832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Калганы аркылуу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94192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40тын төрттөн үчү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94192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төрттөн бири 10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94192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40 − 10 = 30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94192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Төрттөн үчү = бүтүн − төрттөн бири.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9768" y="5577840"/>
            <a:ext cx="11329416" cy="50292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222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700" b="1">
                <a:solidFill>
                  <a:srgbClr val="007A5A"/>
                </a:solidFill>
                <a:latin typeface="PT Sans"/>
              </a:rPr>
              <a:t>Түшүн → ыкма → эркин эсеп. «Мен адегенде бир бөлүктү таптым» деп айт.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Чечүүчү 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Сандын бөлүгүн табуу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Тойго 36 шар алышты. Анын төрттөн үчүн илишти. Канча шар илинди?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04088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7048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9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08776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83096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06056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27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4088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27048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48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08776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83096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06056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32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чий, анан эсепте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Сандын бөлүгүн табуу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18/26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Той үчүн 18 шар алышты. Анын үчтөн бири көк. Канча көк шар? Тилкеге сандарды жаз.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7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167128" y="4956048"/>
            <a:ext cx="170383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12647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618488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282439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19600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76800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Тойго 40 стул алып келишти. Бештен үчүн короого коюшту. Короодо канча стул?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6759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65320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019800" y="4956048"/>
            <a:ext cx="1703831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465320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471159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8135112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72272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29472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Темир тойго келген балдардын алтыдан бирин санады: 4 бала. Баары канча бала келди?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09432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17991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872471" y="4956048"/>
            <a:ext cx="170383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317991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323831" y="5641848"/>
            <a:ext cx="225247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Сандын бөлүгүн табуу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Той үчүн 18 шар алышты. Анын үчтөн бири көк. Канча көк шар? Тилкеге сандарды жаз.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3017520"/>
            <a:ext cx="781304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48232" y="3017520"/>
            <a:ext cx="781304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29536" y="3017520"/>
            <a:ext cx="781304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6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002280" y="30175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3139440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3002280" y="3401568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3185160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18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7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18 : 3 = 6 шар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82439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419600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76800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Тойго 40 стул алып келишти. Бештен үчүн короого коюшту. Короодо канча стул?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19600" y="3017520"/>
            <a:ext cx="468782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88382" y="3017520"/>
            <a:ext cx="468782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8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357164" y="3017520"/>
            <a:ext cx="468782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8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825947" y="3017520"/>
            <a:ext cx="46878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8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94729" y="3017520"/>
            <a:ext cx="46878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8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854951" y="3017520"/>
            <a:ext cx="137161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992112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6854951" y="3401568"/>
            <a:ext cx="137161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7037832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40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65320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40 : 5 = 8;  3 × 8 = 24 стул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135112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272272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29472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Темир тойго келген балдардын алтыдан бирин санады: 4 бала. Баары канча бала келди?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272272" y="3017520"/>
            <a:ext cx="39065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662924" y="3017520"/>
            <a:ext cx="390652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053575" y="3017520"/>
            <a:ext cx="390652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444227" y="3017520"/>
            <a:ext cx="390652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4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834879" y="3017520"/>
            <a:ext cx="390652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4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225531" y="3017520"/>
            <a:ext cx="390652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4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0707624" y="30175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0844784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0707624" y="3401568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10890503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24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17991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6 × 4 = 24 бала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Сандын бөлүгүн табуу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20/26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Дептериңе чыгар. Кыйын болсо – жакшы! Мээң өсүп жатат.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35тин бештен бири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18дин үчтөн экиси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48дин алтыдан беши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Сандын тогуздан бири 4. Ал сан?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07007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Белги: 30дун теңи ○ 45тин үчтөн бири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08776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91656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86016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Батма апада 56 курут. Сегизден үчүн берди. Канча калды?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Сандын бөлүгүн табуу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35тин бештен бири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18дин үчтөн экиси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48дин алтыдан беши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40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Сандын тогуздан бири 4. Ал сан?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36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66928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Белги: 30дун теңи ○ 45тин үчтөн бири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34804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15 = 15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08776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345936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94576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Батма апада 56 курут. Сегизден үчүн берди. Канча калды?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13812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35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Окуяга кайтабыз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Сандын бөлүгүн табуу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Батма апа тойго 24 боорсок бышырды. Анын төрттөн үчүн табактарга салыш керек. Канча боорсок табакка салынат? Канчасы калат?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2240280"/>
            <a:ext cx="2263139" cy="54864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6B7280"/>
                </a:solidFill>
                <a:latin typeface="PT Sans"/>
              </a:rPr>
              <a:t>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77539" y="2240280"/>
            <a:ext cx="2263139" cy="54864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6B7280"/>
                </a:solidFill>
                <a:latin typeface="PT Sans"/>
              </a:rPr>
              <a:t>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40679" y="2240280"/>
            <a:ext cx="2263139" cy="54864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6B7280"/>
                </a:solidFill>
                <a:latin typeface="PT Sans"/>
              </a:rPr>
              <a:t>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03819" y="2240280"/>
            <a:ext cx="226313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6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058399" y="224028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0195559" y="2240280"/>
            <a:ext cx="0" cy="54864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0058399" y="27889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0241279" y="2240280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24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3127248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24 : 4 = 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3127248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1 бөлүк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3694176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3 × 6 = 18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60" y="3694176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3 бөлүк – табакка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261104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24418C"/>
                </a:solidFill>
                <a:latin typeface="PT Sans"/>
              </a:rPr>
              <a:t>24 − 18 = 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66760" y="4261104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калат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874519" y="5486400"/>
            <a:ext cx="8449056" cy="640080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Табактарга 18 боорсок салынат, 6 боорсок калат.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Түз: өзүң маселе түз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Сандын бөлүгүн табуу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4892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71600"/>
            <a:ext cx="10780776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Той даярдыгы жөнүндө «төрттөн үчү» же «үчтөн бири» деген сөздөр бар маселе түз.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256032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54203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Окуядагы каармандарды колдон: Нурсулу, Темир, Батма апа.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338327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364991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Тилкесин чий жана туюнтмасын жаз.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4206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18795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Жупуңа бер: ал чыгарсын, сен текшер.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3C · Кызматташуу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Чыгуу билети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Сандын бөлүгүн табуу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24/26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Өз алдынча, 3 мүнөт. Кагазыңа жазып бер.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40тын бештен бири канча?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323088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7007" y="323088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30дун алтыдан беши канча?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77012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77012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Сандын төрттөн бири 9. Ал сан канча?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Сандын бөлүгүн табуу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80160"/>
            <a:ext cx="1078077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1920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1901952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«Төрттөн үчү» деген эмнени билдирет?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2542032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523744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Бир нече бөлүгүн кантип табабыз?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316382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145536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Бөлүгү белгилүү болсо, бүтүндү кантип табабыз?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" y="461772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1">
                <a:solidFill>
                  <a:srgbClr val="6B7280"/>
                </a:solidFill>
                <a:latin typeface="PT Sans"/>
              </a:rPr>
              <a:t>Өзүңдү баала: колуңду көтөр.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7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007A5A"/>
                </a:solidFill>
                <a:latin typeface="PT Sans"/>
              </a:rPr>
              <a:t>Түшүндүм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360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Дагы машыгам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936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Жардам керек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Мугалим үчүн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Сандын бөлүгүн табуу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5120640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80160"/>
            <a:ext cx="466344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Тилке моделин кантип үйрөтөбүз</a:t>
            </a:r>
          </a:p>
        </p:txBody>
      </p:sp>
      <p:sp>
        <p:nvSpPr>
          <p:cNvPr id="12" name="Oval 11"/>
          <p:cNvSpPr/>
          <p:nvPr/>
        </p:nvSpPr>
        <p:spPr>
          <a:xfrm>
            <a:off x="658368" y="187451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19" y="1856231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Ар бир жуп адегенде бурчакты табактарга тең бөлүштүрөт, анан гана тилке жана сан.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898648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19" y="2880360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«Төрттөн» – канчага бөлөбүз, «үчү» – канча бөлүгүн алабыз: эки суроону өзүнчө сураңыз.</a:t>
            </a:r>
          </a:p>
        </p:txBody>
      </p:sp>
      <p:sp>
        <p:nvSpPr>
          <p:cNvPr id="16" name="Oval 15"/>
          <p:cNvSpPr/>
          <p:nvPr/>
        </p:nvSpPr>
        <p:spPr>
          <a:xfrm>
            <a:off x="658368" y="3922776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19" y="3904488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Кагаз тилкени бүктөтүңүз: бөлүктөр бирдей болушу шарт.</a:t>
            </a:r>
          </a:p>
        </p:txBody>
      </p:sp>
      <p:sp>
        <p:nvSpPr>
          <p:cNvPr id="18" name="Oval 17"/>
          <p:cNvSpPr/>
          <p:nvPr/>
        </p:nvSpPr>
        <p:spPr>
          <a:xfrm>
            <a:off x="658368" y="494690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19" y="4928616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Китептеги (12 : 4) · 2 менен биздин 2 × (12 : 4) бирдей экенин айтыңыз.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79007" y="1225296"/>
            <a:ext cx="5980176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07607" y="1280160"/>
            <a:ext cx="54864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Ой жүгүртүү: эмне деп айтабыз?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07607" y="1783080"/>
            <a:ext cx="2651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6B7280"/>
                </a:solidFill>
                <a:latin typeface="PT Sans"/>
              </a:rPr>
              <a:t>Айтпайбыз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96528" y="1783080"/>
            <a:ext cx="2926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007A5A"/>
                </a:solidFill>
                <a:latin typeface="PT Sans"/>
              </a:rPr>
              <a:t>Айтабыз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07607" y="219456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«Бул оңой эмеспи?»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567928" y="2468879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796528" y="219456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«Кадамдарды бирге карайлы.»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07607" y="315468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«Туура эмес!»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567928" y="342900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796528" y="315468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«Кантип таптың? Текшерип көрөлүчү.»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07607" y="411480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«Сен математикага жөндөмсүзсүң»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567928" y="438912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796528" y="411480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«Азырынча. Машыксаң, үйрөнөсүң.»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07607" y="507492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«Тез чыгар»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567928" y="534924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796528" y="507492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«Шашпа, адегенде тилке чий.»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