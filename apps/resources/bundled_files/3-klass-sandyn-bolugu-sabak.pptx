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«Төрттөн үчү» деген сөздүн маанисин азыр түшүндүрбөйбүз: окуучулар өздөрү ойлонушат. Сабактын аягында кайтабыз (22-слайд).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Нурсулу: 3 бөлүк керек. Темир бир бөлүгүн гана тапты (М2).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24 бурчак (же таш, капкак, жаңгак), 4 кагаз табак жана 1 кагаз тилке. 1) 24 бурчакты 4 табакка бирден таратышат: ар биринде 6 → 1 бөлүк = 24 : 4 = 6. 2) 3 табакты тегеректешет: 3 × 6 = 18. 3) Кагаз тилкени 4кө бүктөп, 3 бөлүгүн боёшот. Анан чакмак дептерде 24 чакмак узундуктагы тилке чийип, 6дан бөлүшөт (1 чакмак = 1 боорсок).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Тилкени кадам менен чийебиз. 4 бирдей бөлүк; 3 бөлүгү белгисиз (үзүк сызык).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Китепте (12 : 4) · 2 деп жазылат. Биз «2 бөлүк, ар бири 12 : 4» деп окуп, 2 × (12 : 4) деп жазабыз: экөө тең 6. Бөлүгү боюнча бүтүн: бир бөлүк × бөлүктөрдүн саны.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ыкманы кагаз тилкени бүктөп көрсөтөм. Окуучу «Мен адегенде теңин таптым» деп айтат. Кайсы ыкма бул сандарга ыңгайлуу экенин окуучу өзү тандайт.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М2; Б = ✓; В = М3; Г = М1 (36 − 4)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бөлүк–бүтүн → салыштыруу → көп кадам. Жооптор: 18 : 3 = 6 шар; 40 : 5 = 8;  3 × 8 = 24 стул; 6 × 4 = 24 бала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Окуяга кайтабыз: 24 : 4 = 6 (1 бөлүк), 3 × 6 = 18 (3 бөлүк), калганы 1 бөлүк =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8; 5 × 5 = 25; 4 × 9 = 36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Той даярдыгы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Нурсулу менен Темир Батма апага тойго даярданууга жардам берип, боорсоктун жана шарлардын бөлүгүн эсептешет.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КББА, «Математика боюнча мугалимдер үчүн колдонмо, 1–4-класстар» (2011), 3-класс: 3.3.8; 2-класс: 2.3.8.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Той даярдыгы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Нурсулунун агасынын тою жакындап калды.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Батма апа боорсок бышырат, Нурсулу менен Темир табак, кесе жана шар даярдашат.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Апа: «Боорсоктун төрттөн үчүн табактарга салгыла», – деди.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Сандын бөлүгүн табуу үчүн аны бирдей бөлүктөргө бөлөбүз.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Батма апа тойго 24 боорсок бышырды. Анын төрттөн үчүн табактарга салыш керек. Канча боорсок табакка салынат? Канчасы калат?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Санды бирдей бөлүктөргө бөлүп, бир бөлүгүн табам.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Бир нече бөлүгүн табам: 2 × (12 : 4).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Бөлүгү боюнча бүтүн санды табам жана тилке чийем.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Бир бөлүгү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Бир нече бөлүгү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Бөлүгү боюнча бүтүн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Тилке менен текшерүү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бурчак жана табак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Той даярдыгы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Тилке модели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Жарымы, үчтөн бири, төрттөн бири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Сандын бөлүгүн табуу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Бир нече бөлүгү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18204" y="2057400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Үлүштөр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Кадимки бөлчөктөр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24 :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 × 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18 :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20 = 4 × 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24 :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 ×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18 :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20 = 4 × 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Нурсулу: «24түн төрттөн үчү 18». Темир: «24түн төрттөн үчү 6».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Нурсулу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24 : 4 = 6 (1 бөлүк)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3 × 6 = 18 (3 бөлүк)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Темир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24 : 4 = 6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Жообу: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Кагаз тилке менен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24 боорсоктун төрттөн үчү. Жупта 24 бурчак (таш же капкак) жана 4 кагаз табак менен.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33172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743200"/>
            <a:ext cx="292608" cy="292608"/>
          </a:xfrm>
          <a:prstGeom prst="ellipse">
            <a:avLst/>
          </a:prstGeom>
          <a:solidFill>
            <a:srgbClr val="F5E9E0"/>
          </a:solidFill>
          <a:ln w="1397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80160" y="2743200"/>
            <a:ext cx="292608" cy="292608"/>
          </a:xfrm>
          <a:prstGeom prst="ellipse">
            <a:avLst/>
          </a:prstGeom>
          <a:solidFill>
            <a:srgbClr val="F5E9E0"/>
          </a:solidFill>
          <a:ln w="1397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645920" y="2743200"/>
            <a:ext cx="292608" cy="292608"/>
          </a:xfrm>
          <a:prstGeom prst="ellipse">
            <a:avLst/>
          </a:prstGeom>
          <a:solidFill>
            <a:srgbClr val="F5E9E0"/>
          </a:solidFill>
          <a:ln w="1397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154680"/>
            <a:ext cx="292608" cy="292608"/>
          </a:xfrm>
          <a:prstGeom prst="ellipse">
            <a:avLst/>
          </a:prstGeom>
          <a:solidFill>
            <a:srgbClr val="F5E9E0"/>
          </a:solidFill>
          <a:ln w="1397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80160" y="3154680"/>
            <a:ext cx="292608" cy="292608"/>
          </a:xfrm>
          <a:prstGeom prst="ellipse">
            <a:avLst/>
          </a:prstGeom>
          <a:solidFill>
            <a:srgbClr val="F5E9E0"/>
          </a:solidFill>
          <a:ln w="1397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45920" y="3154680"/>
            <a:ext cx="292608" cy="292608"/>
          </a:xfrm>
          <a:prstGeom prst="ellipse">
            <a:avLst/>
          </a:prstGeom>
          <a:solidFill>
            <a:srgbClr val="F5E9E0"/>
          </a:solidFill>
          <a:ln w="1397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04487"/>
            <a:ext cx="15544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1-табак: 6</a:t>
            </a:r>
          </a:p>
        </p:txBody>
      </p:sp>
      <p:sp>
        <p:nvSpPr>
          <p:cNvPr id="20" name="Oval 19"/>
          <p:cNvSpPr/>
          <p:nvPr/>
        </p:nvSpPr>
        <p:spPr>
          <a:xfrm>
            <a:off x="2331720" y="233172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06039" y="2743200"/>
            <a:ext cx="292608" cy="292608"/>
          </a:xfrm>
          <a:prstGeom prst="ellipse">
            <a:avLst/>
          </a:prstGeom>
          <a:solidFill>
            <a:srgbClr val="F5E9E0"/>
          </a:solidFill>
          <a:ln w="1397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71799" y="2743200"/>
            <a:ext cx="292608" cy="292608"/>
          </a:xfrm>
          <a:prstGeom prst="ellipse">
            <a:avLst/>
          </a:prstGeom>
          <a:solidFill>
            <a:srgbClr val="F5E9E0"/>
          </a:solidFill>
          <a:ln w="1397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337559" y="2743200"/>
            <a:ext cx="292608" cy="292608"/>
          </a:xfrm>
          <a:prstGeom prst="ellipse">
            <a:avLst/>
          </a:prstGeom>
          <a:solidFill>
            <a:srgbClr val="F5E9E0"/>
          </a:solidFill>
          <a:ln w="1397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606039" y="3154680"/>
            <a:ext cx="292608" cy="292608"/>
          </a:xfrm>
          <a:prstGeom prst="ellipse">
            <a:avLst/>
          </a:prstGeom>
          <a:solidFill>
            <a:srgbClr val="F5E9E0"/>
          </a:solidFill>
          <a:ln w="1397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71799" y="3154680"/>
            <a:ext cx="292608" cy="292608"/>
          </a:xfrm>
          <a:prstGeom prst="ellipse">
            <a:avLst/>
          </a:prstGeom>
          <a:solidFill>
            <a:srgbClr val="F5E9E0"/>
          </a:solidFill>
          <a:ln w="1397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337559" y="3154680"/>
            <a:ext cx="292608" cy="292608"/>
          </a:xfrm>
          <a:prstGeom prst="ellipse">
            <a:avLst/>
          </a:prstGeom>
          <a:solidFill>
            <a:srgbClr val="F5E9E0"/>
          </a:solidFill>
          <a:ln w="1397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31720" y="3904487"/>
            <a:ext cx="15544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2-табак: 6</a:t>
            </a:r>
          </a:p>
        </p:txBody>
      </p:sp>
      <p:sp>
        <p:nvSpPr>
          <p:cNvPr id="28" name="Oval 27"/>
          <p:cNvSpPr/>
          <p:nvPr/>
        </p:nvSpPr>
        <p:spPr>
          <a:xfrm>
            <a:off x="4023360" y="233172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97680" y="2743200"/>
            <a:ext cx="292608" cy="292608"/>
          </a:xfrm>
          <a:prstGeom prst="ellipse">
            <a:avLst/>
          </a:prstGeom>
          <a:solidFill>
            <a:srgbClr val="F5E9E0"/>
          </a:solidFill>
          <a:ln w="1397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63440" y="2743200"/>
            <a:ext cx="292608" cy="292608"/>
          </a:xfrm>
          <a:prstGeom prst="ellipse">
            <a:avLst/>
          </a:prstGeom>
          <a:solidFill>
            <a:srgbClr val="F5E9E0"/>
          </a:solidFill>
          <a:ln w="1397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29200" y="2743200"/>
            <a:ext cx="292608" cy="292608"/>
          </a:xfrm>
          <a:prstGeom prst="ellipse">
            <a:avLst/>
          </a:prstGeom>
          <a:solidFill>
            <a:srgbClr val="F5E9E0"/>
          </a:solidFill>
          <a:ln w="1397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297680" y="3154680"/>
            <a:ext cx="292608" cy="292608"/>
          </a:xfrm>
          <a:prstGeom prst="ellipse">
            <a:avLst/>
          </a:prstGeom>
          <a:solidFill>
            <a:srgbClr val="F5E9E0"/>
          </a:solidFill>
          <a:ln w="1397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63440" y="3154680"/>
            <a:ext cx="292608" cy="292608"/>
          </a:xfrm>
          <a:prstGeom prst="ellipse">
            <a:avLst/>
          </a:prstGeom>
          <a:solidFill>
            <a:srgbClr val="F5E9E0"/>
          </a:solidFill>
          <a:ln w="1397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029200" y="3154680"/>
            <a:ext cx="292608" cy="292608"/>
          </a:xfrm>
          <a:prstGeom prst="ellipse">
            <a:avLst/>
          </a:prstGeom>
          <a:solidFill>
            <a:srgbClr val="F5E9E0"/>
          </a:solidFill>
          <a:ln w="1397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23360" y="3904487"/>
            <a:ext cx="15544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3-табак: 6</a:t>
            </a:r>
          </a:p>
        </p:txBody>
      </p:sp>
      <p:sp>
        <p:nvSpPr>
          <p:cNvPr id="36" name="Oval 35"/>
          <p:cNvSpPr/>
          <p:nvPr/>
        </p:nvSpPr>
        <p:spPr>
          <a:xfrm>
            <a:off x="5715000" y="233172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989320" y="2743200"/>
            <a:ext cx="292608" cy="292608"/>
          </a:xfrm>
          <a:prstGeom prst="ellipse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55080" y="2743200"/>
            <a:ext cx="292608" cy="292608"/>
          </a:xfrm>
          <a:prstGeom prst="ellipse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720840" y="2743200"/>
            <a:ext cx="292608" cy="292608"/>
          </a:xfrm>
          <a:prstGeom prst="ellipse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89320" y="3154680"/>
            <a:ext cx="292608" cy="292608"/>
          </a:xfrm>
          <a:prstGeom prst="ellipse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55080" y="3154680"/>
            <a:ext cx="292608" cy="292608"/>
          </a:xfrm>
          <a:prstGeom prst="ellipse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720840" y="3154680"/>
            <a:ext cx="292608" cy="292608"/>
          </a:xfrm>
          <a:prstGeom prst="ellipse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15000" y="3904487"/>
            <a:ext cx="15544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4-табак: 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2194560"/>
            <a:ext cx="5029200" cy="2103120"/>
          </a:xfrm>
          <a:prstGeom prst="roundRect">
            <a:avLst>
              <a:gd name="adj" fmla="val 20000"/>
            </a:avLst>
          </a:prstGeom>
          <a:noFill/>
          <a:ln w="22225">
            <a:solidFill>
              <a:srgbClr val="A844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429768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3 табак = төрттөн үчү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4709160"/>
            <a:ext cx="1600200" cy="548640"/>
          </a:xfrm>
          <a:prstGeom prst="rect">
            <a:avLst/>
          </a:prstGeom>
          <a:solidFill>
            <a:srgbClr val="F5E9E0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240280" y="4709160"/>
            <a:ext cx="1600200" cy="548640"/>
          </a:xfrm>
          <a:prstGeom prst="rect">
            <a:avLst/>
          </a:prstGeom>
          <a:solidFill>
            <a:srgbClr val="F5E9E0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40480" y="4709160"/>
            <a:ext cx="1600200" cy="548640"/>
          </a:xfrm>
          <a:prstGeom prst="rect">
            <a:avLst/>
          </a:prstGeom>
          <a:solidFill>
            <a:srgbClr val="F5E9E0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40680" y="4709160"/>
            <a:ext cx="1600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3035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Кагаз тилкени 4кө бүктөп, 3 бөлүгүн боёдук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89520" y="2286000"/>
            <a:ext cx="41148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0" y="2377440"/>
            <a:ext cx="3749039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24 : 4 = 6</a:t>
            </a: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1 бөлүк = 6 боорсок</a:t>
            </a:r>
          </a:p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A84400"/>
                </a:solidFill>
                <a:latin typeface="PT Sans"/>
              </a:rPr>
              <a:t>3 × 6 = 18</a:t>
            </a: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3 бөлүк – табакка</a:t>
            </a:r>
          </a:p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07A5A"/>
                </a:solidFill>
                <a:latin typeface="PT Sans"/>
              </a:rPr>
              <a:t>Калды: 1 бөлүк = 6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тилке модели – 4 кадам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Батма апа тойго 24 боорсок бышырды. Анын төрттөн үчүн табактарга салыш керек. Канча боорсок табакка салынат? Канчасы калат?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Оку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" y="2834640"/>
            <a:ext cx="232943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Бүтүн: 24 боорсок.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Канчага бөлөбүз? 4 бирдей бөлүк.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Канча бөлүгү? 3.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Суроо: 3 бөлүгү канча, калганы канча?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24962" y="3749039"/>
            <a:ext cx="18288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07842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45002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2202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Чий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0722" y="3108960"/>
            <a:ext cx="353758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4480" y="3108960"/>
            <a:ext cx="353758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98239" y="3108960"/>
            <a:ext cx="353758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51997" y="3108960"/>
            <a:ext cx="353758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997196" y="310896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134356" y="3108960"/>
            <a:ext cx="0" cy="41148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997196" y="352044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180076" y="30403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03036" y="3749039"/>
            <a:ext cx="18288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185916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0276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Сандарды жаз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68796" y="3108960"/>
            <a:ext cx="353758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2554" y="3108960"/>
            <a:ext cx="353758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76313" y="3108960"/>
            <a:ext cx="353758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0071" y="3108960"/>
            <a:ext cx="353758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875270" y="310896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012430" y="3108960"/>
            <a:ext cx="0" cy="41148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875270" y="352044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058150" y="30403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881110" y="3749039"/>
            <a:ext cx="18288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063990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201150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8350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Суроону белгиле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46870" y="3108960"/>
            <a:ext cx="353758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0628" y="3108960"/>
            <a:ext cx="353758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54387" y="3108960"/>
            <a:ext cx="353758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308145" y="3108960"/>
            <a:ext cx="353758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753344" y="310896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890504" y="3108960"/>
            <a:ext cx="0" cy="41148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753344" y="352044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0936224" y="30403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Туюнтма: 3 × (24 : 4) = 18;   24 − 18 = 6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06524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: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Бөл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Бүтүндү бирдей бөлүккө бөл: 24 : 4 = 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97680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4436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×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Көбөйт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Керектүү бөлүктөр: 3 × 6 = 18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9127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65592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42348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Текшер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Калганы менен: 18 + 6 = 24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24түн төрттөн үчү = 3 × (24 : 4) = 3 × 6 = 18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Тойго 40 стул алып келишти. Бештен үчүн короого коюшту. Короодо канча стул?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40 :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1 бөлүк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 ×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3 бөлүк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Короодо = </a:t>
            </a:r>
            <a:r>
              <a:rPr sz="3400" b="1">
                <a:solidFill>
                  <a:srgbClr val="24418C"/>
                </a:solidFill>
                <a:latin typeface="PT Sans"/>
              </a:rPr>
              <a:t>24 стул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Темир акчасынын төрттөн бирине, 9 сомго шар алды. Анын бардык акчасы канча эле?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 бөлүк =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төрттөн бири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 бөлүк = 4 ×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Баары = </a:t>
            </a:r>
            <a:r>
              <a:rPr sz="3400" b="1">
                <a:solidFill>
                  <a:srgbClr val="24418C"/>
                </a:solidFill>
                <a:latin typeface="PT Sans"/>
              </a:rPr>
              <a:t>36 сом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сандын бөлүгү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Теңинин теңи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48дин төрттөн бири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48 → 24 →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Төрттөн бири = теңинин теңи.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Бир бөлүктөн баштайм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36нын үчтөн экиси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үчтөн бири 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2 × 12 = 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Адегенде 1 бөлүк, анан канча керек.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Калганы аркылуу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40тын төрттөн үчү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төрттөн бири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40 − 10 = 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Төрттөн үчү = бүтүн − төрттөн бири.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Түшүн → ыкма → эркин эсеп. «Мен адегенде бир бөлүктү таптым» деп айт.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Тойго 36 шар алышты. Анын төрттөн үчүн илишти. Канча шар илинди?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48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Той үчүн 18 шар алышты. Анын үчтөн бири көк. Канча көк шар? Тилкеге сандарды жаз.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Тойго 40 стул алып келишти. Бештен үчүн короого коюшту. Короодо канча стул?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Темир тойго келген балдардын алтыдан бирин санады: 4 бала. Баары канча бала келди?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Той үчүн 18 шар алышты. Анын үчтөн бири көк. Канча көк шар? Тилкеге сандарды жаз.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781304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48232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9536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18 : 3 = 6 шар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Тойго 40 стул алып келишти. Бештен үчүн короого коюшту. Короодо канча стул?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19600" y="3017520"/>
            <a:ext cx="468782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88382" y="3017520"/>
            <a:ext cx="468782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57164" y="3017520"/>
            <a:ext cx="468782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25947" y="3017520"/>
            <a:ext cx="46878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94729" y="3017520"/>
            <a:ext cx="46878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92112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4951" y="3401568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037832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40 : 5 = 8;  3 × 8 = 24 стул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Темир тойго келген балдардын алтыдан бирин санады: 4 бала. Баары канча бала келди?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2272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62924" y="3017520"/>
            <a:ext cx="390652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53575" y="3017520"/>
            <a:ext cx="390652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44227" y="3017520"/>
            <a:ext cx="390652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34879" y="3017520"/>
            <a:ext cx="390652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225531" y="3017520"/>
            <a:ext cx="390652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4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6 × 4 = 24 бала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35тин бештен бири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18дин үчтөн экиси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48дин алтыдан беши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Сандын тогуздан бири 4. Ал сан?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Белги: 30дун теңи ○ 45тин үчтөн бири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Батма апада 56 курут. Сегизден үчүн берди. Канча калды?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35тин бештен бири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18дин үчтөн экиси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48дин алтыдан беши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Сандын тогуздан бири 4. Ал сан?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Белги: 30дун теңи ○ 45тин үчтөн бири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15 = 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Батма апада 56 курут. Сегизден үчүн берди. Канча калды?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Батма апа тойго 24 боорсок бышырды. Анын төрттөн үчүн табактарга салыш керек. Канча боорсок табакка салынат? Канчасы калат?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240280"/>
            <a:ext cx="226313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77539" y="2240280"/>
            <a:ext cx="226313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40679" y="2240280"/>
            <a:ext cx="226313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03819" y="2240280"/>
            <a:ext cx="226313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24 : 4 =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1 бөлүк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3 × 6 =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3 бөлүк – табакка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24 − 18 =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калат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Табактарга 18 боорсок салынат, 6 боорсок калат.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Той даярдыгы жөнүндө «төрттөн үчү» же «үчтөн бири» деген сөздөр бар маселе түз.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Нурсулу, Темир, Батма апа.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40тын бештен бири канча?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30дун алтыдан беши канча?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Сандын төрттөн бири 9. Ал сан канча?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«Төрттөн үчү» деген эмнени билдирет?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Бир нече бөлүгүн кантип табабыз?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Бөлүгү белгилүү болсо, бүтүндү кантип табабыз?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жуп адегенде бурчакты табактарга тең бөлүштүрөт, анан гана тилке жана сан.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«Төрттөн» – канчага бөлөбүз, «үчү» – канча бөлүгүн алабыз: эки суроону өзүнчө сураңыз.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Кагаз тилкени бүктөтүңүз: бөлүктөр бирдей болушу шарт.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Китептеги (12 : 4) · 2 менен биздин 2 × (12 : 4) бирдей экенин айтыңыз.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