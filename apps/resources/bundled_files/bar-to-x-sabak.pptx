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athkg.com/algebra-intro-definitions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7784" y="369417"/>
            <a:ext cx="70408" cy="358444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1560" y="369417"/>
            <a:ext cx="70408" cy="358444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5337" y="369417"/>
            <a:ext cx="70408" cy="358444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13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D3557"/>
                </a:solidFill>
                <a:latin typeface="Golos Text"/>
              </a:rPr>
              <a:t>Сабак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600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" y="1200000"/>
            <a:ext cx="108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1D3557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2100000"/>
            <a:ext cx="10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007A5A"/>
                </a:solidFill>
                <a:latin typeface="Golos Text"/>
              </a:rPr>
              <a:t>Түшүндүрмө сабак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2900000"/>
            <a:ext cx="10700000" cy="32000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0000" y="310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4418C"/>
                </a:solidFill>
                <a:latin typeface="Golos Text"/>
              </a:rPr>
              <a:t>Мугалим үчүн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0000" y="3600000"/>
            <a:ext cx="10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1D3557"/>
                </a:solidFill>
                <a:latin typeface="Golos Text"/>
              </a:rPr>
              <a:t>•  Окуучу тилкедеги «?» ордуна x жазат.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1D3557"/>
                </a:solidFill>
                <a:latin typeface="Golos Text"/>
              </a:rPr>
              <a:t>•  Адегенде тилке, анан теңдеме. Экөө бир эле санды берет.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1D3557"/>
                </a:solidFill>
                <a:latin typeface="Golos Text"/>
              </a:rPr>
              <a:t>•  Жеңилден оорго чейин машыгып, анан текшерет.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1D3557"/>
                </a:solidFill>
                <a:latin typeface="Golos Text"/>
              </a:rPr>
              <a:t>•  Кийинки сабак — Аныктамалар.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7784" y="369417"/>
            <a:ext cx="70408" cy="358444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1560" y="369417"/>
            <a:ext cx="70408" cy="358444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5337" y="369417"/>
            <a:ext cx="70408" cy="358444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13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D3557"/>
                </a:solidFill>
                <a:latin typeface="Golos Text"/>
              </a:rPr>
              <a:t>Кайталоо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600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" y="1200000"/>
            <a:ext cx="108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1D3557"/>
                </a:solidFill>
                <a:latin typeface="Golos Text"/>
              </a:rPr>
              <a:t>Тилке — тик бурчтук.</a:t>
            </a:r>
          </a:p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1D3557"/>
                </a:solidFill>
                <a:latin typeface="Golos Text"/>
              </a:rPr>
              <a:t>Узун тилке бүтүндү көрсөтөт. Кыска тилкелер анын бөлүктөрү.</a:t>
            </a:r>
          </a:p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1D3557"/>
                </a:solidFill>
                <a:latin typeface="Golos Text"/>
              </a:rPr>
              <a:t>«?» — азырынча билбеген сан.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3400000"/>
            <a:ext cx="3200000" cy="70000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3400000"/>
            <a:ext cx="32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olos Text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0000" y="3400000"/>
            <a:ext cx="4200000" cy="70000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0000" y="3400000"/>
            <a:ext cx="4200000" cy="7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olos Text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4500000"/>
            <a:ext cx="10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3200" b="0" i="1">
                <a:solidFill>
                  <a:srgbClr val="1D3557"/>
                </a:solidFill>
                <a:latin typeface="Golos Text"/>
              </a:rPr>
              <a:t>5 + ? =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4A5A70"/>
                </a:solidFill>
                <a:latin typeface="Golos Text"/>
              </a:rPr>
              <a:t>Бүтүн 12. Бир бөлүгү белгилүү, экинчиси жок.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7784" y="369417"/>
            <a:ext cx="70408" cy="358444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1560" y="369417"/>
            <a:ext cx="70408" cy="358444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5337" y="369417"/>
            <a:ext cx="70408" cy="358444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13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D3557"/>
                </a:solidFill>
                <a:latin typeface="Golos Text"/>
              </a:rPr>
              <a:t>Кызыктыруу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600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000" y="1300000"/>
            <a:ext cx="10700000" cy="46000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0000" y="1600000"/>
            <a:ext cx="101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0" i="0">
                <a:solidFill>
                  <a:srgbClr val="1D3557"/>
                </a:solidFill>
                <a:latin typeface="Golos Text"/>
              </a:rPr>
              <a:t>Айгеримдин 3 бирдей кутусу бар.</a:t>
            </a:r>
          </a:p>
          <a:p>
            <a:pPr algn="l">
              <a:spcAft>
                <a:spcPts val="800"/>
              </a:spcAft>
            </a:pPr>
            <a:r>
              <a:rPr sz="2800" b="0" i="0">
                <a:solidFill>
                  <a:srgbClr val="1D3557"/>
                </a:solidFill>
                <a:latin typeface="Golos Text"/>
              </a:rPr>
              <a:t>Ар бир кутуда бирдей санда алма.</a:t>
            </a:r>
          </a:p>
          <a:p>
            <a:pPr algn="l">
              <a:spcAft>
                <a:spcPts val="800"/>
              </a:spcAft>
            </a:pPr>
            <a:r>
              <a:rPr sz="2800" b="0" i="0">
                <a:solidFill>
                  <a:srgbClr val="1D3557"/>
                </a:solidFill>
                <a:latin typeface="Golos Text"/>
              </a:rPr>
              <a:t>Үстөлдө дагы 5 алма турат.</a:t>
            </a:r>
          </a:p>
          <a:p>
            <a:pPr algn="l">
              <a:spcAft>
                <a:spcPts val="800"/>
              </a:spcAft>
            </a:pPr>
            <a:r>
              <a:rPr sz="2800" b="0" i="0">
                <a:solidFill>
                  <a:srgbClr val="1D3557"/>
                </a:solidFill>
                <a:latin typeface="Golos Text"/>
              </a:rPr>
              <a:t>Баары 26 алма.</a:t>
            </a:r>
          </a:p>
          <a:p>
            <a:pPr algn="l">
              <a:spcAft>
                <a:spcPts val="800"/>
              </a:spcAft>
            </a:pPr>
            <a:r>
              <a:rPr sz="2800" b="0" i="0">
                <a:solidFill>
                  <a:srgbClr val="1D3557"/>
                </a:solidFill>
                <a:latin typeface="Golos Text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800" b="0" i="0">
                <a:solidFill>
                  <a:srgbClr val="1D3557"/>
                </a:solidFill>
                <a:latin typeface="Golos Text"/>
              </a:rPr>
              <a:t>Бир кутуда канча алма?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7784" y="369417"/>
            <a:ext cx="70408" cy="358444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1560" y="369417"/>
            <a:ext cx="70408" cy="358444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5337" y="369417"/>
            <a:ext cx="70408" cy="358444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13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D3557"/>
                </a:solidFill>
                <a:latin typeface="Golos Text"/>
              </a:rPr>
              <a:t>Изилдөө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600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" y="1150000"/>
            <a:ext cx="10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1D3557"/>
                </a:solidFill>
                <a:latin typeface="Golos Text"/>
              </a:rPr>
              <a:t>Бир маселе. Эки жол.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000" y="1750000"/>
            <a:ext cx="5300000" cy="43000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0000" y="1750000"/>
            <a:ext cx="5300000" cy="43000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1950000"/>
            <a:ext cx="49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07A5A"/>
                </a:solidFill>
                <a:latin typeface="Golos Text"/>
              </a:rPr>
              <a:t>Арифметика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0" y="1950000"/>
            <a:ext cx="49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A84400"/>
                </a:solidFill>
                <a:latin typeface="Golos Text"/>
              </a:rPr>
              <a:t>Теңдеме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" y="2600000"/>
            <a:ext cx="49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 i="1">
                <a:solidFill>
                  <a:srgbClr val="1D3557"/>
                </a:solidFill>
                <a:latin typeface="Golos Text"/>
              </a:rPr>
              <a:t>26 − 5 = 21</a:t>
            </a:r>
          </a:p>
          <a:p>
            <a:pPr algn="l">
              <a:spcAft>
                <a:spcPts val="800"/>
              </a:spcAft>
            </a:pPr>
            <a:r>
              <a:rPr sz="2600" b="0" i="1">
                <a:solidFill>
                  <a:srgbClr val="1D3557"/>
                </a:solidFill>
                <a:latin typeface="Golos Text"/>
              </a:rPr>
              <a:t>21 : 3 = 7</a:t>
            </a:r>
          </a:p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1D3557"/>
                </a:solidFill>
                <a:latin typeface="Golos Text"/>
              </a:rPr>
              <a:t>Бир кутуда 7 алма.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000" y="2600000"/>
            <a:ext cx="49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 i="1">
                <a:solidFill>
                  <a:srgbClr val="1D3557"/>
                </a:solidFill>
                <a:latin typeface="Golos Text"/>
              </a:rPr>
              <a:t>3x + 5 = 26</a:t>
            </a:r>
          </a:p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1D3557"/>
                </a:solidFill>
                <a:latin typeface="Golos Text"/>
              </a:rPr>
              <a:t>x — бир куту.</a:t>
            </a:r>
          </a:p>
          <a:p>
            <a:pPr algn="l">
              <a:spcAft>
                <a:spcPts val="800"/>
              </a:spcAft>
            </a:pPr>
            <a:r>
              <a:rPr sz="2600" b="0" i="0">
                <a:solidFill>
                  <a:srgbClr val="1D3557"/>
                </a:solidFill>
                <a:latin typeface="Golos Text"/>
              </a:rPr>
              <a:t>Жооп дагы 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7784" y="369417"/>
            <a:ext cx="70408" cy="358444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1560" y="369417"/>
            <a:ext cx="70408" cy="358444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5337" y="369417"/>
            <a:ext cx="70408" cy="358444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13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D3557"/>
                </a:solidFill>
                <a:latin typeface="Golos Text"/>
              </a:rPr>
              <a:t>Тилке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600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" y="1100000"/>
            <a:ext cx="10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1D3557"/>
                </a:solidFill>
                <a:latin typeface="Golos Text"/>
              </a:rPr>
              <a:t>Үч бирдей куту жана дагы 5 алма. Бүтүнү 26.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1900000"/>
            <a:ext cx="2400000" cy="78000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1900000"/>
            <a:ext cx="2400000" cy="7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olos Text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0000" y="1900000"/>
            <a:ext cx="2400000" cy="78000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0000" y="1900000"/>
            <a:ext cx="2400000" cy="7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olos Text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0000" y="1900000"/>
            <a:ext cx="2400000" cy="78000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0000" y="1900000"/>
            <a:ext cx="2400000" cy="7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olos Text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0000" y="1900000"/>
            <a:ext cx="1800000" cy="78000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0000" y="1900000"/>
            <a:ext cx="1800000" cy="7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olos Text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000" y="2850000"/>
            <a:ext cx="96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A5A70"/>
                </a:solidFill>
                <a:latin typeface="Golos Text"/>
              </a:rPr>
              <a:t>бөлүктөр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" y="3400000"/>
            <a:ext cx="9000000" cy="78000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" y="3400000"/>
            <a:ext cx="9000000" cy="78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olos Text"/>
              </a:rPr>
              <a:t>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" y="4300000"/>
            <a:ext cx="96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A5A70"/>
                </a:solidFill>
                <a:latin typeface="Golos Text"/>
              </a:rPr>
              <a:t>бүтүн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000" y="5000000"/>
            <a:ext cx="10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3600" b="0" i="1">
                <a:solidFill>
                  <a:srgbClr val="1D3557"/>
                </a:solidFill>
                <a:latin typeface="Golos Text"/>
              </a:rPr>
              <a:t>3x + 5 =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7784" y="369417"/>
            <a:ext cx="70408" cy="358444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1560" y="369417"/>
            <a:ext cx="70408" cy="358444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5337" y="369417"/>
            <a:ext cx="70408" cy="358444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13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D3557"/>
                </a:solidFill>
                <a:latin typeface="Golos Text"/>
              </a:rPr>
              <a:t>Чыгарылган мисал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600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1300000"/>
            <a:ext cx="7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0" i="1">
                <a:solidFill>
                  <a:srgbClr val="1D3557"/>
                </a:solidFill>
                <a:latin typeface="Golos Text"/>
              </a:rPr>
              <a:t>3x + 5 = 26</a:t>
            </a:r>
          </a:p>
          <a:p>
            <a:pPr algn="l">
              <a:spcAft>
                <a:spcPts val="800"/>
              </a:spcAft>
            </a:pPr>
            <a:r>
              <a:rPr sz="3200" b="0" i="1">
                <a:solidFill>
                  <a:srgbClr val="1D3557"/>
                </a:solidFill>
                <a:latin typeface="Golos Text"/>
              </a:rPr>
              <a:t>3x = 26 − 5</a:t>
            </a:r>
          </a:p>
          <a:p>
            <a:pPr algn="l">
              <a:spcAft>
                <a:spcPts val="800"/>
              </a:spcAft>
            </a:pPr>
            <a:r>
              <a:rPr sz="3200" b="0" i="1">
                <a:solidFill>
                  <a:srgbClr val="1D3557"/>
                </a:solidFill>
                <a:latin typeface="Golos Text"/>
              </a:rPr>
              <a:t>3x = 21</a:t>
            </a:r>
          </a:p>
          <a:p>
            <a:pPr algn="l">
              <a:spcAft>
                <a:spcPts val="800"/>
              </a:spcAft>
            </a:pPr>
            <a:r>
              <a:rPr sz="3200" b="0" i="1">
                <a:solidFill>
                  <a:srgbClr val="1D3557"/>
                </a:solidFill>
                <a:latin typeface="Golos Text"/>
              </a:rPr>
              <a:t>x = 21 : 3</a:t>
            </a:r>
          </a:p>
          <a:p>
            <a:pPr algn="l">
              <a:spcAft>
                <a:spcPts val="800"/>
              </a:spcAft>
            </a:pPr>
            <a:r>
              <a:rPr sz="3200" b="0" i="1">
                <a:solidFill>
                  <a:srgbClr val="1D3557"/>
                </a:solidFill>
                <a:latin typeface="Golos Text"/>
              </a:rPr>
              <a:t>x = 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0" y="1800000"/>
            <a:ext cx="3400000" cy="36000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0" y="240000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0" i="0">
                <a:solidFill>
                  <a:srgbClr val="007A5A"/>
                </a:solidFill>
                <a:latin typeface="Golos Text"/>
              </a:rPr>
              <a:t>Бир кутуда</a:t>
            </a:r>
          </a:p>
          <a:p>
            <a:pPr algn="ctr">
              <a:spcAft>
                <a:spcPts val="800"/>
              </a:spcAft>
            </a:pPr>
            <a:r>
              <a:rPr sz="2800" b="0" i="0">
                <a:solidFill>
                  <a:srgbClr val="007A5A"/>
                </a:solidFill>
                <a:latin typeface="Golos Text"/>
              </a:rPr>
              <a:t>7 алма.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7784" y="369417"/>
            <a:ext cx="70408" cy="358444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1560" y="369417"/>
            <a:ext cx="70408" cy="358444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5337" y="369417"/>
            <a:ext cx="70408" cy="358444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13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D3557"/>
                </a:solidFill>
                <a:latin typeface="Golos Text"/>
              </a:rPr>
              <a:t>Деңгээлдер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600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000" y="1600000"/>
            <a:ext cx="3200000" cy="40000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1600000"/>
            <a:ext cx="3200000" cy="18000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0000" y="2000000"/>
            <a:ext cx="288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7A5A"/>
                </a:solidFill>
                <a:latin typeface="Golos Text"/>
              </a:rPr>
              <a:t>Жеңил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000" y="2600000"/>
            <a:ext cx="288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A5A70"/>
                </a:solidFill>
                <a:latin typeface="Golos Text"/>
              </a:rPr>
              <a:t>Бир амал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000" y="3400000"/>
            <a:ext cx="2880000" cy="1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 i="1">
                <a:solidFill>
                  <a:srgbClr val="1D3557"/>
                </a:solidFill>
                <a:latin typeface="Golos Text"/>
              </a:rPr>
              <a:t>x + 4 = 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0000" y="1600000"/>
            <a:ext cx="3200000" cy="40000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00000" y="1600000"/>
            <a:ext cx="3200000" cy="18000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0000" y="2000000"/>
            <a:ext cx="288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A84400"/>
                </a:solidFill>
                <a:latin typeface="Golos Text"/>
              </a:rPr>
              <a:t>Орто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0000" y="2600000"/>
            <a:ext cx="288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A5A70"/>
                </a:solidFill>
                <a:latin typeface="Golos Text"/>
              </a:rPr>
              <a:t>Эки амал, ондук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0000" y="3400000"/>
            <a:ext cx="2880000" cy="1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 i="1">
                <a:solidFill>
                  <a:srgbClr val="1D3557"/>
                </a:solidFill>
                <a:latin typeface="Golos Text"/>
              </a:rPr>
              <a:t>2x + 1,5 = 7,5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0000" y="1600000"/>
            <a:ext cx="3200000" cy="40000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00000" y="1600000"/>
            <a:ext cx="3200000" cy="18000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0000" y="2000000"/>
            <a:ext cx="288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24418C"/>
                </a:solidFill>
                <a:latin typeface="Golos Text"/>
              </a:rPr>
              <a:t>Оор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0000" y="2600000"/>
            <a:ext cx="288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A5A70"/>
                </a:solidFill>
                <a:latin typeface="Golos Text"/>
              </a:rPr>
              <a:t>Чоң сан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0000" y="3400000"/>
            <a:ext cx="2880000" cy="1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 i="1">
                <a:solidFill>
                  <a:srgbClr val="1D3557"/>
                </a:solidFill>
                <a:latin typeface="Golos Text"/>
              </a:rPr>
              <a:t>2x + 1 500 = 70 000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7784" y="369417"/>
            <a:ext cx="70408" cy="358444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1560" y="369417"/>
            <a:ext cx="70408" cy="358444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5337" y="369417"/>
            <a:ext cx="70408" cy="358444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13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D3557"/>
                </a:solidFill>
                <a:latin typeface="Golos Text"/>
              </a:rPr>
              <a:t>Машыгуу · Жеңил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600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1150000"/>
            <a:ext cx="280000" cy="28000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1600000"/>
            <a:ext cx="7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0" i="1">
                <a:solidFill>
                  <a:srgbClr val="1D3557"/>
                </a:solidFill>
                <a:latin typeface="Golos Text"/>
              </a:rPr>
              <a:t>1.   x + 4 =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1600000"/>
            <a:ext cx="3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7A5A"/>
                </a:solidFill>
                <a:latin typeface="Golos Text"/>
              </a:rPr>
              <a:t>x =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7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0" i="1">
                <a:solidFill>
                  <a:srgbClr val="1D3557"/>
                </a:solidFill>
                <a:latin typeface="Golos Text"/>
              </a:rPr>
              <a:t>2.   x − 3 =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0" y="2800000"/>
            <a:ext cx="3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7A5A"/>
                </a:solidFill>
                <a:latin typeface="Golos Text"/>
              </a:rPr>
              <a:t>x =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" y="4000000"/>
            <a:ext cx="7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0" i="1">
                <a:solidFill>
                  <a:srgbClr val="1D3557"/>
                </a:solidFill>
                <a:latin typeface="Golos Text"/>
              </a:rPr>
              <a:t>3.   2x =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0" y="4000000"/>
            <a:ext cx="3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7A5A"/>
                </a:solidFill>
                <a:latin typeface="Golos Text"/>
              </a:rPr>
              <a:t>x =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000" y="5600000"/>
            <a:ext cx="10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A5A70"/>
                </a:solidFill>
                <a:latin typeface="Golos Text"/>
              </a:rPr>
              <a:t>Жоопту дептерге жаз, анан оң жагы менен текшер.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7784" y="369417"/>
            <a:ext cx="70408" cy="358444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1560" y="369417"/>
            <a:ext cx="70408" cy="358444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5337" y="369417"/>
            <a:ext cx="70408" cy="358444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13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D3557"/>
                </a:solidFill>
                <a:latin typeface="Golos Text"/>
              </a:rPr>
              <a:t>Машыгуу · Орто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600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1150000"/>
            <a:ext cx="280000" cy="28000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1600000"/>
            <a:ext cx="7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0" i="1">
                <a:solidFill>
                  <a:srgbClr val="1D3557"/>
                </a:solidFill>
                <a:latin typeface="Golos Text"/>
              </a:rPr>
              <a:t>1.   2x + 1,5 = 7,5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1600000"/>
            <a:ext cx="3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7A5A"/>
                </a:solidFill>
                <a:latin typeface="Golos Text"/>
              </a:rPr>
              <a:t>x =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7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0" i="1">
                <a:solidFill>
                  <a:srgbClr val="1D3557"/>
                </a:solidFill>
                <a:latin typeface="Golos Text"/>
              </a:rPr>
              <a:t>2.   3x − 0,5 = 5,5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0" y="2800000"/>
            <a:ext cx="3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7A5A"/>
                </a:solidFill>
                <a:latin typeface="Golos Text"/>
              </a:rPr>
              <a:t>x =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" y="4000000"/>
            <a:ext cx="7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0" i="1">
                <a:solidFill>
                  <a:srgbClr val="1D3557"/>
                </a:solidFill>
                <a:latin typeface="Golos Text"/>
              </a:rPr>
              <a:t>3.   x + 2,5 =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0" y="4000000"/>
            <a:ext cx="3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7A5A"/>
                </a:solidFill>
                <a:latin typeface="Golos Text"/>
              </a:rPr>
              <a:t>x = 3,5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000" y="5600000"/>
            <a:ext cx="10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A5A70"/>
                </a:solidFill>
                <a:latin typeface="Golos Text"/>
              </a:rPr>
              <a:t>Жоопту дептерге жаз, анан оң жагы менен текшер.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7784" y="369417"/>
            <a:ext cx="70408" cy="358444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1560" y="369417"/>
            <a:ext cx="70408" cy="358444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5337" y="369417"/>
            <a:ext cx="70408" cy="358444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13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D3557"/>
                </a:solidFill>
                <a:latin typeface="Golos Text"/>
              </a:rPr>
              <a:t>Машыгуу · Оор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600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1150000"/>
            <a:ext cx="280000" cy="28000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1600000"/>
            <a:ext cx="7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0" i="1">
                <a:solidFill>
                  <a:srgbClr val="1D3557"/>
                </a:solidFill>
                <a:latin typeface="Golos Text"/>
              </a:rPr>
              <a:t>1.   2x + 1 500 = 70 000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1600000"/>
            <a:ext cx="3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7A5A"/>
                </a:solidFill>
                <a:latin typeface="Golos Text"/>
              </a:rPr>
              <a:t>x = 34 250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7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0" i="1">
                <a:solidFill>
                  <a:srgbClr val="1D3557"/>
                </a:solidFill>
                <a:latin typeface="Golos Text"/>
              </a:rPr>
              <a:t>2.   x + 12 000 = 70 000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0" y="2800000"/>
            <a:ext cx="3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7A5A"/>
                </a:solidFill>
                <a:latin typeface="Golos Text"/>
              </a:rPr>
              <a:t>x = 58 000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" y="4000000"/>
            <a:ext cx="70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0" i="1">
                <a:solidFill>
                  <a:srgbClr val="1D3557"/>
                </a:solidFill>
                <a:latin typeface="Golos Text"/>
              </a:rPr>
              <a:t>3.   4x = 70 000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0" y="4000000"/>
            <a:ext cx="3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7A5A"/>
                </a:solidFill>
                <a:latin typeface="Golos Text"/>
              </a:rPr>
              <a:t>x = 17 500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000" y="5600000"/>
            <a:ext cx="10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A5A70"/>
                </a:solidFill>
                <a:latin typeface="Golos Text"/>
              </a:rPr>
              <a:t>Жоопту дептерге жаз, анан оң жагы менен текшер.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7784" y="369417"/>
            <a:ext cx="70408" cy="358444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1560" y="369417"/>
            <a:ext cx="70408" cy="358444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5337" y="369417"/>
            <a:ext cx="70408" cy="358444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13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D3557"/>
                </a:solidFill>
                <a:latin typeface="Golos Text"/>
              </a:rPr>
              <a:t>Текшерүү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600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" y="1150000"/>
            <a:ext cx="108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1D3557"/>
                </a:solidFill>
                <a:latin typeface="Golos Text"/>
              </a:rPr>
              <a:t>Үч мүнөт. Кагазга жаз.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1700000"/>
            <a:ext cx="108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1D3557"/>
                </a:solidFill>
                <a:latin typeface="Golos Text"/>
              </a:rPr>
              <a:t>1.  Тилкеде 2x жана 4 бар. Бүтүнү 18. Теңдемени жаз.</a:t>
            </a:r>
          </a:p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1D3557"/>
                </a:solidFill>
                <a:latin typeface="Golos Text"/>
              </a:rPr>
              <a:t>2.  3x + 5 = 26 болсо, x канча?</a:t>
            </a:r>
          </a:p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1D3557"/>
                </a:solidFill>
                <a:latin typeface="Golos Text"/>
              </a:rPr>
              <a:t>3.  2x + 1 500 = 70 000 болсо, x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4500000"/>
            <a:ext cx="10700000" cy="16000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000" y="4650000"/>
            <a:ext cx="102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7A5A"/>
                </a:solidFill>
                <a:latin typeface="Golos Text"/>
              </a:rPr>
              <a:t>Жооп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" y="5050000"/>
            <a:ext cx="10200000" cy="8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 i="1">
                <a:solidFill>
                  <a:srgbClr val="1D3557"/>
                </a:solidFill>
                <a:latin typeface="Golos Text"/>
              </a:rPr>
              <a:t>1.  2x + 4 = 18      2.  x = 7      3.  x = 34 250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7784" y="369417"/>
            <a:ext cx="70408" cy="358444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1560" y="369417"/>
            <a:ext cx="70408" cy="358444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5337" y="369417"/>
            <a:ext cx="70408" cy="358444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13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D3557"/>
                </a:solidFill>
                <a:latin typeface="Golos Text"/>
              </a:rPr>
              <a:t>Кийинки сабак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600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" y="1500000"/>
            <a:ext cx="10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1D3557"/>
                </a:solidFill>
                <a:latin typeface="Golos Text"/>
              </a:rPr>
              <a:t>Бул сабакта x тилкедеги белгисиз сан болду.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2200000"/>
            <a:ext cx="10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1D3557"/>
                </a:solidFill>
                <a:latin typeface="Golos Text"/>
              </a:rPr>
              <a:t>Кийинки сабакта аныктамаларды карайбыз.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3200000"/>
            <a:ext cx="10700000" cy="22000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000" y="345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Кийинки тема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" y="3900000"/>
            <a:ext cx="100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24418C"/>
                </a:solidFill>
                <a:latin typeface="Golos Text"/>
                <a:hlinkClick r:id="rId2"/>
              </a:rPr>
              <a:t>Аныктамалар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000" y="4700000"/>
            <a:ext cx="100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28600"/>
            <a:ext cx="114601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7784" y="369417"/>
            <a:ext cx="70408" cy="358444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1560" y="369417"/>
            <a:ext cx="70408" cy="358444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5337" y="369417"/>
            <a:ext cx="70408" cy="358444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13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D3557"/>
                </a:solidFill>
                <a:latin typeface="Golos Text"/>
              </a:rPr>
              <a:t>Пикир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000" y="300000"/>
            <a:ext cx="52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4A5A70"/>
                </a:solidFill>
                <a:latin typeface="Golos Text"/>
              </a:rPr>
              <a:t>Алгебра · Киришүү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876105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MathKG · Математика кыргызча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6492240"/>
            <a:ext cx="5600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8D99AA"/>
                </a:solidFill>
                <a:latin typeface="Golos Text"/>
              </a:rPr>
              <a:t>Тилкеден x ке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000" y="1300000"/>
            <a:ext cx="10700000" cy="48000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0000" y="1550000"/>
            <a:ext cx="62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0" i="0">
                <a:solidFill>
                  <a:srgbClr val="1D3557"/>
                </a:solidFill>
                <a:latin typeface="Golos Text"/>
              </a:rPr>
              <a:t>Суроолор барбы?</a:t>
            </a:r>
          </a:p>
          <a:p>
            <a:pPr algn="l">
              <a:spcAft>
                <a:spcPts val="800"/>
              </a:spcAft>
            </a:pPr>
            <a:r>
              <a:rPr sz="3200" b="0" i="0">
                <a:solidFill>
                  <a:srgbClr val="1D3557"/>
                </a:solidFill>
                <a:latin typeface="Golos Text"/>
              </a:rPr>
              <a:t>Пикирлер?</a:t>
            </a:r>
          </a:p>
          <a:p>
            <a:pPr algn="l">
              <a:spcAft>
                <a:spcPts val="800"/>
              </a:spcAft>
            </a:pPr>
            <a:r>
              <a:rPr sz="3200" b="0" i="0">
                <a:solidFill>
                  <a:srgbClr val="1D3557"/>
                </a:solidFill>
                <a:latin typeface="Golos Text"/>
              </a:rPr>
              <a:t>Сунуштар?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000" y="3900000"/>
            <a:ext cx="62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A84400"/>
                </a:solidFill>
                <a:latin typeface="Golos Text"/>
              </a:rPr>
              <a:t>…же ката таптыңызбы?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400000"/>
            <a:ext cx="62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4A5A70"/>
                </a:solidFill>
                <a:latin typeface="Golos Text"/>
              </a:rPr>
              <a:t>Кат жөнөтүңүз: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0000" y="5000000"/>
            <a:ext cx="5600000" cy="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5100000"/>
            <a:ext cx="5600000" cy="5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24418C"/>
                </a:solidFill>
                <a:latin typeface="Golos Text"/>
              </a:rPr>
              <a:t>mathematicskgz@gmail.com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0000" y="1900000"/>
            <a:ext cx="32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A5A70"/>
                </a:solidFill>
                <a:latin typeface="Golos Text"/>
              </a:rPr>
              <a:t>Тилке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00000" y="2300000"/>
            <a:ext cx="900000" cy="42000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0000" y="2300000"/>
            <a:ext cx="9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olos Text"/>
              </a:rPr>
              <a:t>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80000" y="2300000"/>
            <a:ext cx="900000" cy="42000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80000" y="2300000"/>
            <a:ext cx="9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olos Text"/>
              </a:rPr>
              <a:t>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60000" y="2300000"/>
            <a:ext cx="900000" cy="420000"/>
          </a:xfrm>
          <a:prstGeom prst="rect">
            <a:avLst/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0000" y="2300000"/>
            <a:ext cx="90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olos Text"/>
              </a:rPr>
              <a:t>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00000" y="2860000"/>
            <a:ext cx="2860000" cy="360000"/>
          </a:xfrm>
          <a:prstGeom prst="rect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00000" y="2860000"/>
            <a:ext cx="2860000" cy="3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olos Text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0000" y="3400000"/>
            <a:ext cx="2860000" cy="420000"/>
          </a:xfrm>
          <a:prstGeom prst="rect">
            <a:avLst/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00000" y="3400000"/>
            <a:ext cx="2860000" cy="42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olos Text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Тилкеден x ке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