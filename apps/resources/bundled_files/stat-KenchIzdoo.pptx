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8"/>
  </p:notesMasterIdLst>
  <p:sldIdLst>
    <p:sldId id="939" r:id="rId5"/>
    <p:sldId id="950" r:id="rId7"/>
    <p:sldId id="951" r:id="rId8"/>
    <p:sldId id="952" r:id="rId9"/>
    <p:sldId id="953" r:id="rId10"/>
    <p:sldId id="954" r:id="rId11"/>
    <p:sldId id="955" r:id="rId12"/>
    <p:sldId id="956" r:id="rId13"/>
    <p:sldId id="957" r:id="rId14"/>
    <p:sldId id="958" r:id="rId15"/>
    <p:sldId id="959" r:id="rId16"/>
    <p:sldId id="960" r:id="rId17"/>
    <p:sldId id="961" r:id="rId18"/>
    <p:sldId id="962" r:id="rId19"/>
    <p:sldId id="963" r:id="rId20"/>
    <p:sldId id="964" r:id="rId21"/>
    <p:sldId id="965" r:id="rId22"/>
    <p:sldId id="947" r:id="rId23"/>
    <p:sldId id="889" r:id="rId24"/>
    <p:sldId id="948" r:id="rId25"/>
  </p:sldIdLst>
  <p:sldSz cx="9906000" cy="6858000" type="A4"/>
  <p:notesSz cx="6669088" cy="9926638"/>
  <p:embeddedFontLst>
    <p:embeddedFont>
      <p:font typeface="Agency FB" panose="020B0503020202020204" pitchFamily="34" charset="0"/>
      <p:regular r:id="rId29"/>
      <p:bold r:id="rId30"/>
    </p:embeddedFont>
    <p:embeddedFont>
      <p:font typeface="Algerian" panose="04020705040A02060702" pitchFamily="82" charset="0"/>
      <p:regular r:id="rId31"/>
    </p:embeddedFont>
    <p:embeddedFont>
      <p:font typeface="Bauhaus 93" panose="04030905020B02020C02" pitchFamily="82" charset="0"/>
      <p:regular r:id="rId32"/>
    </p:embeddedFont>
    <p:embeddedFont>
      <p:font typeface="Berlin Sans FB Demi" panose="020E0802020502020306" pitchFamily="34" charset="0"/>
      <p:bold r:id="rId33"/>
    </p:embeddedFont>
    <p:embeddedFont>
      <p:font typeface="Bodoni MT Black" panose="02070A03080606020203" pitchFamily="18" charset="0"/>
      <p:bold r:id="rId34"/>
      <p:boldItalic r:id="rId35"/>
    </p:embeddedFont>
    <p:embeddedFont>
      <p:font typeface="Brush Script MT" panose="03060802040406070304" pitchFamily="66" charset="0"/>
      <p: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  <p:embeddedFont>
      <p:font typeface="Cooper Black" panose="0208090404030B020404" pitchFamily="18" charset="0"/>
      <p:regular r:id="rId44"/>
    </p:embeddedFont>
    <p:embeddedFont>
      <p:font typeface="Copperplate Gothic Bold" panose="020E0705020206020404" pitchFamily="34" charset="0"/>
      <p:regular r:id="rId45"/>
    </p:embeddedFont>
    <p:embeddedFont>
      <p:font typeface="Eras Bold ITC" panose="020B0907030504020204" pitchFamily="34" charset="0"/>
      <p:regular r:id="rId46"/>
    </p:embeddedFont>
    <p:embeddedFont>
      <p:font typeface="Forte" panose="03060902040502070203" pitchFamily="66" charset="0"/>
      <p:regular r:id="rId47"/>
    </p:embeddedFont>
    <p:embeddedFont>
      <p:font typeface="Gill Sans Ultra Bold" panose="020B0A02020104020203" pitchFamily="34" charset="0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23"/>
            <p14:sldId id="848"/>
            <p14:sldId id="906"/>
          </p14:sldIdLst>
        </p14:section>
        <p14:section name="Title Screen" id="{ADB636F4-2F91-4A82-9DC2-91168C8A1509}">
          <p14:sldIdLst>
            <p14:sldId id="939"/>
          </p14:sldIdLst>
        </p14:section>
        <p14:section name="A4 Posters" id="{03DD8F7C-D35F-4E4B-9282-6A82783B2D88}">
          <p14:sldIdLst>
            <p14:sldId id="971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</p14:sldIdLst>
        </p14:section>
        <p14:section name="Teacher's Answer Sheet" id="{64D9EF62-CF08-4BFF-B5AD-DEFE555334F2}">
          <p14:sldIdLst>
            <p14:sldId id="947"/>
          </p14:sldIdLst>
        </p14:section>
        <p14:section name="Answer Slide" id="{4DCA0740-8998-4120-8F8E-E137F33F62AA}">
          <p14:sldIdLst>
            <p14:sldId id="889"/>
          </p14:sldIdLst>
        </p14:section>
        <p14:section name="Student Answer Sheets" id="{1229D97B-7AD4-4172-843E-8573209DA75B}">
          <p14:sldIdLst>
            <p14:sldId id="948"/>
            <p14:sldId id="946"/>
          </p14:sldIdLst>
        </p14:section>
        <p14:section name="goteachmaths" id="{F3D720CF-F566-46A6-9361-125255B68FA6}">
          <p14:sldIdLst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416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font" Target="fonts/font17.fntdata"/><Relationship Id="rId46" Type="http://schemas.openxmlformats.org/officeDocument/2006/relationships/font" Target="fonts/font18.fntdata"/><Relationship Id="rId47" Type="http://schemas.openxmlformats.org/officeDocument/2006/relationships/font" Target="fonts/font19.fntdata"/><Relationship Id="rId48" Type="http://schemas.openxmlformats.org/officeDocument/2006/relationships/font" Target="fonts/font20.fnt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Кенч издөө (жупта же жеке). Плакаттарды класстын дубалдарына тартип менен эмес, аралаш илиңиз. Окуучу каалаган плакаттан баштайт: суроону чыгарат, жоопту жогорку кутусунда жазылган плакатты издейт, ал плакаттын тамгасын жана өз жообун баракка жазат. Бардык 16 плакатты айланып, баштаган плакатына кайтып келсе — кенч табылды. Жооптор 22-слайдда (мугалимдин барагы).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А. Жогоруда: 3 (мурунку плакаттын жообу). Бул плакаттын суроосунун жообу: 5 → кийинки плакат 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Б. Жогоруда: 5 (мурунку плакаттын жообу). Бул плакаттын суроосунун жообу: 9 → кийинки плакат 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В. Жогоруда: 9 (мурунку плакаттын жообу). Бул плакаттын суроосунун жообу: 13 → кийинки плакат 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Г. Жогоруда: 13 (мурунку плакаттын жообу). Бул плакаттын суроосунун жообу: 8 → кийинки плакат 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Д. Жогоруда: 8 (мурунку плакаттын жообу). Бул плакаттын суроосунун жообу: 25 → кийинки плакат 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Е. Жогоруда: 25 (мурунку плакаттын жообу). Бул плакаттын суроосунун жообу: 7 → кийинки плакат 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Ж. Жогоруда: 7 (мурунку плакаттын жообу). Бул плакаттын суроосунун жообу: 4 → кийинки плакат 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З. Жогоруда: 4 (мурунку плакаттын жообу). Бул плакаттын суроосунун жообу: 12 → кийинки плакат 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И. Жогоруда: 12 (мурунку плакаттын жообу). Бул плакаттын суроосунун жообу: 21 → кийинки плакат 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К. Жогоруда: 21 (мурунку плакаттын жообу). Бул плакаттын суроосунун жообу: 6 → кийинки плакат 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Л. Жогоруда: 6 (мурунку плакаттын жообу). Бул плакаттын суроосунун жообу: 3,5 → кийинки плакат 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М. Жогоруда: 3,5 (мурунку плакаттын жообу). Бул плакаттын суроосунун жообу: 2,5 → кийинки плакат 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Н. Жогоруда: 2,5 (мурунку плакаттын жообу). Бул плакаттын суроосунун жообу: 30 → кийинки плакат 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О. Жогоруда: 30 (мурунку плакаттын жообу). Бул плакаттын суроосунун жообу: 14 → кийинки плакат 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П. Жогоруда: 14 (мурунку плакаттын жообу). Бул плакаттын суроосунун жообу: 2 → кийинки плакат 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Плакат Р. Жогоруда: 2 (мурунку плакаттын жообу). Бул плакаттын суроосунун жообу: 3 → кийинки плакат 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Окуучунун жооп барагы: ар бир окуучуга (же жупка) бирден басып бериңиз. Плакаттын тамгасын жана жоопту жазат; жебе — жүрүү багыты.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1975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0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7.jpeg"/><Relationship Id="rId5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1672539" y="5429207"/>
            <a:ext cx="8017321" cy="1261694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3600" b="1">
                <a:solidFill>
                  <a:srgbClr val="FFC000"/>
                </a:solidFill>
                <a:latin typeface="Calibri"/>
                <a:cs typeface="Calibri"/>
              </a:rPr>
              <a:t>Орточо, медиана, мода, кулач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301" y="253507"/>
            <a:ext cx="9309399" cy="1444877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ky-KG" sz="7200" b="1">
                <a:ln w="50800">
                  <a:solidFill>
                    <a:srgbClr val="6B3A12"/>
                  </a:solidFill>
                </a:ln>
                <a:solidFill>
                  <a:srgbClr val="FFC000"/>
                </a:solidFill>
                <a:latin typeface="Arial Black"/>
                <a:cs typeface="Arial Black"/>
              </a:rPr>
              <a:t>КЕНЧ ИЗДӨӨ</a:t>
            </a:r>
          </a:p>
        </p:txBody>
      </p:sp>
    </p:spTree>
    <p:extLst>
      <p:ext uri="{BB962C8B-B14F-4D97-AF65-F5344CB8AC3E}">
        <p14:creationId xmlns:p14="http://schemas.microsoft.com/office/powerpoint/2010/main" val="2097670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4, 8, 6, 2 тизмесинин орточосу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А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3, 9, 9, 1, 7 тизмесинин модасы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Б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15, 2, 11, 6 тизмесинин кулачы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В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12, 1, 8, 3, 10 тизмесинин медианасы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Г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40, 10, 30, 20 тизмесинин медианасы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Д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2, 4, 6, 8, 10, 12 тизмесинин орточосу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25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Е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5, 1, 4, 1, 9 тизмесинин медианасы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Ж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30, 18, 24 тизмесинин кулачы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З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7 сандын орточосу 3. Бул 7 сандын суммасы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И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6, 6, 2, 3, 1, 6 тизмесинин модасы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21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К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2,5; 3,5; 4,5 тизмесинин орточосу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Л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4, 1, 3, 2 тизмесинин медианасы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3,5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М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100, 120, 110, 130 тизмесинин кулачы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2,5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Н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Төрт сандын орточосу 10. Анын үчөө: 6, 9, 11. Төртүнчү сан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О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0, 2, 1, 2, 3, 2, 4 тизмесинин модасы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П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000">
                <a:solidFill>
                  <a:srgbClr val="000000"/>
                </a:solidFill>
                <a:latin typeface="Calibri"/>
                <a:cs typeface="Calibri"/>
              </a:rPr>
              <a:t>11, 1, 3 тизмесинин медианасы канча?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Р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108392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5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25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21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30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9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7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6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14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13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4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3,5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2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8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12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2,5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3</a:t>
                      </a:r>
                      <a:endParaRPr kumimoji="0" lang="en-GB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2653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Мугалимдин жооп барагы</a:t>
            </a:r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46934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А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Б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В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Г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Д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Е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Ж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Р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З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П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И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О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Н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М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Л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К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950689" y="54354"/>
            <a:ext cx="40046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cap="none" spc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Плакат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619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dirty="0"/>
              <a:t>Жооп барагы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8342</TotalTime>
  <Words>426</Words>
  <Application>Microsoft Office PowerPoint</Application>
  <PresentationFormat>A4 Paper (210x297 mm)</PresentationFormat>
  <Paragraphs>199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3" baseType="lpstr">
      <vt:lpstr>Copperplate Gothic Bold</vt:lpstr>
      <vt:lpstr>Cooper Black</vt:lpstr>
      <vt:lpstr>Cambria Math</vt:lpstr>
      <vt:lpstr>Berlin Sans FB Demi</vt:lpstr>
      <vt:lpstr>Brush Script MT</vt:lpstr>
      <vt:lpstr>Calibri</vt:lpstr>
      <vt:lpstr>Forte</vt:lpstr>
      <vt:lpstr>Eras Bold ITC</vt:lpstr>
      <vt:lpstr>Calibri Light</vt:lpstr>
      <vt:lpstr>Bauhaus 93</vt:lpstr>
      <vt:lpstr>Algerian</vt:lpstr>
      <vt:lpstr>Agency FB</vt:lpstr>
      <vt:lpstr>Arial</vt:lpstr>
      <vt:lpstr>Gill Sans Ultra Bold</vt:lpstr>
      <vt:lpstr>Times New Roman</vt:lpstr>
      <vt:lpstr>Bodoni MT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Rufus Woodwark</cp:lastModifiedBy>
  <cp:revision>376</cp:revision>
  <cp:lastPrinted>2017-12-31T22:38:51Z</cp:lastPrinted>
  <dcterms:created xsi:type="dcterms:W3CDTF">2017-01-17T16:57:04Z</dcterms:created>
  <dcterms:modified xsi:type="dcterms:W3CDTF">2024-08-12T09:22:14Z</dcterms:modified>
</cp:coreProperties>
</file>