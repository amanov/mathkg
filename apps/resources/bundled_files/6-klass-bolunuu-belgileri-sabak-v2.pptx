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аталышы жана бүгүнкү окуя.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жолу: ар бир бөлүк өз слайды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Окуяны окуп бериңиз. Окуучулар болжолдошсун; жоопту сабактын аягында (22-слайд) текшеребиз.</a:t>
            </a:r>
          </a:p>
          <a:p>
            <a:r>
              <a:t>3C (Байланыштыруу): Окуя турмуштан: бул суроого сабактын аягында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Lee, 2.6).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критерийлери: сабактын аягында ар бирине ✓ коёбуз.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Спираль: тема класстан класска тереңдейт.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Мини-тактага жазышат.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дароо айтпайбыз. Жупта талкуулашат. Жооп: Бермет: 100 4кө бөлүнөт, ошондуктан акыркы эки цифра гана чечет.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жупка: 28 бурчак (же таш, капкак) жана 9 кагаз чөйчөк. 1) 27 бурчакты 3 топко бөлүшөт: 9дан. 2) Кайра 9 топко бөлүшөт: 3төн. 3) Дагы бир бурчак кошуп (28), 9 топко бөлүп көрүшөт: 1 бурчак ашып калат. Суроо: «27нин цифраларынын суммасы канча? 28дикичи?» Чакан сандан эреже чыгарабыз, анан чоң санга өтөбүз. Проектор жок болсо, топторду доскага тегерекчелер менен чийем.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Сол жакта: ар бир жүздүк = 99 + 1, ар бир ондук = 9 + 1. 99 жана 9 тең 9га бөлүнөт, калганы цифралардын суммасы. Оң жакта: 100 = 4 · 25, ошондуктан 200 дайыма 4кө бөлүнөт; акыркы эки цифра (52) гана чечет. Окуучулар ушул таблицаны чакмак дептерге чийишет.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Белгилерди бириктирүү: 2 жана 3 → 6; 4 жана 9 → 36 (жалпы бөлүүчүсү жок сандар гана).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Белгилер – бул оозеки кыска жол: бөлүүнү жазбай эле бир нече секундда текшеребиз. Ар бир ыкманы окуучу үн чыгарып айтат. «Оозеки беш мүнөт» (класста колдонуу картасы, 3-бет) эки апта ушуларды кайталайт.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Баары бир убакта манжа менен көрсөтөт (1–4). Туура эмес жооптун коду: А = М2 (сумма 21 → 3кө гана); Б = ✓; В = М4 (9 менен башталат); Г = М1 (аягы 99)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деңгээл: бирдей бөлүктөр → калдык → көп кадам. Жооптор: 744 : 3 = 248 г; 4 топ × 7; 5 топко – жок (калдык 3); 2 070; 5ке ооба, 9га ооба (2+0+7+0 = 9)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Жеңилден баштап, мүмкүн болушунча алдыга.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252: акыркы эки цифра 52 (4кө), цифралардын суммасы 9 (3кө, 9га), жуп (2ге) → 4, 6, 9га бөлүнөт.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Блум: Түзүү. Жупта алмашып, бири-биринин маселесин чыгарышат.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Жооптор: ооба: 5+7+4+2 = 18; 1, 4 же 7; жок: 50 4кө бөлүнбөйт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>6-класс · Математика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6012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Бөлүнүү белгилери: 2, 3, 4, 5, 9, 10,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11880"/>
            <a:ext cx="8778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657600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Бүгүнкү окуя: Ысык-Көлдөгү жайкы лагерь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160520"/>
            <a:ext cx="8321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6-класстар лагерде отряддарды, кайыктарды жана дүкөндөгү эсептерди бөлүнүү белгилери менен текшеришет.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Китеп: С.К. Кыдыралиев ж.б., «Математика 6-класс», §8 «Сандардын бөлүнүшү» (8.1–8.12, № 204–242).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мазмуну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63039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Кириш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Окуя, эрежелер, максаттар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12848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12848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Эстейбиз, «Ким туура?»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45536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Түшүнөбүз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45536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 → С → А: буюм, тилке, эреже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078224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26110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Машыгабыз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Чечүүчү суроо, тилке, өз алдынча 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01091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19379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10912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Жыйынтык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Окуяга кайтуу, түзүү, чыгуу билети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Окуя: Ысык-Көлдөгү жайкы лагерь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766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25880"/>
            <a:ext cx="62179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6-класстар Ысык-Көлдөгү жайкы лагерге барышты.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Лагердин башчысы Канат агай балдарды отрядга бөлүшү керек.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Тынар менен Бермет кайыктарды жана дүкөндөгү эсептерди текшеришет.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Бөлбөй туруп, бөлүнөрүн кантип билебиз?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25296"/>
            <a:ext cx="4352544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Суроо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931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Лагерге 252 окуучу келди. Аларды 4, 6 же 9 бирдей отрядга бөлүүгө болобу? Бөлбөй туруп кантип билебиз?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7200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Азыр жообун айтпайбыз. Ойлон: кантип билебиз?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Ката – үйрөнүүнүн бир бөлүгү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кетсе, эмне үчүн кеткенин издейбиз.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эмес, «азырынча». Машыксак, үйрөнөбүз.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Сүрөт же тилке чийип, анан сан менен жазабыз.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Максаттар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2, 5, 10го бөлүнүүнү акыркы цифрадан аныктайм.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3кө жана 9га бөлүнүүнү цифралардын суммасынан аныктайм.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4кө жана 25ке бөлүнүүнү акыркы эки цифрадан аныктайм жана маселеде колдоном.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Жеңил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Бир белги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Орто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Белгисиз цифра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Оор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Белгилерди бириктирүү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3C: бүгүн кантип ойлонобуз?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Текшеребиз, далилдейбиз, катаны издейбиз.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Каршы мисал издөө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 жана топто сүйлөшөбүз.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Жупта карта сорттоо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Математиканы турмуш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Лагердеги отряддар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Дүкөндүн чеги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>4-класс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Калдыктуу бөлүү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Көбөйтүү жадыбалы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>5-класс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Натуралдык сандар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Бөлүүчү, эселүү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6-класс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Бөлүнүү белгилери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ЭЧЖБ, ЭКЖБ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07708" y="1600199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>7-класс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Көбөйтүүчүлөргө ажыратуу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эстейли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 2 мүнөт.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 · 46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 + 6 + 5 + 4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100 : 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75 : 25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 · 46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92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3 + 6 + 5 + 4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100 :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75 : 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Тынар: «3 714 4кө бөлүнөт, анткени 4 менен бүтөт». Бермет: «Бөлүнбөйт».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Тынар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Акыркы цифрасы 4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Демек, 4кө бөлүнөт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Бермет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Акыркы эки цифра: 14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14 4кө бөлүнбөйт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Демек, бөлүнбөйт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Эмне үчүн акыркы ЭКИ цифра?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К: буюм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27 бурчакты 3 бирдей топко, анан 9 бирдей топко бөлөбүз. 28 бурчакчы?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0312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27 → 3 топ, ар биринде 9</a:t>
            </a:r>
          </a:p>
        </p:txBody>
      </p:sp>
      <p:sp>
        <p:nvSpPr>
          <p:cNvPr id="13" name="Oval 12"/>
          <p:cNvSpPr/>
          <p:nvPr/>
        </p:nvSpPr>
        <p:spPr>
          <a:xfrm>
            <a:off x="841248" y="2715768"/>
            <a:ext cx="160934" cy="12472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42416" y="2715768"/>
            <a:ext cx="160934" cy="12472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43584" y="2715768"/>
            <a:ext cx="160934" cy="12472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8" y="2916936"/>
            <a:ext cx="160934" cy="12472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42416" y="2916936"/>
            <a:ext cx="160934" cy="12472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43584" y="2916936"/>
            <a:ext cx="160934" cy="12472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41248" y="3118104"/>
            <a:ext cx="160934" cy="12472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42416" y="3118104"/>
            <a:ext cx="160934" cy="12472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243584" y="3118104"/>
            <a:ext cx="160934" cy="12472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2606040"/>
            <a:ext cx="786384" cy="740664"/>
          </a:xfrm>
          <a:prstGeom prst="ellipse">
            <a:avLst/>
          </a:prstGeom>
          <a:noFill/>
          <a:ln w="1587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441448" y="2715768"/>
            <a:ext cx="160934" cy="12472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642616" y="2715768"/>
            <a:ext cx="160934" cy="12472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843784" y="2715768"/>
            <a:ext cx="160934" cy="12472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41448" y="2916936"/>
            <a:ext cx="160934" cy="12472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642616" y="2916936"/>
            <a:ext cx="160934" cy="12472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843784" y="2916936"/>
            <a:ext cx="160934" cy="12472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441448" y="3118104"/>
            <a:ext cx="160934" cy="12472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642616" y="3118104"/>
            <a:ext cx="160934" cy="12472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843784" y="3118104"/>
            <a:ext cx="160934" cy="12472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331720" y="2606040"/>
            <a:ext cx="786384" cy="740664"/>
          </a:xfrm>
          <a:prstGeom prst="ellipse">
            <a:avLst/>
          </a:prstGeom>
          <a:noFill/>
          <a:ln w="1587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041648" y="2715768"/>
            <a:ext cx="160934" cy="12472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242816" y="2715768"/>
            <a:ext cx="160934" cy="12472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443984" y="2715768"/>
            <a:ext cx="160934" cy="12472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041648" y="2916936"/>
            <a:ext cx="160934" cy="12472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242816" y="2916936"/>
            <a:ext cx="160934" cy="12472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443984" y="2916936"/>
            <a:ext cx="160934" cy="12472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041648" y="3118104"/>
            <a:ext cx="160934" cy="12472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242816" y="3118104"/>
            <a:ext cx="160934" cy="12472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43984" y="3118104"/>
            <a:ext cx="160934" cy="124724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931920" y="2606040"/>
            <a:ext cx="786384" cy="740664"/>
          </a:xfrm>
          <a:prstGeom prst="ellipse">
            <a:avLst/>
          </a:prstGeom>
          <a:noFill/>
          <a:ln w="1587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" y="3611880"/>
            <a:ext cx="5029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27 → 9 топ, ар биринде 3</a:t>
            </a:r>
          </a:p>
        </p:txBody>
      </p:sp>
      <p:sp>
        <p:nvSpPr>
          <p:cNvPr id="44" name="Oval 43"/>
          <p:cNvSpPr/>
          <p:nvPr/>
        </p:nvSpPr>
        <p:spPr>
          <a:xfrm>
            <a:off x="804672" y="42062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41832" y="42062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78992" y="42062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31520" y="4114800"/>
            <a:ext cx="539496" cy="246888"/>
          </a:xfrm>
          <a:prstGeom prst="ellipse">
            <a:avLst/>
          </a:prstGeom>
          <a:noFill/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371600" y="42062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508760" y="42062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645920" y="42062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298448" y="4114800"/>
            <a:ext cx="539496" cy="246888"/>
          </a:xfrm>
          <a:prstGeom prst="ellipse">
            <a:avLst/>
          </a:prstGeom>
          <a:noFill/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938528" y="42062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075688" y="42062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212848" y="42062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865376" y="4114800"/>
            <a:ext cx="539496" cy="246888"/>
          </a:xfrm>
          <a:prstGeom prst="ellipse">
            <a:avLst/>
          </a:prstGeom>
          <a:noFill/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505456" y="42062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642616" y="42062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779776" y="42062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432304" y="4114800"/>
            <a:ext cx="539496" cy="246888"/>
          </a:xfrm>
          <a:prstGeom prst="ellipse">
            <a:avLst/>
          </a:prstGeom>
          <a:noFill/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3072384" y="42062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3209544" y="42062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346704" y="42062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999232" y="4114800"/>
            <a:ext cx="539496" cy="246888"/>
          </a:xfrm>
          <a:prstGeom prst="ellipse">
            <a:avLst/>
          </a:prstGeom>
          <a:noFill/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3639312" y="42062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3776472" y="42062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3913632" y="42062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3566160" y="4114800"/>
            <a:ext cx="539496" cy="246888"/>
          </a:xfrm>
          <a:prstGeom prst="ellipse">
            <a:avLst/>
          </a:prstGeom>
          <a:noFill/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206240" y="42062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4343400" y="42062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4480559" y="42062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4133087" y="4114800"/>
            <a:ext cx="539496" cy="246888"/>
          </a:xfrm>
          <a:prstGeom prst="ellipse">
            <a:avLst/>
          </a:prstGeom>
          <a:noFill/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773168" y="42062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4910328" y="42062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5047488" y="42062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4700016" y="4114800"/>
            <a:ext cx="539496" cy="246888"/>
          </a:xfrm>
          <a:prstGeom prst="ellipse">
            <a:avLst/>
          </a:prstGeom>
          <a:noFill/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5340096" y="42062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5477256" y="42062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5614416" y="42062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5266944" y="4114800"/>
            <a:ext cx="539496" cy="246888"/>
          </a:xfrm>
          <a:prstGeom prst="ellipse">
            <a:avLst/>
          </a:prstGeom>
          <a:noFill/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0080" y="4572000"/>
            <a:ext cx="5943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28 → 9 топ, ар биринде 3, жана 1 ашып калат</a:t>
            </a:r>
          </a:p>
        </p:txBody>
      </p:sp>
      <p:sp>
        <p:nvSpPr>
          <p:cNvPr id="81" name="Oval 80"/>
          <p:cNvSpPr/>
          <p:nvPr/>
        </p:nvSpPr>
        <p:spPr>
          <a:xfrm>
            <a:off x="804672" y="51206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41832" y="51206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78992" y="51206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731520" y="5029200"/>
            <a:ext cx="539496" cy="246888"/>
          </a:xfrm>
          <a:prstGeom prst="ellipse">
            <a:avLst/>
          </a:prstGeom>
          <a:noFill/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371600" y="51206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508760" y="51206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645920" y="51206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298448" y="5029200"/>
            <a:ext cx="539496" cy="246888"/>
          </a:xfrm>
          <a:prstGeom prst="ellipse">
            <a:avLst/>
          </a:prstGeom>
          <a:noFill/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1938528" y="51206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2075688" y="51206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2212848" y="51206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865376" y="5029200"/>
            <a:ext cx="539496" cy="246888"/>
          </a:xfrm>
          <a:prstGeom prst="ellipse">
            <a:avLst/>
          </a:prstGeom>
          <a:noFill/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2505456" y="51206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2642616" y="51206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2779776" y="51206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2432304" y="5029200"/>
            <a:ext cx="539496" cy="246888"/>
          </a:xfrm>
          <a:prstGeom prst="ellipse">
            <a:avLst/>
          </a:prstGeom>
          <a:noFill/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3072384" y="51206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3209544" y="51206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3346704" y="51206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2999232" y="5029200"/>
            <a:ext cx="539496" cy="246888"/>
          </a:xfrm>
          <a:prstGeom prst="ellipse">
            <a:avLst/>
          </a:prstGeom>
          <a:noFill/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3639312" y="51206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3776472" y="51206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3913632" y="51206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3566160" y="5029200"/>
            <a:ext cx="539496" cy="246888"/>
          </a:xfrm>
          <a:prstGeom prst="ellipse">
            <a:avLst/>
          </a:prstGeom>
          <a:noFill/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206240" y="51206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343400" y="51206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480559" y="51206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133087" y="5029200"/>
            <a:ext cx="539496" cy="246888"/>
          </a:xfrm>
          <a:prstGeom prst="ellipse">
            <a:avLst/>
          </a:prstGeom>
          <a:noFill/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773168" y="51206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910328" y="51206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5047488" y="51206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700016" y="5029200"/>
            <a:ext cx="539496" cy="246888"/>
          </a:xfrm>
          <a:prstGeom prst="ellipse">
            <a:avLst/>
          </a:prstGeom>
          <a:noFill/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340096" y="51206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477256" y="51206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614416" y="5120640"/>
            <a:ext cx="109728" cy="85039"/>
          </a:xfrm>
          <a:prstGeom prst="ellipse">
            <a:avLst/>
          </a:prstGeom>
          <a:solidFill>
            <a:srgbClr val="B07A4A"/>
          </a:solidFill>
          <a:ln w="6350">
            <a:solidFill>
              <a:srgbClr val="B0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266944" y="5029200"/>
            <a:ext cx="539496" cy="246888"/>
          </a:xfrm>
          <a:prstGeom prst="ellipse">
            <a:avLst/>
          </a:prstGeom>
          <a:noFill/>
          <a:ln w="12700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925312" y="5102352"/>
            <a:ext cx="164592" cy="109728"/>
          </a:xfrm>
          <a:prstGeom prst="ellipse">
            <a:avLst/>
          </a:prstGeom>
          <a:solidFill>
            <a:srgbClr val="A84400"/>
          </a:solidFill>
          <a:ln w="63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7223760" y="2194560"/>
            <a:ext cx="448056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406640" y="2286000"/>
            <a:ext cx="4114800" cy="3383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Цифралардын суммасы:</a:t>
            </a:r>
          </a:p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24418C"/>
                </a:solidFill>
                <a:latin typeface="PT Sans"/>
              </a:rPr>
              <a:t>27: 2 + 7 = 9 → 3кө ✓, 9га ✓</a:t>
            </a:r>
          </a:p>
          <a:p>
            <a:pPr algn="l">
              <a:lnSpc>
                <a:spcPct val="115000"/>
              </a:lnSpc>
            </a:pPr>
            <a:r>
              <a:rPr sz="2100" b="1" i="0">
                <a:solidFill>
                  <a:srgbClr val="A84400"/>
                </a:solidFill>
                <a:latin typeface="PT Sans"/>
              </a:rPr>
              <a:t>28: 2 + 8 = 10 → 3кө ✗, 9га ✗</a:t>
            </a:r>
          </a:p>
          <a:p>
            <a:pPr algn="l">
              <a:lnSpc>
                <a:spcPct val="115000"/>
              </a:lnSpc>
            </a:pPr>
            <a:r>
              <a:rPr sz="1900" b="0" i="1">
                <a:solidFill>
                  <a:srgbClr val="4A5A70"/>
                </a:solidFill>
                <a:latin typeface="PT Sans"/>
              </a:rPr>
              <a:t>Чакан сандан байкадык. Чоң санда да ушундайбы?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С: разряд таблицасы жана массив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252ни бөлбөй туруп кантип билебиз? Разряддарга бөлүп карайбыз.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148840"/>
            <a:ext cx="2057400" cy="457200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1D3557"/>
                </a:solidFill>
                <a:latin typeface="PT Sans"/>
              </a:rPr>
              <a:t>Жүздүк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06040"/>
            <a:ext cx="205740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000" b="1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91840"/>
            <a:ext cx="205740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0">
                <a:solidFill>
                  <a:srgbClr val="1F2430"/>
                </a:solidFill>
                <a:latin typeface="PT Sans"/>
              </a:rPr>
              <a:t>2 · (99 + 1)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94760"/>
            <a:ext cx="205740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24418C"/>
                </a:solidFill>
                <a:latin typeface="PT Sans"/>
              </a:rPr>
              <a:t>2 · 99 + 2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97480" y="2148840"/>
            <a:ext cx="2057400" cy="457200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1D3557"/>
                </a:solidFill>
                <a:latin typeface="PT Sans"/>
              </a:rPr>
              <a:t>Ондук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7480" y="2606040"/>
            <a:ext cx="205740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0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97480" y="3291840"/>
            <a:ext cx="205740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0">
                <a:solidFill>
                  <a:srgbClr val="1F2430"/>
                </a:solidFill>
                <a:latin typeface="PT Sans"/>
              </a:rPr>
              <a:t>5 · (9 + 1)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7480" y="3794760"/>
            <a:ext cx="205740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24418C"/>
                </a:solidFill>
                <a:latin typeface="PT Sans"/>
              </a:rPr>
              <a:t>5 · 9 + 5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2148840"/>
            <a:ext cx="2057400" cy="457200"/>
          </a:xfrm>
          <a:prstGeom prst="rect">
            <a:avLst/>
          </a:prstGeom>
          <a:solidFill>
            <a:srgbClr val="B5E2D3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1D3557"/>
                </a:solidFill>
                <a:latin typeface="PT Sans"/>
              </a:rPr>
              <a:t>Бирдик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2606040"/>
            <a:ext cx="2057400" cy="685800"/>
          </a:xfrm>
          <a:prstGeom prst="rect">
            <a:avLst/>
          </a:prstGeom>
          <a:solidFill>
            <a:srgbClr val="FFFFFF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3000" b="1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3291840"/>
            <a:ext cx="205740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0">
                <a:solidFill>
                  <a:srgbClr val="1F2430"/>
                </a:solidFill>
                <a:latin typeface="PT Sans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3794760"/>
            <a:ext cx="2057400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24418C"/>
                </a:solidFill>
                <a:latin typeface="PT San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389120"/>
            <a:ext cx="617220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4A5A70"/>
                </a:solidFill>
                <a:latin typeface="PT Sans"/>
              </a:rPr>
              <a:t>9га бөлүнгөн бөлүк: 2 · 99 + 5 · 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754880"/>
            <a:ext cx="6172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>
                <a:solidFill>
                  <a:srgbClr val="A84400"/>
                </a:solidFill>
                <a:latin typeface="PT Sans"/>
              </a:rPr>
              <a:t>Калганы: 2 + 5 + 2 = 9 – цифралардын суммасы!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1965960"/>
            <a:ext cx="43891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1D3557"/>
                </a:solidFill>
                <a:latin typeface="PT Sans"/>
              </a:rPr>
              <a:t>100 = 4 катар, ар катарда 25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2377440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562088" y="2377440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17536" y="2377440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872983" y="2377440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28431" y="2377440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79" y="2377440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339327" y="2377440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94776" y="2377440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650224" y="2377440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805672" y="2377440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961120" y="2377440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16567" y="2377440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272016" y="2377440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427463" y="2377440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582912" y="2377440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738360" y="2377440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893808" y="2377440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049256" y="2377440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204704" y="2377440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360152" y="2377440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515600" y="2377440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671048" y="2377440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826496" y="2377440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981944" y="2377440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1137392" y="2377440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06640" y="2532888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562088" y="2532888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717536" y="2532888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872983" y="2532888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028431" y="2532888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183879" y="2532888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339327" y="2532888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494776" y="2532888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650224" y="2532888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805672" y="2532888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961120" y="2532888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116567" y="2532888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272016" y="2532888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427463" y="2532888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582912" y="2532888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738360" y="2532888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893808" y="2532888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049256" y="2532888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204704" y="2532888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360152" y="2532888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515600" y="2532888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671048" y="2532888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826496" y="2532888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981944" y="2532888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1137392" y="2532888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406640" y="2688336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562088" y="2688336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717536" y="2688336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872983" y="2688336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028431" y="2688336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8183879" y="2688336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339327" y="2688336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494776" y="2688336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8650224" y="2688336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805672" y="2688336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961120" y="2688336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116567" y="2688336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9272016" y="2688336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9427463" y="2688336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9582912" y="2688336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738360" y="2688336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893808" y="2688336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10049256" y="2688336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204704" y="2688336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10360152" y="2688336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515600" y="2688336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671048" y="2688336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826496" y="2688336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0981944" y="2688336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1137392" y="2688336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406640" y="2843784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7562088" y="2843784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7717536" y="2843784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872983" y="2843784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8028431" y="2843784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183879" y="2843784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339327" y="2843784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494776" y="2843784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650224" y="2843784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8805672" y="2843784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961120" y="2843784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9116567" y="2843784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9272016" y="2843784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9427463" y="2843784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9582912" y="2843784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738360" y="2843784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9893808" y="2843784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049256" y="2843784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204704" y="2843784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10360152" y="2843784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0515600" y="2843784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0671048" y="2843784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0826496" y="2843784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0981944" y="2843784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1137392" y="2843784"/>
            <a:ext cx="155448" cy="155448"/>
          </a:xfrm>
          <a:prstGeom prst="rect">
            <a:avLst/>
          </a:prstGeom>
          <a:solidFill>
            <a:srgbClr val="B5E2D3"/>
          </a:solidFill>
          <a:ln w="63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406640" y="3090672"/>
            <a:ext cx="420624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4A5A70"/>
                </a:solidFill>
                <a:latin typeface="PT Sans"/>
              </a:rPr>
              <a:t>Ар бир жүздүк 4кө жана 25ке калдыксыз бөлүнөт.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406640" y="3776472"/>
            <a:ext cx="420624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1F2430"/>
                </a:solidFill>
                <a:latin typeface="PT Sans"/>
              </a:rPr>
              <a:t>252 = 200 + 52</a:t>
            </a:r>
          </a:p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52 = 4 · 13 → 4кө ✓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29768" y="562356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252: 2 + 5 + 2 = 9 → 9га ✓;   52 = 4 · 13 → 4кө ✓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А: эреже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906524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…0,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2, 5, 10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Акыркы цифра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2336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97680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774436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3, 9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Цифралардын суммасы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89127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165592" y="1371600"/>
            <a:ext cx="3593592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42348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2" y="2377440"/>
            <a:ext cx="3410712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…ab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57032" y="3063240"/>
            <a:ext cx="341071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4, 25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2752" y="3566160"/>
            <a:ext cx="3319272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Акыркы эки цифра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7 290: 7 + 2 + 9 + 0 = 18 → 9га бөлүнөт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1: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6□4 саны 9га бөлүнгөндөй □ цифрасын тап.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6 + □ + 4 = 10 + 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10 + □ = 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9га бөлүнөт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□ =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684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□ = </a:t>
            </a:r>
            <a:r>
              <a:rPr sz="3400" b="1">
                <a:solidFill>
                  <a:srgbClr val="24418C"/>
                </a:solidFill>
                <a:latin typeface="PT Sans"/>
              </a:rPr>
              <a:t>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2: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Дүкөн: 3 кесе, 6 кашык, 9 табак. Кассир: «418 сом». Туурабы?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3x + 6y + 9z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40280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ар бири 3кө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3 · (x + 2y + 3z)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3кө бөлүнөт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4 + 1 + 8 = 13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3кө бөлүнбөйт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418 сом = </a:t>
            </a:r>
            <a:r>
              <a:rPr sz="3400" b="1">
                <a:solidFill>
                  <a:srgbClr val="24418C"/>
                </a:solidFill>
                <a:latin typeface="PT Sans"/>
              </a:rPr>
              <a:t>ката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бөлбөй текшерем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7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9дарды ташта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4 563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 + 5 = 9 → ташта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6 + 3 = 9 → ташта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0 калды → 9га 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Суммасы 9 болгон цифраларды сызып салабыз: калганы 0 болсо, 9га бөлүнөт.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80560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Акыркы эки цифра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3 716 → 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16 = 4 · 4 → 4кө 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6 175 → 75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75 = 3 · 25 → 25ке 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100 4кө да, 25ке да бөлүнөт: жүздүктөргө карабайбыз.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65592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48472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42832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6 = 2 жана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1 236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жуп → 2ге 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1 + 2 + 3 + 6 = 12 → 3кө 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6га 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2 жана 3 жалпы бөлүүчүсү жок сандар: экөө тең болсо, 6га бөлүнөт.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" y="5577840"/>
            <a:ext cx="11329416" cy="5029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Түшүн → ыкма → эркин эсеп. Ыкмаңды үн чыгарып айт: «Мен ... деп ойлодум».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Чечүүчү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Кайсы сан 9га бөлүнөт?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2 739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4 563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9 136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5 299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чий,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Лагерде 744 г момпосуйду 3 отрядга тең бөлүштү. Ар бирине канча грамм? Тилкеге сандарды жаз.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Отрядда 28 бала. Аларды 4 топко бирдей бөлүүгө болобу? 5 топкочу? Тилке менен көрсөт.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59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Лагердин китепканасы үчүн 345 сомдон 6 китеп алынды. Баасы канча? Ал 5ке, 9га бөлүнөбү?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9432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Лагерде 744 г момпосуйду 3 отрядга тең бөлүштү. Ар бирине канча грамм? Тилкеге сандарды жаз.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17520"/>
            <a:ext cx="781304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248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48232" y="3017520"/>
            <a:ext cx="78130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248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29536" y="3017520"/>
            <a:ext cx="781304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248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02280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139440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002280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185160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744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7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744 : 3 = 248 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82439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19600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6800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Отрядда 28 бала. Аларды 4 топко бирдей бөлүүгө болобу? 5 топкочу? Тилке менен көрсөт.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9600" y="3017520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4 топ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82640" y="3017520"/>
            <a:ext cx="220217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02858" y="3017520"/>
            <a:ext cx="220217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23076" y="3017520"/>
            <a:ext cx="220217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43294" y="3017520"/>
            <a:ext cx="220217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19600" y="3574389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5 топ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82640" y="3574389"/>
            <a:ext cx="15729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9938" y="3574389"/>
            <a:ext cx="15729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97237" y="3574389"/>
            <a:ext cx="15729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4535" y="3574389"/>
            <a:ext cx="15729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11834" y="3574389"/>
            <a:ext cx="15729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69132" y="3574389"/>
            <a:ext cx="94379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854951" y="3017520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992112" y="3017520"/>
            <a:ext cx="0" cy="940917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854951" y="3958437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037832" y="3213658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28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65320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4 топ × 7; 5 топко – жок (калдык 3)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5112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72272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29472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Лагердин китепканасы үчүн 345 сомдон 6 китеп алынды. Баасы канча? Ал 5ке, 9га бөлүнөбү?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72272" y="3017520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345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662924" y="3017520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345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053575" y="3017520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345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444227" y="3017520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345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34879" y="3017520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345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225531" y="3017520"/>
            <a:ext cx="390652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345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0707624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844784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07624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890503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2070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17991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2 070; 5ке ооба, 9га ооба (2+0+7+0 = 9)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Дептериңе чыгар. Кыйын болсо – жакшы! Мээң өсүп жатат.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5 742 саны 9га бөлүнөбү?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3 716 саны 4кө бөлүнөбү?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6 135 саны 25ке бөлүнөбү?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52□: 3кө бөлүнгөндөй цифралар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2, 3, 5ке бөлүнгөн эң кичине үч орундуу сан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250 окуучу, 4 орундуу кайык. Канча кайык керек?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5 742 саны 9га бөлүнөбү?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ооба (18)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3 716 саны 4кө бөлүнөбү?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ооба (16)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6 135 саны 25ке бөлүнөбү?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жок (35)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52□: 3кө бөлүнгөндөй цифралар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2, 5, 8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2, 3, 5ке бөлүнгөн эң кичине үч орундуу сан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804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120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250 окуучу, 4 орундуу кайык. Канча кайык керек?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812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63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Окуяга кайтабыз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Лагерге 252 окуучу келди. Аларды 4, 6 же 9 бирдей отрядга бөлүүгө болобу? Бөлбөй туруп кантип билебиз?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240280"/>
            <a:ext cx="100583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28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0239" y="2240280"/>
            <a:ext cx="100583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28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79" y="2240280"/>
            <a:ext cx="100583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28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19" y="2240280"/>
            <a:ext cx="100583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28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59" y="2240280"/>
            <a:ext cx="100583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28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599" y="2240280"/>
            <a:ext cx="100583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28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49439" y="2240280"/>
            <a:ext cx="100583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28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79" y="2240280"/>
            <a:ext cx="100583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28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19" y="2240280"/>
            <a:ext cx="100583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28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058399" y="224028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195559" y="2240280"/>
            <a:ext cx="0" cy="54864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058399" y="27889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241279" y="2240280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252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3127248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аягы 52 → 4кө 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3127248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63 баладан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694176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2+5+2 = 9 → 9га 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694176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28 баладан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261104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жуп жана 3кө → 6га 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261104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42 баладан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74519" y="5486400"/>
            <a:ext cx="8449056" cy="6400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Үчөөнө тең болот: 63, 42 же 28 баладан.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Түз: өзүң маселе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1078077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Лагерь жөнүндө «тең бөлүүгө болобу?» деген маселе түз: сан тандап, белги менен текшер.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25603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Окуядагы каармандарды колдон: Тынар, Бермет, Канат агай.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38327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64991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Тилкесин чий жана туюнтмасын жаз.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206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8795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Жупуңа бер: ал чыгарсын, сен текшер.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Өз алдынча, 3 мүнөт. Кагазыңа жазып бер.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5 742 саны 9га бөлүнөбү? Эмне үчүн?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3088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3088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8 □ 6 саны 3кө бөлүнгөндөй бир цифра жаз.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77012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77012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2 350 саны 4кө бөлүнөбү?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Кайсы белгилер акыркы цифрага карайт, кайсылары суммага?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4кө бөлүнүүдө акыркы эки цифра жетиштүү?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3кө бөлүнгөн сан дайыма 9га бөлүнөбү? Мисал келтир.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Адегенде чакан сан менен бурчак: 27 = 3 топ 9дан = 9 топ 3төн; 28де калдык.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Белгилерди «эмне үчүн?» менен: 10 = 9 + 1, 100 = 99 + 1; 100 = 4 · 25.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Каршы мисал издетиңиз: 12 саны 3кө да, 6га да бөлүнөт, бирок 18ге бөлүнбөйт.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Оозеки ыкма: 9дарды таштап эсептөө (М4 азаят).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«Бул оңой эмеспи?»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«Кадамдарды бирге карайлы.»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«Кантип таптың? Текшерип көрөлүчү.»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«Сен математикага жөндөмсүзсүң»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«Азырынча. Машыксаң, үйрөнөсүң.»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«Шашпа, адегенде тилке чий.»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