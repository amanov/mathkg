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Жоопторду акыркы слайддан текшериңиз. Кээ бир жооптор эки жолу чыгат. Х5: акырында чийилген сандарды текшериңиз – окуучу чынчыл чийдиби? Баалоо: оюн учурунда ката түрүн жазыңыз (класстык жазуу барагынын «Каталар» тилкеси) жана Х5 (урмат, чынчылдык, утулганда сабыр) боюнча 3–4 баланы байкаңыз.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11 сандын 9ун тандашат.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Жооп: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Суроолор чыккан тартипте.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слайдды басып, кесип таркатыңыз (15 тор).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Нускама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Дептериңе 3 × 3 тор чий (же басылган торду ал).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304288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58568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0дөн 10го чейинки сандардан 9ун танда да, торго каалагандай жаз.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072384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26663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Мугалим мисал көрсөтөт. Эсепте: жообуң торуңда болсо – чийип сал.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94760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катар, X же толук тор (бардыгы) – «БИНГО!» деп кыйкыр.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608576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562856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Оюн эрежеси: урматтайбыз, чынчыл ойнойбуз, утулсак да куттуктайбыз.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4327" y="5669280"/>
            <a:ext cx="365760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А3 · Х5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Сандарыңды танда…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Даярдык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" y="146304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55648" y="146304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46304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46304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84648" y="146304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46304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7" y="265176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55648" y="265176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65176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41648" y="265176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84648" y="2651760"/>
            <a:ext cx="960120" cy="960120"/>
          </a:xfrm>
          <a:prstGeom prst="roundRect">
            <a:avLst>
              <a:gd name="adj" fmla="val 20000"/>
            </a:avLst>
          </a:prstGeom>
          <a:solidFill>
            <a:srgbClr val="B5E2D3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000" b="1">
                <a:solidFill>
                  <a:srgbClr val="007A5A"/>
                </a:solidFill>
                <a:latin typeface="PT Sans"/>
              </a:rPr>
              <a:t>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03920" y="1463040"/>
            <a:ext cx="0" cy="315468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03920" y="1463040"/>
            <a:ext cx="31546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555480" y="1463040"/>
            <a:ext cx="0" cy="315468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503920" y="2514600"/>
            <a:ext cx="31546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607040" y="1463040"/>
            <a:ext cx="0" cy="315468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503920" y="3566160"/>
            <a:ext cx="31546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658600" y="1463040"/>
            <a:ext cx="0" cy="315468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03920" y="4617720"/>
            <a:ext cx="315468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863840" y="4754880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Дептериңе 3 × 3 тор чий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4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45784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2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4 + 2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2 + 3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5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45784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82360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6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45784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82360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818936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7/18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1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8/18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3 + 3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9/18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0 + 0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1 + 0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11/18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2 + 2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45784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12/18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7 + 3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4" name="Group 33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45784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82360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818936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13/18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2 + 0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14/18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6 + 3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45784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82360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15/18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1 + 1 + 1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16/18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0 + 5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17/18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3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Бинго! Эсепте: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18/18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554480"/>
            <a:ext cx="7985455" cy="3108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286000"/>
            <a:ext cx="11329416" cy="1645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0" b="1" i="0">
                <a:solidFill>
                  <a:srgbClr val="1F2430"/>
                </a:solidFill>
                <a:latin typeface="PT Sans"/>
              </a:rPr>
              <a:t>5 + 2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800600"/>
            <a:ext cx="5943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400" b="0" i="0">
                <a:solidFill>
                  <a:srgbClr val="6B7280"/>
                </a:solidFill>
                <a:latin typeface="PT Sans"/>
              </a:rPr>
              <a:t>Жообуң торуңда барбы?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53035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600" b="0" i="0">
                <a:solidFill>
                  <a:srgbClr val="6B7280"/>
                </a:solidFill>
                <a:latin typeface="PT Sans"/>
              </a:rPr>
              <a:t>Бас – он-кадр менен текшер.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6675120" y="4800600"/>
            <a:ext cx="1828800" cy="731520"/>
            <a:chOff x="6675120" y="4800600"/>
            <a:chExt cx="1828800" cy="731520"/>
          </a:xfrm>
        </p:grpSpPr>
        <p:sp>
          <p:nvSpPr>
            <p:cNvPr id="14" name="Rectangle 13"/>
            <p:cNvSpPr/>
            <p:nvPr/>
          </p:nvSpPr>
          <p:spPr>
            <a:xfrm>
              <a:off x="667512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04088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40664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7240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138160" y="480060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67512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04088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40664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77240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138160" y="5166360"/>
              <a:ext cx="365760" cy="36576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1D35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72632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709208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45784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782360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8189366" y="4851806"/>
              <a:ext cx="263347" cy="263347"/>
            </a:xfrm>
            <a:prstGeom prst="ellipse">
              <a:avLst/>
            </a:prstGeom>
            <a:solidFill>
              <a:srgbClr val="B5E2D3"/>
            </a:solidFill>
            <a:ln w="12700">
              <a:solidFill>
                <a:srgbClr val="007A5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672632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7092086" y="5217566"/>
              <a:ext cx="263347" cy="263347"/>
            </a:xfrm>
            <a:prstGeom prst="ellipse">
              <a:avLst/>
            </a:prstGeom>
            <a:solidFill>
              <a:srgbClr val="F5E9E0"/>
            </a:solidFill>
            <a:ln w="12700">
              <a:solidFill>
                <a:srgbClr val="A844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Мугалим үчүн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21/22</a:t>
            </a:r>
          </a:p>
        </p:txBody>
      </p:sp>
      <p:sp>
        <p:nvSpPr>
          <p:cNvPr id="10" name="Oval 9"/>
          <p:cNvSpPr/>
          <p:nvPr/>
        </p:nvSpPr>
        <p:spPr>
          <a:xfrm>
            <a:off x="429768" y="133502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28016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4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128016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" y="206654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01168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79" y="201168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429768" y="27980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74320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4 + 2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79" y="274320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9" name="Oval 18"/>
          <p:cNvSpPr/>
          <p:nvPr/>
        </p:nvSpPr>
        <p:spPr>
          <a:xfrm>
            <a:off x="429768" y="352958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47472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 + 3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79" y="347472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Oval 21"/>
          <p:cNvSpPr/>
          <p:nvPr/>
        </p:nvSpPr>
        <p:spPr>
          <a:xfrm>
            <a:off x="429768" y="426110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420624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5 + 4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420624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5" name="Oval 24"/>
          <p:cNvSpPr/>
          <p:nvPr/>
        </p:nvSpPr>
        <p:spPr>
          <a:xfrm>
            <a:off x="429768" y="499262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93776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6 + 4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79" y="493776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8" name="Oval 27"/>
          <p:cNvSpPr/>
          <p:nvPr/>
        </p:nvSpPr>
        <p:spPr>
          <a:xfrm>
            <a:off x="4206240" y="133502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59" y="128016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 + 1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128016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31" name="Oval 30"/>
          <p:cNvSpPr/>
          <p:nvPr/>
        </p:nvSpPr>
        <p:spPr>
          <a:xfrm>
            <a:off x="4206240" y="206654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01168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 + 3 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201168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34" name="Oval 33"/>
          <p:cNvSpPr/>
          <p:nvPr/>
        </p:nvSpPr>
        <p:spPr>
          <a:xfrm>
            <a:off x="4206240" y="27980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59" y="274320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0 + 0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352" y="274320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37" name="Oval 36"/>
          <p:cNvSpPr/>
          <p:nvPr/>
        </p:nvSpPr>
        <p:spPr>
          <a:xfrm>
            <a:off x="4206240" y="352958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59" y="347472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 + 0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2" y="347472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40" name="Oval 39"/>
          <p:cNvSpPr/>
          <p:nvPr/>
        </p:nvSpPr>
        <p:spPr>
          <a:xfrm>
            <a:off x="4206240" y="426110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59" y="420624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 + 2 + 4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420624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3" name="Oval 42"/>
          <p:cNvSpPr/>
          <p:nvPr/>
        </p:nvSpPr>
        <p:spPr>
          <a:xfrm>
            <a:off x="4206240" y="499262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59" y="493776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7 + 3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93776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46" name="Oval 45"/>
          <p:cNvSpPr/>
          <p:nvPr/>
        </p:nvSpPr>
        <p:spPr>
          <a:xfrm>
            <a:off x="7982712" y="133502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5632" y="128016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 + 0 + 4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21824" y="128016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9" name="Oval 48"/>
          <p:cNvSpPr/>
          <p:nvPr/>
        </p:nvSpPr>
        <p:spPr>
          <a:xfrm>
            <a:off x="7982712" y="206654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201168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6 + 3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21824" y="201168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52" name="Oval 51"/>
          <p:cNvSpPr/>
          <p:nvPr/>
        </p:nvSpPr>
        <p:spPr>
          <a:xfrm>
            <a:off x="7982712" y="279806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5632" y="274320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 + 1 + 1 + 1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1824" y="274320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7982712" y="352958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5632" y="347472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0 + 5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347472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58" name="Oval 57"/>
          <p:cNvSpPr/>
          <p:nvPr/>
        </p:nvSpPr>
        <p:spPr>
          <a:xfrm>
            <a:off x="7982712" y="4261103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5632" y="420624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 + 1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21824" y="420624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61" name="Oval 60"/>
          <p:cNvSpPr/>
          <p:nvPr/>
        </p:nvSpPr>
        <p:spPr>
          <a:xfrm>
            <a:off x="7982712" y="4992624"/>
            <a:ext cx="365760" cy="36576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85632" y="4937760"/>
            <a:ext cx="158191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5 + 2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21824" y="4937760"/>
            <a:ext cx="14630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 торлору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1-класс › 10 ичинде кошуу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Басып чыгаруу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58368" y="13258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128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8368" y="18288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6420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" y="23317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6712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368" y="283464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4436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44368" y="13258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447287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44368" y="18288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95020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44368" y="23317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5312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944368" y="283464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036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30368" y="13258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3328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230368" y="18288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3620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230368" y="23317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73912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230368" y="283464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1636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516368" y="13258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01928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516368" y="18288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52220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16368" y="23317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2512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516368" y="283464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0236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802368" y="13258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30528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802368" y="18288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80820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802368" y="23317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311128" y="132588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802368" y="283464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0175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6128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3520439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6420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58368" y="40233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6712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58368" y="45262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4436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44368" y="30175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47287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44368" y="3520439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020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44368" y="40233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45312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44368" y="45262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23036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230368" y="30175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73328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30368" y="3520439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23620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230368" y="40233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73912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230368" y="45262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51636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516368" y="30175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01928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7516368" y="3520439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52220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516368" y="40233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02512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516368" y="45262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980236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802368" y="30175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030528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802368" y="3520439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80820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802368" y="40233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311128" y="301752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802368" y="45262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5836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58368" y="47091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16128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58368" y="52120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66420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658368" y="57150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16712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658368" y="62179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4436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44368" y="47091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447287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944368" y="52120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95020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44368" y="57150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445312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44368" y="62179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23036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230368" y="47091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73328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230368" y="52120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23620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5230368" y="57150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73912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5230368" y="62179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51636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516368" y="47091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801928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7516368" y="52120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852220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516368" y="57150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02512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516368" y="62179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980236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9802368" y="470916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30528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9802368" y="521208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080820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9802368" y="571500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311128" y="4709160"/>
            <a:ext cx="0" cy="150876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9802368" y="6217920"/>
            <a:ext cx="150876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