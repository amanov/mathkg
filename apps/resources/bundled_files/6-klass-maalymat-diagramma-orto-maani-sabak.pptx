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орточо 3 менен 11дин ортосундабы? Жоопту сабактын аягында (22-слайд) текшеребиз. Баткен – өрүгү менен белгилүү.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Элнура: орточо = суммасы ÷ саны = 6 кг. Азамат ортодо турган маанилерди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Ар бир окуучу сүйүктүү кургатылган жемишин стикерге (же кагаз квадратка) жазып, доскадагы тиешелүү мамычага чаптайт: стикер = бир окуучу, мамычанын бийиктиги = жыштык. Стикер жок болсо, партага таш тизебиз. Чийик менен санап, жыштык таблицасын толтурабыз. 2) Ар бир жупка 36 бөтөлкө капкагы: 6 мунара (4, 6, 3, 7, 5, 11). Мунараларды теңдешет: ар бири 6. «Капкак жоголгон жок, кошулган жок: 36 капкак 6 мунарага бирдей бөлүндү» = орточо. Проектор жок болсо, доскага чакмак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Диаграмманы доскага чакмак менен чийем; окуучулар дептерге (1 чакмак = 1 кг). Сызык 6да: ашыгы (шабдалы түс) 1 + 5 = 6, жетпегени (үзүк сызык) 2 + 3 + 1 = 6. Ашыгы = жетпегени: ушул орточонун касиети. Огу 0дөн башталат, ар бир чакмак 1 кг (М6, 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өлчөм, бир маалымат. Медиана: 3, 4, 5, 6, 7, 11 – ортодо экөө (5 жана 6), ортосу 5,5. Мода жок: бир да маани кайталанбайт. Кулач: 11 − 3 = 8. Ката коддору: М1 (ортодогу сан), М2 (жыштык), М3 (эң чоңу), М4 (иреттебей).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«9дан 1ди 7ге берем – баары 8».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М1+М4; Б = ✓; В = М1; Г = М8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теңдөө → жетпеген маани → жаңы маани. Жооптор: (5 + 9 + 7) ÷ 3 = 7 кг; 5 × 4 − 13 = 7 кг; (30 + 12) ÷ 6 = 7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Теңдөө: 36 кг 6 күнгө бирдей бөлүштүрүлсө, күнүнө 6 кг. Медиана 5,5 кг: ишемби (11 кг) орточону бир аз көтөрдү. Заказ үчүн жалпы сумма керек, ошондуктан орточо ылайыктуу. Азаматтын «5» жообу (ортодогу 3 жана 7)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мода 2; кулач 7; 12,5; 6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Маалымат: таблица, диаграмма жана орточо маани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базарындагы жемиш дүкөнү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Элнура менен Азамат чоң апасы Гүлбара эженин кургатылган жемиш дүкөнүндө бир жума эсеп жүргүзүшөт.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6-класс: «Статистикалык маалыматтар» (маалымат чогултуу, диаграммалар, орточо).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базарындагы жемиш дүкөнү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Бишкектеги Ош базарында Гүлбара эженин кургатылган өрүк, мейиз жана жаңгак саткан дүкөнү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Элнура менен Азамат (6-класс) бир жума бою күн сайын канча кг өрүк сатылганын жазышты.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Дүйшөмбүдөн ишембиге чейин: 4, 6, 3, 7, 5, 11 кг. Ишемби – базардын эң кызуу күнү.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Гүлбара эже кийинки жумага өрүктү Баткендеги багбандан алдын ала заказ кылат.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Гүлбара эже: «Күнүнө орто эсеп менен канча кг өрүк сатам? Кийинки жумага (6 күн) канча кг заказ кылайын?» Сатылганы: 4, 6, 3, 7, 5, 11 кг.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Чийик менен маалымат чогултуп, жыштык таблицасын жана мамычалуу диаграмма түзөм.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Орточо маанини, медиананы, моданы жана кулачты табам; орточону теңдөө менен түшүндүрөм.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Ылайыктуу орточону тандайм жана «алдамчы» диаграмманы байкайм.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Таблица, диаграмма, мода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Орточо, медиана, кулач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Тандоо, алдамчы диаграмма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Алдамчы диаграмма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Стикер сурамжылоосу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 мунаралары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Өрүк сатуу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Пиктограмма, таблица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Мамычалуу диаграмма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Жыштык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Диаграмма окуу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Орточо, медиана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Мода, кулач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 диаграмма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Ыктымалдык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÷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+ 6 + 3 + 7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Иретте: 9, 2, 7,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менен 13түн так ортосу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÷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+ 6 + 3 + 7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Иретте: 9, 2, 7,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2, 4, 7, 9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менен 13түн так ортосу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Гүлбара эже: «Өрүк: 4, 6, 3, 7, 5, 11 кг. Күнүнө орточо канча кг сатылды?»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Ортодогу сандар: 3 жана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Алардын ортосу 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Орточо = 5 кг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Баары: 36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36 ÷ 6 =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Орточо = 6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Капкак мунараларын теңдеп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1) стикер менен сурамжылоо → мамычалуу диаграмма. 2) Капкак мунараларын (4, 6, 3, 7, 5, 11) теңдегиле: бийигинен алып, жапызына кошкула.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Стикер = 1 окуучу (25 окуучу)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5440680"/>
            <a:ext cx="466344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069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06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6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9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6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69848" y="332841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06424" y="302666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69848" y="272491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Өрүк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15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7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20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72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89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07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60296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512600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64904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636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9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9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9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9967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Мейиз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258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310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63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15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32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550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79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55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92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5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92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5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92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5848" y="332841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72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Жаңгак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01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453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506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558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75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93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46296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922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35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98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15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Кара өрүк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544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96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649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065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49240" y="2423160"/>
            <a:ext cx="822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Мода:
өрүк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172200" y="2103120"/>
            <a:ext cx="0" cy="4023360"/>
          </a:xfrm>
          <a:prstGeom prst="line">
            <a:avLst/>
          </a:prstGeom>
          <a:ln w="12700">
            <a:solidFill>
              <a:srgbClr val="6B72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309360" y="20574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Алгач: 4, 6, 3, 7, 5, 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0574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Теңдедик: баары 6</a:t>
            </a:r>
          </a:p>
        </p:txBody>
      </p:sp>
      <p:sp>
        <p:nvSpPr>
          <p:cNvPr id="76" name="Oval 75"/>
          <p:cNvSpPr/>
          <p:nvPr/>
        </p:nvSpPr>
        <p:spPr>
          <a:xfrm>
            <a:off x="640080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40080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0080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40080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81" name="Oval 80"/>
          <p:cNvSpPr/>
          <p:nvPr/>
        </p:nvSpPr>
        <p:spPr>
          <a:xfrm>
            <a:off x="6830568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830568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30568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830568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830568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30568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20840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88" name="Oval 87"/>
          <p:cNvSpPr/>
          <p:nvPr/>
        </p:nvSpPr>
        <p:spPr>
          <a:xfrm>
            <a:off x="7260336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60336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60336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50607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92" name="Oval 91"/>
          <p:cNvSpPr/>
          <p:nvPr/>
        </p:nvSpPr>
        <p:spPr>
          <a:xfrm>
            <a:off x="7690104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690104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690104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0104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90104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690104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690104" y="3712464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0376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100" name="Oval 99"/>
          <p:cNvSpPr/>
          <p:nvPr/>
        </p:nvSpPr>
        <p:spPr>
          <a:xfrm>
            <a:off x="8119871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119871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119871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119871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19871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0144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106" name="Oval 105"/>
          <p:cNvSpPr/>
          <p:nvPr/>
        </p:nvSpPr>
        <p:spPr>
          <a:xfrm>
            <a:off x="854964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4964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54964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54964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54964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54964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549640" y="3712464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549640" y="3465576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9640" y="3218688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9640" y="2971800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9640" y="2724912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43991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309360" y="3950208"/>
            <a:ext cx="2697480" cy="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32520" y="3611880"/>
            <a:ext cx="640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sp>
        <p:nvSpPr>
          <p:cNvPr id="120" name="Oval 119"/>
          <p:cNvSpPr/>
          <p:nvPr/>
        </p:nvSpPr>
        <p:spPr>
          <a:xfrm>
            <a:off x="937260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37260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37260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37260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37260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937260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26287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127" name="Oval 126"/>
          <p:cNvSpPr/>
          <p:nvPr/>
        </p:nvSpPr>
        <p:spPr>
          <a:xfrm>
            <a:off x="9756648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756648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756648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756648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756648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756648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646920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134" name="Oval 133"/>
          <p:cNvSpPr/>
          <p:nvPr/>
        </p:nvSpPr>
        <p:spPr>
          <a:xfrm>
            <a:off x="10140696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0140696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0140696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40696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140696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140696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30968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141" name="Oval 140"/>
          <p:cNvSpPr/>
          <p:nvPr/>
        </p:nvSpPr>
        <p:spPr>
          <a:xfrm>
            <a:off x="10524744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524744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524744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524744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524744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524744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15016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148" name="Oval 147"/>
          <p:cNvSpPr/>
          <p:nvPr/>
        </p:nvSpPr>
        <p:spPr>
          <a:xfrm>
            <a:off x="10908792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908792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908792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908792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908792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908792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799064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155" name="Oval 154"/>
          <p:cNvSpPr/>
          <p:nvPr/>
        </p:nvSpPr>
        <p:spPr>
          <a:xfrm>
            <a:off x="1129284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29284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29284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29284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29284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129284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118311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09360" y="57607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36 капкак ÷ 6 мунара = 6. Ашыгы (кызгылт) жетпегенге барат.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мамычалуу диаграмма жана теңдөө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Сатылган өрүк (кг) диаграммада. Ашыгын жетпеген мамычаларга жылдырсак, баары 6 кг болот.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9651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77747" y="4777316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643966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7747" y="4324773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4191423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77747" y="3872230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888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77747" y="3419686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86336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77747" y="2967143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2833793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7747" y="2514600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38125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77747" y="2468880"/>
            <a:ext cx="0" cy="276098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77747" y="5229860"/>
            <a:ext cx="6320333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2176780"/>
            <a:ext cx="2743200" cy="28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2027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5416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8804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2193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5582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8971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98958" y="4324773"/>
            <a:ext cx="610965" cy="905086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98958" y="3872230"/>
            <a:ext cx="610965" cy="452543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6078" y="3995589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2347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69467" y="3543046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5736" y="4551045"/>
            <a:ext cx="610965" cy="678815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5736" y="3872230"/>
            <a:ext cx="610965" cy="678814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22856" y="4221860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9125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9125" y="3645958"/>
            <a:ext cx="610965" cy="226271"/>
          </a:xfrm>
          <a:prstGeom prst="rect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6245" y="3316774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12514" y="4098501"/>
            <a:ext cx="610965" cy="1131358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2514" y="3872230"/>
            <a:ext cx="610965" cy="226271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29634" y="3769317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65902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65902" y="2740871"/>
            <a:ext cx="610965" cy="1131358"/>
          </a:xfrm>
          <a:prstGeom prst="rect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83022" y="2411687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7747" y="3872230"/>
            <a:ext cx="6320332" cy="0"/>
          </a:xfrm>
          <a:prstGeom prst="line">
            <a:avLst/>
          </a:prstGeom>
          <a:ln w="285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543800" y="368935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орточо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78240" y="2240280"/>
            <a:ext cx="29718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1120" y="2331720"/>
            <a:ext cx="26974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Ашыгы: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1 + 5 =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700" b="1" i="0">
                <a:solidFill>
                  <a:srgbClr val="4A5A70"/>
                </a:solidFill>
                <a:latin typeface="PT Sans"/>
              </a:rPr>
              <a:t>Жетпегени: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 + 3 + 1 =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700" b="1" i="0">
                <a:solidFill>
                  <a:srgbClr val="007A5A"/>
                </a:solidFill>
                <a:latin typeface="PT Sans"/>
              </a:rPr>
              <a:t>Ашыгы = жетпегени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1">
                <a:solidFill>
                  <a:srgbClr val="6B7280"/>
                </a:solidFill>
                <a:latin typeface="PT Sans"/>
              </a:rPr>
              <a:t>Огу 0дөн; бир сызык = 2 кг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(4 + 6 + 3 + 7 + 5 + 11) ÷ 6 = 36 ÷ 6 = 6 кг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 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Орточо маани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Баарын кош, санына бөл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▢ ■ 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Медиана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Иретте, ортодогусун 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▲ 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Мода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көп кайталанган маани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Кулач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чоңу − эң кичинеси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Өрүк: орточо 6 · медиана 5,5 · кулач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Элнура 7 күн бою кардарларды санады: 12, 15, 9, 20, 15, 11, 14. Медиана жана мода?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12, 15, 9, 20, 15, 11, 14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9, 11, 12, 14, 15, 15, 20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иреттейбиз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Медиана =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4-орун (7 маани)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Мода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жолу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Медиана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14, мода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Өрүктүн баасы 4 дүкөндө (сом/кг): 280, 320, 300, 340. Орточо баа жана кулач?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280 + 320 + 300 + 340 = 1 240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сумма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1 240 ÷ 4 = 310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орточо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340 − 280 =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кулач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Орточо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310 сом, кулач 60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теңде, болжолдо, көбөйт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Теңдеп ойло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7, 9, 8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→ 8, 1ди бер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→ 8, 1ди 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Бийигинен жапызына: баары 8 болду.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Ыңгайлуу сандан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48, 52, 50, 46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50дөн: −2, +2, 0, −4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−4 ÷ 4 = −1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50 + (айырмалардын орточосу).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Сумма = орточо × саны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күн, орточо 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×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Жалпыны же жетпеген маанини табуу үчүн.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орточо эң кичине менен эң чоңунун ортосунда болот!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Бал банкалары 5 күндө: 3, 0, 7, 8, 2. Күнүнө орточо канча банка сатылды?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кутуда 5 кг, 9 кг жана 7 кг мейиз бар. Баарын бирдей кылсак, ар бир кутуда канча кг болот?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баштык мейиздин орточо салмагы 5 кг. Үчөө: 4 кг, 6 кг, 3 кг. Төртүнчү баштык канча кг?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күндө орточо 6 кг өрүк сатылды. 6-күнү 12 кг сатылды. Эми 6 күндүн орточосу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кутуда 5 кг, 9 кг жана 7 кг мейиз бар. Баарын бирдей кылсак, ар бир кутуда канча кг болот?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Кутулар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20973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9699" y="3017520"/>
            <a:ext cx="37751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7216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Теңдедик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9968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3592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17216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39440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02280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85160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(5 + 9 + 7) ÷ 3 = 7 кг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баштык мейиздин орточо салмагы 5 кг. Үчөө: 4 кг, 6 кг, 3 кг. Төртүнчү баштык канча кг?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Орточо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Баштык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82640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58814" y="3574389"/>
            <a:ext cx="26426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3076" y="3574389"/>
            <a:ext cx="1321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55206" y="3574389"/>
            <a:ext cx="308305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4 − 13 = 7 кг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 күндө орточо 6 кг өрүк сатылды. 6-күнү 12 кг сатылды. Эми 6 күндүн орточосу канча?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6 күн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35312" y="3017520"/>
            <a:ext cx="62919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 × 6 = 30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64506" y="3017520"/>
            <a:ext cx="25167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(30 + 12) ÷ 6 = 7 кг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Орточо: 12, 15,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Медиана: 21, 17, 30,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Мода жана кулач: 5, 8, 5, 2,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Орточо: 0, 6, 3,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Орточосу 9 болгон 4 сандын суммасы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Огу 100дөн: А = 105, Б = 110. Б эки эсе көппү?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Орточо: 12, 15,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Медиана: 21, 17, 30, 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Мода жана кулач: 5, 8, 5, 2,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мода 5; кулач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Орточо: 0, 6, 3,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Орточосу 9 болгон 4 сандын суммасы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Огу 100дөн: А = 105, Б = 110. Б эки эсе көппү?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Жок, 5 гана көп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Гүлбара эже: «Күнүнө орто эсеп менен канча кг өрүк сатам? Кийинки жумага (6 күн) канча кг заказ кылайын?» Сатылганы: 4, 6, 3, 7, 5, 11 кг.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Сатылды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8432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07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563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8099" y="2240280"/>
            <a:ext cx="14757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3839" y="2240280"/>
            <a:ext cx="10541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47939" y="2240280"/>
            <a:ext cx="23190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Теңдедик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4236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0728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199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3712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0204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+ 6 + 3 + 7 + 5 + 11 = 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кг, 6 күндө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36 ÷ 6 =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кг, орточо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Орточо 6 кг: кийинки жумага 6 × 6 = 36 кг заказ кылат.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маселе түз: 5 маани ойлоп тап (кг, сом же кардар), орточо, медиана, мода жана кулачын тап.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Азамат, Гүлбара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Маалымат: 6, 2, 9, 2, 6, 2. Мода жана кулач?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Медиананы тап: 14, 9, 11, 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Үч күндө 5, 9, 4 кг сатылды. Күнүнө орточо канча кг?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орточо маани ортодо турган сан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Качан медиана орточодон жакшыраак?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Диаграмманы окуганда адегенде эмнени карайсың?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Орточону капкак мунаралары менен баштоону сунуштайм: «теңдөө» сөзү эсте калат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Медиана: ар дайым адегенде иреттейбиз, карточкаларды тизип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Жыштык таблицасында «маани» жана «канча жолу» өзүнчө мамыча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диаграммада: аталышы, огу, бир чакмак = ?, огу 0дөнбү? (М5–М7).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