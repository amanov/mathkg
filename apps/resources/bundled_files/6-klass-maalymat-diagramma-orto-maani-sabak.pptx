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Адегенде болжолдошсун: орточо 3 менен 11дин ортосундабы? Жоопту сабактын аягында (22-слайд) текшеребиз. Баткен – өрүгү менен белгилүү.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Элнура: орточо = суммасы ÷ саны = 6 кг. Азамат ортодо турган маанилерди алды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1) Ар бир окуучу сүйүктүү кургатылган жемишин стикерге (же кагаз квадратка) жазып, доскадагы тиешелүү мамычага чаптайт: стикер = бир окуучу, мамычанын бийиктиги = жыштык. Стикер жок болсо, партага таш тизебиз. Чийик менен санап, жыштык таблицасын толтурабыз. 2) Ар бир жупка 36 бөтөлкө капкагы: 6 мунара (4, 6, 3, 7, 5, 11). Мунараларды теңдешет: ар бири 6. «Капкак жоголгон жок, кошулган жок: 36 капкак 6 мунарага бирдей бөлүндү» = орточо. Проектор жок болсо, доскага чакмак менен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Диаграмманы доскага чакмак менен чийем; окуучулар дептерге (1 чакмак = 1 кг). Сызык 6да: ашыгы (шабдалы түс) 1 + 5 = 6, жетпегени (үзүк сызык) 2 + 3 + 1 = 6. Ашыгы = жетпегени: ушул орточонун касиети. Огу 0дөн башталат, ар бир чакмак 1 кг (М6, М7).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Төрт өлчөм, бир маалымат. Медиана: 3, 4, 5, 6, 7, 11 – ортодо экөө (5 жана 6), ортосу 5,5. Мода жок: бир да маани кайталанбайт. Кулач: 11 − 3 = 8. Ката коддору: М1 (ортодогу сан), М2 (жыштык), М3 (эң чоңу), М4 (иреттебей).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«9дан 1ди 7ге берем – баары 8». «Оозеки беш мүнөт» (класста колдонуу картасы, 3-бет)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М1+М4; Б = ✓; В = М1; Г = М8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теңдөө → жетпеген маани → жаңы маани. Жооптор: (5 + 9 + 7) ÷ 3 = 7 кг; 5 × 4 − 13 = 7 кг; (30 + 12) ÷ 6 = 7 кг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Теңдөө: 36 кг 6 күнгө бирдей бөлүштүрүлсө, күнүнө 6 кг. Медиана 5,5 кг: ишемби (11 кг) орточону бир аз көтөрдү. Заказ үчүн жалпы сумма керек, ошондуктан орточо ылайыктуу. Азаматтын «5» жообу (ортодогу 3 жана 7) – М1.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мода 2; кулач 7; 12,5; 6 кг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6-класс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Маалымат: таблица, диаграмма жана орточо маани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Ош базарындагы жемиш дүкөнү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Элнура менен Азамат чоң апасы Гүлбара эженин кургатылган жемиш дүкөнүндө бир жума эсеп жүргүзүшөт.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 (2018), 6-класс: «Статистикалык маалыматтар»; Cambridge Primary 6 (маалымат чогултуу, диаграммалар, орточо).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Ош базарындагы жемиш дүкөнү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Бишкектеги Ош базарында Гүлбара эженин кургатылган өрүк, мейиз жана жаңгак саткан дүкөнү бар.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Неберелери Элнура менен Азамат (6-класс) бир жума бою күн сайын канча кг өрүк сатылганын жазышты.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Дүйшөмбүдөн ишембиге чейин: 4, 6, 3, 7, 5, 11 кг. Ишемби – базардын эң кызуу күнү.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Гүлбара эже кийинки жумага өрүктү Баткендеги багбандан алдын ала заказ кылат.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Гүлбара эже: «Күнүнө орто эсеп менен канча кг өрүк сатам? Кийинки жумага (6 күн) канча кг заказ кылайын?» Сатылганы: 4, 6, 3, 7, 5, 11 кг.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Чийик менен маалымат чогултуп, жыштык таблицасын жана мамычалуу диаграмма түзөм.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Орточо маанини, медиананы, моданы жана кулачты табам; орточону теңдөө менен түшүндүрөм.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Ылайыктуу орточону тандайм жана «алдамчы» диаграмманы байкайм.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Таблица, диаграмма, мода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Орточо, медиана, кулач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Тандоо, алдамчы диаграмма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Алдамчы диаграмма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Стикер сурамжылоосу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Капкак мунаралары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Ош базары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Өрүк сатуу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2–4-класс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Пиктограмма, таблица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Мамычалуу диаграмма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5-класс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Жыштык таблицасы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Диаграмма окуу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6-класс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Орточо, медиана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Мода, кулач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7-класс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Тегерек диаграмма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Ыктымалдык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36 ÷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 + 6 + 3 + 7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Иретте: 9, 2, 7,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12 менен 13түн так ортосу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36 ÷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+ 6 + 3 + 7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Иретте: 9, 2, 7,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2, 4, 7, 9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12 менен 13түн так ортосу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12,5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Гүлбара эже: «Өрүк: 4, 6, 3, 7, 5, 11 кг. Күнүнө орточо канча кг сатылды?»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Азамат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Ортодогу сандар: 3 жана 7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Алардын ортосу 5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Орточо = 5 кг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Элнура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Баары: 36 кг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36 ÷ 6 = 6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Орточо = 6 кг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Капкак мунараларын теңдеп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1) стикер менен сурамжылоо → мамычалуу диаграмма. 2) Капкак мунараларын (4, 6, 3, 7, 5, 11) теңдегиле: бийигинен алып, жапызына кошкула.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Стикер = 1 окуучу (25 окуучу)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5440680"/>
            <a:ext cx="4663440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69848" y="5138928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06424" y="4837176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" y="4535424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06424" y="4233672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9848" y="3931920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06424" y="3630168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9848" y="3328416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6424" y="3026664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9848" y="2724912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468112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Өрүк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15568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67871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20175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72479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89416" y="5872276"/>
            <a:ext cx="209214" cy="142647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407993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460296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512600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564904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636776" y="5788152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12848" y="5138928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49424" y="4837176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12848" y="4535424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49424" y="4233672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12848" y="3931920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49424" y="3630168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9967" y="5468112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Мейиз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258568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10871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3175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479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232416" y="5872276"/>
            <a:ext cx="209214" cy="142647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50993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779776" y="5788152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55848" y="5138928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92424" y="4837176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55848" y="4535424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92424" y="4233672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55848" y="3931920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92424" y="3630168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55848" y="3328416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72968" y="5468112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Жаңгак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401568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453871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506175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558479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375416" y="5872276"/>
            <a:ext cx="209214" cy="142647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693993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746296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922776" y="5788152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98848" y="5138928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35424" y="4837176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498848" y="4535424"/>
            <a:ext cx="786384" cy="274320"/>
          </a:xfrm>
          <a:prstGeom prst="rect">
            <a:avLst/>
          </a:prstGeom>
          <a:solidFill>
            <a:srgbClr val="F6D86B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15968" y="5468112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Кара өрүк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544568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596871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649175" y="5824728"/>
            <a:ext cx="0" cy="237744"/>
          </a:xfrm>
          <a:prstGeom prst="line">
            <a:avLst/>
          </a:prstGeom>
          <a:ln w="203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065776" y="5788152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49240" y="2423160"/>
            <a:ext cx="822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Мода:
өрүк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172200" y="2103120"/>
            <a:ext cx="0" cy="4023360"/>
          </a:xfrm>
          <a:prstGeom prst="line">
            <a:avLst/>
          </a:prstGeom>
          <a:ln w="1270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309360" y="20574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Алгач: 4, 6, 3, 7, 5, 11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81160" y="205740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Теңдедик: баары 6</a:t>
            </a:r>
          </a:p>
        </p:txBody>
      </p:sp>
      <p:sp>
        <p:nvSpPr>
          <p:cNvPr id="76" name="Oval 75"/>
          <p:cNvSpPr/>
          <p:nvPr/>
        </p:nvSpPr>
        <p:spPr>
          <a:xfrm>
            <a:off x="6400800" y="519379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400800" y="4946904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400800" y="4700016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400800" y="4453128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91072" y="546811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Дш</a:t>
            </a:r>
          </a:p>
        </p:txBody>
      </p:sp>
      <p:sp>
        <p:nvSpPr>
          <p:cNvPr id="81" name="Oval 80"/>
          <p:cNvSpPr/>
          <p:nvPr/>
        </p:nvSpPr>
        <p:spPr>
          <a:xfrm>
            <a:off x="6830568" y="519379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830568" y="4946904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830568" y="4700016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830568" y="4453128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830568" y="4206240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830568" y="395935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20840" y="546811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Шш</a:t>
            </a:r>
          </a:p>
        </p:txBody>
      </p:sp>
      <p:sp>
        <p:nvSpPr>
          <p:cNvPr id="88" name="Oval 87"/>
          <p:cNvSpPr/>
          <p:nvPr/>
        </p:nvSpPr>
        <p:spPr>
          <a:xfrm>
            <a:off x="7260336" y="519379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260336" y="4946904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260336" y="4700016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50607" y="546811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Шр</a:t>
            </a:r>
          </a:p>
        </p:txBody>
      </p:sp>
      <p:sp>
        <p:nvSpPr>
          <p:cNvPr id="92" name="Oval 91"/>
          <p:cNvSpPr/>
          <p:nvPr/>
        </p:nvSpPr>
        <p:spPr>
          <a:xfrm>
            <a:off x="7690104" y="519379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690104" y="4946904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690104" y="4700016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690104" y="4453128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690104" y="4206240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690104" y="395935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90104" y="3712464"/>
            <a:ext cx="228600" cy="228600"/>
          </a:xfrm>
          <a:prstGeom prst="ellipse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80376" y="546811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Бш</a:t>
            </a:r>
          </a:p>
        </p:txBody>
      </p:sp>
      <p:sp>
        <p:nvSpPr>
          <p:cNvPr id="100" name="Oval 99"/>
          <p:cNvSpPr/>
          <p:nvPr/>
        </p:nvSpPr>
        <p:spPr>
          <a:xfrm>
            <a:off x="8119871" y="519379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119871" y="4946904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119871" y="4700016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119871" y="4453128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119871" y="4206240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010144" y="546811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Жм</a:t>
            </a:r>
          </a:p>
        </p:txBody>
      </p:sp>
      <p:sp>
        <p:nvSpPr>
          <p:cNvPr id="106" name="Oval 105"/>
          <p:cNvSpPr/>
          <p:nvPr/>
        </p:nvSpPr>
        <p:spPr>
          <a:xfrm>
            <a:off x="8549640" y="519379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549640" y="4946904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549640" y="4700016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549640" y="4453128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549640" y="4206240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549640" y="395935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49640" y="3712464"/>
            <a:ext cx="228600" cy="228600"/>
          </a:xfrm>
          <a:prstGeom prst="ellipse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549640" y="3465576"/>
            <a:ext cx="228600" cy="228600"/>
          </a:xfrm>
          <a:prstGeom prst="ellipse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9640" y="3218688"/>
            <a:ext cx="228600" cy="228600"/>
          </a:xfrm>
          <a:prstGeom prst="ellipse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9640" y="2971800"/>
            <a:ext cx="228600" cy="228600"/>
          </a:xfrm>
          <a:prstGeom prst="ellipse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9640" y="2724912"/>
            <a:ext cx="228600" cy="228600"/>
          </a:xfrm>
          <a:prstGeom prst="ellipse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439912" y="546811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Иш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6309360" y="3950208"/>
            <a:ext cx="2697480" cy="0"/>
          </a:xfrm>
          <a:prstGeom prst="line">
            <a:avLst/>
          </a:prstGeom>
          <a:ln w="19050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8732520" y="3611880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→</a:t>
            </a:r>
          </a:p>
        </p:txBody>
      </p:sp>
      <p:sp>
        <p:nvSpPr>
          <p:cNvPr id="120" name="Oval 119"/>
          <p:cNvSpPr/>
          <p:nvPr/>
        </p:nvSpPr>
        <p:spPr>
          <a:xfrm>
            <a:off x="9372600" y="519379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372600" y="4946904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372600" y="4700016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372600" y="4453128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372600" y="4206240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372600" y="395935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262872" y="546811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Дш</a:t>
            </a:r>
          </a:p>
        </p:txBody>
      </p:sp>
      <p:sp>
        <p:nvSpPr>
          <p:cNvPr id="127" name="Oval 126"/>
          <p:cNvSpPr/>
          <p:nvPr/>
        </p:nvSpPr>
        <p:spPr>
          <a:xfrm>
            <a:off x="9756648" y="519379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9756648" y="4946904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9756648" y="4700016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756648" y="4453128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756648" y="4206240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756648" y="395935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646920" y="546811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Шш</a:t>
            </a:r>
          </a:p>
        </p:txBody>
      </p:sp>
      <p:sp>
        <p:nvSpPr>
          <p:cNvPr id="134" name="Oval 133"/>
          <p:cNvSpPr/>
          <p:nvPr/>
        </p:nvSpPr>
        <p:spPr>
          <a:xfrm>
            <a:off x="10140696" y="519379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0140696" y="4946904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0140696" y="4700016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40696" y="4453128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140696" y="4206240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140696" y="395935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030968" y="546811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Шр</a:t>
            </a:r>
          </a:p>
        </p:txBody>
      </p:sp>
      <p:sp>
        <p:nvSpPr>
          <p:cNvPr id="141" name="Oval 140"/>
          <p:cNvSpPr/>
          <p:nvPr/>
        </p:nvSpPr>
        <p:spPr>
          <a:xfrm>
            <a:off x="10524744" y="519379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524744" y="4946904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524744" y="4700016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524744" y="4453128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524744" y="4206240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524744" y="395935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415016" y="546811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Бш</a:t>
            </a:r>
          </a:p>
        </p:txBody>
      </p:sp>
      <p:sp>
        <p:nvSpPr>
          <p:cNvPr id="148" name="Oval 147"/>
          <p:cNvSpPr/>
          <p:nvPr/>
        </p:nvSpPr>
        <p:spPr>
          <a:xfrm>
            <a:off x="10908792" y="519379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908792" y="4946904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908792" y="4700016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908792" y="4453128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908792" y="4206240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908792" y="395935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799064" y="546811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Жм</a:t>
            </a:r>
          </a:p>
        </p:txBody>
      </p:sp>
      <p:sp>
        <p:nvSpPr>
          <p:cNvPr id="155" name="Oval 154"/>
          <p:cNvSpPr/>
          <p:nvPr/>
        </p:nvSpPr>
        <p:spPr>
          <a:xfrm>
            <a:off x="11292840" y="519379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1292840" y="4946904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1292840" y="4700016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1292840" y="4453128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1292840" y="4206240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1292840" y="3959352"/>
            <a:ext cx="228600" cy="22860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1183112" y="5468112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Иш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309360" y="57607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4A5A70"/>
                </a:solidFill>
                <a:latin typeface="PT Sans"/>
              </a:rPr>
              <a:t>36 капкак ÷ 6 мунара = 6. Ашыгы (кызгылт) жетпегенге барат.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мамычалуу диаграмма жана теңдөө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Сатылган өрүк (кг) диаграммада. Ашыгын жетпеген мамычаларга жылдырсак, баары 6 кг болот.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96510"/>
            <a:ext cx="446227" cy="2667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77747" y="4777316"/>
            <a:ext cx="6320333" cy="0"/>
          </a:xfrm>
          <a:prstGeom prst="line">
            <a:avLst/>
          </a:prstGeom>
          <a:ln w="7620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4643966"/>
            <a:ext cx="446227" cy="2667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77747" y="4324773"/>
            <a:ext cx="6320333" cy="0"/>
          </a:xfrm>
          <a:prstGeom prst="line">
            <a:avLst/>
          </a:prstGeom>
          <a:ln w="7620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191423"/>
            <a:ext cx="446227" cy="2667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77747" y="3872230"/>
            <a:ext cx="6320333" cy="0"/>
          </a:xfrm>
          <a:prstGeom prst="line">
            <a:avLst/>
          </a:prstGeom>
          <a:ln w="7620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738880"/>
            <a:ext cx="446227" cy="2667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77747" y="3419686"/>
            <a:ext cx="6320333" cy="0"/>
          </a:xfrm>
          <a:prstGeom prst="line">
            <a:avLst/>
          </a:prstGeom>
          <a:ln w="7620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3286336"/>
            <a:ext cx="446227" cy="2667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77747" y="2967143"/>
            <a:ext cx="6320333" cy="0"/>
          </a:xfrm>
          <a:prstGeom prst="line">
            <a:avLst/>
          </a:prstGeom>
          <a:ln w="7620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2833793"/>
            <a:ext cx="446227" cy="2667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77747" y="2514600"/>
            <a:ext cx="6320333" cy="0"/>
          </a:xfrm>
          <a:prstGeom prst="line">
            <a:avLst/>
          </a:prstGeom>
          <a:ln w="7620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2381250"/>
            <a:ext cx="446227" cy="2667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77747" y="2468880"/>
            <a:ext cx="0" cy="2760980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77747" y="5229860"/>
            <a:ext cx="6320333" cy="0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2176780"/>
            <a:ext cx="2743200" cy="28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кг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2027" y="5248147"/>
            <a:ext cx="1144828" cy="3022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Дш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85416" y="5248147"/>
            <a:ext cx="1144828" cy="3022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Шш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38804" y="5248147"/>
            <a:ext cx="1144828" cy="3022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Шр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2193" y="5248147"/>
            <a:ext cx="1144828" cy="3022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5582" y="5248147"/>
            <a:ext cx="1144828" cy="3022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Жм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8971" y="5248147"/>
            <a:ext cx="1144828" cy="3022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Иш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98958" y="4324773"/>
            <a:ext cx="610965" cy="905086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98958" y="3872230"/>
            <a:ext cx="610965" cy="452543"/>
          </a:xfrm>
          <a:prstGeom prst="rect">
            <a:avLst/>
          </a:prstGeom>
          <a:noFill/>
          <a:ln w="1397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16078" y="3995589"/>
            <a:ext cx="976725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52347" y="3872230"/>
            <a:ext cx="610965" cy="1357629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69467" y="3543046"/>
            <a:ext cx="976725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5736" y="4551045"/>
            <a:ext cx="610965" cy="678815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05736" y="3872230"/>
            <a:ext cx="610965" cy="678814"/>
          </a:xfrm>
          <a:prstGeom prst="rect">
            <a:avLst/>
          </a:prstGeom>
          <a:noFill/>
          <a:ln w="1397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22856" y="4221860"/>
            <a:ext cx="976725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9125" y="3872230"/>
            <a:ext cx="610965" cy="1357629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59125" y="3645958"/>
            <a:ext cx="610965" cy="226271"/>
          </a:xfrm>
          <a:prstGeom prst="rect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76245" y="3316774"/>
            <a:ext cx="976725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12514" y="4098501"/>
            <a:ext cx="610965" cy="1131358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12514" y="3872230"/>
            <a:ext cx="610965" cy="226271"/>
          </a:xfrm>
          <a:prstGeom prst="rect">
            <a:avLst/>
          </a:prstGeom>
          <a:noFill/>
          <a:ln w="1397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29634" y="3769317"/>
            <a:ext cx="976725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5902" y="3872230"/>
            <a:ext cx="610965" cy="1357629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5902" y="2740871"/>
            <a:ext cx="610965" cy="1131358"/>
          </a:xfrm>
          <a:prstGeom prst="rect">
            <a:avLst/>
          </a:prstGeom>
          <a:solidFill>
            <a:srgbClr val="F5E9E0"/>
          </a:solidFill>
          <a:ln w="1397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3022" y="2411687"/>
            <a:ext cx="976725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177747" y="3872230"/>
            <a:ext cx="6320332" cy="0"/>
          </a:xfrm>
          <a:prstGeom prst="line">
            <a:avLst/>
          </a:prstGeom>
          <a:ln w="28575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543800" y="368935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орточо 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78240" y="2240280"/>
            <a:ext cx="29718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0" y="2331720"/>
            <a:ext cx="269748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Ашыгы:</a:t>
            </a:r>
          </a:p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F2430"/>
                </a:solidFill>
                <a:latin typeface="PT Sans"/>
              </a:rPr>
              <a:t>1 + 5 = 6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700" b="1" i="0">
                <a:solidFill>
                  <a:srgbClr val="4A5A70"/>
                </a:solidFill>
                <a:latin typeface="PT Sans"/>
              </a:rPr>
              <a:t>Жетпегени:</a:t>
            </a:r>
          </a:p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F2430"/>
                </a:solidFill>
                <a:latin typeface="PT Sans"/>
              </a:rPr>
              <a:t>2 + 3 + 1 = 6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700" b="1" i="0">
                <a:solidFill>
                  <a:srgbClr val="007A5A"/>
                </a:solidFill>
                <a:latin typeface="PT Sans"/>
              </a:rPr>
              <a:t>Ашыгы = жетпегени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400" b="0" i="1">
                <a:solidFill>
                  <a:srgbClr val="6B7280"/>
                </a:solidFill>
                <a:latin typeface="PT Sans"/>
              </a:rPr>
              <a:t>Огу 0дөн; бир сызык = 2 кг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(4 + 6 + 3 + 7 + 5 + 11) ÷ 6 = 36 ÷ 6 = 6 кг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+  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Орточо маани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Баарын кош, санына бөл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▢ ■ 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Медиана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Иретте, ортодогусун ал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▲ 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Мода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Эң көп кайталанган маани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Кулач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Эң чоңу − эң кичинеси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Өрүк: орточо 6 · медиана 5,5 · кулач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Элнура 7 күн бою кардарларды санады: 12, 15, 9, 20, 15, 11, 14. Медиана жана мода?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12, 15, 9, 20, 15, 11, 14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9, 11, 12, 14, 15, 15, 20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иреттейбиз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Медиана =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4-орун (7 маани)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Мода =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2 жолу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Медиана = </a:t>
            </a:r>
            <a:r>
              <a:rPr sz="3400" b="1">
                <a:solidFill>
                  <a:srgbClr val="24418C"/>
                </a:solidFill>
                <a:latin typeface="PT Sans"/>
              </a:rPr>
              <a:t>14, мода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Өрүктүн баасы 4 дүкөндө (сом/кг): 280, 320, 300, 340. Орточо баа жана кулач?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280 + 320 + 300 + 340 = 1 240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сумма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1 240 ÷ 4 = 310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орточо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340 − 280 = 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кулач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Орточо = </a:t>
            </a:r>
            <a:r>
              <a:rPr sz="3400" b="1">
                <a:solidFill>
                  <a:srgbClr val="24418C"/>
                </a:solidFill>
                <a:latin typeface="PT Sans"/>
              </a:rPr>
              <a:t>310 сом, кулач 60 сом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теңде, болжолдо, көбөйт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Теңдеп ойло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7, 9, 8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9 → 8, 1ди бер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 → 8, 1ди ал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Бийигинен жапызына: баары 8 болду.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Ыңгайлуу сандан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48, 52, 50, 46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50дөн: −2, +2, 0, −4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−4 ÷ 4 = −1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50 + (айырмалардын орточосу).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Сумма = орточо × саны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күн, орточо 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15 ×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Жалпыны же жетпеген маанини табуу үчүн.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Адегенде болжолдо: орточо эң кичине менен эң чоңунун ортосунда болот!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Бал банкалары 5 күндө: 3, 0, 7, 8, 2. Күнүнө орточо канча банка сатылды?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Үч кутуда 5 кг, 9 кг жана 7 кг мейиз бар. Баарын бирдей кылсак, ар бир кутуда канча кг болот?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баштык мейиздин орточо салмагы 5 кг. Үчөө: 4 кг, 6 кг, 3 кг. Төртүнчү баштык канча кг?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 күндө орточо 6 кг өрүк сатылды. 6-күнү 12 кг сатылды. Эми 6 күндүн орточосу канча?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Үч кутуда 5 кг, 9 кг жана 7 кг мейиз бар. Баарын бирдей кылсак, ар бир кутуда канча кг болот?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Кутулар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8" y="3017520"/>
            <a:ext cx="20973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9699" y="3017520"/>
            <a:ext cx="37751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7216" y="3017520"/>
            <a:ext cx="29362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Теңдедик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29968" y="3574389"/>
            <a:ext cx="293623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3592" y="3574389"/>
            <a:ext cx="293623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17216" y="3574389"/>
            <a:ext cx="293623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39440" y="3017520"/>
            <a:ext cx="0" cy="940917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002280" y="3958437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85160" y="3213658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(5 + 9 + 7) ÷ 3 = 7 кг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4 баштык мейиздин орточо салмагы 5 кг. Үчөө: 4 кг, 6 кг, 3 кг. Төртүнчү баштык канча кг?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Орточо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82640" y="3017520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2858" y="3017520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3076" y="3017520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43294" y="3017520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Баштык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82640" y="3574389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58814" y="3574389"/>
            <a:ext cx="26426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23076" y="3574389"/>
            <a:ext cx="13213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55206" y="3574389"/>
            <a:ext cx="308305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992112" y="3017520"/>
            <a:ext cx="0" cy="940917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854951" y="3958437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037832" y="3213658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5 × 4 − 13 = 7 кг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5 күндө орточо 6 кг өрүк сатылды. 6-күнү 12 кг сатылды. Эми 6 күндүн орточосу канча?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2272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6 күн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35312" y="3017520"/>
            <a:ext cx="62919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 × 6 = 30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64506" y="3017520"/>
            <a:ext cx="251677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(30 + 12) ÷ 6 = 7 кг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Орточо: 12, 15,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Медиана: 21, 17, 30, 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Мода жана кулач: 5, 8, 5, 2, 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Орточо: 0, 6, 3, 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Орточосу 9 болгон 4 сандын суммасы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Огу 100дөн: А = 105, Б = 110. Б эки эсе көппү?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Орточо: 12, 15,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Медиана: 21, 17, 30, 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Мода жана кулач: 5, 8, 5, 2,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мода 5; кулач 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Орточо: 0, 6, 3,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Орточосу 9 болгон 4 сандын суммасы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Огу 100дөн: А = 105, Б = 110. Б эки эсе көппү?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Жок, 5 гана көп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Гүлбара эже: «Күнүнө орто эсеп менен канча кг өрүк сатам? Кийинки жумага (6 күн) канча кг заказ кылайын?» Сатылганы: 4, 6, 3, 7, 5, 11 кг.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Сатылды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84327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20720" y="2240280"/>
            <a:ext cx="12649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5639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8099" y="2240280"/>
            <a:ext cx="14757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93839" y="2240280"/>
            <a:ext cx="105410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47939" y="2240280"/>
            <a:ext cx="23190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35808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Теңдедик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035808"/>
            <a:ext cx="1264919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42360" y="3035808"/>
            <a:ext cx="1264919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07280" y="3035808"/>
            <a:ext cx="1264919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199" y="3035808"/>
            <a:ext cx="1264919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37120" y="3035808"/>
            <a:ext cx="1264919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02040" y="3035808"/>
            <a:ext cx="1264919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195559" y="2240280"/>
            <a:ext cx="0" cy="134416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58399" y="358444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241279" y="263804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9227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4 + 6 + 3 + 7 + 5 + 11 = 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9227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кг, 6 күндө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4897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36 ÷ 6 =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4897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кг, орточо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Орточо 6 кг: кийинки жумага 6 × 6 = 36 кг заказ кылат.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Ош базары жөнүндө маселе түз: 5 маани ойлоп тап (кг, сом же кардар), орточо, медиана, мода жана кулачын тап.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Элнура, Азамат, Гүлбара эже.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Маалымат: 6, 2, 9, 2, 6, 2. Мода жана кулач?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Медиананы тап: 14, 9, 11, 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Үч күндө 5, 9, 4 кг сатылды. Күнүнө орточо канча кг?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орточо маани ортодо турган сан эмес?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Качан медиана орточодон жакшыраак?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Диаграмманы окуганда адегенде эмнени карайсың?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Орточону капкак мунаралары менен баштоону сунуштайм: «теңдөө» сөзү эсте калат (М1).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Медиана: ар дайым адегенде иреттейбиз, карточкаларды тизип (М4).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Жыштык таблицасында «маани» жана «канча жолу» өзүнчө мамыча (М2).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диаграммада: аталышы, огу, бир чакмак = ?, огу 0дөнбү? (М5–М7).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