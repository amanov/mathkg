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орточо 3 менен 11дин ортосундабы? Жоопту сабактын аягында (22-слайд) текшеребиз. Баткен – өрүгү менен белгилүү.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Элнура: орточо = суммасы ÷ саны = 6 кг. Азамат ортодо турган маанилерди алды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1) Ар бир окуучу сүйүктүү кургатылган жемишин стикерге (же кагаз квадратка) жазып, доскадагы тиешелүү мамычага чаптайт: стикер = бир окуучу, мамычанын бийиктиги = жыштык. Стикер жок болсо, партага таш тизебиз. Чийик менен санап, жыштык таблицасын толтурабыз. 2) Ар бир жупка 36 бөтөлкө капкагы: 6 мунара (4, 6, 3, 7, 5, 11). Мунараларды теңдешет: ар бири 6. «Капкак жоголгон жок, кошулган жок: 36 капкак 6 мунарага бирдей бөлүндү» = орточо. Проектор жок болсо, доскага чакмак менен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Диаграмманы доскага чакмак менен чийем; окуучулар дептерге (1 чакмак = 1 кг). Сызык 6да: ашыгы (шабдалы түс) 1 + 5 = 6, жетпегени (үзүк сызык) 2 + 3 + 1 = 6. Ашыгы = жетпегени: ушул орточонун касиети. Огу 0дөн башталат, ар бир чакмак 1 кг (М6, М7).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Төрт өлчөм, бир маалымат. Медиана: 3, 4, 5, 6, 7, 11 – ортодо экөө (5 жана 6), ортосу 5,5. Мода жок: бир да маани кайталанбайт. Кулач: 11 − 3 = 8. Ката коддору: М1 (ортодогу сан), М2 (жыштык), М3 (эң чоңу), М4 (ирээттебей).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«9дан 1ди 7ге берем – баары 8».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М1+М4; Б = ✓; В = М1; Г = М8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теңдөө → жетпеген маани → жаңы маани. Жооптор: (5 + 9 + 7) ÷ 3 = 7 кг; 5 × 4 − 13 = 7 кг; (30 + 12) ÷ 6 = 7 кг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Теңдөө: 36 кг 6 күнгө бирдей бөлүштүрүлсө, күнүнө 6 кг. Медиана 5,5 кг: ишемби (11 кг) орточону бир аз көтөрдү. Заказ үчүн жалпы сумма керек, ошондуктан орточо ылайыктуу. Азаматтын «5» жообу (ортодогу 3 жана 7) – М1.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мода 2; кулач 7; 12,5; 6 кг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Маалымат: таблица, диаграмма жана орточо маани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Ош базарындагы жемиш дүкөнү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Элнура менен Азамат чоң апасы Гүлбара эженин кургатылган жемиш дүкөнүндө бир жума эсеп жүргүзүшөт.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 (2018), 6-класс: «Статистикалык маалыматтар» (маалымат чогултуу, диаграммалар, орточо).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Ош базарындагы жемиш дүкөнү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Бишкектеги Ош базарында Гүлбара эженин кургатылган өрүк, мейиз жана жаңгак саткан дүкөнү бар.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Неберелери Элнура менен Азамат (6-класс) бир жума бою күн сайын канча кг өрүк сатылганын жазышты.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Дүйшөмбүдөн ишембиге чейин: 4, 6, 3, 7, 5, 11 кг. Ишемби – базардын эң кызуу күнү.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Гүлбара эже кийинки жумага өрүктү Баткендеги багбандан алдын ала заказ кылат.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Гүлбара эже: «Күнүнө орто эсеп менен канча кг өрүк сатам? Кийинки жумага (6 күн) канча кг заказ кылайын?» Сатылганы: 4, 6, 3, 7, 5, 11 кг.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Чийик менен маалымат чогултуп, жыштык таблицасын жана мамычалуу диаграмма түзөм.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Орточо маанини, медиананы, моданы жана кулачты табам; орточону теңдөө менен түшүндүрөм.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Ылайыктуу орточону тандайм жана «алдамчы» диаграмманы байкайм.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Таблица, диаграмма, мода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Орточо, медиана, кулач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Тандоо, алдамчы диаграмма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Алдамчы диаграмма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Стикер сурамжылоосу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Капкак мунаралары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Ош базары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Өрүк сатуу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Пиктограмма, таблица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Мамычалуу диаграмма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Жыштык таблицасы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Диаграмма окуу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Орточо, медиана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Мода, кулач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Тегерек диаграмма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Ыктымалдык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36 ÷ 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4 + 6 + 3 + 7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Ирээтте: 9, 2, 7, 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 менен 13түн так ортосу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36 ÷ 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+ 6 + 3 + 7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Ирээтте: 9, 2, 7,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2, 4, 7, 9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12 менен 13түн так ортосу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12,5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Гүлбара эже: «Өрүк: 4, 6, 3, 7, 5, 11 кг. Күнүнө орточо канча кг сатылды?»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Азамат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Ортодогу сандар: 3 жана 7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Алардын ортосу 5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Орточо = 5 кг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Элнура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Баары: 36 кг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36 ÷ 6 = 6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Орточо = 6 кг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Капкак мунараларын теңдеп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1) стикер менен сурамжылоо → мамычалуу диаграмма. 2) Капкак мунараларын (4, 6, 3, 7, 5, 11) теңдегиле: бийигинен алып, жапызына кошкула.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05740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Стикер = 1 окуучу (25 окуучу)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68680" y="5440680"/>
            <a:ext cx="4663440" cy="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1069848" y="513892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06424" y="483717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69848" y="4535424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06424" y="4233672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69848" y="3931920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06424" y="363016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69848" y="332841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06424" y="3026664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69848" y="2724912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5468112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Өрүк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115568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167871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220175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272479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089416" y="5872276"/>
            <a:ext cx="209214" cy="142647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407993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460296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512600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564904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636776" y="5788152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12848" y="513892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49424" y="483717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2848" y="4535424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49424" y="4233672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12848" y="3931920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49424" y="363016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029967" y="5468112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Мейиз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2258568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310871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363175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2415479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2232416" y="5872276"/>
            <a:ext cx="209214" cy="142647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2550993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2779776" y="5788152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6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55848" y="513892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3392424" y="483717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3355848" y="4535424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392424" y="4233672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355848" y="3931920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392424" y="363016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3355848" y="332841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72968" y="5468112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Жаңгак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3401568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3453871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3506175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3558479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3375416" y="5872276"/>
            <a:ext cx="209214" cy="142647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3693993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746296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TextBox 62"/>
          <p:cNvSpPr txBox="1"/>
          <p:nvPr/>
        </p:nvSpPr>
        <p:spPr>
          <a:xfrm>
            <a:off x="3922776" y="5788152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98848" y="5138928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535424" y="4837176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498848" y="4535424"/>
            <a:ext cx="786384" cy="274320"/>
          </a:xfrm>
          <a:prstGeom prst="rect">
            <a:avLst/>
          </a:prstGeom>
          <a:solidFill>
            <a:srgbClr val="F6D86B"/>
          </a:solidFill>
          <a:ln w="9525">
            <a:solidFill>
              <a:srgbClr val="C9A2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315968" y="5468112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1F2430"/>
                </a:solidFill>
                <a:latin typeface="PT Sans"/>
              </a:rPr>
              <a:t>Кара өрүк</a:t>
            </a:r>
          </a:p>
        </p:txBody>
      </p:sp>
      <p:cxnSp>
        <p:nvCxnSpPr>
          <p:cNvPr id="68" name="Connector 67"/>
          <p:cNvCxnSpPr/>
          <p:nvPr/>
        </p:nvCxnSpPr>
        <p:spPr>
          <a:xfrm>
            <a:off x="4544568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>
            <a:off x="4596871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4649175" y="5824728"/>
            <a:ext cx="0" cy="237744"/>
          </a:xfrm>
          <a:prstGeom prst="line">
            <a:avLst/>
          </a:prstGeom>
          <a:ln w="2032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/>
          <p:cNvSpPr txBox="1"/>
          <p:nvPr/>
        </p:nvSpPr>
        <p:spPr>
          <a:xfrm>
            <a:off x="5065776" y="5788152"/>
            <a:ext cx="4572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3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49240" y="2423160"/>
            <a:ext cx="822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Мода:
өрүк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172200" y="2103120"/>
            <a:ext cx="0" cy="4023360"/>
          </a:xfrm>
          <a:prstGeom prst="line">
            <a:avLst/>
          </a:prstGeom>
          <a:ln w="12700">
            <a:solidFill>
              <a:srgbClr val="6B72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6309360" y="2057400"/>
            <a:ext cx="27432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D3557"/>
                </a:solidFill>
                <a:latin typeface="PT Sans"/>
              </a:rPr>
              <a:t>Алгач: 4, 6, 3, 7, 5, 11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281160" y="2057400"/>
            <a:ext cx="2560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Теңдедик: баары 6</a:t>
            </a:r>
          </a:p>
        </p:txBody>
      </p:sp>
      <p:sp>
        <p:nvSpPr>
          <p:cNvPr id="76" name="Oval 75"/>
          <p:cNvSpPr/>
          <p:nvPr/>
        </p:nvSpPr>
        <p:spPr>
          <a:xfrm>
            <a:off x="6400800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6400800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400800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6400800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291072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Дш</a:t>
            </a:r>
          </a:p>
        </p:txBody>
      </p:sp>
      <p:sp>
        <p:nvSpPr>
          <p:cNvPr id="81" name="Oval 80"/>
          <p:cNvSpPr/>
          <p:nvPr/>
        </p:nvSpPr>
        <p:spPr>
          <a:xfrm>
            <a:off x="6830568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6830568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6830568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6830568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6830568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6830568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20840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Шш</a:t>
            </a:r>
          </a:p>
        </p:txBody>
      </p:sp>
      <p:sp>
        <p:nvSpPr>
          <p:cNvPr id="88" name="Oval 87"/>
          <p:cNvSpPr/>
          <p:nvPr/>
        </p:nvSpPr>
        <p:spPr>
          <a:xfrm>
            <a:off x="7260336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7260336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7260336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50607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Шр</a:t>
            </a:r>
          </a:p>
        </p:txBody>
      </p:sp>
      <p:sp>
        <p:nvSpPr>
          <p:cNvPr id="92" name="Oval 91"/>
          <p:cNvSpPr/>
          <p:nvPr/>
        </p:nvSpPr>
        <p:spPr>
          <a:xfrm>
            <a:off x="7690104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7690104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7690104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7690104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7690104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7690104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7690104" y="3712464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580376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Бш</a:t>
            </a:r>
          </a:p>
        </p:txBody>
      </p:sp>
      <p:sp>
        <p:nvSpPr>
          <p:cNvPr id="100" name="Oval 99"/>
          <p:cNvSpPr/>
          <p:nvPr/>
        </p:nvSpPr>
        <p:spPr>
          <a:xfrm>
            <a:off x="8119871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119871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119871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119871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119871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010144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Жм</a:t>
            </a:r>
          </a:p>
        </p:txBody>
      </p:sp>
      <p:sp>
        <p:nvSpPr>
          <p:cNvPr id="106" name="Oval 105"/>
          <p:cNvSpPr/>
          <p:nvPr/>
        </p:nvSpPr>
        <p:spPr>
          <a:xfrm>
            <a:off x="8549640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549640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549640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549640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549640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549640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549640" y="3712464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549640" y="3465576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549640" y="3218688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549640" y="2971800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49640" y="2724912"/>
            <a:ext cx="228600" cy="228600"/>
          </a:xfrm>
          <a:prstGeom prst="ellipse">
            <a:avLst/>
          </a:prstGeom>
          <a:solidFill>
            <a:srgbClr val="F5E9E0"/>
          </a:solidFill>
          <a:ln w="952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439912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Иш</a:t>
            </a:r>
          </a:p>
        </p:txBody>
      </p:sp>
      <p:cxnSp>
        <p:nvCxnSpPr>
          <p:cNvPr id="118" name="Connector 117"/>
          <p:cNvCxnSpPr/>
          <p:nvPr/>
        </p:nvCxnSpPr>
        <p:spPr>
          <a:xfrm>
            <a:off x="6309360" y="3950208"/>
            <a:ext cx="2697480" cy="0"/>
          </a:xfrm>
          <a:prstGeom prst="line">
            <a:avLst/>
          </a:prstGeom>
          <a:ln w="19050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9" name="TextBox 118"/>
          <p:cNvSpPr txBox="1"/>
          <p:nvPr/>
        </p:nvSpPr>
        <p:spPr>
          <a:xfrm>
            <a:off x="8732520" y="3611880"/>
            <a:ext cx="640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→</a:t>
            </a:r>
          </a:p>
        </p:txBody>
      </p:sp>
      <p:sp>
        <p:nvSpPr>
          <p:cNvPr id="120" name="Oval 119"/>
          <p:cNvSpPr/>
          <p:nvPr/>
        </p:nvSpPr>
        <p:spPr>
          <a:xfrm>
            <a:off x="9372600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9372600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9372600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9372600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9372600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9372600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262872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Дш</a:t>
            </a:r>
          </a:p>
        </p:txBody>
      </p:sp>
      <p:sp>
        <p:nvSpPr>
          <p:cNvPr id="127" name="Oval 126"/>
          <p:cNvSpPr/>
          <p:nvPr/>
        </p:nvSpPr>
        <p:spPr>
          <a:xfrm>
            <a:off x="9756648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9756648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9756648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9756648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9756648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9756648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646920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Шш</a:t>
            </a:r>
          </a:p>
        </p:txBody>
      </p:sp>
      <p:sp>
        <p:nvSpPr>
          <p:cNvPr id="134" name="Oval 133"/>
          <p:cNvSpPr/>
          <p:nvPr/>
        </p:nvSpPr>
        <p:spPr>
          <a:xfrm>
            <a:off x="10140696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10140696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10140696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10140696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10140696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0140696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0030968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Шр</a:t>
            </a:r>
          </a:p>
        </p:txBody>
      </p:sp>
      <p:sp>
        <p:nvSpPr>
          <p:cNvPr id="141" name="Oval 140"/>
          <p:cNvSpPr/>
          <p:nvPr/>
        </p:nvSpPr>
        <p:spPr>
          <a:xfrm>
            <a:off x="10524744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10524744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10524744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10524744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10524744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10524744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10415016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Бш</a:t>
            </a:r>
          </a:p>
        </p:txBody>
      </p:sp>
      <p:sp>
        <p:nvSpPr>
          <p:cNvPr id="148" name="Oval 147"/>
          <p:cNvSpPr/>
          <p:nvPr/>
        </p:nvSpPr>
        <p:spPr>
          <a:xfrm>
            <a:off x="10908792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10908792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10908792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10908792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10908792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10908792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0799064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Жм</a:t>
            </a:r>
          </a:p>
        </p:txBody>
      </p:sp>
      <p:sp>
        <p:nvSpPr>
          <p:cNvPr id="155" name="Oval 154"/>
          <p:cNvSpPr/>
          <p:nvPr/>
        </p:nvSpPr>
        <p:spPr>
          <a:xfrm>
            <a:off x="11292840" y="519379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11292840" y="4946904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11292840" y="4700016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11292840" y="4453128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11292840" y="4206240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11292840" y="3959352"/>
            <a:ext cx="228600" cy="228600"/>
          </a:xfrm>
          <a:prstGeom prst="ellipse">
            <a:avLst/>
          </a:prstGeom>
          <a:solidFill>
            <a:srgbClr val="2F6DB5"/>
          </a:solidFill>
          <a:ln w="9525">
            <a:solidFill>
              <a:srgbClr val="2F6DB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11183112" y="5468112"/>
            <a:ext cx="4572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100" b="0" i="0">
                <a:solidFill>
                  <a:srgbClr val="1F2430"/>
                </a:solidFill>
                <a:latin typeface="PT Sans"/>
              </a:rPr>
              <a:t>Иш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309360" y="576072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4A5A70"/>
                </a:solidFill>
                <a:latin typeface="PT Sans"/>
              </a:rPr>
              <a:t>36 капкак ÷ 6 мунара = 6. Ашыгы (кызгылт) жетпегенге барат.</a:t>
            </a:r>
          </a:p>
        </p:txBody>
      </p:sp>
      <p:sp>
        <p:nvSpPr>
          <p:cNvPr id="163" name="Rounded Rectangle 16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мамычалуу диаграмма жана теңдөө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Сатылган өрүк (кг) диаграммада. Ашыгын жетпеген мамычаларга жылдырсак, баары 6 кг болот.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096510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177747" y="4777316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85800" y="4643966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2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77747" y="4324773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85800" y="4191423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77747" y="3872230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85800" y="3738880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1177747" y="3419686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685800" y="3286336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8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177747" y="2967143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685800" y="2833793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10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77747" y="2514600"/>
            <a:ext cx="6320333" cy="0"/>
          </a:xfrm>
          <a:prstGeom prst="line">
            <a:avLst/>
          </a:prstGeom>
          <a:ln w="7620">
            <a:solidFill>
              <a:srgbClr val="D5DBE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5800" y="2381250"/>
            <a:ext cx="446227" cy="2667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12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77747" y="2468880"/>
            <a:ext cx="0" cy="276098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177747" y="5229860"/>
            <a:ext cx="6320333" cy="0"/>
          </a:xfrm>
          <a:prstGeom prst="line">
            <a:avLst/>
          </a:prstGeom>
          <a:ln w="15875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85800" y="2176780"/>
            <a:ext cx="2743200" cy="28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кг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32027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Дш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85416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Шш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38804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Шр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2193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5582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Жм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8971" y="5248147"/>
            <a:ext cx="1144828" cy="3022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Иш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398958" y="4324773"/>
            <a:ext cx="610965" cy="905086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398958" y="3872230"/>
            <a:ext cx="610965" cy="452543"/>
          </a:xfrm>
          <a:prstGeom prst="rect">
            <a:avLst/>
          </a:prstGeom>
          <a:noFill/>
          <a:ln w="1397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16078" y="3995589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52347" y="3872230"/>
            <a:ext cx="610965" cy="1357629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69467" y="3543046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05736" y="4551045"/>
            <a:ext cx="610965" cy="678815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05736" y="3872230"/>
            <a:ext cx="610965" cy="678814"/>
          </a:xfrm>
          <a:prstGeom prst="rect">
            <a:avLst/>
          </a:prstGeom>
          <a:noFill/>
          <a:ln w="1397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322856" y="4221860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59125" y="3872230"/>
            <a:ext cx="610965" cy="1357629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59125" y="3645958"/>
            <a:ext cx="610965" cy="226271"/>
          </a:xfrm>
          <a:prstGeom prst="rect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376245" y="3316774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12514" y="4098501"/>
            <a:ext cx="610965" cy="1131358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612514" y="3872230"/>
            <a:ext cx="610965" cy="226271"/>
          </a:xfrm>
          <a:prstGeom prst="rect">
            <a:avLst/>
          </a:prstGeom>
          <a:noFill/>
          <a:ln w="1397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29634" y="3769317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665902" y="3872230"/>
            <a:ext cx="610965" cy="1357629"/>
          </a:xfrm>
          <a:prstGeom prst="rect">
            <a:avLst/>
          </a:prstGeom>
          <a:solidFill>
            <a:srgbClr val="B5E2D3"/>
          </a:solidFill>
          <a:ln w="1397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665902" y="2740871"/>
            <a:ext cx="610965" cy="1131358"/>
          </a:xfrm>
          <a:prstGeom prst="rect">
            <a:avLst/>
          </a:prstGeom>
          <a:solidFill>
            <a:srgbClr val="F5E9E0"/>
          </a:solidFill>
          <a:ln w="1397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83022" y="2411687"/>
            <a:ext cx="976725" cy="310896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177747" y="3872230"/>
            <a:ext cx="6320332" cy="0"/>
          </a:xfrm>
          <a:prstGeom prst="line">
            <a:avLst/>
          </a:prstGeom>
          <a:ln w="28575">
            <a:solidFill>
              <a:srgbClr val="A8440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543800" y="368935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A84400"/>
                </a:solidFill>
                <a:latin typeface="PT Sans"/>
              </a:rPr>
              <a:t>орточо 6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778240" y="2240280"/>
            <a:ext cx="2971800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961120" y="2331720"/>
            <a:ext cx="2697480" cy="3108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Ашыгы:</a:t>
            </a:r>
          </a:p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1 + 5 = 6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700" b="1" i="0">
                <a:solidFill>
                  <a:srgbClr val="4A5A70"/>
                </a:solidFill>
                <a:latin typeface="PT Sans"/>
              </a:rPr>
              <a:t>Жетпегени:</a:t>
            </a:r>
          </a:p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F2430"/>
                </a:solidFill>
                <a:latin typeface="PT Sans"/>
              </a:rPr>
              <a:t>2 + 3 + 1 = 6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1700" b="1" i="0">
                <a:solidFill>
                  <a:srgbClr val="007A5A"/>
                </a:solidFill>
                <a:latin typeface="PT Sans"/>
              </a:rPr>
              <a:t>Ашыгы = жетпегени</a:t>
            </a:r>
          </a:p>
          <a:p>
            <a:pPr algn="l">
              <a:lnSpc>
                <a:spcPct val="105000"/>
              </a:lnSpc>
              <a:spcBef>
                <a:spcPts val="600"/>
              </a:spcBef>
            </a:pPr>
            <a:r>
              <a:rPr sz="1400" b="0" i="1">
                <a:solidFill>
                  <a:srgbClr val="6B7280"/>
                </a:solidFill>
                <a:latin typeface="PT Sans"/>
              </a:rPr>
              <a:t>Огу 0дөн; бир сызык = 2 кг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(4 + 6 + 3 + 7 + 5 + 11) ÷ 6 = 36 ÷ 6 = 6 кг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+  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Орточо маани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Баарын кош, санына бөл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▢ ■ 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Медиана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Ирээтте, ортодогусун ал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▲ ▲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Мода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көп кайталанган маани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Кулач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Эң чоңу − эң кичинеси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Өрүк: орточо 6 · медиана 5,5 · кулач 8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Элнура 7 күн бою кардарларды санады: 12, 15, 9, 20, 15, 11, 14. Медиана жана мода?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12, 15, 9, 20, 15, 11, 14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9, 11, 12, 14, 15, 15, 20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ирээттейбиз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Медиана =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4-орун (7 маани)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Мода = 15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 жолу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Медиана = </a:t>
            </a:r>
            <a:r>
              <a:rPr sz="3400" b="1">
                <a:solidFill>
                  <a:srgbClr val="24418C"/>
                </a:solidFill>
                <a:latin typeface="PT Sans"/>
              </a:rPr>
              <a:t>14, мода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Өрүктүн баасы 4 дүкөндө (сом/кг): 280, 320, 300, 340. Орточо баа жана кулач?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280 + 320 + 300 + 340 = 1 240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240280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сумма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1 240 ÷ 4 = 310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орточо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340 − 280 = 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кулач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Орточо = </a:t>
            </a:r>
            <a:r>
              <a:rPr sz="3400" b="1">
                <a:solidFill>
                  <a:srgbClr val="24418C"/>
                </a:solidFill>
                <a:latin typeface="PT Sans"/>
              </a:rPr>
              <a:t>310 сом, кулач 60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теңде, болжолдо, көбөйт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Теңдеп ойло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7, 9, 8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9 → 8, 1ди бер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→ 8, 1ди ал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Бийигинен жапызына: баары 8 болду.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Ыңгайлуу сандан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48, 52, 50, 46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50дөн: −2, +2, 0, −4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−4 ÷ 4 = −1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49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50 + (айырмалардын орточосу).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Сумма = орточо × саны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 күн, орточо 15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15 ×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Жалпыны же жетпеген маанини табуу үчүн.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болжолдо: орточо эң кичине менен эң чоңунун ортосунда болот!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Бал банкалары 5 күндө: 3, 0, 7, 8, 2. Күнүнө орточо канча банка сатылды?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Үч кутуда 5 кг, 9 кг жана 7 кг мейиз бар. Баарын бирдей кылсак, ар бир кутуда канча кг болот?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 баштык мейиздин орточо салмагы 5 кг. Үчөө: 4 кг, 6 кг, 3 кг. Төртүнчү баштык канча кг?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 күндө орточо 6 кг өрүк сатылды. 6-күнү 12 кг сатылды. Эми 6 күндүн орточосу канча?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Үч кутуда 5 кг, 9 кг жана 7 кг мейиз бар. Баарын бирдей кылсак, ар бир кутуда канча кг болот?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Кутулар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29968" y="3017520"/>
            <a:ext cx="20973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9699" y="3017520"/>
            <a:ext cx="377516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17216" y="3017520"/>
            <a:ext cx="293623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Теңдедик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29968" y="3574389"/>
            <a:ext cx="29362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23592" y="3574389"/>
            <a:ext cx="29362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17216" y="3574389"/>
            <a:ext cx="293623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139440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3002280" y="3958437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185160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(5 + 9 + 7) ÷ 3 = 7 кг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4 баштык мейиздин орточо салмагы 5 кг. Үчөө: 4 кг, 6 кг, 3 кг. Төртүнчү баштык канча кг?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19600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Орточо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882640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02858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3076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43294" y="3017520"/>
            <a:ext cx="220217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19600" y="3574389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Баштык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82640" y="3574389"/>
            <a:ext cx="17617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58814" y="3574389"/>
            <a:ext cx="264261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23076" y="3574389"/>
            <a:ext cx="13213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55206" y="3574389"/>
            <a:ext cx="308305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6992112" y="3017520"/>
            <a:ext cx="0" cy="940917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6854951" y="3958437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7037832" y="3213658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5 × 4 − 13 = 7 кг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5 күндө орточо 6 кг өрүк сатылды. 6-күнү 12 кг сатылды. Эми 6 күндүн орточосу канча?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2272" y="3017520"/>
            <a:ext cx="1371600" cy="38404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100" b="1" i="0">
                <a:solidFill>
                  <a:srgbClr val="1F2430"/>
                </a:solidFill>
                <a:latin typeface="PT Sans"/>
              </a:rPr>
              <a:t>6 күн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735312" y="3017520"/>
            <a:ext cx="62919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 × 6 = 30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364506" y="3017520"/>
            <a:ext cx="251677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12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42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(30 + 12) ÷ 6 = 7 кг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Орточо: 12, 15, 18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Медиана: 21, 17, 30, 19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Мода жана кулач: 5, 8, 5, 2, 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Орточо: 0, 6, 3, 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Орточосу 9 болгон 4 сандын суммасы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Огу 100дөн: А = 105, Б = 110. Б эки эсе көппү?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Орточо: 12, 15,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Медиана: 21, 17, 30, 19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Мода жана кулач: 5, 8, 5, 2, 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мода 5; кулач 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Орточо: 0, 6, 3,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4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Орточосу 9 болгон 4 сандын суммасы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36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Огу 100дөн: А = 105, Б = 110. Б эки эсе көппү?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Жок, 5 гана көп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Гүлбара эже: «Күнүнө орто эсеп менен канча кг өрүк сатам? Кийинки жумага (6 күн) канча кг заказ кылайын?» Сатылганы: 4, 6, 3, 7, 5, 11 кг.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Сатылды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84327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20720" y="2240280"/>
            <a:ext cx="12649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85639" y="2240280"/>
            <a:ext cx="63245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18099" y="2240280"/>
            <a:ext cx="147573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93839" y="2240280"/>
            <a:ext cx="1054100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647939" y="2240280"/>
            <a:ext cx="2319019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035808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Теңдедик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77440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42360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07280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72199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37120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702040" y="3035808"/>
            <a:ext cx="1264919" cy="548640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195559" y="2240280"/>
            <a:ext cx="0" cy="134416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058399" y="358444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10241279" y="263804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36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39227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4 + 6 + 3 + 7 + 5 + 11 = 36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39227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кг, 6 күндө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44897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36 ÷ 6 = 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4897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кг, орточо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Орточо 6 кг: кийинки жумага 6 × 6 = 36 кг заказ кылат.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Ош базары жөнүндө маселе түз: 5 маани ойлоп тап (кг, сом же кардар), орточо, медиана, мода жана кулачын тап.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Элнура, Азамат, Гүлбара эже.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Маалымат: 6, 2, 9, 2, 6, 2. Мода жана кулач?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Медиананы тап: 14, 9, 11, 20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Үч күндө 5, 9, 4 кг сатылды. Күнүнө орточо канча кг?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орточо маани ортодо турган сан эмес?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Качан медиана орточодон жакшыраак?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Диаграмманы окуганда адегенде эмнени карайсың?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Маалымат: диаграмма жана орточо маани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Орточону капкак мунаралары менен баштоону сунуштайм: «теңдөө» сөзү эсте калат (М1).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Медиана: ар дайым адегенде ирээттейбиз, карточкаларды тизип (М4).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Жыштык таблицасында «маани» жана «канча жолу» өзүнчө мамыча (М2).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диаграммада: аталышы, огу, бир чакмак = ?, огу 0дөнбү? (М5–М7).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