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аталышы жана бүгүнкү окуя.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Сабактын жолу: ар бир бөлүк өз слайды менен ачылат.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Окуяны окуп берем. Адегенде болжолдошсун: 100дөн көппү, азбы? Жоопту сабактын аягында (22-слайд) текшеребиз.</a:t>
            </a:r>
          </a:p>
          <a:p>
            <a:r>
              <a:t>3C (Байланыштыруу): Окуя турмуштан: бул суроого сабактын аягында кайтабыз.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Ой жүгүртүү маданияты (Wenxi Lee, 2.6).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Ийгилик критерийлери: сабактын аягында ар бирине ✓ коёбуз.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Спираль: тема класстан класска тереңдейт.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Мини-тактага жазышат.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Жоопту дароо айтпайбыз. Жупта талкуулашат. Жооп: Нурай: 4³ = 4 × 4 × 4 = 64 (бир катмар 16, 4 катмар). Эрмек негизди көрсөткүчкө көбөйттү (М1).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жупка: 30 буурчак (же таш, капкак), 8–27 кант кесеги (же гугурт кутучалары), чакмак дептер. 1) 3 катар, ар катарда 3 буурчак: 3 × 3 = 3² = 9. 2) Кийинки квадрат 4 × 4 = 16: канча буурчак кошулду? 7. 3) Кант: 2 × 2 = 4 – бир катмар, 2 катмар: 2 × 2 × 2 = 2³ = 8. 4) Тескери суроо: 16 буурчактан квадрат түзгүлө – жагы 4, демек √16 = 4. Проектор жок болсо, доскага тегерекчелер жана катмарлар чийем.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чакмак дептерге квадраттарды чийип, чакмактарды санашат: аянт – квадрат сан. Тескери суроону берем: «Аянты 25 – жагы канча?» → √25 = 5. Кубду 3 катмар 3 × 3 деп чийдирем: 9 + 9 + 9 = 27 = 3³, жана «27 кутуча – кыры канча?» → ∛27 =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Даража: негиз (эмнени көбөйтөбүз) жана көрсөткүч (канча жолу). 5² «беш квадрат», 5³ «беш куб» деп окулат. Тамыр – тескери суроо: √49 = 7, анткени 7² = 49; ∛64 = 4, анткени 4³ = 64. КаДа – БөКө – КоКе: даража кашаадан кийин, көбөйтүүдөн мурун. Ката коддору: М1 (5² = 10), М3 (√36 = 18), М4 (2 + 3² = 25).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 бир сап «=» менен башталат. Окуучулар кадамды айтып турат.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Окуучулар ыкманы үн чыгарып айтышат: «кайсы сандын квадраты?», «бир катмар канча?», «канча нөл?». «Оозеки беш мүнөт» (класста колдонуу картасы, 3-бет) эки апта ушуларды кайталайт.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Баары бир убакта манжа менен көрсөтөт (1–4). Туура эмес жооптун коду: А = М4; Б = М1; В = ✓; Г = М2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 деңгээл: квадрат табактар → канчага көп? → тамыр. Жооптор: 3 × 6² = 108 өрүк; 8² − 5² = 39 өрүк; 81 − 2 × √81 = 63 өрүк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Жеңилден баштап, мүмкүн болушунча алдыга. Жооптор кийинки слайдда.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8² = 64, эки чоң табак: 2 × 64 = 128, кичине табак 25: 128 + 25 = 153. (2 × 8)² + 5² = 281 деп эсептесе – М4, 8² = 16 деп алса 2 × 16 + 10 = 42 – М1. Табакты элестетип текшеребиз: 64 + 64 + 25.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Блум: Түзүү. Жупта алмашып, бири-биринин маселесин чыгарышат.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Жооптор: 40; 11; 10⁴ = 10 000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Бул слайд окуучуларга көрсөтүлбөйт.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1/26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9728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371600" y="1371600"/>
            <a:ext cx="164592" cy="128016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1188720"/>
            <a:ext cx="96012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4A5A70"/>
                </a:solidFill>
                <a:latin typeface="PT Sans"/>
              </a:rPr>
              <a:t>6-класс · Математика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691640"/>
            <a:ext cx="9601200" cy="17373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D3557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28800" y="3611880"/>
            <a:ext cx="877824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57400" y="3657600"/>
            <a:ext cx="83210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Бүгүнкү окуя: Баткендеги өрүк кургатуу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57400" y="4160520"/>
            <a:ext cx="832104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Нурай менен Эрмек Гүлзат чоң энесинин багында өрүк кургатышат: табак – квадрат, жашик – куб.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5349240"/>
            <a:ext cx="9601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6B7280"/>
                </a:solidFill>
                <a:latin typeface="PT Sans"/>
              </a:rPr>
              <a:t>Китеп: Математика стандарты, 6-класс: «Даража түшүнүгү. Сандын квадраты жана кубу»; 6Ni.08 (1–125 куб сандар). 4–5-класстын «Амалдардын тартиби» пакетинин уландысы. Мазмуну оригиналдуу.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Сабактын мазмуну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0080" y="1463039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280160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Кириш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1280160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Окуя, эрежелер, максаттар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2212848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" y="2395728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212848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Даярдык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80560" y="2212848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Эстейбиз, «Ким туура?»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145536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40080" y="3328416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3145536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Түшүнөбүз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80560" y="3145536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 → С → А: буюм, тилке, эреже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9768" y="4078224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40080" y="426110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4078224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Машыгабыз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4078224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Чечүүчү суроо, тилке, өз алдынча иш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5010912"/>
            <a:ext cx="11329416" cy="804672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40080" y="5193792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5010912"/>
            <a:ext cx="310896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Жыйынтык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80560" y="5010912"/>
            <a:ext cx="7132320" cy="80467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Окуяга кайтуу, түзүү, чыгуу билети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Окуя: Баткендеги өрүк кургатуу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76656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25880"/>
            <a:ext cx="6217920" cy="4389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Жайкы каникулда Нурай менен иниси Эрмек Баткенге, Гүлзат чоң энесине барышты.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Бакта өрүк бышты. Аны кургатуу үчүн табакка катар-катар тизишет: канча катар болсо, ар катарда ошончо өрүк.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Кургаган өрүктү куб кутучаларга салып, кутучаларды куб жашикке жыйышат.</a:t>
            </a:r>
          </a:p>
          <a:p>
            <a:pPr algn="l">
              <a:lnSpc>
                <a:spcPct val="105000"/>
              </a:lnSpc>
              <a:spcBef>
                <a:spcPts val="800"/>
              </a:spcBef>
            </a:pPr>
            <a:r>
              <a:rPr sz="2100" b="0" i="0">
                <a:solidFill>
                  <a:srgbClr val="1F2430"/>
                </a:solidFill>
                <a:latin typeface="PT Sans"/>
              </a:rPr>
              <a:t>Чоң эне: «Бирден санабай эле айтып бергиле, канча өрүк?» – дейт.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06640" y="1225296"/>
            <a:ext cx="4352544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35240" y="1325880"/>
            <a:ext cx="3931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Суроо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1828800"/>
            <a:ext cx="39319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Чоң табакка 8² өрүк, кичине табакка 5² өрүк батат. Нурай 2 чоң жана 1 кичине табакты толтурду. Баары канча өрүк?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572000"/>
            <a:ext cx="3931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1">
                <a:solidFill>
                  <a:srgbClr val="6B7280"/>
                </a:solidFill>
                <a:latin typeface="PT Sans"/>
              </a:rPr>
              <a:t>Азыр жообун айтпайбыз. Ойлон: кантип билебиз?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Математикада биз…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58368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Ката – үйрөнүүнүн бир бөлүгү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Ката кетсе, эмне үчүн кеткенин издейбиз.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82439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11039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«Азырынча билбейм»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1039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«Билбейм» эмес, «азырынча». Машыксак, үйрөнөбүз.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112" y="1325880"/>
            <a:ext cx="3624072" cy="4206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63712" y="1600200"/>
            <a:ext cx="3166872" cy="1463040"/>
          </a:xfrm>
          <a:prstGeom prst="roundRect">
            <a:avLst>
              <a:gd name="adj" fmla="val 15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Адегенде түшүн, анан эсепте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3712" y="3291840"/>
            <a:ext cx="3166872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1F2430"/>
                </a:solidFill>
                <a:latin typeface="PT Sans"/>
              </a:rPr>
              <a:t>Сүрөт же тилке чийип, анан сан менен жазабыз.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Максаттар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6409944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429768" y="1865376"/>
            <a:ext cx="6409944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12648" y="1225296"/>
            <a:ext cx="6044184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Бүгүн биз үйрөнөбүз</a:t>
            </a:r>
          </a:p>
        </p:txBody>
      </p:sp>
      <p:sp>
        <p:nvSpPr>
          <p:cNvPr id="13" name="Oval 12"/>
          <p:cNvSpPr/>
          <p:nvPr/>
        </p:nvSpPr>
        <p:spPr>
          <a:xfrm>
            <a:off x="722376" y="21488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61872" y="211226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Квадрат жана куб сандарды сүрөт менен түшүндүрөм жана даража түрүндө жазам: 4³ = 4 × 4 × 4.</a:t>
            </a:r>
          </a:p>
        </p:txBody>
      </p:sp>
      <p:sp>
        <p:nvSpPr>
          <p:cNvPr id="15" name="Oval 14"/>
          <p:cNvSpPr/>
          <p:nvPr/>
        </p:nvSpPr>
        <p:spPr>
          <a:xfrm>
            <a:off x="722376" y="342900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61872" y="339242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√ жана ∛ белгилерин окуйм: толук квадраттын жана толук кубдун тамырын табам.</a:t>
            </a:r>
          </a:p>
        </p:txBody>
      </p:sp>
      <p:sp>
        <p:nvSpPr>
          <p:cNvPr id="17" name="Oval 16"/>
          <p:cNvSpPr/>
          <p:nvPr/>
        </p:nvSpPr>
        <p:spPr>
          <a:xfrm>
            <a:off x="722376" y="470916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61872" y="4672584"/>
            <a:ext cx="539496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10дун даражаларын жазам; даражасы бар туюнтманы «КаДа – БөКө – КоКе» боюнча эсептейм.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132320" y="1225296"/>
            <a:ext cx="4636008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7132320" y="1865376"/>
            <a:ext cx="46360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7306056" y="1225296"/>
            <a:ext cx="4270248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Деңгээлдер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60920" y="2103120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007A5A"/>
                </a:solidFill>
                <a:latin typeface="PT Sans"/>
              </a:rPr>
              <a:t>Жеңил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41080" y="2057400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Квадрат, куб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60920" y="3127248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Орто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41080" y="3081528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Тамыр, 10дун даражасы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60920" y="4151376"/>
            <a:ext cx="1143000" cy="73152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4A5A70"/>
                </a:solidFill>
                <a:latin typeface="PT Sans"/>
              </a:rPr>
              <a:t>Оор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41080" y="4105656"/>
            <a:ext cx="3017520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6B7280"/>
                </a:solidFill>
                <a:latin typeface="PT Sans"/>
              </a:rPr>
              <a:t>Тартип, маселе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3C: бүгүн кантип ойлонобуз?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4088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007A5A"/>
                </a:solidFill>
                <a:latin typeface="PT Sans"/>
              </a:rPr>
              <a:t>Сынчыл ой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Текшеребиз, далилдейбиз, катаны издейбиз.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04088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658368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«Ким туура?»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4³ = 12 же 64?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0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0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A84400"/>
                </a:solidFill>
                <a:latin typeface="PT Sans"/>
              </a:rPr>
              <a:t>Кызматташуу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26280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 жана топто сүйлөшөбүз.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572000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526280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Жупта буурчак, кант кесеги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65592" y="1225296"/>
            <a:ext cx="3593592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439912" y="1463040"/>
            <a:ext cx="3044952" cy="6400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24418C"/>
                </a:solidFill>
                <a:latin typeface="PT Sans"/>
              </a:rPr>
              <a:t>Байланыштыруу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2286000"/>
            <a:ext cx="3136392" cy="1371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Математиканы турмуш менен байланыштырабыз.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439912" y="3703320"/>
            <a:ext cx="304495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394192" y="3794760"/>
            <a:ext cx="3136392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6B7280"/>
                </a:solidFill>
                <a:latin typeface="PT Sans"/>
              </a:rPr>
              <a:t>Бүгүн: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94192" y="4206240"/>
            <a:ext cx="3136392" cy="1828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Баткен өрүгү</a:t>
            </a:r>
          </a:p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1F2430"/>
                </a:solidFill>
                <a:latin typeface="PT Sans"/>
              </a:rPr>
              <a:t>• Табак жана жашик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Мурун – бүгүн – кийин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3017520"/>
            <a:ext cx="2660904" cy="2743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31089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4-класс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04088" y="3657600"/>
            <a:ext cx="2112264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12647" y="3749039"/>
            <a:ext cx="2295144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Көбөйтүү таблицасы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Аянт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319272" y="2560320"/>
            <a:ext cx="2660904" cy="3200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456432" y="26517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007A5A"/>
                </a:solidFill>
                <a:latin typeface="PT Sans"/>
              </a:rPr>
              <a:t>5-класс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93591" y="3200400"/>
            <a:ext cx="2112265" cy="0"/>
          </a:xfrm>
          <a:prstGeom prst="line">
            <a:avLst/>
          </a:prstGeom>
          <a:ln w="12700">
            <a:solidFill>
              <a:srgbClr val="007A5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2152" y="3291839"/>
            <a:ext cx="2295144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Квадрат сандар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КаДа – БөКө – КоКе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08776" y="2103120"/>
            <a:ext cx="2660904" cy="3657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45936" y="21945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A84400"/>
                </a:solidFill>
                <a:latin typeface="PT Sans"/>
              </a:rPr>
              <a:t>6-класс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483096" y="2743200"/>
            <a:ext cx="2112263" cy="0"/>
          </a:xfrm>
          <a:prstGeom prst="line">
            <a:avLst/>
          </a:prstGeom>
          <a:ln w="127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6391656" y="2834639"/>
            <a:ext cx="2295144" cy="2834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Куб, даража, тамыр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1F2430"/>
                </a:solidFill>
                <a:latin typeface="PT Sans"/>
              </a:rPr>
              <a:t>• 10дун даражасы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07708" y="1600199"/>
            <a:ext cx="1463040" cy="384048"/>
          </a:xfrm>
          <a:prstGeom prst="roundRect">
            <a:avLst>
              <a:gd name="adj" fmla="val 50000"/>
            </a:avLst>
          </a:prstGeom>
          <a:noFill/>
          <a:ln w="1905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A84400"/>
                </a:solidFill>
                <a:latin typeface="PT Sans"/>
              </a:rPr>
              <a:t>Бүгүн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1645919"/>
            <a:ext cx="2660904" cy="41148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1737360"/>
            <a:ext cx="2386584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4A5A70"/>
                </a:solidFill>
                <a:latin typeface="PT Sans"/>
              </a:rPr>
              <a:t>7-класс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9372600" y="2286000"/>
            <a:ext cx="2112264" cy="0"/>
          </a:xfrm>
          <a:prstGeom prst="line">
            <a:avLst/>
          </a:prstGeom>
          <a:ln w="12700">
            <a:solidFill>
              <a:srgbClr val="4A5A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9281160" y="2377439"/>
            <a:ext cx="2295144" cy="3291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Даражанын касиеттери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500" b="0" i="0">
                <a:solidFill>
                  <a:srgbClr val="6B7280"/>
                </a:solidFill>
                <a:latin typeface="PT Sans"/>
              </a:rPr>
              <a:t>• Көлөм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9768" y="5806440"/>
            <a:ext cx="11329416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1">
                <a:solidFill>
                  <a:srgbClr val="6B7280"/>
                </a:solidFill>
                <a:latin typeface="PT Sans"/>
              </a:rPr>
              <a:t>Ар бир класс мурункусунун үстүнө курулат.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эстейли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Мини-тактага жаз. 2 мүнөт.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8 × 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53517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2 × 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1 000 ÷ 10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4000500"/>
            <a:ext cx="5550408" cy="212597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484403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4000500"/>
            <a:ext cx="4636008" cy="212597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20 − 2 × 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Даярдык: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 ×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64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 × 2 ×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1 000 ÷ 10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20 − 2 × 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Ким туура?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Гүлзат апа: «Кутучалардан куб түздүк: ар бир кырында 4 кутуча. Баары канча кутуча?»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3" name="Connector 12"/>
          <p:cNvCxnSpPr/>
          <p:nvPr/>
        </p:nvCxnSpPr>
        <p:spPr>
          <a:xfrm>
            <a:off x="429768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429768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Эрмек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4³ = 4 × 3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08776" y="2103120"/>
            <a:ext cx="5550408" cy="31089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7" name="Connector 16"/>
          <p:cNvCxnSpPr/>
          <p:nvPr/>
        </p:nvCxnSpPr>
        <p:spPr>
          <a:xfrm>
            <a:off x="6208776" y="2697480"/>
            <a:ext cx="5550408" cy="0"/>
          </a:xfrm>
          <a:prstGeom prst="line">
            <a:avLst/>
          </a:prstGeom>
          <a:ln w="19050">
            <a:solidFill>
              <a:srgbClr val="1D355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6208776" y="2103120"/>
            <a:ext cx="5550408" cy="5943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Нурай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834640"/>
            <a:ext cx="502920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4³ = 4 × 4 ×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16 × 4</a:t>
            </a:r>
          </a:p>
          <a:p>
            <a:pPr algn="l">
              <a:lnSpc>
                <a:spcPct val="105000"/>
              </a:lnSpc>
            </a:pPr>
            <a:r>
              <a:rPr sz="2600" b="0" i="0">
                <a:solidFill>
                  <a:srgbClr val="1F2430"/>
                </a:solidFill>
                <a:latin typeface="PT Sans"/>
              </a:rPr>
              <a:t>= 64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349240"/>
            <a:ext cx="1132941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600" b="1" i="0">
                <a:solidFill>
                  <a:srgbClr val="A84400"/>
                </a:solidFill>
                <a:latin typeface="PT Sans"/>
              </a:rPr>
              <a:t>Ким туура? Кант кесектеринен куб түзүп текшер.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К: буюм менен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Жупта: буурчактан 1, 4, 9, 16 квадраттарын тизгиле (катар саны = катардагы буурчак). Анан кант кесектеринен 2 × 2 × 2 куб түзгүлө.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2103120"/>
            <a:ext cx="62179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Буурчак: квадрат сандар</a:t>
            </a:r>
          </a:p>
        </p:txBody>
      </p:sp>
      <p:sp>
        <p:nvSpPr>
          <p:cNvPr id="13" name="Oval 12"/>
          <p:cNvSpPr/>
          <p:nvPr/>
        </p:nvSpPr>
        <p:spPr>
          <a:xfrm>
            <a:off x="1097280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461772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1 × 1 = 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956048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1²</a:t>
            </a:r>
          </a:p>
        </p:txBody>
      </p:sp>
      <p:sp>
        <p:nvSpPr>
          <p:cNvPr id="16" name="Oval 15"/>
          <p:cNvSpPr/>
          <p:nvPr/>
        </p:nvSpPr>
        <p:spPr>
          <a:xfrm>
            <a:off x="2423160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660904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2423160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2660904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039112" y="4617720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2 × 2 =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39112" y="4956048"/>
            <a:ext cx="1188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2²</a:t>
            </a:r>
          </a:p>
        </p:txBody>
      </p:sp>
      <p:sp>
        <p:nvSpPr>
          <p:cNvPr id="22" name="Oval 21"/>
          <p:cNvSpPr/>
          <p:nvPr/>
        </p:nvSpPr>
        <p:spPr>
          <a:xfrm>
            <a:off x="3749039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986783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224527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749039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986783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4224527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3749039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3986783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4224527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474720" y="4617720"/>
            <a:ext cx="120700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3 × 3 = 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74720" y="4956048"/>
            <a:ext cx="1207007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3²</a:t>
            </a:r>
          </a:p>
        </p:txBody>
      </p:sp>
      <p:sp>
        <p:nvSpPr>
          <p:cNvPr id="33" name="Oval 32"/>
          <p:cNvSpPr/>
          <p:nvPr/>
        </p:nvSpPr>
        <p:spPr>
          <a:xfrm>
            <a:off x="5093207" y="3630168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330951" y="3630168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568696" y="3630168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806440" y="3630168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093207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330951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568696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5806440" y="3867912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5093207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330951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5568696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5806440" y="4105656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5093207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5330951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5568696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5806440" y="4343400"/>
            <a:ext cx="182880" cy="182880"/>
          </a:xfrm>
          <a:prstGeom prst="ellipse">
            <a:avLst/>
          </a:prstGeom>
          <a:solidFill>
            <a:srgbClr val="8A5A3C"/>
          </a:solidFill>
          <a:ln w="6350">
            <a:solidFill>
              <a:srgbClr val="8A5A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818888" y="4617720"/>
            <a:ext cx="144475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4 × 4 = 16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818888" y="4956048"/>
            <a:ext cx="1444752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4²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394960"/>
            <a:ext cx="603504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Ар бир кийинки квадратка +3, +5, +7 буурчак кошулат.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766560" y="210312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D3557"/>
                </a:solidFill>
                <a:latin typeface="PT Sans"/>
              </a:rPr>
              <a:t>Кант кесеги: куб сандар</a:t>
            </a:r>
          </a:p>
        </p:txBody>
      </p:sp>
      <p:sp>
        <p:nvSpPr>
          <p:cNvPr id="53" name="Cube 52"/>
          <p:cNvSpPr/>
          <p:nvPr/>
        </p:nvSpPr>
        <p:spPr>
          <a:xfrm>
            <a:off x="7132320" y="37033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Cube 53"/>
          <p:cNvSpPr/>
          <p:nvPr/>
        </p:nvSpPr>
        <p:spPr>
          <a:xfrm>
            <a:off x="7589519" y="37033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Cube 54"/>
          <p:cNvSpPr/>
          <p:nvPr/>
        </p:nvSpPr>
        <p:spPr>
          <a:xfrm>
            <a:off x="7132320" y="32461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Cube 55"/>
          <p:cNvSpPr/>
          <p:nvPr/>
        </p:nvSpPr>
        <p:spPr>
          <a:xfrm>
            <a:off x="7589519" y="32461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Cube 56"/>
          <p:cNvSpPr/>
          <p:nvPr/>
        </p:nvSpPr>
        <p:spPr>
          <a:xfrm>
            <a:off x="6949440" y="38862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Cube 57"/>
          <p:cNvSpPr/>
          <p:nvPr/>
        </p:nvSpPr>
        <p:spPr>
          <a:xfrm>
            <a:off x="7406640" y="38862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ube 58"/>
          <p:cNvSpPr/>
          <p:nvPr/>
        </p:nvSpPr>
        <p:spPr>
          <a:xfrm>
            <a:off x="6949440" y="34290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Cube 59"/>
          <p:cNvSpPr/>
          <p:nvPr/>
        </p:nvSpPr>
        <p:spPr>
          <a:xfrm>
            <a:off x="7406640" y="34290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75120" y="4617720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2 × 2 × 2 = 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675120" y="4956048"/>
            <a:ext cx="1737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2³</a:t>
            </a:r>
          </a:p>
        </p:txBody>
      </p:sp>
      <p:sp>
        <p:nvSpPr>
          <p:cNvPr id="63" name="Cube 62"/>
          <p:cNvSpPr/>
          <p:nvPr/>
        </p:nvSpPr>
        <p:spPr>
          <a:xfrm>
            <a:off x="9418320" y="3520439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Cube 63"/>
          <p:cNvSpPr/>
          <p:nvPr/>
        </p:nvSpPr>
        <p:spPr>
          <a:xfrm>
            <a:off x="9875520" y="3520439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Cube 64"/>
          <p:cNvSpPr/>
          <p:nvPr/>
        </p:nvSpPr>
        <p:spPr>
          <a:xfrm>
            <a:off x="10332720" y="3520439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Cube 65"/>
          <p:cNvSpPr/>
          <p:nvPr/>
        </p:nvSpPr>
        <p:spPr>
          <a:xfrm>
            <a:off x="9418320" y="30632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Cube 66"/>
          <p:cNvSpPr/>
          <p:nvPr/>
        </p:nvSpPr>
        <p:spPr>
          <a:xfrm>
            <a:off x="9875520" y="30632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ube 67"/>
          <p:cNvSpPr/>
          <p:nvPr/>
        </p:nvSpPr>
        <p:spPr>
          <a:xfrm>
            <a:off x="10332720" y="30632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Cube 68"/>
          <p:cNvSpPr/>
          <p:nvPr/>
        </p:nvSpPr>
        <p:spPr>
          <a:xfrm>
            <a:off x="9418320" y="26060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Cube 69"/>
          <p:cNvSpPr/>
          <p:nvPr/>
        </p:nvSpPr>
        <p:spPr>
          <a:xfrm>
            <a:off x="9875520" y="26060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Cube 70"/>
          <p:cNvSpPr/>
          <p:nvPr/>
        </p:nvSpPr>
        <p:spPr>
          <a:xfrm>
            <a:off x="10332720" y="260604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Cube 71"/>
          <p:cNvSpPr/>
          <p:nvPr/>
        </p:nvSpPr>
        <p:spPr>
          <a:xfrm>
            <a:off x="9235440" y="37033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Cube 72"/>
          <p:cNvSpPr/>
          <p:nvPr/>
        </p:nvSpPr>
        <p:spPr>
          <a:xfrm>
            <a:off x="9692640" y="37033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Cube 73"/>
          <p:cNvSpPr/>
          <p:nvPr/>
        </p:nvSpPr>
        <p:spPr>
          <a:xfrm>
            <a:off x="10149840" y="37033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Cube 74"/>
          <p:cNvSpPr/>
          <p:nvPr/>
        </p:nvSpPr>
        <p:spPr>
          <a:xfrm>
            <a:off x="9235440" y="32461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Cube 75"/>
          <p:cNvSpPr/>
          <p:nvPr/>
        </p:nvSpPr>
        <p:spPr>
          <a:xfrm>
            <a:off x="9692640" y="32461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ube 76"/>
          <p:cNvSpPr/>
          <p:nvPr/>
        </p:nvSpPr>
        <p:spPr>
          <a:xfrm>
            <a:off x="10149840" y="32461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Cube 77"/>
          <p:cNvSpPr/>
          <p:nvPr/>
        </p:nvSpPr>
        <p:spPr>
          <a:xfrm>
            <a:off x="9235440" y="27889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Cube 78"/>
          <p:cNvSpPr/>
          <p:nvPr/>
        </p:nvSpPr>
        <p:spPr>
          <a:xfrm>
            <a:off x="9692640" y="27889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Cube 79"/>
          <p:cNvSpPr/>
          <p:nvPr/>
        </p:nvSpPr>
        <p:spPr>
          <a:xfrm>
            <a:off x="10149840" y="278892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Cube 80"/>
          <p:cNvSpPr/>
          <p:nvPr/>
        </p:nvSpPr>
        <p:spPr>
          <a:xfrm>
            <a:off x="9052560" y="38862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Cube 81"/>
          <p:cNvSpPr/>
          <p:nvPr/>
        </p:nvSpPr>
        <p:spPr>
          <a:xfrm>
            <a:off x="9509760" y="38862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Cube 82"/>
          <p:cNvSpPr/>
          <p:nvPr/>
        </p:nvSpPr>
        <p:spPr>
          <a:xfrm>
            <a:off x="9966960" y="38862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Cube 83"/>
          <p:cNvSpPr/>
          <p:nvPr/>
        </p:nvSpPr>
        <p:spPr>
          <a:xfrm>
            <a:off x="9052560" y="34290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Cube 84"/>
          <p:cNvSpPr/>
          <p:nvPr/>
        </p:nvSpPr>
        <p:spPr>
          <a:xfrm>
            <a:off x="9509760" y="34290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ube 85"/>
          <p:cNvSpPr/>
          <p:nvPr/>
        </p:nvSpPr>
        <p:spPr>
          <a:xfrm>
            <a:off x="9966960" y="34290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Cube 86"/>
          <p:cNvSpPr/>
          <p:nvPr/>
        </p:nvSpPr>
        <p:spPr>
          <a:xfrm>
            <a:off x="9052560" y="29718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Cube 87"/>
          <p:cNvSpPr/>
          <p:nvPr/>
        </p:nvSpPr>
        <p:spPr>
          <a:xfrm>
            <a:off x="9509760" y="29718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Cube 88"/>
          <p:cNvSpPr/>
          <p:nvPr/>
        </p:nvSpPr>
        <p:spPr>
          <a:xfrm>
            <a:off x="9966960" y="2971800"/>
            <a:ext cx="640080" cy="640080"/>
          </a:xfrm>
          <a:prstGeom prst="cube">
            <a:avLst>
              <a:gd name="adj" fmla="val 28571"/>
            </a:avLst>
          </a:prstGeom>
          <a:solidFill>
            <a:srgbClr val="F4F1EA"/>
          </a:solidFill>
          <a:ln w="12700">
            <a:solidFill>
              <a:srgbClr val="4A5A7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915400" y="4617720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500" b="1" i="0">
                <a:solidFill>
                  <a:srgbClr val="24418C"/>
                </a:solidFill>
                <a:latin typeface="PT Sans"/>
              </a:rPr>
              <a:t>3 × 3 × 3 = 27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915400" y="4956048"/>
            <a:ext cx="2194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A84400"/>
                </a:solidFill>
                <a:latin typeface="PT Sans"/>
              </a:rPr>
              <a:t>3³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766560" y="5394960"/>
            <a:ext cx="493776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4A5A70"/>
                </a:solidFill>
                <a:latin typeface="PT Sans"/>
              </a:rPr>
              <a:t>Бир катмар 3 × 3 = 9, 3 катмар: 27.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К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95" name="Rounded Rectangle 94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С: квадрат жана куб сүрөтү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Чакмак дептерге квадраттарды чий: жагы 1, 2, 3, 4, 5 чакмак. Кубду катмар менен санайбыз.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4800600"/>
            <a:ext cx="694944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1² = 1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07592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545336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307592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545336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78992" y="4800600"/>
            <a:ext cx="932688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2² = 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404872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42616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67128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404872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42616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167128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404872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42616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938528" y="4800600"/>
            <a:ext cx="1170432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3² = 9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264408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2152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39896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977640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64408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502152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739896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77640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64408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2152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39896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977640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264408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502152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739896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77640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035808" y="4800600"/>
            <a:ext cx="140817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4² = 16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99432" y="3566160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837176" y="3566160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074920" y="3566160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312664" y="3566160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550408" y="3566160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99432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837176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74920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5312664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550408" y="3803904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99432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37176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074920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312664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550408" y="4041648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4599432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37176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074920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312664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550408" y="4279392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4599432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4837176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074920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5312664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550408" y="4517136"/>
            <a:ext cx="237744" cy="237744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370832" y="4800600"/>
            <a:ext cx="164592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400" b="1" i="0">
                <a:solidFill>
                  <a:srgbClr val="24418C"/>
                </a:solidFill>
                <a:latin typeface="PT Sans"/>
              </a:rPr>
              <a:t>5² = 25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53712" y="3200400"/>
            <a:ext cx="128016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1">
                <a:solidFill>
                  <a:srgbClr val="4A5A70"/>
                </a:solidFill>
                <a:latin typeface="PT Sans"/>
              </a:rPr>
              <a:t>жагы 5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0080" y="2057400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Аянт = квадрат сан, жагы = тамыр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40080" y="5138928"/>
            <a:ext cx="58521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Аянты 25 → жагы 5: √25 = 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903720" y="2057400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D3557"/>
                </a:solidFill>
                <a:latin typeface="PT Sans"/>
              </a:rPr>
              <a:t>3³ катмар менен: 9 + 9 + 9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995160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7251192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7507224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995160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7251192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7507224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995160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251192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507224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812280" y="3840480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1-катмар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812280" y="4133087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3 × 3 = 9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476488" y="3017520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732519" y="3017520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88552" y="3017520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476488" y="3273552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8732519" y="3273552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8988552" y="3273552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8476488" y="3529584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732519" y="3529584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988552" y="3529584"/>
            <a:ext cx="256032" cy="256032"/>
          </a:xfrm>
          <a:prstGeom prst="rect">
            <a:avLst/>
          </a:prstGeom>
          <a:solidFill>
            <a:srgbClr val="F5E9E0"/>
          </a:solidFill>
          <a:ln w="127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293608" y="3840480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2-катмар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293608" y="4133087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3 × 3 = 9</a:t>
            </a:r>
          </a:p>
        </p:txBody>
      </p:sp>
      <p:sp>
        <p:nvSpPr>
          <p:cNvPr id="98" name="Rectangle 97"/>
          <p:cNvSpPr/>
          <p:nvPr/>
        </p:nvSpPr>
        <p:spPr>
          <a:xfrm>
            <a:off x="9957816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10213848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10469880" y="3017520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9957816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10213848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10469880" y="3273552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9957816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10213848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10469880" y="3529584"/>
            <a:ext cx="256032" cy="256032"/>
          </a:xfrm>
          <a:prstGeom prst="rect">
            <a:avLst/>
          </a:prstGeom>
          <a:solidFill>
            <a:srgbClr val="B5E2D3"/>
          </a:solidFill>
          <a:ln w="127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9774936" y="3840480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4A5A70"/>
                </a:solidFill>
                <a:latin typeface="PT Sans"/>
              </a:rPr>
              <a:t>3-катмар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9774936" y="4133087"/>
            <a:ext cx="1133856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1" i="0">
                <a:solidFill>
                  <a:srgbClr val="24418C"/>
                </a:solidFill>
                <a:latin typeface="PT Sans"/>
              </a:rPr>
              <a:t>3 × 3 = 9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903720" y="4617720"/>
            <a:ext cx="4846320" cy="411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× 3 × 3 = 27 = 3³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6903720" y="5138928"/>
            <a:ext cx="48463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600" b="1" i="0">
                <a:solidFill>
                  <a:srgbClr val="A84400"/>
                </a:solidFill>
                <a:latin typeface="PT Sans"/>
              </a:rPr>
              <a:t>27 кутуча → кыры 3: ∛27 = 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29768" y="562356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5² = 25, √25 = 5          3³ = 27, ∛27 = 3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А: эреже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23035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7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7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Квадрат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× a:  6² = 36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3056382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3330702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4323969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2142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a³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22142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Куб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67862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a × a × a:  4³ = 64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957316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231636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224902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23075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√ 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23075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Тамыр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68796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√36 = 6, анткени 6² = 36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858250" y="2880360"/>
            <a:ext cx="274320" cy="0"/>
          </a:xfrm>
          <a:prstGeom prst="line">
            <a:avLst/>
          </a:prstGeom>
          <a:ln w="3175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9132570" y="1371600"/>
            <a:ext cx="2626614" cy="3017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10125837" y="1600200"/>
            <a:ext cx="640080" cy="64008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4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24010" y="2377440"/>
            <a:ext cx="244373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600" b="1" i="0">
                <a:solidFill>
                  <a:srgbClr val="24418C"/>
                </a:solidFill>
                <a:latin typeface="PT Sans"/>
              </a:rPr>
              <a:t>10³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24010" y="3063240"/>
            <a:ext cx="244373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1F2430"/>
                </a:solidFill>
                <a:latin typeface="PT Sans"/>
              </a:rPr>
              <a:t>10дун даражасы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69730" y="3566160"/>
            <a:ext cx="2352294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1 000: 3 нөл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874519" y="4709160"/>
            <a:ext cx="8449056" cy="758952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600" b="1">
                <a:solidFill>
                  <a:srgbClr val="A84400"/>
                </a:solidFill>
                <a:latin typeface="PT Sans"/>
              </a:rPr>
              <a:t>2 + 3² = 2 + 9 = 11,  бирок  (2 + 3)² = 25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1: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50дөн чоңбу, кичинеби?  2 × 5² − √49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2 × 5² − √49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2 × 25 − 7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Да: 5², √49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50 − 7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43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Мисал 2: мен көрсөтөм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Адегенде болжолдо: 500дөн азбы?  (6 − 2)³ + 4 × 10²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240280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(6 − 2)³ + 4 × 10²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898648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4³ + 4 × 10²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66760" y="2898648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557016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1F2430"/>
                </a:solidFill>
                <a:latin typeface="PT Sans"/>
              </a:rPr>
              <a:t>= 64 + 400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66760" y="3557016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Да, Кө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15384"/>
            <a:ext cx="7498079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800" b="1" i="0">
                <a:solidFill>
                  <a:srgbClr val="24418C"/>
                </a:solidFill>
                <a:latin typeface="PT Sans"/>
              </a:rPr>
              <a:t>= 464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66760" y="4215384"/>
            <a:ext cx="3108960" cy="65836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A84400"/>
                </a:solidFill>
                <a:latin typeface="PT Sans"/>
              </a:rPr>
              <a:t>Ко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596128"/>
            <a:ext cx="11329416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3400" b="1" i="0">
                <a:solidFill>
                  <a:srgbClr val="1F2430"/>
                </a:solidFill>
                <a:latin typeface="PT Sans"/>
              </a:rPr>
              <a:t>Жооп = </a:t>
            </a:r>
            <a:r>
              <a:rPr sz="3400" b="1">
                <a:solidFill>
                  <a:srgbClr val="24418C"/>
                </a:solidFill>
                <a:latin typeface="PT Sans"/>
              </a:rPr>
              <a:t>464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ыкма: тамыр, куб, нөлдөр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12647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Тескери суроо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√64 = 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? × ? = 64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8 × 8 = 64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Тамыр: кайсы сандын квадраты 64?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80560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Кубду катмар менен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26280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4³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4 × 4 × 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26280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= 16 × 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26280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64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26280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Бир катмар 4 × 4 = 16, катмар 4.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65592" y="1280160"/>
            <a:ext cx="3593592" cy="4160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348472" y="1444752"/>
            <a:ext cx="457200" cy="45720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42832" y="1371600"/>
            <a:ext cx="2679192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Канча нөл?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94192" y="2194560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7 × 10³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94192" y="2761488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10³ = 1 000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94192" y="3328415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нөл кошобуз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94192" y="3895344"/>
            <a:ext cx="3136392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24418C"/>
                </a:solidFill>
                <a:latin typeface="PT Sans"/>
              </a:rPr>
              <a:t>= 7 000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4526280"/>
            <a:ext cx="3136392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10дун көрсөткүчү = нөлдөрдүн саны.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29768" y="5577840"/>
            <a:ext cx="11329416" cy="502920"/>
          </a:xfrm>
          <a:prstGeom prst="roundRect">
            <a:avLst>
              <a:gd name="adj" fmla="val 40000"/>
            </a:avLst>
          </a:prstGeom>
          <a:solidFill>
            <a:srgbClr val="FFFFFF"/>
          </a:solidFill>
          <a:ln w="2222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700" b="1">
                <a:solidFill>
                  <a:srgbClr val="007A5A"/>
                </a:solidFill>
                <a:latin typeface="PT Sans"/>
              </a:rPr>
              <a:t>Адегенде болжолдо → сүрөттү элестет → эсепте → тескери амал менен текшер.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Чечүүчү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Эсепте: 3 + 2³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04088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27048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125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08776" y="228600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6483096" y="274320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06056" y="228600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4088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27048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11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08776" y="4023360"/>
            <a:ext cx="5550408" cy="15087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483096" y="4480560"/>
            <a:ext cx="594360" cy="59436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1D3557"/>
                </a:solidFill>
                <a:latin typeface="PT Sans"/>
              </a:rPr>
              <a:t>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06056" y="4023360"/>
            <a:ext cx="4297680" cy="15087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1F2430"/>
                </a:solidFill>
                <a:latin typeface="PT Sans"/>
              </a:rPr>
              <a:t>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007A5A"/>
                </a:solidFill>
                <a:latin typeface="PT Sans"/>
              </a:rPr>
              <a:t>3C · Сынчыл ой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чий, анан эсепте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Нурай 3 табак толтурду. Ар бир табакта 6 катар, ар катарда 6 өрүк. Баары канча өрүк?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7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167128" y="4956048"/>
            <a:ext cx="170383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612647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618488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4282439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419600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6800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Чоң табакка 8² өрүк, кичине табакка 5² өрүк батат. Чоң табакка канча өрүк көп батат?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6759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65320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6019800" y="4956048"/>
            <a:ext cx="1703831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4465320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5471159" y="5641848"/>
            <a:ext cx="2252472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8135112" y="1691640"/>
            <a:ext cx="3624072" cy="44348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8272272" y="1828800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29472" y="1755648"/>
            <a:ext cx="2892552" cy="10515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81 өрүк квадрат табакка тизилди. Бир катарда канча өрүк? Эрмек 2 катарын жеп койду. Канча калды?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09432" y="3429000"/>
            <a:ext cx="3075432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1">
                <a:solidFill>
                  <a:srgbClr val="6B7280"/>
                </a:solidFill>
                <a:latin typeface="PT Sans"/>
              </a:rPr>
              <a:t>Тилкени бул жерге чий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17991" y="4572000"/>
            <a:ext cx="155448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Туюнтма: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872471" y="4956048"/>
            <a:ext cx="170383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317991" y="5257800"/>
            <a:ext cx="1005840" cy="411480"/>
          </a:xfrm>
          <a:prstGeom prst="rect">
            <a:avLst/>
          </a:prstGeom>
          <a:noFill/>
        </p:spPr>
        <p:txBody>
          <a:bodyPr wrap="square" anchor="b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0" i="0">
                <a:solidFill>
                  <a:srgbClr val="6B7280"/>
                </a:solidFill>
                <a:latin typeface="PT Sans"/>
              </a:rPr>
              <a:t>Жообу: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323831" y="5641848"/>
            <a:ext cx="2252473" cy="0"/>
          </a:xfrm>
          <a:prstGeom prst="line">
            <a:avLst/>
          </a:prstGeom>
          <a:ln w="12700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Тилке машыгуусу: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8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Нурай 3 табак толтурду. Ар бир табакта 6 катар, ар катарда 6 өрүк. Баары канча өрүк?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6² = 36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8232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6² = 36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29536" y="3017520"/>
            <a:ext cx="78130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6² = 36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002280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3139440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002280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3185160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7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3 × 6² = 108 өрүк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82439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419600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6800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Чоң табакка 8² өрүк, кичине табакка 5² өрүк батат. Чоң табакка канча өрүк көп батат?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19600" y="3017520"/>
            <a:ext cx="2343912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8² = 64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419600" y="3574389"/>
            <a:ext cx="915590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5² = 25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335190" y="3574389"/>
            <a:ext cx="1428321" cy="384048"/>
          </a:xfrm>
          <a:prstGeom prst="rect">
            <a:avLst/>
          </a:prstGeom>
          <a:solidFill>
            <a:srgbClr val="FFFFFF"/>
          </a:solidFill>
          <a:ln w="20320">
            <a:solidFill>
              <a:srgbClr val="4A5A7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6B7280"/>
                </a:solidFill>
                <a:latin typeface="PT Sans"/>
              </a:rPr>
              <a:t>?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65320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8² − 5² = 39 өрүк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135112" y="1280160"/>
            <a:ext cx="3624072" cy="48463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272272" y="1417319"/>
            <a:ext cx="384048" cy="384048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29472" y="1344168"/>
            <a:ext cx="2892552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1F2430"/>
                </a:solidFill>
                <a:latin typeface="PT Sans"/>
              </a:rPr>
              <a:t>81 өрүк квадрат табакка тизилди. Бир катарда канча өрүк? Эрмек 2 катарын жеп койду. Канча калды?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72272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532706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793141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4" name="Rectangle 33"/>
          <p:cNvSpPr/>
          <p:nvPr/>
        </p:nvSpPr>
        <p:spPr>
          <a:xfrm>
            <a:off x="9053576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314010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574445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834880" y="3017520"/>
            <a:ext cx="260434" cy="384048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95314" y="3017520"/>
            <a:ext cx="26043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55749" y="3017520"/>
            <a:ext cx="260434" cy="384048"/>
          </a:xfrm>
          <a:prstGeom prst="rect">
            <a:avLst/>
          </a:prstGeom>
          <a:solidFill>
            <a:srgbClr val="F5E9E0"/>
          </a:solidFill>
          <a:ln w="2032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100" b="1">
                <a:solidFill>
                  <a:srgbClr val="1F2430"/>
                </a:solidFill>
                <a:latin typeface="PT Sans"/>
              </a:rPr>
              <a:t>9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0707624" y="30175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10844784" y="3017520"/>
            <a:ext cx="0" cy="384048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/>
          <p:nvPr/>
        </p:nvCxnSpPr>
        <p:spPr>
          <a:xfrm>
            <a:off x="10707624" y="3401568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10890503" y="2935224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A84400"/>
                </a:solidFill>
                <a:latin typeface="PT Sans"/>
              </a:rPr>
              <a:t>81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7991" y="5120640"/>
            <a:ext cx="3258312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1700" b="1" i="0">
                <a:solidFill>
                  <a:srgbClr val="24418C"/>
                </a:solidFill>
                <a:latin typeface="PT Sans"/>
              </a:rPr>
              <a:t>81 − 2 × √81 = 63 өрүк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Дептериңе чыгар. Кыйын болсо – жакшы! Мээң өсүп жатат.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5² + 3³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69164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91656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86016" y="169164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√100 − ∛8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3 × 10³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08776" y="323088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391656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86016" y="323088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(9 − 4)² ÷ 5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29768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07007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2⁴ − 2 × 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08776" y="4770120"/>
            <a:ext cx="5550408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91656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86016" y="4770120"/>
            <a:ext cx="4636008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1F2430"/>
                </a:solidFill>
                <a:latin typeface="PT Sans"/>
              </a:rPr>
              <a:t>Кашаа кой → 49:  1 + 2 × 3²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412480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6111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12700">
            <a:solidFill>
              <a:srgbClr val="6B728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0">
                <a:solidFill>
                  <a:srgbClr val="6B7280"/>
                </a:solidFill>
                <a:latin typeface="PT Sans"/>
              </a:rPr>
              <a:t>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509759" y="6327648"/>
            <a:ext cx="457200" cy="41148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А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Өз алдынча иш: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5568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5² + 3³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34804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08776" y="1325880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45936" y="1581912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325880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√100 − ∛8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13812" y="1325880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8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3 × 10³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34804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3 000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08776" y="2350008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45936" y="2606040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94576" y="2350008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(9 − 4)² ÷ 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13812" y="2350008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5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566928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15568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2⁴ − 2 ×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804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10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08776" y="3374136"/>
            <a:ext cx="5550408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6345936" y="3630168"/>
            <a:ext cx="402336" cy="402336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94576" y="3374136"/>
            <a:ext cx="3219236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1F2430"/>
                </a:solidFill>
                <a:latin typeface="PT Sans"/>
              </a:rPr>
              <a:t>Кашаа кой → 49:  1 + 2 × 3²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13812" y="3374136"/>
            <a:ext cx="1508211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24418C"/>
                </a:solidFill>
                <a:latin typeface="PT Sans"/>
              </a:rPr>
              <a:t>(1 + 2 × 3)²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Окуяга кайтабыз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713232"/>
          </a:xfrm>
          <a:prstGeom prst="roundRect">
            <a:avLst>
              <a:gd name="adj" fmla="val 258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25296"/>
            <a:ext cx="10780776" cy="713232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0" i="0">
                <a:solidFill>
                  <a:srgbClr val="1F2430"/>
                </a:solidFill>
                <a:latin typeface="PT Sans"/>
              </a:rPr>
              <a:t>Чоң табакка 8² өрүк, кичине табакка 5² өрүк батат. Нурай 2 чоң жана 1 кичине табакты толтурду. Баары канча өрүк?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240280"/>
            <a:ext cx="137160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800" b="1" i="0">
                <a:solidFill>
                  <a:srgbClr val="1F2430"/>
                </a:solidFill>
                <a:latin typeface="PT Sans"/>
              </a:rPr>
              <a:t>Өрүк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377440" y="2240280"/>
            <a:ext cx="317470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8² = 64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552141" y="2240280"/>
            <a:ext cx="3174701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8² = 64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26842" y="2240280"/>
            <a:ext cx="1240117" cy="548640"/>
          </a:xfrm>
          <a:prstGeom prst="rect">
            <a:avLst/>
          </a:prstGeom>
          <a:solidFill>
            <a:srgbClr val="B5E2D3"/>
          </a:solidFill>
          <a:ln w="2032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F2430"/>
                </a:solidFill>
                <a:latin typeface="PT Sans"/>
              </a:rPr>
              <a:t>5² = 25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0058399" y="224028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10195559" y="2240280"/>
            <a:ext cx="0" cy="54864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10058399" y="2788920"/>
            <a:ext cx="13716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241279" y="2240280"/>
            <a:ext cx="1005840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1" i="0">
                <a:solidFill>
                  <a:srgbClr val="A84400"/>
                </a:solidFill>
                <a:latin typeface="PT Sans"/>
              </a:rPr>
              <a:t>153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127248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2 × 8² + 5²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3127248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Да: адегенде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3694176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2 × 64 + 25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60" y="3694176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261104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1F2430"/>
                </a:solidFill>
                <a:latin typeface="PT Sans"/>
              </a:rPr>
              <a:t>= 128 + 25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66760" y="4261104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Ко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828032"/>
            <a:ext cx="7498079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2600" b="1" i="0">
                <a:solidFill>
                  <a:srgbClr val="24418C"/>
                </a:solidFill>
                <a:latin typeface="PT Sans"/>
              </a:rPr>
              <a:t>= 153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66760" y="4828032"/>
            <a:ext cx="3108960" cy="5669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A84400"/>
                </a:solidFill>
                <a:latin typeface="PT Sans"/>
              </a:rPr>
              <a:t>өрүк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874519" y="5486400"/>
            <a:ext cx="8449056" cy="640080"/>
          </a:xfrm>
          <a:prstGeom prst="roundRect">
            <a:avLst>
              <a:gd name="adj" fmla="val 24400"/>
            </a:avLst>
          </a:prstGeom>
          <a:solidFill>
            <a:srgbClr val="FFFFFF"/>
          </a:solidFill>
          <a:ln w="285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Нурай 153 өрүк тизди. Даража адегенде!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24418C"/>
                </a:solidFill>
                <a:latin typeface="PT Sans"/>
              </a:rPr>
              <a:t>3C · Байланыштыруу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Түз: өзүң маселе түз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48920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371600"/>
            <a:ext cx="10780776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Баткен өрүгү жөнүндө маселе түз: табак (квадрат) же жашик (куб) болсун, туюнтмада даража жана дагы бир амал болсун.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256032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54203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Окуядагы каармандарды колдон: Нурай, Эрмек, Гүлзат чоң эне.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338327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364991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Тилкесин чий жана туюнтмасын жаз.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4206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187952"/>
            <a:ext cx="10049256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Жупуңа бер: ал чыгарсын, сен текшер.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49927" y="6327648"/>
            <a:ext cx="329184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3C · Кызматташуу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Чыгуу билети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14300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Өз алдынча, 3 мүнөт. Кагазыңа жазып бер.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" y="169164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612647" y="215036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07007" y="169164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2 × 5² − 10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" y="323088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12647" y="3689603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7" y="323088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Эсепте: √64 + ∛27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9768" y="4770120"/>
            <a:ext cx="11329416" cy="135635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612647" y="5228844"/>
            <a:ext cx="438912" cy="43891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07007" y="4770120"/>
            <a:ext cx="10415016" cy="1356359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F2430"/>
                </a:solidFill>
                <a:latin typeface="PT Sans"/>
              </a:rPr>
              <a:t>Даража менен жаз жана эсепте: 10 × 10 × 10 × 10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11329416" cy="32461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" y="1280160"/>
            <a:ext cx="10780776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1" i="0">
                <a:solidFill>
                  <a:srgbClr val="1D3557"/>
                </a:solidFill>
                <a:latin typeface="PT Sans"/>
              </a:rPr>
              <a:t>Оозеки талкуу</a:t>
            </a:r>
          </a:p>
        </p:txBody>
      </p:sp>
      <p:sp>
        <p:nvSpPr>
          <p:cNvPr id="12" name="Oval 11"/>
          <p:cNvSpPr/>
          <p:nvPr/>
        </p:nvSpPr>
        <p:spPr>
          <a:xfrm>
            <a:off x="704088" y="1920240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1901952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Эмне үчүн 4² = 16, бирок 4³ = 64? Сүрөт менен түшүндүр.</a:t>
            </a:r>
          </a:p>
        </p:txBody>
      </p:sp>
      <p:sp>
        <p:nvSpPr>
          <p:cNvPr id="14" name="Oval 13"/>
          <p:cNvSpPr/>
          <p:nvPr/>
        </p:nvSpPr>
        <p:spPr>
          <a:xfrm>
            <a:off x="704088" y="2542032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2523744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√49 = 7 экенин кантип текшересиң?</a:t>
            </a:r>
          </a:p>
        </p:txBody>
      </p:sp>
      <p:sp>
        <p:nvSpPr>
          <p:cNvPr id="16" name="Oval 15"/>
          <p:cNvSpPr/>
          <p:nvPr/>
        </p:nvSpPr>
        <p:spPr>
          <a:xfrm>
            <a:off x="704088" y="316382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145536"/>
            <a:ext cx="10049256" cy="621792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200" b="0" i="0">
                <a:solidFill>
                  <a:srgbClr val="1F2430"/>
                </a:solidFill>
                <a:latin typeface="PT Sans"/>
              </a:rPr>
              <a:t>2 + 3² эсептегенде эмнени адегенде аткарабыз? Эмне үчүн?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9768" y="4617720"/>
            <a:ext cx="11329416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0" i="1">
                <a:solidFill>
                  <a:srgbClr val="6B7280"/>
                </a:solidFill>
                <a:latin typeface="PT Sans"/>
              </a:rPr>
              <a:t>Өзүңдү баала: колуңду көтөр.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8407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007A5A"/>
                </a:solidFill>
                <a:latin typeface="PT Sans"/>
              </a:rPr>
              <a:t>Түшүндүм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360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A84400"/>
                </a:solidFill>
                <a:latin typeface="PT Sans"/>
              </a:rPr>
              <a:t>Дагы машыгам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93608" y="5120640"/>
            <a:ext cx="3291840" cy="731520"/>
          </a:xfrm>
          <a:prstGeom prst="roundRect">
            <a:avLst>
              <a:gd name="adj" fmla="val 50000"/>
            </a:avLst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Жардам керек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1D3557"/>
                </a:solidFill>
                <a:latin typeface="PT Sans"/>
              </a:rPr>
              <a:t>Мугалим үчүн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Квадрат жана куб сандар, даража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26/26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25296"/>
            <a:ext cx="5120640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80160"/>
            <a:ext cx="466344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Тилке моделин кантип үйрөтөбүз</a:t>
            </a:r>
          </a:p>
        </p:txBody>
      </p:sp>
      <p:sp>
        <p:nvSpPr>
          <p:cNvPr id="12" name="Oval 11"/>
          <p:cNvSpPr/>
          <p:nvPr/>
        </p:nvSpPr>
        <p:spPr>
          <a:xfrm>
            <a:off x="658368" y="1874519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19" y="1856231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жупка 30 буурчак жана 8–27 кант кесеги (же гугурт кутучасы): квадрат = катар × катар.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898648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19" y="2880360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Ар бир даражада: «негиз – эмнени көбөйтөбүз, көрсөткүч – канча жолу?» (М1, М6).</a:t>
            </a:r>
          </a:p>
        </p:txBody>
      </p:sp>
      <p:sp>
        <p:nvSpPr>
          <p:cNvPr id="16" name="Oval 15"/>
          <p:cNvSpPr/>
          <p:nvPr/>
        </p:nvSpPr>
        <p:spPr>
          <a:xfrm>
            <a:off x="658368" y="3922776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19" y="3904488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Тамырды дайыма тескери амал менен текшертем: √49 = 7, анткени 7 × 7 = 49 (М3, М7).</a:t>
            </a:r>
          </a:p>
        </p:txBody>
      </p:sp>
      <p:sp>
        <p:nvSpPr>
          <p:cNvPr id="18" name="Oval 17"/>
          <p:cNvSpPr/>
          <p:nvPr/>
        </p:nvSpPr>
        <p:spPr>
          <a:xfrm>
            <a:off x="658368" y="4946904"/>
            <a:ext cx="393192" cy="393192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6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19" y="4928616"/>
            <a:ext cx="4114800" cy="102412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1F2430"/>
                </a:solidFill>
                <a:latin typeface="PT Sans"/>
              </a:rPr>
              <a:t>Доскада 1²…12² жана 1³…5³ таблицасы сабак бою турат.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779007" y="1225296"/>
            <a:ext cx="5980176" cy="492861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07607" y="1280160"/>
            <a:ext cx="5486400" cy="5029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000" b="1" i="0">
                <a:solidFill>
                  <a:srgbClr val="1D3557"/>
                </a:solidFill>
                <a:latin typeface="PT Sans"/>
              </a:rPr>
              <a:t>Ой жүгүртүү: эмне деп айтабыз?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07607" y="1783080"/>
            <a:ext cx="2651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6B7280"/>
                </a:solidFill>
                <a:latin typeface="PT Sans"/>
              </a:rPr>
              <a:t>Айтпайбыз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796528" y="1783080"/>
            <a:ext cx="292608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007A5A"/>
                </a:solidFill>
                <a:latin typeface="PT Sans"/>
              </a:rPr>
              <a:t>Айтабыз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007607" y="219456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«Бул оңой эмеспи?»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8567928" y="2468879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8796528" y="219456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«Кадамдарды бирге карайлы.»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07607" y="315468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«Туура эмес!»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8567928" y="342900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8796528" y="315468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«Кантип таптың? Текшерип көрөлүчү.»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007607" y="411480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«Сен математикага жөндөмсүзсүң»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8567928" y="438912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8796528" y="411480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«Азырынча. Машыксаң, үйрөнөсүң.»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07607" y="5074920"/>
            <a:ext cx="26517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1">
                <a:solidFill>
                  <a:srgbClr val="6B7280"/>
                </a:solidFill>
                <a:latin typeface="PT Sans"/>
              </a:rPr>
              <a:t>«Тез чыгар»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8567928" y="5349240"/>
            <a:ext cx="182880" cy="0"/>
          </a:xfrm>
          <a:prstGeom prst="line">
            <a:avLst/>
          </a:prstGeom>
          <a:ln w="25400">
            <a:solidFill>
              <a:srgbClr val="A844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8796528" y="5074920"/>
            <a:ext cx="2880360" cy="868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0">
                <a:solidFill>
                  <a:srgbClr val="1F2430"/>
                </a:solidFill>
                <a:latin typeface="PT Sans"/>
              </a:rPr>
              <a:t>«Шашпа, адегенде тилке чий.»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