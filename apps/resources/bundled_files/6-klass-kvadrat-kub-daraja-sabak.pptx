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берем. Адегенде болжолдошсун: 100дөн көппү, азбы? Жоопту сабактын аягында (22-слайд)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Нурай: 4³ = 4 × 4 × 4 = 64 (бир катмар 16, 4 катмар). Эрмек негизди көрсөткүчкө көбөйттү (М1).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30 буурчак (же таш, капкак), 8–27 кант кесеги (же гугурт кутучалары), чакмак дептер. 1) 3 катар, ар катарда 3 буурчак: 3 × 3 = 3² = 9. 2) Кийинки квадрат 4 × 4 = 16: канча буурчак кошулду? 7. 3) Кант: 2 × 2 = 4 – бир катмар, 2 катмар: 2 × 2 × 2 = 2³ = 8. 4) Тескери суроо: 16 буурчактан квадрат түзгүлө – жагы 4, демек √16 = 4. Проектор жок болсо, доскага тегерекчелер жана катмарлар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чакмак дептерге квадраттарды чийип, чакмактарды санашат: аянт – квадрат сан. Тескери суроону берем: «Аянты 25 – жагы канча?» → √25 = 5. Кубду 3 катмар 3 × 3 деп чийдирем: 9 + 9 + 9 = 27 = 3³, жана «27 кутуча – кыры канча?» → ∛27 =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Даража: негиз (эмнени көбөйтөбүз) жана көрсөткүч (канча жолу). 5² «беш квадрат», 5³ «беш куб» деп окулат. Тамыр – тескери суроо: √49 = 7, анткени 7² = 49; ∛64 = 4, анткени 4³ = 64. КаДа – БөКө – КоКе: даража кашаадан кийин, көбөйтүүдөн мурун. Ката коддору: М1 (5² = 10), М3 (√36 = 18), М4 (2 + 3² = 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айтышат: «кайсы сандын квадраты?», «бир катмар канча?», «канча нөл?». «Оозеки беш мүнөт» (класста колдонуу картасы, 3-бет)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М4; Б = М1; В = ✓; Г = М2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квадрат табактар → канчага көп? → тамыр. Жооптор: 3 × 6² = 108 өрүк; 8² − 5² = 39 өрүк; 81 − 2 × √81 = 63 өрүк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8² = 64, эки чоң табак: 2 × 64 = 128, кичине табак 25: 128 + 25 = 153. (2 × 8)² + 5² = 281 деп эсептесе – М4, 8² = 16 деп алса 2 × 16 + 10 = 42 – М1. Табакты элестетип текшеребиз: 64 + 64 + 25.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40; 11; 10⁴ = 10 000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Баткендеги өрүк кургатуу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Нурай менен Эрмек Гүлзат чоң энесинин багында өрүк кургатышат: табак – квадрат, жашик – куб.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стандарты, 6-класс: «Даража түшүнүгү. Сандын квадраты жана кубу»; 6Ni.08 (1–125 куб сандар). 4–5-класстын «Амалдардын тартиби» пакетинин уландысы. Мазмуну оригиналдуу.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Баткендеги өрүк кургатуу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Жайкы каникулда Нурай менен иниси Эрмек Баткенге, Гүлзат чоң энесине барышты.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Бакта өрүк бышты. Аны кургатуу үчүн табакка катар-катар тизишет: канча катар болсо, ар катарда ошончо өрүк.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Кургаган өрүктү куб кутучаларга салып, кутучаларды куб жашикке жыйышат.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Чоң эне: «Бирден санабай эле айтып бергиле, канча өрүк?» – дейт.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Чоң табакка 8² өрүк, кичине табакка 5² өрүк батат. Нурай 2 чоң жана 1 кичине табакты толтурду. Баары канча өрүк?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Квадрат жана куб сандарды сүрөт менен түшүндүрөм жана даража түрүндө жазам: 4³ = 4 × 4 × 4.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√ жана ∛ белгилерин окуйм: толук квадраттын жана толук кубдун тамырын табам.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10дун даражаларын жазам; даражасы бар туюнтманы «КаДа – БөКө – КоКе» боюнча эсептейм.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Квадрат, куб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Тамыр, 10дун даражасы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Тартип, маселе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4³ = 12 же 64?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буурчак, кант кесеги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Баткен өрүгү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Табак жана жашик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Көбөйтүү таблицасы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Аянт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Квадрат сандар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КаДа – БөКө – КоКе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Куб, даража, тамыр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10дун даражасы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Даражанын касиеттери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Көлөм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8 ×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 × 2 ×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1 000 ÷ 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20 − 2 × 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8 ×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 × 2 ×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1 000 ÷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20 − 2 ×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Гүлзат апа: «Кутучалардан куб түздүк: ар бир кырында 4 кутуча. Баары канча кутуча?»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Эрмек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4³ = 4 × 3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Нурай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4³ = 4 × 4 × 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16 × 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Кант кесектеринен куб түзүп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буурчактан 1, 4, 9, 16 квадраттарын тизгиле (катар саны = катардагы буурчак). Анан кант кесектеринен 2 × 2 × 2 куб түзгүлө.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Буурчак: квадрат сандар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343400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61772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1 × 1 =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56048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1²</a:t>
            </a:r>
          </a:p>
        </p:txBody>
      </p:sp>
      <p:sp>
        <p:nvSpPr>
          <p:cNvPr id="16" name="Oval 15"/>
          <p:cNvSpPr/>
          <p:nvPr/>
        </p:nvSpPr>
        <p:spPr>
          <a:xfrm>
            <a:off x="2423160" y="4105656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660904" y="4105656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23160" y="4343400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60904" y="4343400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39112" y="461772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2 × 2 =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39112" y="4956048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2²</a:t>
            </a:r>
          </a:p>
        </p:txBody>
      </p:sp>
      <p:sp>
        <p:nvSpPr>
          <p:cNvPr id="22" name="Oval 21"/>
          <p:cNvSpPr/>
          <p:nvPr/>
        </p:nvSpPr>
        <p:spPr>
          <a:xfrm>
            <a:off x="3749039" y="3867912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86783" y="3867912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24527" y="3867912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49039" y="4105656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6783" y="4105656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24527" y="4105656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49039" y="4343400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986783" y="4343400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24527" y="4343400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4617720"/>
            <a:ext cx="120700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3 × 3 = 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956048"/>
            <a:ext cx="120700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3²</a:t>
            </a:r>
          </a:p>
        </p:txBody>
      </p:sp>
      <p:sp>
        <p:nvSpPr>
          <p:cNvPr id="33" name="Oval 32"/>
          <p:cNvSpPr/>
          <p:nvPr/>
        </p:nvSpPr>
        <p:spPr>
          <a:xfrm>
            <a:off x="5093207" y="3630168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330951" y="3630168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68696" y="3630168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806440" y="3630168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93207" y="3867912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30951" y="3867912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568696" y="3867912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06440" y="3867912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93207" y="4105656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30951" y="4105656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568696" y="4105656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06440" y="4105656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093207" y="4343400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330951" y="4343400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568696" y="4343400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806440" y="4343400"/>
            <a:ext cx="182880" cy="182880"/>
          </a:xfrm>
          <a:prstGeom prst="ellipse">
            <a:avLst/>
          </a:prstGeom>
          <a:solidFill>
            <a:srgbClr val="8A5A3C"/>
          </a:solidFill>
          <a:ln w="6350">
            <a:solidFill>
              <a:srgbClr val="8A5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18888" y="4617720"/>
            <a:ext cx="144475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4 × 4 = 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8888" y="4956048"/>
            <a:ext cx="144475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4²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394960"/>
            <a:ext cx="60350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Ар бир кийинки квадратка +3, +5, +7 буурчак кошулат.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210312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Кант кесеги: куб сандар</a:t>
            </a:r>
          </a:p>
        </p:txBody>
      </p:sp>
      <p:sp>
        <p:nvSpPr>
          <p:cNvPr id="53" name="Cube 52"/>
          <p:cNvSpPr/>
          <p:nvPr/>
        </p:nvSpPr>
        <p:spPr>
          <a:xfrm>
            <a:off x="7132320" y="370332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ube 53"/>
          <p:cNvSpPr/>
          <p:nvPr/>
        </p:nvSpPr>
        <p:spPr>
          <a:xfrm>
            <a:off x="7589519" y="370332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ube 54"/>
          <p:cNvSpPr/>
          <p:nvPr/>
        </p:nvSpPr>
        <p:spPr>
          <a:xfrm>
            <a:off x="7132320" y="324612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ube 55"/>
          <p:cNvSpPr/>
          <p:nvPr/>
        </p:nvSpPr>
        <p:spPr>
          <a:xfrm>
            <a:off x="7589519" y="324612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ube 56"/>
          <p:cNvSpPr/>
          <p:nvPr/>
        </p:nvSpPr>
        <p:spPr>
          <a:xfrm>
            <a:off x="6949440" y="388620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ube 57"/>
          <p:cNvSpPr/>
          <p:nvPr/>
        </p:nvSpPr>
        <p:spPr>
          <a:xfrm>
            <a:off x="7406640" y="388620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ube 58"/>
          <p:cNvSpPr/>
          <p:nvPr/>
        </p:nvSpPr>
        <p:spPr>
          <a:xfrm>
            <a:off x="6949440" y="342900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ube 59"/>
          <p:cNvSpPr/>
          <p:nvPr/>
        </p:nvSpPr>
        <p:spPr>
          <a:xfrm>
            <a:off x="7406640" y="342900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5120" y="4617720"/>
            <a:ext cx="1737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2 × 2 × 2 = 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4956048"/>
            <a:ext cx="1737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2³</a:t>
            </a:r>
          </a:p>
        </p:txBody>
      </p:sp>
      <p:sp>
        <p:nvSpPr>
          <p:cNvPr id="63" name="Cube 62"/>
          <p:cNvSpPr/>
          <p:nvPr/>
        </p:nvSpPr>
        <p:spPr>
          <a:xfrm>
            <a:off x="9418320" y="3520439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ube 63"/>
          <p:cNvSpPr/>
          <p:nvPr/>
        </p:nvSpPr>
        <p:spPr>
          <a:xfrm>
            <a:off x="9875520" y="3520439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ube 64"/>
          <p:cNvSpPr/>
          <p:nvPr/>
        </p:nvSpPr>
        <p:spPr>
          <a:xfrm>
            <a:off x="10332720" y="3520439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ube 65"/>
          <p:cNvSpPr/>
          <p:nvPr/>
        </p:nvSpPr>
        <p:spPr>
          <a:xfrm>
            <a:off x="9418320" y="306324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ube 66"/>
          <p:cNvSpPr/>
          <p:nvPr/>
        </p:nvSpPr>
        <p:spPr>
          <a:xfrm>
            <a:off x="9875520" y="306324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ube 67"/>
          <p:cNvSpPr/>
          <p:nvPr/>
        </p:nvSpPr>
        <p:spPr>
          <a:xfrm>
            <a:off x="10332720" y="306324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ube 68"/>
          <p:cNvSpPr/>
          <p:nvPr/>
        </p:nvSpPr>
        <p:spPr>
          <a:xfrm>
            <a:off x="9418320" y="260604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ube 69"/>
          <p:cNvSpPr/>
          <p:nvPr/>
        </p:nvSpPr>
        <p:spPr>
          <a:xfrm>
            <a:off x="9875520" y="260604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ube 70"/>
          <p:cNvSpPr/>
          <p:nvPr/>
        </p:nvSpPr>
        <p:spPr>
          <a:xfrm>
            <a:off x="10332720" y="260604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ube 71"/>
          <p:cNvSpPr/>
          <p:nvPr/>
        </p:nvSpPr>
        <p:spPr>
          <a:xfrm>
            <a:off x="9235440" y="370332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ube 72"/>
          <p:cNvSpPr/>
          <p:nvPr/>
        </p:nvSpPr>
        <p:spPr>
          <a:xfrm>
            <a:off x="9692640" y="370332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ube 73"/>
          <p:cNvSpPr/>
          <p:nvPr/>
        </p:nvSpPr>
        <p:spPr>
          <a:xfrm>
            <a:off x="10149840" y="370332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ube 74"/>
          <p:cNvSpPr/>
          <p:nvPr/>
        </p:nvSpPr>
        <p:spPr>
          <a:xfrm>
            <a:off x="9235440" y="324612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Cube 75"/>
          <p:cNvSpPr/>
          <p:nvPr/>
        </p:nvSpPr>
        <p:spPr>
          <a:xfrm>
            <a:off x="9692640" y="324612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Cube 76"/>
          <p:cNvSpPr/>
          <p:nvPr/>
        </p:nvSpPr>
        <p:spPr>
          <a:xfrm>
            <a:off x="10149840" y="324612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Cube 77"/>
          <p:cNvSpPr/>
          <p:nvPr/>
        </p:nvSpPr>
        <p:spPr>
          <a:xfrm>
            <a:off x="9235440" y="278892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ube 78"/>
          <p:cNvSpPr/>
          <p:nvPr/>
        </p:nvSpPr>
        <p:spPr>
          <a:xfrm>
            <a:off x="9692640" y="278892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Cube 79"/>
          <p:cNvSpPr/>
          <p:nvPr/>
        </p:nvSpPr>
        <p:spPr>
          <a:xfrm>
            <a:off x="10149840" y="278892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Cube 80"/>
          <p:cNvSpPr/>
          <p:nvPr/>
        </p:nvSpPr>
        <p:spPr>
          <a:xfrm>
            <a:off x="9052560" y="388620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Cube 81"/>
          <p:cNvSpPr/>
          <p:nvPr/>
        </p:nvSpPr>
        <p:spPr>
          <a:xfrm>
            <a:off x="9509760" y="388620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ube 82"/>
          <p:cNvSpPr/>
          <p:nvPr/>
        </p:nvSpPr>
        <p:spPr>
          <a:xfrm>
            <a:off x="9966960" y="388620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Cube 83"/>
          <p:cNvSpPr/>
          <p:nvPr/>
        </p:nvSpPr>
        <p:spPr>
          <a:xfrm>
            <a:off x="9052560" y="342900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Cube 84"/>
          <p:cNvSpPr/>
          <p:nvPr/>
        </p:nvSpPr>
        <p:spPr>
          <a:xfrm>
            <a:off x="9509760" y="342900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Cube 85"/>
          <p:cNvSpPr/>
          <p:nvPr/>
        </p:nvSpPr>
        <p:spPr>
          <a:xfrm>
            <a:off x="9966960" y="342900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ube 86"/>
          <p:cNvSpPr/>
          <p:nvPr/>
        </p:nvSpPr>
        <p:spPr>
          <a:xfrm>
            <a:off x="9052560" y="297180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Cube 87"/>
          <p:cNvSpPr/>
          <p:nvPr/>
        </p:nvSpPr>
        <p:spPr>
          <a:xfrm>
            <a:off x="9509760" y="297180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Cube 88"/>
          <p:cNvSpPr/>
          <p:nvPr/>
        </p:nvSpPr>
        <p:spPr>
          <a:xfrm>
            <a:off x="9966960" y="2971800"/>
            <a:ext cx="640080" cy="640080"/>
          </a:xfrm>
          <a:prstGeom prst="cube">
            <a:avLst>
              <a:gd name="adj" fmla="val 28571"/>
            </a:avLst>
          </a:prstGeom>
          <a:solidFill>
            <a:srgbClr val="F4F1EA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15400" y="4617720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3 × 3 × 3 = 27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15400" y="4956048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3³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66560" y="5394960"/>
            <a:ext cx="49377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Бир катмар 3 × 3 = 9, 3 катмар: 27.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квадрат жана куб сүрөтү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Чакмак дептерге квадраттарды чий: жагы 1, 2, 3, 4, 5 чакмак. Кубду катмар менен санайбыз.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517136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800600"/>
            <a:ext cx="694944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1² =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07592" y="4279392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45336" y="4279392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07592" y="4517136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5336" y="4517136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800600"/>
            <a:ext cx="932688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2² =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4041648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04872" y="4041648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42616" y="4041648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67128" y="4279392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04872" y="4279392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42616" y="4279392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67128" y="4517136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04872" y="4517136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42616" y="4517136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38528" y="4800600"/>
            <a:ext cx="117043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3² = 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64408" y="3803904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2152" y="3803904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39896" y="3803904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77640" y="3803904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64408" y="4041648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2152" y="4041648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9896" y="4041648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77640" y="4041648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64408" y="4279392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02152" y="4279392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39896" y="4279392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77640" y="4279392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64408" y="4517136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02152" y="4517136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739896" y="4517136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77640" y="4517136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35808" y="4800600"/>
            <a:ext cx="1408176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4² = 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9432" y="3566160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37176" y="3566160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74920" y="3566160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12664" y="3566160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550408" y="3566160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99432" y="3803904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37176" y="3803904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74920" y="3803904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12664" y="3803904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550408" y="3803904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99432" y="4041648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7176" y="4041648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74920" y="4041648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312664" y="4041648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50408" y="4041648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99432" y="4279392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37176" y="4279392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74920" y="4279392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12664" y="4279392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50408" y="4279392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99432" y="4517136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837176" y="4517136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074920" y="4517136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312664" y="4517136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550408" y="4517136"/>
            <a:ext cx="237744" cy="237744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70832" y="480060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4418C"/>
                </a:solidFill>
                <a:latin typeface="PT Sans"/>
              </a:rPr>
              <a:t>5² = 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53712" y="32004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1">
                <a:solidFill>
                  <a:srgbClr val="4A5A70"/>
                </a:solidFill>
                <a:latin typeface="PT Sans"/>
              </a:rPr>
              <a:t>жагы 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2057400"/>
            <a:ext cx="5852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Аянт = квадрат сан, жагы = тамыр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5138928"/>
            <a:ext cx="5852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Аянты 25 → жагы 5: √25 = 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03720" y="205740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3³ катмар менен: 9 + 9 + 9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95160" y="3017520"/>
            <a:ext cx="256032" cy="256032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251192" y="3017520"/>
            <a:ext cx="256032" cy="256032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507224" y="3017520"/>
            <a:ext cx="256032" cy="256032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95160" y="3273552"/>
            <a:ext cx="256032" cy="256032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51192" y="3273552"/>
            <a:ext cx="256032" cy="256032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07224" y="3273552"/>
            <a:ext cx="256032" cy="256032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95160" y="3529584"/>
            <a:ext cx="256032" cy="256032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51192" y="3529584"/>
            <a:ext cx="256032" cy="256032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07224" y="3529584"/>
            <a:ext cx="256032" cy="256032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812280" y="3840480"/>
            <a:ext cx="1133856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4A5A70"/>
                </a:solidFill>
                <a:latin typeface="PT Sans"/>
              </a:rPr>
              <a:t>1-катмар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12280" y="4133087"/>
            <a:ext cx="1133856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4418C"/>
                </a:solidFill>
                <a:latin typeface="PT Sans"/>
              </a:rPr>
              <a:t>3 × 3 = 9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476488" y="3017520"/>
            <a:ext cx="256032" cy="256032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732519" y="3017520"/>
            <a:ext cx="256032" cy="256032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988552" y="3017520"/>
            <a:ext cx="256032" cy="256032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476488" y="3273552"/>
            <a:ext cx="256032" cy="256032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732519" y="3273552"/>
            <a:ext cx="256032" cy="256032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988552" y="3273552"/>
            <a:ext cx="256032" cy="256032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76488" y="3529584"/>
            <a:ext cx="256032" cy="256032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732519" y="3529584"/>
            <a:ext cx="256032" cy="256032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988552" y="3529584"/>
            <a:ext cx="256032" cy="256032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293608" y="3840480"/>
            <a:ext cx="1133856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4A5A70"/>
                </a:solidFill>
                <a:latin typeface="PT Sans"/>
              </a:rPr>
              <a:t>2-катмар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93608" y="4133087"/>
            <a:ext cx="1133856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4418C"/>
                </a:solidFill>
                <a:latin typeface="PT Sans"/>
              </a:rPr>
              <a:t>3 × 3 = 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957816" y="3017520"/>
            <a:ext cx="256032" cy="256032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213848" y="3017520"/>
            <a:ext cx="256032" cy="256032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469880" y="3017520"/>
            <a:ext cx="256032" cy="256032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957816" y="3273552"/>
            <a:ext cx="256032" cy="256032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213848" y="3273552"/>
            <a:ext cx="256032" cy="256032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469880" y="3273552"/>
            <a:ext cx="256032" cy="256032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957816" y="3529584"/>
            <a:ext cx="256032" cy="256032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213848" y="3529584"/>
            <a:ext cx="256032" cy="256032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469880" y="3529584"/>
            <a:ext cx="256032" cy="256032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774936" y="3840480"/>
            <a:ext cx="1133856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4A5A70"/>
                </a:solidFill>
                <a:latin typeface="PT Sans"/>
              </a:rPr>
              <a:t>3-катмар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774936" y="4133087"/>
            <a:ext cx="1133856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4418C"/>
                </a:solidFill>
                <a:latin typeface="PT Sans"/>
              </a:rPr>
              <a:t>3 × 3 = 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03720" y="4617720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 × 3 × 3 = 27 = 3³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903720" y="5138928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27 кутуча → кыры 3: ∛27 = 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5² = 25, √25 = 5          3³ = 27, ∛27 = 3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Квадрат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a × a:  6² = 36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Куб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a × a × a:  4³ = 64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√ 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Тамыр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√36 = 6, анткени 6² = 36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10³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10дун даражасы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1 000: 3 нөл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2 + 3² = 2 + 9 = 11,  бирок  (2 + 3)² = 25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Адегенде болжолдо: 50дөн чоңбу, кичинеби?  2 × 5² − √49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 × 5² − √49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2 × 25 − 7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Да: 5², √49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50 − 7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Жооп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43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Адегенде болжолдо: 500дөн азбы?  (6 − 2)³ + 4 × 10²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(6 − 2)³ + 4 × 10²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4³ + 4 × 10²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64 + 400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Да, Кө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464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Жооп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464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тамыр, куб, нөлдөр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Тескери суроо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√64 =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? × ? = 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8 × 8 = 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Тамыр: кайсы сандын квадраты 64?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Кубду катмар менен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4 × 4 ×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16 ×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Бир катмар 4 × 4 = 16, катмар 4.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Канча нөл?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 × 10³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10³ = 1 000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нөл кошобуз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7 000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10дун көрсөткүчү = нөлдөрдүн саны.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Адегенде болжолдо → сүрөттү элестет → эсепте → тескери амал менен текшер.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Эсепте: 3 + 2³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Нурай 3 табак толтурду. Ар бир табакта 6 катар, ар катарда 6 өрүк. Баары канча өрүк?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Чоң табакка 8² өрүк, кичине табакка 5² өрүк батат. Чоң табакка канча өрүк көп батат?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81 өрүк квадрат табакка тизилди. Бир катарда канча өрүк? Эрмек 2 катарын жеп койду. Канча калды?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Нурай 3 табак толтурду. Ар бир табакта 6 катар, ар катарда 6 өрүк. Баары канча өрүк?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6² = 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48232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6² = 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9536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6² = 36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3 × 6² = 108 өрүк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Чоң табакка 8² өрүк, кичине табакка 5² өрүк батат. Чоң табакка канча өрүк көп батат?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19600" y="3017520"/>
            <a:ext cx="234391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8² = 64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19600" y="3574389"/>
            <a:ext cx="91559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5² = 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5190" y="3574389"/>
            <a:ext cx="1428321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8² − 5² = 39 өрүк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81 өрүк квадрат табакка тизилди. Бир катарда канча өрүк? Эрмек 2 катарын жеп койду. Канча калды?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2272" y="3017520"/>
            <a:ext cx="26043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32706" y="3017520"/>
            <a:ext cx="26043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93141" y="3017520"/>
            <a:ext cx="26043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3576" y="3017520"/>
            <a:ext cx="26043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14010" y="3017520"/>
            <a:ext cx="26043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74445" y="3017520"/>
            <a:ext cx="26043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34880" y="3017520"/>
            <a:ext cx="26043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95314" y="3017520"/>
            <a:ext cx="260434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55749" y="3017520"/>
            <a:ext cx="260434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81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81 − 2 × √81 = 63 өрүк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5² + 3³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√100 − ∛8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× 10³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(9 − 4)² ÷ 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2⁴ − 2 ×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Кашаа кой → 49:  1 + 2 × 3²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5² + 3³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√100 − ∛8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× 10³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3 000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(9 − 4)² ÷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2⁴ − 2 ×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Кашаа кой → 49:  1 + 2 × 3²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(1 + 2 × 3)²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Чоң табакка 8² өрүк, кичине табакка 5² өрүк батат. Нурай 2 чоң жана 1 кичине табакты толтурду. Баары канча өрүк?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Өрүк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3174701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8² = 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2141" y="2240280"/>
            <a:ext cx="3174701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8² = 64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26842" y="2240280"/>
            <a:ext cx="124011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5² = 25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153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2 × 8² + 5²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Да: адегенде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2 × 64 + 25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128 + 25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28032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= 153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828032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өрүк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Нурай 153 өрүк тизди. Даража адегенде!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Баткен өрүгү жөнүндө маселе түз: табак (квадрат) же жашик (куб) болсун, туюнтмада даража жана дагы бир амал болсун.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Нурай, Эрмек, Гүлзат чоң эне.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Эсепте: 2 × 5² − 10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Эсепте: √64 + ∛27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Даража менен жаз жана эсепте: 10 × 10 × 10 × 10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4² = 16, бирок 4³ = 64? Сүрөт менен түшүндүр.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√49 = 7 экенин кантип текшересиң?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2 + 3² эсептегенде эмнени адегенде аткарабыз? Эмне үчүн?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Квадрат жана куб сандар, даража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жупка 30 буурчак жана 8–27 кант кесеги (же гугурт кутучасы): квадрат = катар × катар.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даражада: «негиз – эмнени көбөйтөбүз, көрсөткүч – канча жолу?» (М1, М6).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Тамырды дайыма тескери амал менен текшертем: √49 = 7, анткени 7 × 7 = 49 (М3, М7).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Доскада 1²…12² жана 1³…5³ таблицасы сабак бою турат.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