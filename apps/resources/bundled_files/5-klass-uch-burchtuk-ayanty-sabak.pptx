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беремин. Доскага трапецияны чийип, окуучулар болжолдошсун: аянты 10 × 4 = 40тан кичинеби, чоңбу? Эмне үчүн? Чети менен аянттын бирдиги эмнеси менен айырмаланат? Жоопту сабактын аягында (22-слайд)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2,6).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Элдияр: кесип жылдырсак, 6 × 4 тик бурчтук болот. Айдана кыйгач капталды алды (М2).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чакмак дептердин 2 барагы, кайчы, скотч же желим, сызгыч. Чакмак кагазга фигураларды мен доскага чийгендей чийишет (1 чакмак = 1 см). 1) 4 × 3 тик бурчтукту диагонал боюнча кесишет: эки үч бурчтук бирдей, ар бири жарымы (М1). 2) Параллелограммдан үч бурчтукту кесип, экинчи жагына жабыштырышат: тик бурчтук, туурасы – бийиктик, каптал эмес (М2). 3) Эки бирдей үч бурчтуктан параллелограмм курушат. Ар бир кадамда чакмактарды санашат: аянт өзгөрбөйт. Проектор жок болсо, ушул сүрөттү доскага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чакмак дептерге трапецияны чийишет (1 чакмак = 1 м). 1-жол: бийиктиктерди түшүрүп, тик бурчтук жана эки үч бурчтукка бөлөбүз. 2-жол: эки бирдей трапецияны (экинчиси оодарылган) бириктирип, параллелограмм алабыз: (10 + 4) × 4 = 56, жарымы 28. Эки жооп бирдей! Чети: 4 жак, бийиктик кирбейт (М3). Каптал 5 м: 3 чакмак оңго, 4 чакмак өйдө – сызгыч менен ченешет.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Формуланы жаттоодон мурун ар бирин кесип-жылдыруу менен «ачабыз». Бийиктик – негизге тик (бурчтук менен текшерем); каптал бийиктик эмес (М2). Периметрде бийиктик жок (М3).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окуучу үн чыгарып айтат: «адегенде жуп санды экиге бөлөм». «Оозеки беш мүнөт» (класста колдонуу картасы) эки апта ушул ыкмаларды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М1; Б = М2; В = ✓; Г = М1, М2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курама фигура → аянттарды салыштыруу → кесилген бөлүк. Жооптор: 6 × 4 + 6 × 3 ÷ 2 = 24 + 9 = 33 м²; 24 − 20 = 4 м²: А гүлзар чоң; 10 × 6 − 4 × 3 ÷ 2 = 60 − 6 = 54 м²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Трапецияны тик бурчтук (4 × 4 = 16) жана эки үч бурчтукка (3 × 4 ÷ 2 = 6) бөлдүк: 6 + 16 + 6 = 28 м². Текшерүү: (10 + 4) × 4 ÷ 2 = 28. Чети: 10 + 4 + 5 + 5 = 24 м; бийиктик (4 м) чекке кирбейт (М3). Көчөт: 28 × 4 = 112 (28 топ, 4төн).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12 × 5 ÷ 2 = 30 см²; (8 + 6) × 3 ÷ 2 = 21 м²; P = 30 см;  S = 45 см²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Үч бурчтук, параллелограмм, трапеция: аянты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Кара-Балтадагы мектеп гүлзары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Айдана менен Элдияр Самат агай менен мектептин короосуна ар кандай формадагы гүлзарларды жасашат.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 (2018), 5-класс «Геометриялык маалымат» (үч бурчтуктун аянты, курама фигуралар). Кыргызча окуу китеби папкада жок; мазмуну, сандары жана окуясы толук жаңы.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Кара-Балтадагы мектеп гүлзары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Кара-Балтадагы мектептин короосунда жазында жаңы гүлзарлар жасалат.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Самат агай 5-класстын окуучулары Айдана менен Элдиярга план берди: гүлзарлар үч бурчтук, параллелограмм жана трапеция түрүндө болот.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Эң чоң гүлзар – трапеция: негиздери 10 м жана 4 м, бийиктиги 4 м, капталдары 5 м.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Канча жерге топурак төгүп, көчөт отургузабыз? Четине канча метр кирпич тизебиз?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Трапеция гүлзар: негиздери 10 м жана 4 м, бийиктиги 4 м, капталдары 5 м. Аянты канча? Чети канча метр? 1 м² га 4 көчөт: канча көчөт?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Параллелограммды кесип тик бурчтук жасайм, аянтын негиз × бийиктик менен табам.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Үч бурчтуктун аянтын параллелограммдын жарымы катары табам: a × h ÷ 2.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Трапециянын жана курама фигуралардын аянтын, бардык фигуралардын периметрин табам.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Үч бурчтук, параллелограмм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Трапеция, периметр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Курама фигура, белгисиз 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Бийиктикпи же капталбы?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Жупта: кес, жылдыр, жабыштыр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Кара-Балтадагы гүлзар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Короо, бакча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Аянт: чакмак саноо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Тик бурчтук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Тик бурчтук: P, S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L фигура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Үч бурчтук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Параллелограмм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Трапеция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Көп бурчтук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Тегерек, көлөм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9 ×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48 ÷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Тик бурчтук 7 см × 4 см: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Тик бурчтук 7 см × 4 см: 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9 ×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48 ÷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Тик бурчтук 7 см × 4 см: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28 см²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Тик бурчтук 7 см × 4 см: 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22 см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Самат агай: «Параллелограмм гүлзардын негизи 6 м, бийиктиги 4 м, капталы 5 м. Аянты канча?»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Айдана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6 × 5 = 30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Аянты 30 м²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Элдияр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6 × 4 = 24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Аянты 24 м²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Кагаздан кесип, тик бурчтук жаса.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cxnSp>
        <p:nvCxnSpPr>
          <p:cNvPr id="22" name="uchb-deco"/>
          <p:cNvCxnSpPr/>
          <p:nvPr/>
        </p:nvCxnSpPr>
        <p:spPr>
          <a:xfrm>
            <a:off x="2944368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uchb-deco"/>
          <p:cNvCxnSpPr/>
          <p:nvPr/>
        </p:nvCxnSpPr>
        <p:spPr>
          <a:xfrm>
            <a:off x="3210375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uchb-deco"/>
          <p:cNvCxnSpPr/>
          <p:nvPr/>
        </p:nvCxnSpPr>
        <p:spPr>
          <a:xfrm>
            <a:off x="3476382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uchb-deco"/>
          <p:cNvCxnSpPr/>
          <p:nvPr/>
        </p:nvCxnSpPr>
        <p:spPr>
          <a:xfrm>
            <a:off x="3742389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uchb-deco"/>
          <p:cNvCxnSpPr/>
          <p:nvPr/>
        </p:nvCxnSpPr>
        <p:spPr>
          <a:xfrm>
            <a:off x="4008397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uchb-deco"/>
          <p:cNvCxnSpPr/>
          <p:nvPr/>
        </p:nvCxnSpPr>
        <p:spPr>
          <a:xfrm>
            <a:off x="4274404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uchb-deco"/>
          <p:cNvCxnSpPr/>
          <p:nvPr/>
        </p:nvCxnSpPr>
        <p:spPr>
          <a:xfrm>
            <a:off x="4540411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uchb-deco"/>
          <p:cNvCxnSpPr/>
          <p:nvPr/>
        </p:nvCxnSpPr>
        <p:spPr>
          <a:xfrm>
            <a:off x="4806418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uchb-deco"/>
          <p:cNvCxnSpPr/>
          <p:nvPr/>
        </p:nvCxnSpPr>
        <p:spPr>
          <a:xfrm>
            <a:off x="5072426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uchb-deco"/>
          <p:cNvCxnSpPr/>
          <p:nvPr/>
        </p:nvCxnSpPr>
        <p:spPr>
          <a:xfrm>
            <a:off x="5338433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uchb-deco"/>
          <p:cNvCxnSpPr/>
          <p:nvPr/>
        </p:nvCxnSpPr>
        <p:spPr>
          <a:xfrm>
            <a:off x="5604440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uchb-deco"/>
          <p:cNvCxnSpPr/>
          <p:nvPr/>
        </p:nvCxnSpPr>
        <p:spPr>
          <a:xfrm>
            <a:off x="5870448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uchb-deco"/>
          <p:cNvCxnSpPr/>
          <p:nvPr/>
        </p:nvCxnSpPr>
        <p:spPr>
          <a:xfrm>
            <a:off x="2944368" y="2913610"/>
            <a:ext cx="292608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uchb-deco"/>
          <p:cNvCxnSpPr/>
          <p:nvPr/>
        </p:nvCxnSpPr>
        <p:spPr>
          <a:xfrm>
            <a:off x="2944368" y="3179618"/>
            <a:ext cx="292608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uchb-deco"/>
          <p:cNvCxnSpPr/>
          <p:nvPr/>
        </p:nvCxnSpPr>
        <p:spPr>
          <a:xfrm>
            <a:off x="2944368" y="3445625"/>
            <a:ext cx="292608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uchb-deco"/>
          <p:cNvCxnSpPr/>
          <p:nvPr/>
        </p:nvCxnSpPr>
        <p:spPr>
          <a:xfrm>
            <a:off x="2944368" y="3711632"/>
            <a:ext cx="292608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uchb-deco"/>
          <p:cNvCxnSpPr/>
          <p:nvPr/>
        </p:nvCxnSpPr>
        <p:spPr>
          <a:xfrm>
            <a:off x="2944368" y="3977639"/>
            <a:ext cx="292608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uchb-deco"/>
          <p:cNvCxnSpPr/>
          <p:nvPr/>
        </p:nvCxnSpPr>
        <p:spPr>
          <a:xfrm>
            <a:off x="2944368" y="4243647"/>
            <a:ext cx="292608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uchb-deco"/>
          <p:cNvCxnSpPr/>
          <p:nvPr/>
        </p:nvCxnSpPr>
        <p:spPr>
          <a:xfrm>
            <a:off x="2944368" y="4509654"/>
            <a:ext cx="292608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uchb-deco"/>
          <p:cNvCxnSpPr/>
          <p:nvPr/>
        </p:nvCxnSpPr>
        <p:spPr>
          <a:xfrm>
            <a:off x="2944368" y="4775661"/>
            <a:ext cx="292608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uchb-deco"/>
          <p:cNvCxnSpPr/>
          <p:nvPr/>
        </p:nvCxnSpPr>
        <p:spPr>
          <a:xfrm>
            <a:off x="2944368" y="5041669"/>
            <a:ext cx="292608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uchb-deco"/>
          <p:cNvSpPr/>
          <p:nvPr/>
        </p:nvSpPr>
        <p:spPr>
          <a:xfrm>
            <a:off x="3210375" y="3445625"/>
            <a:ext cx="2394066" cy="1064030"/>
          </a:xfrm>
          <a:custGeom>
            <a:avLst/>
            <a:gdLst/>
            <a:ahLst/>
            <a:cxnLst/>
            <a:rect l="l" t="t" r="r" b="b"/>
            <a:pathLst>
              <a:path w="2394066" h="1064030">
                <a:moveTo>
                  <a:pt x="0" y="1064030"/>
                </a:moveTo>
                <a:lnTo>
                  <a:pt x="1596044" y="1064030"/>
                </a:lnTo>
                <a:lnTo>
                  <a:pt x="2394066" y="0"/>
                </a:lnTo>
                <a:lnTo>
                  <a:pt x="798022" y="0"/>
                </a:lnTo>
                <a:close/>
              </a:path>
            </a:pathLst>
          </a:custGeom>
          <a:solidFill>
            <a:srgbClr val="B5E2D3"/>
          </a:solidFill>
          <a:ln w="1143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uchb-deco"/>
          <p:cNvSpPr/>
          <p:nvPr/>
        </p:nvSpPr>
        <p:spPr>
          <a:xfrm>
            <a:off x="3210375" y="3445625"/>
            <a:ext cx="2394066" cy="1064030"/>
          </a:xfrm>
          <a:custGeom>
            <a:avLst/>
            <a:gdLst/>
            <a:ahLst/>
            <a:cxnLst/>
            <a:rect l="l" t="t" r="r" b="b"/>
            <a:pathLst>
              <a:path w="2394066" h="1064030">
                <a:moveTo>
                  <a:pt x="0" y="1064030"/>
                </a:moveTo>
                <a:lnTo>
                  <a:pt x="1596044" y="1064030"/>
                </a:lnTo>
                <a:lnTo>
                  <a:pt x="2394066" y="0"/>
                </a:lnTo>
                <a:lnTo>
                  <a:pt x="798022" y="0"/>
                </a:lnTo>
                <a:close/>
              </a:path>
            </a:pathLst>
          </a:custGeom>
          <a:noFill/>
          <a:ln w="2586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uchb-deco"/>
          <p:cNvCxnSpPr/>
          <p:nvPr/>
        </p:nvCxnSpPr>
        <p:spPr>
          <a:xfrm flipV="1">
            <a:off x="4806418" y="3445625"/>
            <a:ext cx="798022" cy="1064029"/>
          </a:xfrm>
          <a:prstGeom prst="line">
            <a:avLst/>
          </a:prstGeom>
          <a:ln w="46551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uchb-deco"/>
          <p:cNvCxnSpPr/>
          <p:nvPr/>
        </p:nvCxnSpPr>
        <p:spPr>
          <a:xfrm>
            <a:off x="4008397" y="3445625"/>
            <a:ext cx="0" cy="1064029"/>
          </a:xfrm>
          <a:prstGeom prst="line">
            <a:avLst/>
          </a:prstGeom>
          <a:ln w="15517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uchb-deco"/>
          <p:cNvSpPr/>
          <p:nvPr/>
        </p:nvSpPr>
        <p:spPr>
          <a:xfrm>
            <a:off x="4008397" y="4429852"/>
            <a:ext cx="79802" cy="79803"/>
          </a:xfrm>
          <a:custGeom>
            <a:avLst/>
            <a:gdLst/>
            <a:ahLst/>
            <a:cxnLst/>
            <a:rect l="l" t="t" r="r" b="b"/>
            <a:pathLst>
              <a:path w="79802" h="79803">
                <a:moveTo>
                  <a:pt x="79802" y="79803"/>
                </a:moveTo>
                <a:lnTo>
                  <a:pt x="79802" y="0"/>
                </a:lnTo>
                <a:lnTo>
                  <a:pt x="0" y="0"/>
                </a:lnTo>
              </a:path>
            </a:pathLst>
          </a:custGeom>
          <a:noFill/>
          <a:ln w="11430" cap="rnd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uchb-deco"/>
          <p:cNvSpPr txBox="1"/>
          <p:nvPr/>
        </p:nvSpPr>
        <p:spPr>
          <a:xfrm>
            <a:off x="3852663" y="4546230"/>
            <a:ext cx="311467" cy="1933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1D3557"/>
                </a:solidFill>
                <a:latin typeface="PT Sans"/>
              </a:rPr>
              <a:t>6 м</a:t>
            </a:r>
          </a:p>
        </p:txBody>
      </p:sp>
      <p:sp>
        <p:nvSpPr>
          <p:cNvPr id="49" name="uchb-deco"/>
          <p:cNvSpPr txBox="1"/>
          <p:nvPr/>
        </p:nvSpPr>
        <p:spPr>
          <a:xfrm>
            <a:off x="4054117" y="3880961"/>
            <a:ext cx="311467" cy="1933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A84400"/>
                </a:solidFill>
                <a:latin typeface="PT Sans"/>
              </a:rPr>
              <a:t>4 м</a:t>
            </a:r>
          </a:p>
        </p:txBody>
      </p:sp>
      <p:sp>
        <p:nvSpPr>
          <p:cNvPr id="50" name="uchb-deco"/>
          <p:cNvSpPr txBox="1"/>
          <p:nvPr/>
        </p:nvSpPr>
        <p:spPr>
          <a:xfrm>
            <a:off x="5225032" y="4012463"/>
            <a:ext cx="311467" cy="1933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1D3557"/>
                </a:solidFill>
                <a:latin typeface="PT Sans"/>
              </a:rPr>
              <a:t>5 м</a:t>
            </a:r>
          </a:p>
        </p:txBody>
      </p:sp>
      <p:cxnSp>
        <p:nvCxnSpPr>
          <p:cNvPr id="51" name="uchb-deco"/>
          <p:cNvCxnSpPr/>
          <p:nvPr/>
        </p:nvCxnSpPr>
        <p:spPr>
          <a:xfrm>
            <a:off x="8723376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uchb-deco"/>
          <p:cNvCxnSpPr/>
          <p:nvPr/>
        </p:nvCxnSpPr>
        <p:spPr>
          <a:xfrm>
            <a:off x="8989383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uchb-deco"/>
          <p:cNvCxnSpPr/>
          <p:nvPr/>
        </p:nvCxnSpPr>
        <p:spPr>
          <a:xfrm>
            <a:off x="9255390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uchb-deco"/>
          <p:cNvCxnSpPr/>
          <p:nvPr/>
        </p:nvCxnSpPr>
        <p:spPr>
          <a:xfrm>
            <a:off x="9521397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uchb-deco"/>
          <p:cNvCxnSpPr/>
          <p:nvPr/>
        </p:nvCxnSpPr>
        <p:spPr>
          <a:xfrm>
            <a:off x="9787405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uchb-deco"/>
          <p:cNvCxnSpPr/>
          <p:nvPr/>
        </p:nvCxnSpPr>
        <p:spPr>
          <a:xfrm>
            <a:off x="10053412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uchb-deco"/>
          <p:cNvCxnSpPr/>
          <p:nvPr/>
        </p:nvCxnSpPr>
        <p:spPr>
          <a:xfrm>
            <a:off x="10319419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uchb-deco"/>
          <p:cNvCxnSpPr/>
          <p:nvPr/>
        </p:nvCxnSpPr>
        <p:spPr>
          <a:xfrm>
            <a:off x="10585426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uchb-deco"/>
          <p:cNvCxnSpPr/>
          <p:nvPr/>
        </p:nvCxnSpPr>
        <p:spPr>
          <a:xfrm>
            <a:off x="10851434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uchb-deco"/>
          <p:cNvCxnSpPr/>
          <p:nvPr/>
        </p:nvCxnSpPr>
        <p:spPr>
          <a:xfrm>
            <a:off x="11117441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uchb-deco"/>
          <p:cNvCxnSpPr/>
          <p:nvPr/>
        </p:nvCxnSpPr>
        <p:spPr>
          <a:xfrm>
            <a:off x="11383448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uchb-deco"/>
          <p:cNvCxnSpPr/>
          <p:nvPr/>
        </p:nvCxnSpPr>
        <p:spPr>
          <a:xfrm>
            <a:off x="11649456" y="2913610"/>
            <a:ext cx="0" cy="212805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uchb-deco"/>
          <p:cNvCxnSpPr/>
          <p:nvPr/>
        </p:nvCxnSpPr>
        <p:spPr>
          <a:xfrm>
            <a:off x="8723376" y="2913610"/>
            <a:ext cx="292608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uchb-deco"/>
          <p:cNvCxnSpPr/>
          <p:nvPr/>
        </p:nvCxnSpPr>
        <p:spPr>
          <a:xfrm>
            <a:off x="8723376" y="3179618"/>
            <a:ext cx="292608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uchb-deco"/>
          <p:cNvCxnSpPr/>
          <p:nvPr/>
        </p:nvCxnSpPr>
        <p:spPr>
          <a:xfrm>
            <a:off x="8723376" y="3445625"/>
            <a:ext cx="292608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uchb-deco"/>
          <p:cNvCxnSpPr/>
          <p:nvPr/>
        </p:nvCxnSpPr>
        <p:spPr>
          <a:xfrm>
            <a:off x="8723376" y="3711632"/>
            <a:ext cx="292608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uchb-deco"/>
          <p:cNvCxnSpPr/>
          <p:nvPr/>
        </p:nvCxnSpPr>
        <p:spPr>
          <a:xfrm>
            <a:off x="8723376" y="3977639"/>
            <a:ext cx="292608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uchb-deco"/>
          <p:cNvCxnSpPr/>
          <p:nvPr/>
        </p:nvCxnSpPr>
        <p:spPr>
          <a:xfrm>
            <a:off x="8723376" y="4243647"/>
            <a:ext cx="292608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uchb-deco"/>
          <p:cNvCxnSpPr/>
          <p:nvPr/>
        </p:nvCxnSpPr>
        <p:spPr>
          <a:xfrm>
            <a:off x="8723376" y="4509654"/>
            <a:ext cx="292608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uchb-deco"/>
          <p:cNvCxnSpPr/>
          <p:nvPr/>
        </p:nvCxnSpPr>
        <p:spPr>
          <a:xfrm>
            <a:off x="8723376" y="4775661"/>
            <a:ext cx="292608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uchb-deco"/>
          <p:cNvCxnSpPr/>
          <p:nvPr/>
        </p:nvCxnSpPr>
        <p:spPr>
          <a:xfrm>
            <a:off x="8723376" y="5041669"/>
            <a:ext cx="292608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uchb-deco"/>
          <p:cNvSpPr/>
          <p:nvPr/>
        </p:nvSpPr>
        <p:spPr>
          <a:xfrm>
            <a:off x="8989383" y="3445625"/>
            <a:ext cx="2394066" cy="1064030"/>
          </a:xfrm>
          <a:custGeom>
            <a:avLst/>
            <a:gdLst/>
            <a:ahLst/>
            <a:cxnLst/>
            <a:rect l="l" t="t" r="r" b="b"/>
            <a:pathLst>
              <a:path w="2394066" h="1064030">
                <a:moveTo>
                  <a:pt x="0" y="1064030"/>
                </a:moveTo>
                <a:lnTo>
                  <a:pt x="1596044" y="1064030"/>
                </a:lnTo>
                <a:lnTo>
                  <a:pt x="2394066" y="0"/>
                </a:lnTo>
                <a:lnTo>
                  <a:pt x="798022" y="0"/>
                </a:lnTo>
                <a:close/>
              </a:path>
            </a:pathLst>
          </a:custGeom>
          <a:solidFill>
            <a:srgbClr val="B5E2D3"/>
          </a:solidFill>
          <a:ln w="1143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uchb-deco"/>
          <p:cNvSpPr/>
          <p:nvPr/>
        </p:nvSpPr>
        <p:spPr>
          <a:xfrm>
            <a:off x="8989383" y="3445625"/>
            <a:ext cx="2394066" cy="1064030"/>
          </a:xfrm>
          <a:custGeom>
            <a:avLst/>
            <a:gdLst/>
            <a:ahLst/>
            <a:cxnLst/>
            <a:rect l="l" t="t" r="r" b="b"/>
            <a:pathLst>
              <a:path w="2394066" h="1064030">
                <a:moveTo>
                  <a:pt x="0" y="1064030"/>
                </a:moveTo>
                <a:lnTo>
                  <a:pt x="1596044" y="1064030"/>
                </a:lnTo>
                <a:lnTo>
                  <a:pt x="2394066" y="0"/>
                </a:lnTo>
                <a:lnTo>
                  <a:pt x="798022" y="0"/>
                </a:lnTo>
                <a:close/>
              </a:path>
            </a:pathLst>
          </a:custGeom>
          <a:noFill/>
          <a:ln w="2586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uchb-deco"/>
          <p:cNvCxnSpPr/>
          <p:nvPr/>
        </p:nvCxnSpPr>
        <p:spPr>
          <a:xfrm>
            <a:off x="9787405" y="3445625"/>
            <a:ext cx="0" cy="1064029"/>
          </a:xfrm>
          <a:prstGeom prst="line">
            <a:avLst/>
          </a:prstGeom>
          <a:ln w="15517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uchb-deco"/>
          <p:cNvSpPr/>
          <p:nvPr/>
        </p:nvSpPr>
        <p:spPr>
          <a:xfrm>
            <a:off x="9787405" y="4429852"/>
            <a:ext cx="79802" cy="79803"/>
          </a:xfrm>
          <a:custGeom>
            <a:avLst/>
            <a:gdLst/>
            <a:ahLst/>
            <a:cxnLst/>
            <a:rect l="l" t="t" r="r" b="b"/>
            <a:pathLst>
              <a:path w="79802" h="79803">
                <a:moveTo>
                  <a:pt x="79802" y="79803"/>
                </a:moveTo>
                <a:lnTo>
                  <a:pt x="79802" y="0"/>
                </a:lnTo>
                <a:lnTo>
                  <a:pt x="0" y="0"/>
                </a:lnTo>
              </a:path>
            </a:pathLst>
          </a:custGeom>
          <a:noFill/>
          <a:ln w="11430" cap="rnd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uchb-deco"/>
          <p:cNvSpPr txBox="1"/>
          <p:nvPr/>
        </p:nvSpPr>
        <p:spPr>
          <a:xfrm>
            <a:off x="9631671" y="4546230"/>
            <a:ext cx="311467" cy="1933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1D3557"/>
                </a:solidFill>
                <a:latin typeface="PT Sans"/>
              </a:rPr>
              <a:t>6 м</a:t>
            </a:r>
          </a:p>
        </p:txBody>
      </p:sp>
      <p:sp>
        <p:nvSpPr>
          <p:cNvPr id="77" name="uchb-deco"/>
          <p:cNvSpPr txBox="1"/>
          <p:nvPr/>
        </p:nvSpPr>
        <p:spPr>
          <a:xfrm>
            <a:off x="9833125" y="3880961"/>
            <a:ext cx="311467" cy="1933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A84400"/>
                </a:solidFill>
                <a:latin typeface="PT Sans"/>
              </a:rPr>
              <a:t>4 м</a:t>
            </a:r>
          </a:p>
        </p:txBody>
      </p:sp>
      <p:sp>
        <p:nvSpPr>
          <p:cNvPr id="78" name="uchb-deco"/>
          <p:cNvSpPr txBox="1"/>
          <p:nvPr/>
        </p:nvSpPr>
        <p:spPr>
          <a:xfrm>
            <a:off x="11004040" y="4012463"/>
            <a:ext cx="311467" cy="1933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1D3557"/>
                </a:solidFill>
                <a:latin typeface="PT Sans"/>
              </a:rPr>
              <a:t>5 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чакмак кагаздан фигураны кесип, бөлүгүн жылдырып, тик бурчтук жасайбыз.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03120"/>
            <a:ext cx="274320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130552"/>
            <a:ext cx="25603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Тик бурчтук → 2 үч бурчтук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4088" y="2692908"/>
            <a:ext cx="0" cy="877824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6696" y="2692908"/>
            <a:ext cx="0" cy="877824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89304" y="2692908"/>
            <a:ext cx="0" cy="877824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81912" y="2692908"/>
            <a:ext cx="0" cy="877824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74520" y="2692908"/>
            <a:ext cx="0" cy="877824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67128" y="2692908"/>
            <a:ext cx="0" cy="877824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459736" y="2692908"/>
            <a:ext cx="0" cy="877824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752344" y="2692908"/>
            <a:ext cx="0" cy="877824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4952" y="2692908"/>
            <a:ext cx="0" cy="877824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4088" y="2692908"/>
            <a:ext cx="2340864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4088" y="2985515"/>
            <a:ext cx="2340864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4088" y="3278124"/>
            <a:ext cx="2340864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04088" y="3570732"/>
            <a:ext cx="2340864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1289304" y="2692908"/>
            <a:ext cx="1170432" cy="877824"/>
          </a:xfrm>
          <a:custGeom>
            <a:avLst/>
            <a:gdLst/>
            <a:ahLst/>
            <a:cxnLst/>
            <a:rect l="l" t="t" r="r" b="b"/>
            <a:pathLst>
              <a:path w="1170432" h="877824">
                <a:moveTo>
                  <a:pt x="0" y="877824"/>
                </a:moveTo>
                <a:lnTo>
                  <a:pt x="1170432" y="877824"/>
                </a:lnTo>
                <a:lnTo>
                  <a:pt x="1170432" y="0"/>
                </a:lnTo>
                <a:lnTo>
                  <a:pt x="0" y="0"/>
                </a:lnTo>
                <a:close/>
              </a:path>
            </a:pathLst>
          </a:custGeom>
          <a:solidFill>
            <a:srgbClr val="B5E2D3"/>
          </a:solidFill>
          <a:ln w="1143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289304" y="2692908"/>
            <a:ext cx="1170432" cy="877824"/>
          </a:xfrm>
          <a:custGeom>
            <a:avLst/>
            <a:gdLst/>
            <a:ahLst/>
            <a:cxnLst/>
            <a:rect l="l" t="t" r="r" b="b"/>
            <a:pathLst>
              <a:path w="1170432" h="877824">
                <a:moveTo>
                  <a:pt x="0" y="877824"/>
                </a:moveTo>
                <a:lnTo>
                  <a:pt x="1170432" y="877824"/>
                </a:lnTo>
                <a:lnTo>
                  <a:pt x="1170432" y="0"/>
                </a:lnTo>
                <a:lnTo>
                  <a:pt x="0" y="0"/>
                </a:lnTo>
                <a:close/>
              </a:path>
            </a:pathLst>
          </a:custGeom>
          <a:noFill/>
          <a:ln w="2844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1289304" y="2692908"/>
            <a:ext cx="1170432" cy="877824"/>
          </a:xfrm>
          <a:prstGeom prst="line">
            <a:avLst/>
          </a:prstGeom>
          <a:ln w="17068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2920" y="370332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84400"/>
                </a:solidFill>
                <a:latin typeface="PT Sans"/>
              </a:rPr>
              <a:t>▼  кес, жылдыр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0850" y="419411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92777" y="419411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44703" y="419411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496630" y="419411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748556" y="419411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00483" y="419411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252409" y="419411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504336" y="419411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756262" y="419411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008189" y="419411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40850" y="4194110"/>
            <a:ext cx="2267339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40850" y="4446036"/>
            <a:ext cx="2267339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40850" y="4697963"/>
            <a:ext cx="2267339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0850" y="4949889"/>
            <a:ext cx="2267339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740851" y="4194110"/>
            <a:ext cx="1007706" cy="755780"/>
          </a:xfrm>
          <a:custGeom>
            <a:avLst/>
            <a:gdLst/>
            <a:ahLst/>
            <a:cxnLst/>
            <a:rect l="l" t="t" r="r" b="b"/>
            <a:pathLst>
              <a:path w="1007706" h="755780">
                <a:moveTo>
                  <a:pt x="0" y="755780"/>
                </a:moveTo>
                <a:lnTo>
                  <a:pt x="1007706" y="755780"/>
                </a:lnTo>
                <a:lnTo>
                  <a:pt x="0" y="0"/>
                </a:lnTo>
                <a:close/>
              </a:path>
            </a:pathLst>
          </a:custGeom>
          <a:solidFill>
            <a:srgbClr val="B5E2D3"/>
          </a:solidFill>
          <a:ln w="1143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000483" y="4194110"/>
            <a:ext cx="1007706" cy="755780"/>
          </a:xfrm>
          <a:custGeom>
            <a:avLst/>
            <a:gdLst/>
            <a:ahLst/>
            <a:cxnLst/>
            <a:rect l="l" t="t" r="r" b="b"/>
            <a:pathLst>
              <a:path w="1007706" h="755780">
                <a:moveTo>
                  <a:pt x="0" y="755780"/>
                </a:moveTo>
                <a:lnTo>
                  <a:pt x="0" y="0"/>
                </a:lnTo>
                <a:lnTo>
                  <a:pt x="1007706" y="0"/>
                </a:lnTo>
                <a:close/>
              </a:path>
            </a:pathLst>
          </a:custGeom>
          <a:solidFill>
            <a:srgbClr val="F2C9AC"/>
          </a:solidFill>
          <a:ln w="11430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740851" y="4194110"/>
            <a:ext cx="1007706" cy="755780"/>
          </a:xfrm>
          <a:custGeom>
            <a:avLst/>
            <a:gdLst/>
            <a:ahLst/>
            <a:cxnLst/>
            <a:rect l="l" t="t" r="r" b="b"/>
            <a:pathLst>
              <a:path w="1007706" h="755780">
                <a:moveTo>
                  <a:pt x="0" y="755780"/>
                </a:moveTo>
                <a:lnTo>
                  <a:pt x="1007706" y="755780"/>
                </a:lnTo>
                <a:lnTo>
                  <a:pt x="0" y="0"/>
                </a:lnTo>
                <a:close/>
              </a:path>
            </a:pathLst>
          </a:custGeom>
          <a:noFill/>
          <a:ln w="24492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000483" y="4194110"/>
            <a:ext cx="1007706" cy="755780"/>
          </a:xfrm>
          <a:custGeom>
            <a:avLst/>
            <a:gdLst/>
            <a:ahLst/>
            <a:cxnLst/>
            <a:rect l="l" t="t" r="r" b="b"/>
            <a:pathLst>
              <a:path w="1007706" h="755780">
                <a:moveTo>
                  <a:pt x="0" y="755780"/>
                </a:moveTo>
                <a:lnTo>
                  <a:pt x="0" y="0"/>
                </a:lnTo>
                <a:lnTo>
                  <a:pt x="1007706" y="0"/>
                </a:lnTo>
                <a:close/>
              </a:path>
            </a:pathLst>
          </a:custGeom>
          <a:noFill/>
          <a:ln w="24492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740851" y="4874312"/>
            <a:ext cx="75578" cy="75578"/>
          </a:xfrm>
          <a:custGeom>
            <a:avLst/>
            <a:gdLst/>
            <a:ahLst/>
            <a:cxnLst/>
            <a:rect l="l" t="t" r="r" b="b"/>
            <a:pathLst>
              <a:path w="75578" h="75578">
                <a:moveTo>
                  <a:pt x="75578" y="75578"/>
                </a:moveTo>
                <a:lnTo>
                  <a:pt x="75578" y="0"/>
                </a:lnTo>
                <a:lnTo>
                  <a:pt x="0" y="0"/>
                </a:lnTo>
              </a:path>
            </a:pathLst>
          </a:custGeom>
          <a:noFill/>
          <a:ln w="11430" cap="rnd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5138928"/>
            <a:ext cx="25603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4 × 3 = 12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Үч бурчтук: 12 ÷ 2 = 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19272" y="2103120"/>
            <a:ext cx="274320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10712" y="2130552"/>
            <a:ext cx="25603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Параллелограмм → тик бурчтук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666744" y="2692908"/>
            <a:ext cx="0" cy="877824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959352" y="2692908"/>
            <a:ext cx="0" cy="877824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251960" y="2692908"/>
            <a:ext cx="0" cy="877824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44568" y="2692908"/>
            <a:ext cx="0" cy="877824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837176" y="2692908"/>
            <a:ext cx="0" cy="877824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129784" y="2692908"/>
            <a:ext cx="0" cy="877824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22392" y="2692908"/>
            <a:ext cx="0" cy="877824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715000" y="2692908"/>
            <a:ext cx="0" cy="877824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666744" y="2692908"/>
            <a:ext cx="2048256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666744" y="2985515"/>
            <a:ext cx="2048256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666744" y="3278124"/>
            <a:ext cx="2048256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666744" y="3570732"/>
            <a:ext cx="2048256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reeform 64"/>
          <p:cNvSpPr/>
          <p:nvPr/>
        </p:nvSpPr>
        <p:spPr>
          <a:xfrm>
            <a:off x="3959352" y="2692908"/>
            <a:ext cx="1463040" cy="877824"/>
          </a:xfrm>
          <a:custGeom>
            <a:avLst/>
            <a:gdLst/>
            <a:ahLst/>
            <a:cxnLst/>
            <a:rect l="l" t="t" r="r" b="b"/>
            <a:pathLst>
              <a:path w="1463040" h="877824">
                <a:moveTo>
                  <a:pt x="0" y="877824"/>
                </a:moveTo>
                <a:lnTo>
                  <a:pt x="1170432" y="877824"/>
                </a:lnTo>
                <a:lnTo>
                  <a:pt x="1463040" y="0"/>
                </a:lnTo>
                <a:lnTo>
                  <a:pt x="292608" y="0"/>
                </a:lnTo>
                <a:close/>
              </a:path>
            </a:pathLst>
          </a:custGeom>
          <a:solidFill>
            <a:srgbClr val="B5E2D3"/>
          </a:solidFill>
          <a:ln w="1143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959352" y="2692908"/>
            <a:ext cx="292608" cy="877824"/>
          </a:xfrm>
          <a:custGeom>
            <a:avLst/>
            <a:gdLst/>
            <a:ahLst/>
            <a:cxnLst/>
            <a:rect l="l" t="t" r="r" b="b"/>
            <a:pathLst>
              <a:path w="292608" h="877824">
                <a:moveTo>
                  <a:pt x="0" y="877824"/>
                </a:moveTo>
                <a:lnTo>
                  <a:pt x="292608" y="877824"/>
                </a:lnTo>
                <a:lnTo>
                  <a:pt x="292608" y="0"/>
                </a:lnTo>
                <a:close/>
              </a:path>
            </a:pathLst>
          </a:custGeom>
          <a:solidFill>
            <a:srgbClr val="F2C9AC"/>
          </a:solidFill>
          <a:ln w="11430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959352" y="2692908"/>
            <a:ext cx="1463040" cy="877824"/>
          </a:xfrm>
          <a:custGeom>
            <a:avLst/>
            <a:gdLst/>
            <a:ahLst/>
            <a:cxnLst/>
            <a:rect l="l" t="t" r="r" b="b"/>
            <a:pathLst>
              <a:path w="1463040" h="877824">
                <a:moveTo>
                  <a:pt x="0" y="877824"/>
                </a:moveTo>
                <a:lnTo>
                  <a:pt x="1170432" y="877824"/>
                </a:lnTo>
                <a:lnTo>
                  <a:pt x="1463040" y="0"/>
                </a:lnTo>
                <a:lnTo>
                  <a:pt x="292608" y="0"/>
                </a:lnTo>
                <a:close/>
              </a:path>
            </a:pathLst>
          </a:custGeom>
          <a:noFill/>
          <a:ln w="2844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4251960" y="2692908"/>
            <a:ext cx="0" cy="877824"/>
          </a:xfrm>
          <a:prstGeom prst="line">
            <a:avLst/>
          </a:prstGeom>
          <a:ln w="17068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4251960" y="3482950"/>
            <a:ext cx="87782" cy="87782"/>
          </a:xfrm>
          <a:custGeom>
            <a:avLst/>
            <a:gdLst/>
            <a:ahLst/>
            <a:cxnLst/>
            <a:rect l="l" t="t" r="r" b="b"/>
            <a:pathLst>
              <a:path w="87782" h="87782">
                <a:moveTo>
                  <a:pt x="87782" y="87782"/>
                </a:moveTo>
                <a:lnTo>
                  <a:pt x="87782" y="0"/>
                </a:lnTo>
                <a:lnTo>
                  <a:pt x="0" y="0"/>
                </a:lnTo>
              </a:path>
            </a:pathLst>
          </a:custGeom>
          <a:noFill/>
          <a:ln w="11430" cap="rnd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19272" y="370332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84400"/>
                </a:solidFill>
                <a:latin typeface="PT Sans"/>
              </a:rPr>
              <a:t>▼  кес, жылдыр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3535840" y="4138863"/>
            <a:ext cx="0" cy="86627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824598" y="4138863"/>
            <a:ext cx="0" cy="86627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113356" y="4138863"/>
            <a:ext cx="0" cy="86627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402114" y="4138863"/>
            <a:ext cx="0" cy="86627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690872" y="4138863"/>
            <a:ext cx="0" cy="86627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979629" y="4138863"/>
            <a:ext cx="0" cy="86627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268387" y="4138863"/>
            <a:ext cx="0" cy="86627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557145" y="4138863"/>
            <a:ext cx="0" cy="86627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845903" y="4138863"/>
            <a:ext cx="0" cy="86627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535840" y="4138863"/>
            <a:ext cx="2310063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535840" y="4427621"/>
            <a:ext cx="2310063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535840" y="4716378"/>
            <a:ext cx="2310063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535840" y="5005136"/>
            <a:ext cx="2310063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4113356" y="4138863"/>
            <a:ext cx="1155032" cy="866274"/>
          </a:xfrm>
          <a:custGeom>
            <a:avLst/>
            <a:gdLst/>
            <a:ahLst/>
            <a:cxnLst/>
            <a:rect l="l" t="t" r="r" b="b"/>
            <a:pathLst>
              <a:path w="1155032" h="866274">
                <a:moveTo>
                  <a:pt x="0" y="866274"/>
                </a:moveTo>
                <a:lnTo>
                  <a:pt x="1155032" y="866274"/>
                </a:lnTo>
                <a:lnTo>
                  <a:pt x="1155032" y="0"/>
                </a:lnTo>
                <a:lnTo>
                  <a:pt x="0" y="0"/>
                </a:lnTo>
                <a:close/>
              </a:path>
            </a:pathLst>
          </a:custGeom>
          <a:solidFill>
            <a:srgbClr val="B5E2D3"/>
          </a:solidFill>
          <a:ln w="1143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4979630" y="4138863"/>
            <a:ext cx="288758" cy="866274"/>
          </a:xfrm>
          <a:custGeom>
            <a:avLst/>
            <a:gdLst/>
            <a:ahLst/>
            <a:cxnLst/>
            <a:rect l="l" t="t" r="r" b="b"/>
            <a:pathLst>
              <a:path w="288758" h="866274">
                <a:moveTo>
                  <a:pt x="0" y="866274"/>
                </a:moveTo>
                <a:lnTo>
                  <a:pt x="288758" y="866274"/>
                </a:lnTo>
                <a:lnTo>
                  <a:pt x="288758" y="0"/>
                </a:lnTo>
                <a:close/>
              </a:path>
            </a:pathLst>
          </a:custGeom>
          <a:solidFill>
            <a:srgbClr val="F2C9AC"/>
          </a:solidFill>
          <a:ln w="11430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4113356" y="4138863"/>
            <a:ext cx="1155032" cy="866274"/>
          </a:xfrm>
          <a:custGeom>
            <a:avLst/>
            <a:gdLst/>
            <a:ahLst/>
            <a:cxnLst/>
            <a:rect l="l" t="t" r="r" b="b"/>
            <a:pathLst>
              <a:path w="1155032" h="866274">
                <a:moveTo>
                  <a:pt x="0" y="866274"/>
                </a:moveTo>
                <a:lnTo>
                  <a:pt x="1155032" y="866274"/>
                </a:lnTo>
                <a:lnTo>
                  <a:pt x="1155032" y="0"/>
                </a:lnTo>
                <a:lnTo>
                  <a:pt x="0" y="0"/>
                </a:lnTo>
                <a:close/>
              </a:path>
            </a:pathLst>
          </a:custGeom>
          <a:noFill/>
          <a:ln w="28073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410712" y="5138928"/>
            <a:ext cx="25603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Кес → жылдыр: 4 × 3 = 12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Туурасы = бийиктик (3)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135624" y="2103120"/>
            <a:ext cx="274320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27064" y="2130552"/>
            <a:ext cx="25603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2 үч бурчтук → параллелограмм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373554" y="275393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625481" y="275393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877407" y="275393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129334" y="275393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381260" y="275393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633187" y="275393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885113" y="275393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137040" y="275393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388966" y="275393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640893" y="2753930"/>
            <a:ext cx="0" cy="755779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373554" y="2753930"/>
            <a:ext cx="2267339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6373554" y="3005856"/>
            <a:ext cx="2267339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373554" y="3257783"/>
            <a:ext cx="2267339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373554" y="3509709"/>
            <a:ext cx="2267339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Freeform 103"/>
          <p:cNvSpPr/>
          <p:nvPr/>
        </p:nvSpPr>
        <p:spPr>
          <a:xfrm>
            <a:off x="6373555" y="2753930"/>
            <a:ext cx="1007706" cy="755780"/>
          </a:xfrm>
          <a:custGeom>
            <a:avLst/>
            <a:gdLst/>
            <a:ahLst/>
            <a:cxnLst/>
            <a:rect l="l" t="t" r="r" b="b"/>
            <a:pathLst>
              <a:path w="1007706" h="755780">
                <a:moveTo>
                  <a:pt x="0" y="755780"/>
                </a:moveTo>
                <a:lnTo>
                  <a:pt x="1007706" y="755780"/>
                </a:lnTo>
                <a:lnTo>
                  <a:pt x="251926" y="0"/>
                </a:lnTo>
                <a:close/>
              </a:path>
            </a:pathLst>
          </a:custGeom>
          <a:solidFill>
            <a:srgbClr val="B5E2D3"/>
          </a:solidFill>
          <a:ln w="1143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7633187" y="2753930"/>
            <a:ext cx="1007706" cy="755780"/>
          </a:xfrm>
          <a:custGeom>
            <a:avLst/>
            <a:gdLst/>
            <a:ahLst/>
            <a:cxnLst/>
            <a:rect l="l" t="t" r="r" b="b"/>
            <a:pathLst>
              <a:path w="1007706" h="755780">
                <a:moveTo>
                  <a:pt x="0" y="0"/>
                </a:moveTo>
                <a:lnTo>
                  <a:pt x="1007706" y="0"/>
                </a:lnTo>
                <a:lnTo>
                  <a:pt x="755780" y="755780"/>
                </a:lnTo>
                <a:close/>
              </a:path>
            </a:pathLst>
          </a:custGeom>
          <a:solidFill>
            <a:srgbClr val="F2C9AC"/>
          </a:solidFill>
          <a:ln w="11430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6373555" y="2753930"/>
            <a:ext cx="1007706" cy="755780"/>
          </a:xfrm>
          <a:custGeom>
            <a:avLst/>
            <a:gdLst/>
            <a:ahLst/>
            <a:cxnLst/>
            <a:rect l="l" t="t" r="r" b="b"/>
            <a:pathLst>
              <a:path w="1007706" h="755780">
                <a:moveTo>
                  <a:pt x="0" y="755780"/>
                </a:moveTo>
                <a:lnTo>
                  <a:pt x="1007706" y="755780"/>
                </a:lnTo>
                <a:lnTo>
                  <a:pt x="251926" y="0"/>
                </a:lnTo>
                <a:close/>
              </a:path>
            </a:pathLst>
          </a:custGeom>
          <a:noFill/>
          <a:ln w="24492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7633187" y="2753930"/>
            <a:ext cx="1007706" cy="755780"/>
          </a:xfrm>
          <a:custGeom>
            <a:avLst/>
            <a:gdLst/>
            <a:ahLst/>
            <a:cxnLst/>
            <a:rect l="l" t="t" r="r" b="b"/>
            <a:pathLst>
              <a:path w="1007706" h="755780">
                <a:moveTo>
                  <a:pt x="0" y="0"/>
                </a:moveTo>
                <a:lnTo>
                  <a:pt x="1007706" y="0"/>
                </a:lnTo>
                <a:lnTo>
                  <a:pt x="755780" y="755780"/>
                </a:lnTo>
                <a:close/>
              </a:path>
            </a:pathLst>
          </a:custGeom>
          <a:noFill/>
          <a:ln w="24492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6625481" y="2753930"/>
            <a:ext cx="0" cy="755779"/>
          </a:xfrm>
          <a:prstGeom prst="line">
            <a:avLst/>
          </a:prstGeom>
          <a:ln w="14695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Freeform 108"/>
          <p:cNvSpPr/>
          <p:nvPr/>
        </p:nvSpPr>
        <p:spPr>
          <a:xfrm>
            <a:off x="6625481" y="3434132"/>
            <a:ext cx="75578" cy="75578"/>
          </a:xfrm>
          <a:custGeom>
            <a:avLst/>
            <a:gdLst/>
            <a:ahLst/>
            <a:cxnLst/>
            <a:rect l="l" t="t" r="r" b="b"/>
            <a:pathLst>
              <a:path w="75578" h="75578">
                <a:moveTo>
                  <a:pt x="75578" y="75578"/>
                </a:moveTo>
                <a:lnTo>
                  <a:pt x="75578" y="0"/>
                </a:lnTo>
                <a:lnTo>
                  <a:pt x="0" y="0"/>
                </a:lnTo>
              </a:path>
            </a:pathLst>
          </a:custGeom>
          <a:noFill/>
          <a:ln w="11430" cap="rnd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35624" y="370332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84400"/>
                </a:solidFill>
                <a:latin typeface="PT Sans"/>
              </a:rPr>
              <a:t>▼  кес, жылдыр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6496571" y="4138863"/>
            <a:ext cx="0" cy="86627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785329" y="4138863"/>
            <a:ext cx="0" cy="86627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074087" y="4138863"/>
            <a:ext cx="0" cy="86627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362845" y="4138863"/>
            <a:ext cx="0" cy="86627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651602" y="4138863"/>
            <a:ext cx="0" cy="86627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940360" y="4138863"/>
            <a:ext cx="0" cy="86627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8229118" y="4138863"/>
            <a:ext cx="0" cy="86627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517876" y="4138863"/>
            <a:ext cx="0" cy="86627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496571" y="4138863"/>
            <a:ext cx="2021305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6496571" y="4427621"/>
            <a:ext cx="2021305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6496571" y="4716378"/>
            <a:ext cx="2021305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6496571" y="5005136"/>
            <a:ext cx="2021305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Freeform 122"/>
          <p:cNvSpPr/>
          <p:nvPr/>
        </p:nvSpPr>
        <p:spPr>
          <a:xfrm>
            <a:off x="6785329" y="4138863"/>
            <a:ext cx="1155032" cy="866274"/>
          </a:xfrm>
          <a:custGeom>
            <a:avLst/>
            <a:gdLst/>
            <a:ahLst/>
            <a:cxnLst/>
            <a:rect l="l" t="t" r="r" b="b"/>
            <a:pathLst>
              <a:path w="1155032" h="866274">
                <a:moveTo>
                  <a:pt x="0" y="866274"/>
                </a:moveTo>
                <a:lnTo>
                  <a:pt x="1155032" y="866274"/>
                </a:lnTo>
                <a:lnTo>
                  <a:pt x="288758" y="0"/>
                </a:lnTo>
                <a:close/>
              </a:path>
            </a:pathLst>
          </a:custGeom>
          <a:solidFill>
            <a:srgbClr val="B5E2D3"/>
          </a:solidFill>
          <a:ln w="1143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7074087" y="4138863"/>
            <a:ext cx="1155032" cy="866274"/>
          </a:xfrm>
          <a:custGeom>
            <a:avLst/>
            <a:gdLst/>
            <a:ahLst/>
            <a:cxnLst/>
            <a:rect l="l" t="t" r="r" b="b"/>
            <a:pathLst>
              <a:path w="1155032" h="866274">
                <a:moveTo>
                  <a:pt x="0" y="0"/>
                </a:moveTo>
                <a:lnTo>
                  <a:pt x="1155032" y="0"/>
                </a:lnTo>
                <a:lnTo>
                  <a:pt x="866274" y="866274"/>
                </a:lnTo>
                <a:close/>
              </a:path>
            </a:pathLst>
          </a:custGeom>
          <a:solidFill>
            <a:srgbClr val="F2C9AC"/>
          </a:solidFill>
          <a:ln w="11430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6785329" y="4138863"/>
            <a:ext cx="1155032" cy="866274"/>
          </a:xfrm>
          <a:custGeom>
            <a:avLst/>
            <a:gdLst/>
            <a:ahLst/>
            <a:cxnLst/>
            <a:rect l="l" t="t" r="r" b="b"/>
            <a:pathLst>
              <a:path w="1155032" h="866274">
                <a:moveTo>
                  <a:pt x="0" y="866274"/>
                </a:moveTo>
                <a:lnTo>
                  <a:pt x="1155032" y="866274"/>
                </a:lnTo>
                <a:lnTo>
                  <a:pt x="288758" y="0"/>
                </a:lnTo>
                <a:close/>
              </a:path>
            </a:pathLst>
          </a:custGeom>
          <a:noFill/>
          <a:ln w="28073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7074087" y="4138863"/>
            <a:ext cx="1155032" cy="866274"/>
          </a:xfrm>
          <a:custGeom>
            <a:avLst/>
            <a:gdLst/>
            <a:ahLst/>
            <a:cxnLst/>
            <a:rect l="l" t="t" r="r" b="b"/>
            <a:pathLst>
              <a:path w="1155032" h="866274">
                <a:moveTo>
                  <a:pt x="0" y="0"/>
                </a:moveTo>
                <a:lnTo>
                  <a:pt x="1155032" y="0"/>
                </a:lnTo>
                <a:lnTo>
                  <a:pt x="866274" y="866274"/>
                </a:lnTo>
                <a:close/>
              </a:path>
            </a:pathLst>
          </a:custGeom>
          <a:noFill/>
          <a:ln w="28073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7074087" y="4138863"/>
            <a:ext cx="0" cy="866273"/>
          </a:xfrm>
          <a:prstGeom prst="line">
            <a:avLst/>
          </a:prstGeom>
          <a:ln w="16844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Freeform 127"/>
          <p:cNvSpPr/>
          <p:nvPr/>
        </p:nvSpPr>
        <p:spPr>
          <a:xfrm>
            <a:off x="7074087" y="4918509"/>
            <a:ext cx="86628" cy="86628"/>
          </a:xfrm>
          <a:custGeom>
            <a:avLst/>
            <a:gdLst/>
            <a:ahLst/>
            <a:cxnLst/>
            <a:rect l="l" t="t" r="r" b="b"/>
            <a:pathLst>
              <a:path w="86628" h="86628">
                <a:moveTo>
                  <a:pt x="86628" y="86628"/>
                </a:moveTo>
                <a:lnTo>
                  <a:pt x="86628" y="0"/>
                </a:lnTo>
                <a:lnTo>
                  <a:pt x="0" y="0"/>
                </a:lnTo>
              </a:path>
            </a:pathLst>
          </a:custGeom>
          <a:noFill/>
          <a:ln w="11430" cap="rnd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227064" y="5138928"/>
            <a:ext cx="25603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Параллелограмм 4 × 3 = 12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Бир үч бурчтук = 6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9006840" y="2103120"/>
            <a:ext cx="274320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144000" y="2167128"/>
            <a:ext cx="251460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чакмак дептердин 2 барагы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кайчы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скотч же желим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сызгыч, дептердин бурчу (тик бурч)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Кессек да, жылдырсак да, аянт өзгөрбөйт!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трапеция чакмак кагазда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Гүлзарды чакмак кагазга чийебиз (1 чакмак = 1 м). Аянтын эки жол менен, четин бардык жактары менен.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4809" y="2401876"/>
            <a:ext cx="0" cy="1734207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78361" y="2401876"/>
            <a:ext cx="0" cy="1734207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511913" y="2401876"/>
            <a:ext cx="0" cy="1734207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45464" y="2401876"/>
            <a:ext cx="0" cy="1734207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79016" y="2401876"/>
            <a:ext cx="0" cy="1734207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12568" y="2401876"/>
            <a:ext cx="0" cy="1734207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46120" y="2401876"/>
            <a:ext cx="0" cy="1734207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79671" y="2401876"/>
            <a:ext cx="0" cy="1734207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113223" y="2401876"/>
            <a:ext cx="0" cy="1734207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46775" y="2401876"/>
            <a:ext cx="0" cy="1734207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80326" y="2401876"/>
            <a:ext cx="0" cy="1734207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413878" y="2401876"/>
            <a:ext cx="0" cy="1734207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47430" y="2401876"/>
            <a:ext cx="0" cy="1734207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44809" y="2401876"/>
            <a:ext cx="5202621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44809" y="2835428"/>
            <a:ext cx="5202621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44809" y="3268980"/>
            <a:ext cx="5202621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44809" y="3702531"/>
            <a:ext cx="5202621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44809" y="4136083"/>
            <a:ext cx="5202621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1078361" y="2401877"/>
            <a:ext cx="1300656" cy="1734206"/>
          </a:xfrm>
          <a:custGeom>
            <a:avLst/>
            <a:gdLst/>
            <a:ahLst/>
            <a:cxnLst/>
            <a:rect l="l" t="t" r="r" b="b"/>
            <a:pathLst>
              <a:path w="1300656" h="1734206">
                <a:moveTo>
                  <a:pt x="0" y="1734206"/>
                </a:moveTo>
                <a:lnTo>
                  <a:pt x="1300656" y="1734206"/>
                </a:lnTo>
                <a:lnTo>
                  <a:pt x="1300656" y="0"/>
                </a:lnTo>
                <a:close/>
              </a:path>
            </a:pathLst>
          </a:custGeom>
          <a:solidFill>
            <a:srgbClr val="F2C9AC"/>
          </a:solidFill>
          <a:ln w="11430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2379017" y="2401877"/>
            <a:ext cx="1734206" cy="1734206"/>
          </a:xfrm>
          <a:custGeom>
            <a:avLst/>
            <a:gdLst/>
            <a:ahLst/>
            <a:cxnLst/>
            <a:rect l="l" t="t" r="r" b="b"/>
            <a:pathLst>
              <a:path w="1734206" h="1734206">
                <a:moveTo>
                  <a:pt x="0" y="1734206"/>
                </a:moveTo>
                <a:lnTo>
                  <a:pt x="1734206" y="1734206"/>
                </a:lnTo>
                <a:lnTo>
                  <a:pt x="1734206" y="0"/>
                </a:lnTo>
                <a:lnTo>
                  <a:pt x="0" y="0"/>
                </a:lnTo>
                <a:close/>
              </a:path>
            </a:pathLst>
          </a:custGeom>
          <a:solidFill>
            <a:srgbClr val="B5E2D3"/>
          </a:solidFill>
          <a:ln w="1143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4113223" y="2401877"/>
            <a:ext cx="1300656" cy="1734206"/>
          </a:xfrm>
          <a:custGeom>
            <a:avLst/>
            <a:gdLst/>
            <a:ahLst/>
            <a:cxnLst/>
            <a:rect l="l" t="t" r="r" b="b"/>
            <a:pathLst>
              <a:path w="1300656" h="1734206">
                <a:moveTo>
                  <a:pt x="0" y="1734206"/>
                </a:moveTo>
                <a:lnTo>
                  <a:pt x="1300656" y="1734206"/>
                </a:lnTo>
                <a:lnTo>
                  <a:pt x="0" y="0"/>
                </a:lnTo>
                <a:close/>
              </a:path>
            </a:pathLst>
          </a:custGeom>
          <a:solidFill>
            <a:srgbClr val="F2C9AC"/>
          </a:solidFill>
          <a:ln w="11430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078361" y="2401877"/>
            <a:ext cx="4335518" cy="1734206"/>
          </a:xfrm>
          <a:custGeom>
            <a:avLst/>
            <a:gdLst/>
            <a:ahLst/>
            <a:cxnLst/>
            <a:rect l="l" t="t" r="r" b="b"/>
            <a:pathLst>
              <a:path w="4335518" h="1734206">
                <a:moveTo>
                  <a:pt x="0" y="1734206"/>
                </a:moveTo>
                <a:lnTo>
                  <a:pt x="4335518" y="1734206"/>
                </a:lnTo>
                <a:lnTo>
                  <a:pt x="3034862" y="0"/>
                </a:lnTo>
                <a:lnTo>
                  <a:pt x="1300656" y="0"/>
                </a:lnTo>
                <a:close/>
              </a:path>
            </a:pathLst>
          </a:custGeom>
          <a:noFill/>
          <a:ln w="38100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2379016" y="2401876"/>
            <a:ext cx="0" cy="1734207"/>
          </a:xfrm>
          <a:prstGeom prst="line">
            <a:avLst/>
          </a:prstGeom>
          <a:ln w="22859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113223" y="2401876"/>
            <a:ext cx="0" cy="1734207"/>
          </a:xfrm>
          <a:prstGeom prst="line">
            <a:avLst/>
          </a:prstGeom>
          <a:ln w="22859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2379017" y="4017211"/>
            <a:ext cx="118872" cy="118872"/>
          </a:xfrm>
          <a:custGeom>
            <a:avLst/>
            <a:gdLst/>
            <a:ahLst/>
            <a:cxnLst/>
            <a:rect l="l" t="t" r="r" b="b"/>
            <a:pathLst>
              <a:path w="118872" h="118872">
                <a:moveTo>
                  <a:pt x="118872" y="118872"/>
                </a:moveTo>
                <a:lnTo>
                  <a:pt x="118872" y="0"/>
                </a:lnTo>
                <a:lnTo>
                  <a:pt x="0" y="0"/>
                </a:lnTo>
              </a:path>
            </a:pathLst>
          </a:custGeom>
          <a:noFill/>
          <a:ln w="11430" cap="rnd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3994351" y="4017211"/>
            <a:ext cx="118872" cy="118872"/>
          </a:xfrm>
          <a:custGeom>
            <a:avLst/>
            <a:gdLst/>
            <a:ahLst/>
            <a:cxnLst/>
            <a:rect l="l" t="t" r="r" b="b"/>
            <a:pathLst>
              <a:path w="118872" h="118872">
                <a:moveTo>
                  <a:pt x="0" y="118872"/>
                </a:moveTo>
                <a:lnTo>
                  <a:pt x="0" y="0"/>
                </a:lnTo>
                <a:lnTo>
                  <a:pt x="118872" y="0"/>
                </a:lnTo>
              </a:path>
            </a:pathLst>
          </a:custGeom>
          <a:noFill/>
          <a:ln w="11430" cap="rnd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62910" y="4172659"/>
            <a:ext cx="566420" cy="3130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D3557"/>
                </a:solidFill>
                <a:latin typeface="PT Sans"/>
              </a:rPr>
              <a:t>10 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22282" y="2052245"/>
            <a:ext cx="447675" cy="3130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D3557"/>
                </a:solidFill>
                <a:latin typeface="PT Sans"/>
              </a:rPr>
              <a:t>4 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4736" y="3112452"/>
            <a:ext cx="447675" cy="3130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A84400"/>
                </a:solidFill>
                <a:latin typeface="PT Sans"/>
              </a:rPr>
              <a:t>4 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7201" y="2926715"/>
            <a:ext cx="447675" cy="3130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D3557"/>
                </a:solidFill>
                <a:latin typeface="PT Sans"/>
              </a:rPr>
              <a:t>5 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7363" y="2926715"/>
            <a:ext cx="447675" cy="3130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D3557"/>
                </a:solidFill>
                <a:latin typeface="PT Sans"/>
              </a:rPr>
              <a:t>5 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52628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4A5A70"/>
                </a:solidFill>
                <a:latin typeface="PT Sans"/>
              </a:rPr>
              <a:t>2-жол: эки бирдей трапеция = параллелограмм (негизи 10 + 4)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544089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706187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868285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030383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192481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354580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516678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678776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840874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002972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165070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27169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489267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651365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813463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975561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137660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299758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461856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623954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786052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948150" y="4878739"/>
            <a:ext cx="0" cy="64839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544089" y="4878739"/>
            <a:ext cx="3404061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544089" y="5040837"/>
            <a:ext cx="3404061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544089" y="5202936"/>
            <a:ext cx="3404061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544089" y="5365034"/>
            <a:ext cx="3404061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544089" y="5527132"/>
            <a:ext cx="3404061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1868285" y="4878740"/>
            <a:ext cx="1620982" cy="648392"/>
          </a:xfrm>
          <a:custGeom>
            <a:avLst/>
            <a:gdLst/>
            <a:ahLst/>
            <a:cxnLst/>
            <a:rect l="l" t="t" r="r" b="b"/>
            <a:pathLst>
              <a:path w="1620982" h="648392">
                <a:moveTo>
                  <a:pt x="0" y="648392"/>
                </a:moveTo>
                <a:lnTo>
                  <a:pt x="1620982" y="648392"/>
                </a:lnTo>
                <a:lnTo>
                  <a:pt x="1134688" y="0"/>
                </a:lnTo>
                <a:lnTo>
                  <a:pt x="486295" y="0"/>
                </a:lnTo>
                <a:close/>
              </a:path>
            </a:pathLst>
          </a:custGeom>
          <a:solidFill>
            <a:srgbClr val="B5E2D3"/>
          </a:solidFill>
          <a:ln w="1143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3002973" y="4878740"/>
            <a:ext cx="1620982" cy="648392"/>
          </a:xfrm>
          <a:custGeom>
            <a:avLst/>
            <a:gdLst/>
            <a:ahLst/>
            <a:cxnLst/>
            <a:rect l="l" t="t" r="r" b="b"/>
            <a:pathLst>
              <a:path w="1620982" h="648392">
                <a:moveTo>
                  <a:pt x="486294" y="648392"/>
                </a:moveTo>
                <a:lnTo>
                  <a:pt x="1134687" y="648392"/>
                </a:lnTo>
                <a:lnTo>
                  <a:pt x="162098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9AC"/>
          </a:solidFill>
          <a:ln w="11430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868285" y="4878740"/>
            <a:ext cx="1620982" cy="648392"/>
          </a:xfrm>
          <a:custGeom>
            <a:avLst/>
            <a:gdLst/>
            <a:ahLst/>
            <a:cxnLst/>
            <a:rect l="l" t="t" r="r" b="b"/>
            <a:pathLst>
              <a:path w="1620982" h="648392">
                <a:moveTo>
                  <a:pt x="0" y="648392"/>
                </a:moveTo>
                <a:lnTo>
                  <a:pt x="1620982" y="648392"/>
                </a:lnTo>
                <a:lnTo>
                  <a:pt x="1134688" y="0"/>
                </a:lnTo>
                <a:lnTo>
                  <a:pt x="486295" y="0"/>
                </a:lnTo>
                <a:close/>
              </a:path>
            </a:pathLst>
          </a:custGeom>
          <a:noFill/>
          <a:ln w="158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3002973" y="4878740"/>
            <a:ext cx="1620982" cy="648392"/>
          </a:xfrm>
          <a:custGeom>
            <a:avLst/>
            <a:gdLst/>
            <a:ahLst/>
            <a:cxnLst/>
            <a:rect l="l" t="t" r="r" b="b"/>
            <a:pathLst>
              <a:path w="1620982" h="648392">
                <a:moveTo>
                  <a:pt x="486294" y="648392"/>
                </a:moveTo>
                <a:lnTo>
                  <a:pt x="1134687" y="648392"/>
                </a:lnTo>
                <a:lnTo>
                  <a:pt x="1620982" y="0"/>
                </a:lnTo>
                <a:lnTo>
                  <a:pt x="0" y="0"/>
                </a:lnTo>
                <a:close/>
              </a:path>
            </a:pathLst>
          </a:custGeom>
          <a:noFill/>
          <a:ln w="15875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2354580" y="4878739"/>
            <a:ext cx="0" cy="648393"/>
          </a:xfrm>
          <a:prstGeom prst="line">
            <a:avLst/>
          </a:prstGeom>
          <a:ln w="12700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Freeform 75"/>
          <p:cNvSpPr/>
          <p:nvPr/>
        </p:nvSpPr>
        <p:spPr>
          <a:xfrm>
            <a:off x="2354580" y="5478503"/>
            <a:ext cx="48629" cy="48629"/>
          </a:xfrm>
          <a:custGeom>
            <a:avLst/>
            <a:gdLst/>
            <a:ahLst/>
            <a:cxnLst/>
            <a:rect l="l" t="t" r="r" b="b"/>
            <a:pathLst>
              <a:path w="48629" h="48629">
                <a:moveTo>
                  <a:pt x="48629" y="48629"/>
                </a:moveTo>
                <a:lnTo>
                  <a:pt x="48629" y="0"/>
                </a:lnTo>
                <a:lnTo>
                  <a:pt x="0" y="0"/>
                </a:lnTo>
              </a:path>
            </a:pathLst>
          </a:custGeom>
          <a:noFill/>
          <a:ln w="11430" cap="rnd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309360" y="205740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46520" y="210312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1-жол: бөлөбүз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46520" y="2514600"/>
            <a:ext cx="51206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3 × 4 ÷ 2 = 6  (үч бурчтук)</a:t>
            </a:r>
          </a:p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7A5A"/>
                </a:solidFill>
                <a:latin typeface="PT Sans"/>
              </a:rPr>
              <a:t>4 × 4 = 16  (тик бурчтук)</a:t>
            </a:r>
          </a:p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 + 16 + 6 = 28 м²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309360" y="347472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46520" y="3520439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2-жол: эки трапеция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46520" y="3931920"/>
            <a:ext cx="51206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(10 + 4) × 4 = 56</a:t>
            </a:r>
          </a:p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56 ÷ 2 = 28 м²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309360" y="4846320"/>
            <a:ext cx="5440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46520" y="4846320"/>
            <a:ext cx="521208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Чети: 10 + 4 + 5 + 5 = 24 м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84400"/>
                </a:solidFill>
                <a:latin typeface="PT Sans"/>
              </a:rPr>
              <a:t>Бийиктик (4 м) четте эмес: кирбейт!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S = (10 + 4) × 4 ÷ 2 = 28 м²      P = 10 + 4 + 5 + 5 = 24 м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06524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 ×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Параллелограмм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Кесип жылдырсак, тик бурчтук болот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4436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 × h ÷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Үч бурчтук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Параллелограммдын жарымы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65592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42348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(a+b) × h ÷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Трапеция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Эки трапеция = параллелограмм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P = бардык жактары; бийиктик кирбейт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Үч бурчтук гүлзардын негизи 8 м, бийиктиги 5 м. Канча м² жерге топурак төгөбүз?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8 × 5 ÷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40 ÷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тик бурчтуктун жарымы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м²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Аянты = </a:t>
            </a:r>
            <a:r>
              <a:rPr sz="3400" b="1">
                <a:solidFill>
                  <a:srgbClr val="24418C"/>
                </a:solidFill>
                <a:latin typeface="PT Sans"/>
              </a:rPr>
              <a:t>20 м²</a:t>
            </a:r>
          </a:p>
        </p:txBody>
      </p:sp>
      <p:cxnSp>
        <p:nvCxnSpPr>
          <p:cNvPr id="18" name="uchb-deco"/>
          <p:cNvCxnSpPr/>
          <p:nvPr/>
        </p:nvCxnSpPr>
        <p:spPr>
          <a:xfrm>
            <a:off x="548640" y="2363723"/>
            <a:ext cx="0" cy="281635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uchb-deco"/>
          <p:cNvCxnSpPr/>
          <p:nvPr/>
        </p:nvCxnSpPr>
        <p:spPr>
          <a:xfrm>
            <a:off x="950976" y="2363723"/>
            <a:ext cx="0" cy="281635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uchb-deco"/>
          <p:cNvCxnSpPr/>
          <p:nvPr/>
        </p:nvCxnSpPr>
        <p:spPr>
          <a:xfrm>
            <a:off x="1353312" y="2363723"/>
            <a:ext cx="0" cy="281635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uchb-deco"/>
          <p:cNvCxnSpPr/>
          <p:nvPr/>
        </p:nvCxnSpPr>
        <p:spPr>
          <a:xfrm>
            <a:off x="1755648" y="2363723"/>
            <a:ext cx="0" cy="281635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uchb-deco"/>
          <p:cNvCxnSpPr/>
          <p:nvPr/>
        </p:nvCxnSpPr>
        <p:spPr>
          <a:xfrm>
            <a:off x="2157984" y="2363723"/>
            <a:ext cx="0" cy="281635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uchb-deco"/>
          <p:cNvCxnSpPr/>
          <p:nvPr/>
        </p:nvCxnSpPr>
        <p:spPr>
          <a:xfrm>
            <a:off x="2560320" y="2363723"/>
            <a:ext cx="0" cy="281635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uchb-deco"/>
          <p:cNvCxnSpPr/>
          <p:nvPr/>
        </p:nvCxnSpPr>
        <p:spPr>
          <a:xfrm>
            <a:off x="2962656" y="2363723"/>
            <a:ext cx="0" cy="281635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uchb-deco"/>
          <p:cNvCxnSpPr/>
          <p:nvPr/>
        </p:nvCxnSpPr>
        <p:spPr>
          <a:xfrm>
            <a:off x="3364992" y="2363723"/>
            <a:ext cx="0" cy="281635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uchb-deco"/>
          <p:cNvCxnSpPr/>
          <p:nvPr/>
        </p:nvCxnSpPr>
        <p:spPr>
          <a:xfrm>
            <a:off x="3767328" y="2363723"/>
            <a:ext cx="0" cy="281635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uchb-deco"/>
          <p:cNvCxnSpPr/>
          <p:nvPr/>
        </p:nvCxnSpPr>
        <p:spPr>
          <a:xfrm>
            <a:off x="4169664" y="2363723"/>
            <a:ext cx="0" cy="281635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uchb-deco"/>
          <p:cNvCxnSpPr/>
          <p:nvPr/>
        </p:nvCxnSpPr>
        <p:spPr>
          <a:xfrm>
            <a:off x="4572000" y="2363723"/>
            <a:ext cx="0" cy="2816353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uchb-deco"/>
          <p:cNvCxnSpPr/>
          <p:nvPr/>
        </p:nvCxnSpPr>
        <p:spPr>
          <a:xfrm>
            <a:off x="548640" y="2363723"/>
            <a:ext cx="402336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uchb-deco"/>
          <p:cNvCxnSpPr/>
          <p:nvPr/>
        </p:nvCxnSpPr>
        <p:spPr>
          <a:xfrm>
            <a:off x="548640" y="2766059"/>
            <a:ext cx="402336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uchb-deco"/>
          <p:cNvCxnSpPr/>
          <p:nvPr/>
        </p:nvCxnSpPr>
        <p:spPr>
          <a:xfrm>
            <a:off x="548640" y="3168395"/>
            <a:ext cx="402336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uchb-deco"/>
          <p:cNvCxnSpPr/>
          <p:nvPr/>
        </p:nvCxnSpPr>
        <p:spPr>
          <a:xfrm>
            <a:off x="548640" y="3570731"/>
            <a:ext cx="402336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uchb-deco"/>
          <p:cNvCxnSpPr/>
          <p:nvPr/>
        </p:nvCxnSpPr>
        <p:spPr>
          <a:xfrm>
            <a:off x="548640" y="3973068"/>
            <a:ext cx="402336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uchb-deco"/>
          <p:cNvCxnSpPr/>
          <p:nvPr/>
        </p:nvCxnSpPr>
        <p:spPr>
          <a:xfrm>
            <a:off x="548640" y="4375404"/>
            <a:ext cx="402336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uchb-deco"/>
          <p:cNvCxnSpPr/>
          <p:nvPr/>
        </p:nvCxnSpPr>
        <p:spPr>
          <a:xfrm>
            <a:off x="548640" y="4777740"/>
            <a:ext cx="402336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uchb-deco"/>
          <p:cNvCxnSpPr/>
          <p:nvPr/>
        </p:nvCxnSpPr>
        <p:spPr>
          <a:xfrm>
            <a:off x="548640" y="5180076"/>
            <a:ext cx="402336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uchb-deco"/>
          <p:cNvSpPr/>
          <p:nvPr/>
        </p:nvSpPr>
        <p:spPr>
          <a:xfrm>
            <a:off x="950976" y="2766060"/>
            <a:ext cx="3218688" cy="2011680"/>
          </a:xfrm>
          <a:custGeom>
            <a:avLst/>
            <a:gdLst/>
            <a:ahLst/>
            <a:cxnLst/>
            <a:rect l="l" t="t" r="r" b="b"/>
            <a:pathLst>
              <a:path w="3218688" h="2011680">
                <a:moveTo>
                  <a:pt x="0" y="2011680"/>
                </a:moveTo>
                <a:lnTo>
                  <a:pt x="3218688" y="2011680"/>
                </a:lnTo>
                <a:lnTo>
                  <a:pt x="1207008" y="0"/>
                </a:lnTo>
                <a:close/>
              </a:path>
            </a:pathLst>
          </a:custGeom>
          <a:solidFill>
            <a:srgbClr val="B5E2D3"/>
          </a:solidFill>
          <a:ln w="1143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uchb-deco"/>
          <p:cNvSpPr/>
          <p:nvPr/>
        </p:nvSpPr>
        <p:spPr>
          <a:xfrm>
            <a:off x="950976" y="2766060"/>
            <a:ext cx="3218688" cy="2011680"/>
          </a:xfrm>
          <a:custGeom>
            <a:avLst/>
            <a:gdLst/>
            <a:ahLst/>
            <a:cxnLst/>
            <a:rect l="l" t="t" r="r" b="b"/>
            <a:pathLst>
              <a:path w="3218688" h="2011680">
                <a:moveTo>
                  <a:pt x="0" y="2011680"/>
                </a:moveTo>
                <a:lnTo>
                  <a:pt x="3218688" y="2011680"/>
                </a:lnTo>
                <a:lnTo>
                  <a:pt x="1207008" y="0"/>
                </a:lnTo>
                <a:close/>
              </a:path>
            </a:pathLst>
          </a:custGeom>
          <a:noFill/>
          <a:ln w="38100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uchb-deco"/>
          <p:cNvCxnSpPr/>
          <p:nvPr/>
        </p:nvCxnSpPr>
        <p:spPr>
          <a:xfrm>
            <a:off x="2157984" y="2766059"/>
            <a:ext cx="0" cy="2011681"/>
          </a:xfrm>
          <a:prstGeom prst="line">
            <a:avLst/>
          </a:prstGeom>
          <a:ln w="22859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uchb-deco"/>
          <p:cNvSpPr/>
          <p:nvPr/>
        </p:nvSpPr>
        <p:spPr>
          <a:xfrm>
            <a:off x="2157984" y="4658868"/>
            <a:ext cx="118872" cy="118872"/>
          </a:xfrm>
          <a:custGeom>
            <a:avLst/>
            <a:gdLst/>
            <a:ahLst/>
            <a:cxnLst/>
            <a:rect l="l" t="t" r="r" b="b"/>
            <a:pathLst>
              <a:path w="118872" h="118872">
                <a:moveTo>
                  <a:pt x="118872" y="118872"/>
                </a:moveTo>
                <a:lnTo>
                  <a:pt x="118872" y="0"/>
                </a:lnTo>
                <a:lnTo>
                  <a:pt x="0" y="0"/>
                </a:lnTo>
              </a:path>
            </a:pathLst>
          </a:custGeom>
          <a:noFill/>
          <a:ln w="11430" cap="rnd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uchb-deco"/>
          <p:cNvSpPr txBox="1"/>
          <p:nvPr/>
        </p:nvSpPr>
        <p:spPr>
          <a:xfrm>
            <a:off x="2346960" y="4814316"/>
            <a:ext cx="426720" cy="294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D3557"/>
                </a:solidFill>
                <a:latin typeface="PT Sans"/>
              </a:rPr>
              <a:t>8 м</a:t>
            </a:r>
          </a:p>
        </p:txBody>
      </p:sp>
      <p:sp>
        <p:nvSpPr>
          <p:cNvPr id="42" name="uchb-deco"/>
          <p:cNvSpPr txBox="1"/>
          <p:nvPr/>
        </p:nvSpPr>
        <p:spPr>
          <a:xfrm>
            <a:off x="2203704" y="3624580"/>
            <a:ext cx="426720" cy="294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A84400"/>
                </a:solidFill>
                <a:latin typeface="PT Sans"/>
              </a:rPr>
              <a:t>5 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Параллелограмм гүлзар: негизи 7 м, бийиктиги 4 м, капталы 5 м. Аянты жана чети?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S = 7 × 4 =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м², h менен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P = 2 × (7 + 5)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каптал менен!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S = 28 м², P = </a:t>
            </a:r>
            <a:r>
              <a:rPr sz="3400" b="1">
                <a:solidFill>
                  <a:srgbClr val="24418C"/>
                </a:solidFill>
                <a:latin typeface="PT Sans"/>
              </a:rPr>
              <a:t>24 м</a:t>
            </a:r>
          </a:p>
        </p:txBody>
      </p:sp>
      <p:cxnSp>
        <p:nvCxnSpPr>
          <p:cNvPr id="19" name="uchb-deco"/>
          <p:cNvCxnSpPr/>
          <p:nvPr/>
        </p:nvCxnSpPr>
        <p:spPr>
          <a:xfrm>
            <a:off x="502920" y="2369820"/>
            <a:ext cx="0" cy="280416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uchb-deco"/>
          <p:cNvCxnSpPr/>
          <p:nvPr/>
        </p:nvCxnSpPr>
        <p:spPr>
          <a:xfrm>
            <a:off x="853440" y="2369820"/>
            <a:ext cx="0" cy="280416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uchb-deco"/>
          <p:cNvCxnSpPr/>
          <p:nvPr/>
        </p:nvCxnSpPr>
        <p:spPr>
          <a:xfrm>
            <a:off x="1203960" y="2369820"/>
            <a:ext cx="0" cy="280416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uchb-deco"/>
          <p:cNvCxnSpPr/>
          <p:nvPr/>
        </p:nvCxnSpPr>
        <p:spPr>
          <a:xfrm>
            <a:off x="1554480" y="2369820"/>
            <a:ext cx="0" cy="280416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uchb-deco"/>
          <p:cNvCxnSpPr/>
          <p:nvPr/>
        </p:nvCxnSpPr>
        <p:spPr>
          <a:xfrm>
            <a:off x="1904999" y="2369820"/>
            <a:ext cx="0" cy="280416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uchb-deco"/>
          <p:cNvCxnSpPr/>
          <p:nvPr/>
        </p:nvCxnSpPr>
        <p:spPr>
          <a:xfrm>
            <a:off x="2255520" y="2369820"/>
            <a:ext cx="0" cy="280416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uchb-deco"/>
          <p:cNvCxnSpPr/>
          <p:nvPr/>
        </p:nvCxnSpPr>
        <p:spPr>
          <a:xfrm>
            <a:off x="2606039" y="2369820"/>
            <a:ext cx="0" cy="280416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uchb-deco"/>
          <p:cNvCxnSpPr/>
          <p:nvPr/>
        </p:nvCxnSpPr>
        <p:spPr>
          <a:xfrm>
            <a:off x="2956560" y="2369820"/>
            <a:ext cx="0" cy="280416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uchb-deco"/>
          <p:cNvCxnSpPr/>
          <p:nvPr/>
        </p:nvCxnSpPr>
        <p:spPr>
          <a:xfrm>
            <a:off x="3307079" y="2369820"/>
            <a:ext cx="0" cy="280416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uchb-deco"/>
          <p:cNvCxnSpPr/>
          <p:nvPr/>
        </p:nvCxnSpPr>
        <p:spPr>
          <a:xfrm>
            <a:off x="3657600" y="2369820"/>
            <a:ext cx="0" cy="280416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uchb-deco"/>
          <p:cNvCxnSpPr/>
          <p:nvPr/>
        </p:nvCxnSpPr>
        <p:spPr>
          <a:xfrm>
            <a:off x="4008119" y="2369820"/>
            <a:ext cx="0" cy="280416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uchb-deco"/>
          <p:cNvCxnSpPr/>
          <p:nvPr/>
        </p:nvCxnSpPr>
        <p:spPr>
          <a:xfrm>
            <a:off x="4358640" y="2369820"/>
            <a:ext cx="0" cy="280416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uchb-deco"/>
          <p:cNvCxnSpPr/>
          <p:nvPr/>
        </p:nvCxnSpPr>
        <p:spPr>
          <a:xfrm>
            <a:off x="4709160" y="2369820"/>
            <a:ext cx="0" cy="280416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uchb-deco"/>
          <p:cNvCxnSpPr/>
          <p:nvPr/>
        </p:nvCxnSpPr>
        <p:spPr>
          <a:xfrm>
            <a:off x="502920" y="2369820"/>
            <a:ext cx="420624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uchb-deco"/>
          <p:cNvCxnSpPr/>
          <p:nvPr/>
        </p:nvCxnSpPr>
        <p:spPr>
          <a:xfrm>
            <a:off x="502920" y="2720340"/>
            <a:ext cx="420624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uchb-deco"/>
          <p:cNvCxnSpPr/>
          <p:nvPr/>
        </p:nvCxnSpPr>
        <p:spPr>
          <a:xfrm>
            <a:off x="502920" y="3070860"/>
            <a:ext cx="420624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uchb-deco"/>
          <p:cNvCxnSpPr/>
          <p:nvPr/>
        </p:nvCxnSpPr>
        <p:spPr>
          <a:xfrm>
            <a:off x="502920" y="3421380"/>
            <a:ext cx="420624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uchb-deco"/>
          <p:cNvCxnSpPr/>
          <p:nvPr/>
        </p:nvCxnSpPr>
        <p:spPr>
          <a:xfrm>
            <a:off x="502920" y="3771900"/>
            <a:ext cx="420624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uchb-deco"/>
          <p:cNvCxnSpPr/>
          <p:nvPr/>
        </p:nvCxnSpPr>
        <p:spPr>
          <a:xfrm>
            <a:off x="502920" y="4122419"/>
            <a:ext cx="420624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uchb-deco"/>
          <p:cNvCxnSpPr/>
          <p:nvPr/>
        </p:nvCxnSpPr>
        <p:spPr>
          <a:xfrm>
            <a:off x="502920" y="4472940"/>
            <a:ext cx="420624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uchb-deco"/>
          <p:cNvCxnSpPr/>
          <p:nvPr/>
        </p:nvCxnSpPr>
        <p:spPr>
          <a:xfrm>
            <a:off x="502920" y="4823460"/>
            <a:ext cx="420624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uchb-deco"/>
          <p:cNvCxnSpPr/>
          <p:nvPr/>
        </p:nvCxnSpPr>
        <p:spPr>
          <a:xfrm>
            <a:off x="502920" y="5173980"/>
            <a:ext cx="4206240" cy="0"/>
          </a:xfrm>
          <a:prstGeom prst="line">
            <a:avLst/>
          </a:prstGeom>
          <a:ln w="7620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uchb-deco"/>
          <p:cNvSpPr/>
          <p:nvPr/>
        </p:nvSpPr>
        <p:spPr>
          <a:xfrm>
            <a:off x="853440" y="3070860"/>
            <a:ext cx="3505200" cy="1402080"/>
          </a:xfrm>
          <a:custGeom>
            <a:avLst/>
            <a:gdLst/>
            <a:ahLst/>
            <a:cxnLst/>
            <a:rect l="l" t="t" r="r" b="b"/>
            <a:pathLst>
              <a:path w="3505200" h="1402080">
                <a:moveTo>
                  <a:pt x="0" y="1402080"/>
                </a:moveTo>
                <a:lnTo>
                  <a:pt x="2453640" y="1402080"/>
                </a:lnTo>
                <a:lnTo>
                  <a:pt x="3505200" y="0"/>
                </a:lnTo>
                <a:lnTo>
                  <a:pt x="1051560" y="0"/>
                </a:lnTo>
                <a:close/>
              </a:path>
            </a:pathLst>
          </a:custGeom>
          <a:solidFill>
            <a:srgbClr val="B5E2D3"/>
          </a:solidFill>
          <a:ln w="1143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uchb-deco"/>
          <p:cNvSpPr/>
          <p:nvPr/>
        </p:nvSpPr>
        <p:spPr>
          <a:xfrm>
            <a:off x="853440" y="3070860"/>
            <a:ext cx="3505200" cy="1402080"/>
          </a:xfrm>
          <a:custGeom>
            <a:avLst/>
            <a:gdLst/>
            <a:ahLst/>
            <a:cxnLst/>
            <a:rect l="l" t="t" r="r" b="b"/>
            <a:pathLst>
              <a:path w="3505200" h="1402080">
                <a:moveTo>
                  <a:pt x="0" y="1402080"/>
                </a:moveTo>
                <a:lnTo>
                  <a:pt x="2453640" y="1402080"/>
                </a:lnTo>
                <a:lnTo>
                  <a:pt x="3505200" y="0"/>
                </a:lnTo>
                <a:lnTo>
                  <a:pt x="1051560" y="0"/>
                </a:lnTo>
                <a:close/>
              </a:path>
            </a:pathLst>
          </a:custGeom>
          <a:noFill/>
          <a:ln w="34078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uchb-deco"/>
          <p:cNvCxnSpPr/>
          <p:nvPr/>
        </p:nvCxnSpPr>
        <p:spPr>
          <a:xfrm>
            <a:off x="1904999" y="3070860"/>
            <a:ext cx="0" cy="1402080"/>
          </a:xfrm>
          <a:prstGeom prst="line">
            <a:avLst/>
          </a:prstGeom>
          <a:ln w="20447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uchb-deco"/>
          <p:cNvSpPr/>
          <p:nvPr/>
        </p:nvSpPr>
        <p:spPr>
          <a:xfrm>
            <a:off x="1905000" y="4367784"/>
            <a:ext cx="105156" cy="105156"/>
          </a:xfrm>
          <a:custGeom>
            <a:avLst/>
            <a:gdLst/>
            <a:ahLst/>
            <a:cxnLst/>
            <a:rect l="l" t="t" r="r" b="b"/>
            <a:pathLst>
              <a:path w="105156" h="105156">
                <a:moveTo>
                  <a:pt x="105156" y="105156"/>
                </a:moveTo>
                <a:lnTo>
                  <a:pt x="105156" y="0"/>
                </a:lnTo>
                <a:lnTo>
                  <a:pt x="0" y="0"/>
                </a:lnTo>
              </a:path>
            </a:pathLst>
          </a:custGeom>
          <a:noFill/>
          <a:ln w="11430" cap="rnd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uchb-deco"/>
          <p:cNvSpPr txBox="1"/>
          <p:nvPr/>
        </p:nvSpPr>
        <p:spPr>
          <a:xfrm>
            <a:off x="1887855" y="4509516"/>
            <a:ext cx="384810" cy="257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D3557"/>
                </a:solidFill>
                <a:latin typeface="PT Sans"/>
              </a:rPr>
              <a:t>7 м</a:t>
            </a:r>
          </a:p>
        </p:txBody>
      </p:sp>
      <p:sp>
        <p:nvSpPr>
          <p:cNvPr id="46" name="uchb-deco"/>
          <p:cNvSpPr txBox="1"/>
          <p:nvPr/>
        </p:nvSpPr>
        <p:spPr>
          <a:xfrm>
            <a:off x="1950719" y="3642995"/>
            <a:ext cx="384810" cy="257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A84400"/>
                </a:solidFill>
                <a:latin typeface="PT Sans"/>
              </a:rPr>
              <a:t>4 м</a:t>
            </a:r>
          </a:p>
        </p:txBody>
      </p:sp>
      <p:sp>
        <p:nvSpPr>
          <p:cNvPr id="47" name="uchb-deco"/>
          <p:cNvSpPr txBox="1"/>
          <p:nvPr/>
        </p:nvSpPr>
        <p:spPr>
          <a:xfrm>
            <a:off x="3854729" y="3803700"/>
            <a:ext cx="384810" cy="257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D3557"/>
                </a:solidFill>
                <a:latin typeface="PT Sans"/>
              </a:rPr>
              <a:t>5 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үч жол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Жуп санды экиге бөл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 × 6 ÷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7 ×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÷ 2ни жуп санга колдоном: 6 ÷ 2 = 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Негиздердин орточосу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(9 + 5) × 6 ÷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14 ÷ 2 ×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7 ×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Трапеция: (a + b) ÷ 2, анан × 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Тик бурчтуктан кемит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8 × 5 − 4 × 3 ÷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40 − 6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Кесилген үч бурчтукту чоң тик бурчтуктан алам.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Ыкмаңды үн чыгарып айт: «Мен ... деп ойлодум».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Үч бурчтуктун негизи 6 см, бийиктиги 4 см, капталдары 5 см жана 5 см. Аянты канча?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24 см²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15 см²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12 см²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30 см²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Үй сымал гүлзар: 6 м × 4 м тик бурчтук жана үстүндө үч бурчтук (бийиктиги 3 м). Бардык аянты?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 гүлзар: үч бурчтук, a = 8 м, h = 6 м. Б гүлзар: параллелограмм, a = 5 м, h = 4 м. Кайсы чоң, канча?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Короо 10 м × 6 м. Бурчунда үч бурчтук кудук аянтчасы (4 м жана 3 м). Калган жерге гүл. Канча м²?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Үй сымал гүлзар: 6 м × 4 м тик бурчтук жана үстүндө үч бурчтук (бийиктиги 3 м). Бардык аянты?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170466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71591" y="3017520"/>
            <a:ext cx="639248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6 × 4 + 6 × 3 ÷ 2 = 24 + 9 = 33 м²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 гүлзар: үч бурчтук, a = 8 м, h = 6 м. Б гүлзар: параллелограмм, a = 5 м, h = 4 м. Кайсы чоң, канча?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9600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82640" y="3017520"/>
            <a:ext cx="73405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16700" y="3017520"/>
            <a:ext cx="146811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9600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2640" y="3574389"/>
            <a:ext cx="73405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24 − 20 = 4 м²: А гүлзар чоң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Короо 10 м × 6 м. Бурчунда үч бурчтук кудук аянтчасы (4 м жана 3 м). Калган жерге гүл. Канча м²?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2272" y="3017520"/>
            <a:ext cx="2109520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54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81792" y="3017520"/>
            <a:ext cx="234391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10 × 6 − 4 × 3 ÷ 2 = 60 − 6 = 54 м²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Үч бурчтук: a = 14 см, h = 5 см. 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Параллелограмм: a = 12 м, h = 6 м. 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Трапеция: a = 11, b = 7, h = 4 (см). 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Үч бурчтук: S = 30 м², a = 10 м. h?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Параллелограмм: a = 8, каптал 6, h = 5 (см). P жана 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Үй сымал: 5 м × 4 м + үч бурчтук (a = 5 м, h = 2 м). S?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Үч бурчтук: a = 14 см, h = 5 см. 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35 см²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Параллелограмм: a = 12 м, h = 6 м. 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72 м²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Трапеция: a = 11, b = 7, h = 4 (см). 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36 см²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Үч бурчтук: S = 30 м², a = 10 м. h?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 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Параллелограмм: a = 8, каптал 6, h = 5 (см). P жана 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28 см;  40 см²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Үй сымал: 5 м × 4 м + үч бурчтук (a = 5 м, h = 2 м). 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25 м²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Трапеция гүлзар: негиздери 10 м жана 4 м, бийиктиги 4 м, капталдары 5 м. Аянты канча? Чети канча метр? 1 м² га 4 көчөт: канча көчөт?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Аянт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1626325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3765" y="2240280"/>
            <a:ext cx="4336868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40634" y="2240280"/>
            <a:ext cx="1626325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6 + 16 + 6 = 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м² жер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10 + 4 + 5 + 5 = 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м кирпич чек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28 × 4 = 112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көчөт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Жер 28 м², чети 24 м, көчөт 112.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Кара-Балтадагы гүлзар жөнүндө маселе түз: бир гүлзар үч бурчтук, экинчиси трапеция; аянтын жана четин сура.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Самат агай, Айдана, Элдияр.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Үч бурчтуктун негизи 12 см, бийиктиги 5 см. Аянты канча?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Трапециянын негиздери 8 м жана 6 м, бийиктиги 3 м. Аянты канча?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Параллелограмм: негизи 9 см, капталы 6 см, бийиктиги 5 см. P жана 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үч бурчтуктун аянтында 2ге бөлөбүз? Кагаз менен көрсөт.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Аянтта бийиктик керек. Периметрде эмне үчүн керек эмес?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Аянты 12 см² болгон үч бурчтук, параллелограмм жана трапеция чий.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формуланы адегенде кайчы жана чакмак кагаз менен «ачтырам» (К → С → А).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«Бийиктик – негизге тик» деп дептердин бурчу менен текшертем (М2, М3).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үч бурчтукта «тик бурчтуктун жарымы» деп айттырам (М1, М4).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Курама фигурада ички сызыкты башка түс менен чийдирем: ал чек эмес (М6).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