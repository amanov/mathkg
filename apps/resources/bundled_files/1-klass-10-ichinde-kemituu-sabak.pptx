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Тыйын менен Помпондун сүрөтүн 11-слайдда көрсөтөм. Жоопту азыр айтпайбыз: сабактын аягында кайтабыз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Помпон: 9 таштан 3үн алсак, 6 калат. Тыйын 9ду да санап алды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 таш (же бурчак, бөтөлкө капкагы) жана 10 жумуртканын кутусу (он-кадр) же чакмак дептерде 2 × 5 тор, бир кагаз табак (Помпондун «үйү»). 1) Он-кадрга 10 таш коюшат: бүтүн. 2) 3үн алып, табакка коюшат: берилген бөлүк. 3) Калганын санашат: 7. 4) Ташты кайра коюп: 7 + 3 = 10. Мен сурайм: «Бүтүн канча? Кайсы бөлүктү алдык? Кайсы бөлүк калды?» Бош уячаларды санаса да болот: 3 бош, 7 толук.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Бүтүн = 10; берилген бөлүк 3; калган бөлүк белгисиз (үзүк сызык).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Аттарын айтабыз: кемүүчү, кемитүүчү, айырма. Ар бир кемитүүнү кошуу менен текшеребиз: айырма + кемитүүчү = кемүүчү.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ыкманы бирден көрсөтөм, анан «Кантип таптың?» деп сурайм. Бир мисалды (9 − 6) үч ыкма менен чыгарып көрөбүз. Ылдамдык эмес, туура жана ыңгайлуу жол маанилүү.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 (кошту); Б = ✓; В = М1 (9ду да санады); Г = М4 (бергенин жазды)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бөлүк–бүтүн → салыштыруу → көп кадам. Жооптор: 10 − 6 = 4 помидор; 8 − 5 = 3 жаңгак; 10 − 2 − 5 = 3 алма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бүтүн 10, берилген бөлүк 3, калган бөлүк 7. 10 − 3 = 7; текшерүү 7 + 3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5; 4; 7 − 5 =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Тыйын менен Помпон айылдагы бакчада алма, сабиз жана жаңгак терип, досторуна беришет. Канчасы калат?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1-класс: 1.3.1, 1.3.2, 1.3.3.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Айылдагы бакча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 келди. Тыйын менен Помпон айылдагы бакчага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Тыйын себетке алма терди, Помпон сабиз казды.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Алар түшүмдү досторуна бөлүп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Берсе, канчасы калат? Бул – кемитүү!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Тыйындын себетинде 10 алма бар эле. Ал 3 алманы Помпонго берди. Тыйында канча алма калды?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Бүтүндөн бөлүктү алып, калганын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Кемитүүнү кошуу менен текшерем (10дун курамы).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«Канчага көп / аз» маселесин тилке менен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Калганын табуу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Белгисиз сан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Салыштыруу маселеси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Кошуу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таш менен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Маселе алмашуу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Айылдагы бакча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ичинде кошуу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10дун курамы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ичинде кемитүү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 үй-бүлөсү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20 ичинде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10дон өтүү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100 ичинде кошуу, кемитүү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+ 6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 + ___ =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= 5 + 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8, 7, 6, 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+ ___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= 5 + 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8, 7, 6, 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Тыйын: «9 − 3 = 7». Помпон: «9 − 3 = 6».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Тыйын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Артка санадым: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9, 8, 7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Помпон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9дан артка 3 секирик: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8, 7, 6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Таш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Тыйын 10 алманын 3үн Помпонго берди. Жупта 10 таш (бурчак же капкак) менен көрсөтөбүз.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2432303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1328" y="233172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81912" y="2432303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6" y="233172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40279" y="2432303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4" y="233172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8648" y="2432303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6432" y="233172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57015" y="2432303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990087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090671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81328" y="2990087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81912" y="3090671"/>
            <a:ext cx="457200" cy="45720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9696" y="2990087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40279" y="3090671"/>
            <a:ext cx="457200" cy="457200"/>
          </a:xfrm>
          <a:prstGeom prst="ellipse">
            <a:avLst/>
          </a:prstGeom>
          <a:noFill/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98064" y="2990087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98648" y="3090671"/>
            <a:ext cx="457200" cy="457200"/>
          </a:xfrm>
          <a:prstGeom prst="ellipse">
            <a:avLst/>
          </a:prstGeom>
          <a:noFill/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6432" y="2990087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57015" y="3090671"/>
            <a:ext cx="457200" cy="457200"/>
          </a:xfrm>
          <a:prstGeom prst="ellipse">
            <a:avLst/>
          </a:prstGeom>
          <a:noFill/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94176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Калды: 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51960" y="2990087"/>
            <a:ext cx="640080" cy="0"/>
          </a:xfrm>
          <a:prstGeom prst="line">
            <a:avLst/>
          </a:prstGeom>
          <a:ln w="381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572000" y="2423160"/>
            <a:ext cx="2194560" cy="1143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83480" y="2788920"/>
            <a:ext cx="411480" cy="41148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58968" y="2788920"/>
            <a:ext cx="411480" cy="41148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34456" y="2788920"/>
            <a:ext cx="411480" cy="41148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61188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Помпонго: 3</a:t>
            </a:r>
          </a:p>
        </p:txBody>
      </p:sp>
      <p:sp>
        <p:nvSpPr>
          <p:cNvPr id="39" name="Cloud 38"/>
          <p:cNvSpPr/>
          <p:nvPr/>
        </p:nvSpPr>
        <p:spPr>
          <a:xfrm>
            <a:off x="1987905" y="4244644"/>
            <a:ext cx="694944" cy="1216152"/>
          </a:xfrm>
          <a:prstGeom prst="cloud">
            <a:avLst/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96388" y="4453128"/>
            <a:ext cx="312724" cy="4169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1522293" y="4015313"/>
            <a:ext cx="0" cy="159837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452798" y="3931920"/>
            <a:ext cx="152887" cy="152887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994855" y="4015313"/>
            <a:ext cx="0" cy="159837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925360" y="3931920"/>
            <a:ext cx="152887" cy="152887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501444" y="5460796"/>
            <a:ext cx="222382" cy="152887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48916" y="5460796"/>
            <a:ext cx="222382" cy="152887"/>
          </a:xfrm>
          <a:prstGeom prst="roundRect">
            <a:avLst>
              <a:gd name="adj" fmla="val 50000"/>
            </a:avLst>
          </a:prstGeom>
          <a:solidFill>
            <a:srgbClr val="FFEBB5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7708" y="4140403"/>
            <a:ext cx="938174" cy="1389888"/>
          </a:xfrm>
          <a:prstGeom prst="roundRect">
            <a:avLst>
              <a:gd name="adj" fmla="val 48000"/>
            </a:avLst>
          </a:prstGeom>
          <a:solidFill>
            <a:srgbClr val="FFEBB5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570939" y="4974336"/>
            <a:ext cx="451713" cy="451713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0596" y="4362785"/>
            <a:ext cx="277977" cy="2779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66769" y="4440619"/>
            <a:ext cx="138988" cy="138988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87617" y="4454517"/>
            <a:ext cx="44476" cy="4447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28068" y="4362785"/>
            <a:ext cx="277977" cy="2779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914241" y="4440619"/>
            <a:ext cx="138988" cy="138988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35089" y="4454517"/>
            <a:ext cx="44476" cy="4447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ord 54"/>
          <p:cNvSpPr/>
          <p:nvPr/>
        </p:nvSpPr>
        <p:spPr>
          <a:xfrm>
            <a:off x="1647383" y="4599066"/>
            <a:ext cx="291876" cy="222382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27708" y="5669279"/>
            <a:ext cx="1042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Тыйын</a:t>
            </a:r>
          </a:p>
        </p:txBody>
      </p:sp>
      <p:cxnSp>
        <p:nvCxnSpPr>
          <p:cNvPr id="57" name="Connector 56"/>
          <p:cNvCxnSpPr/>
          <p:nvPr/>
        </p:nvCxnSpPr>
        <p:spPr>
          <a:xfrm flipH="1" flipV="1">
            <a:off x="5293278" y="4070908"/>
            <a:ext cx="166787" cy="416967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95986" y="3959717"/>
            <a:ext cx="194584" cy="194584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5779739" y="4070908"/>
            <a:ext cx="166787" cy="416967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49233" y="3959717"/>
            <a:ext cx="194584" cy="194584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76672" y="5530291"/>
            <a:ext cx="208483" cy="152887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689396" y="5530291"/>
            <a:ext cx="208483" cy="152887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133441" y="4418380"/>
            <a:ext cx="1007668" cy="1216152"/>
          </a:xfrm>
          <a:prstGeom prst="ellipse">
            <a:avLst/>
          </a:prstGeom>
          <a:solidFill>
            <a:srgbClr val="DDE8F7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272430" y="5287060"/>
            <a:ext cx="90342" cy="90342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897880" y="5217566"/>
            <a:ext cx="90342" cy="90342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619902" y="5426049"/>
            <a:ext cx="90342" cy="90342"/>
          </a:xfrm>
          <a:prstGeom prst="ellipse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41924" y="4696358"/>
            <a:ext cx="264078" cy="2640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92099" y="4770300"/>
            <a:ext cx="132039" cy="132039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11905" y="4783504"/>
            <a:ext cx="42252" cy="42252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75497" y="4696358"/>
            <a:ext cx="264078" cy="2640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725672" y="4770300"/>
            <a:ext cx="132039" cy="132039"/>
          </a:xfrm>
          <a:prstGeom prst="ellipse">
            <a:avLst/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45478" y="4783504"/>
            <a:ext cx="42252" cy="42252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ord 72"/>
          <p:cNvSpPr/>
          <p:nvPr/>
        </p:nvSpPr>
        <p:spPr>
          <a:xfrm>
            <a:off x="5501761" y="4953487"/>
            <a:ext cx="277977" cy="20848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8694" y="5704027"/>
            <a:ext cx="1042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Помпон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80960" y="2286000"/>
            <a:ext cx="40233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2377440"/>
            <a:ext cx="36576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Бүтүн: 10 алма</a:t>
            </a:r>
          </a:p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Берди: 3 алма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Калды: 7 алма</a:t>
            </a:r>
          </a:p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10 − 3 = 7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7 + 3 = 10 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Тыйындын себетинде 10 алма бар эле. Ал 3 алманы Помпонго берди. Тыйында канча алма калды?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Ким? Тыйын.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Бүтүн: 10 алма.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Берди: 3 алма.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канча калды?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42451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15232" y="3108960"/>
            <a:ext cx="990523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8796" y="3108960"/>
            <a:ext cx="42451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93306" y="3108960"/>
            <a:ext cx="990523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46870" y="3108960"/>
            <a:ext cx="42451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1380" y="3108960"/>
            <a:ext cx="990523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10 − 3 = 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Бүтүн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чоң сан – кемүүчү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Алабыз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Бөлүгүн алабыз – кемитүүчү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=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Калды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Калган бөлүк – айырма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10 − 3 = 7,  анткени  7 + 3 = 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Помпондо 9 сабиз бар эле. 4 сабизди Тыйынга берди. Помпондо канча сабиз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9 − 4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артка 4: 8, 7, 6,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5 + 4 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текшерүү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9 − 4 = </a:t>
            </a:r>
            <a:r>
              <a:rPr sz="3400" b="1">
                <a:solidFill>
                  <a:srgbClr val="24418C"/>
                </a:solidFill>
                <a:latin typeface="PT Sans"/>
              </a:rPr>
              <a:t>5 сабиз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Тыйында 8 жаңгак, Помпондо 5 жаңгак. Тыйында канчага көп?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8 − 5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түгөйлөп, ашыгын санайбыз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5 + 3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текшерүү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Канчага көп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3 жаңгак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кемитүү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Артка санайм (1, 2,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8 − 2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артка: 7,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Баштапкы санды санабайбыз.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10дун курамы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+ 3 =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Кошуудан эстейбиз: 7 менен 3 – 10.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Кошуу менен ойлойм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9 − 6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6дан 9га: 7, 8,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Сандар жакын болсо, кичинесинен уланта санайбыз.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«Мен 7 + 3 = 10 деп ойлодум» деп айт.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Тыйында 9 жаңгак бар эле. 4 жаңгакты Помпонго берди. Тыйында канча жаңгак калды?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Бакчада 10 помидор бышты. Тыйын 6сын терди. Канчасы калды?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Тыйында 8 жаңгак, Помпондо 5 жаңгак бар. Тыйында канчага көп?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Себетте 10 алма бар эле. Тыйын 2 алма, Помпон 5 алма жеди. Канча алма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Бакчада 10 помидор бышты. Тыйын 6сын терди. Канчасы калды?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40634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3275" y="3017520"/>
            <a:ext cx="93756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10 − 6 = 4 помидор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Тыйында 8 жаңгак, Помпондо 5 жаңгак бар. Тыйында канчага көп?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Тыйын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2640" y="3017520"/>
            <a:ext cx="5505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3185" y="3017520"/>
            <a:ext cx="33032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Помпон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574389"/>
            <a:ext cx="5505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8 − 5 = 3 жаңгак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Себетте 10 алма бар эле. Тыйын 2 алма, Помпон 5 алма жеди. Канча алма калды?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41054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3010" y="3017520"/>
            <a:ext cx="70317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10 − 2 − 5 = 3 алма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7 − 3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10 − 8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9 − ___ =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___ − 2 =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10 − 4 − 3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Тыйында 9 алма, Помпондо 6. Канчага көп?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7 − 3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10 − 8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9 − ___ =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___ − 2 =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10 − 4 − 3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Тыйында 9 алма, Помпондо 6. Канчага көп?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Тыйындын себетинде 10 алма бар эле. Ал 3 алманы Помпонго берди. Тыйында канча алма калды?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271576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0168" y="2240280"/>
            <a:ext cx="6336791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10 − 3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бүтүндөн бөлүктү алдык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7 + 3 =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текшерүү: кошуу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Тыйында 7 алма калды.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Бакча жөнүндө кемитүү маселесин түз: «… бар эле, … берди. Канча калды?»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Тыйын, Помпон.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8 − 3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10 − ___ =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Помпондо 7 алма, Тыйында 5 алма. Помпондо канчага көп?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Кемитүүдө бүтүн кайсы сан?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Кемитүүнү кантип текшересиң?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«Канчага көп» дегенде эмне кылабыз?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ар бир жуп таш менен иштейт, анан гана сүрөт жана сан.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Артка санаганда «секирикти» санатыңыз: баштапкы сан саналбайт.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кемитүүнү кошуу менен текшертиңиз: 10дун курамы жана сан үй-бүлөсү.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«Канчага көп» – салыштыруу: эки катар таш, түгөйлөп ашыгын санайбыз.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