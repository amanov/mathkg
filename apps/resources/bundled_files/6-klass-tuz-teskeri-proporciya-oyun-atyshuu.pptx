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Атышуу (ылдамдыксыз): суроо слайды, андан кийин жооп слайды. Туура жооп 1 упай, «туура жана түшүндүрдү» дагы 1 упай. Ылдамдык боюнча тизме жок (3C · Сынчыл ой).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Атышуу: туура жана түшүндүр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1/25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9768" y="1280160"/>
            <a:ext cx="11332159" cy="42062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31520" y="153619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149047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Баары ойлонот (10 секунд), анан мини-тактага жазат. Ким биринчи экени маанилүү эмес.</a:t>
            </a:r>
          </a:p>
        </p:txBody>
      </p:sp>
      <p:sp>
        <p:nvSpPr>
          <p:cNvPr id="13" name="Oval 12"/>
          <p:cNvSpPr/>
          <p:nvPr/>
        </p:nvSpPr>
        <p:spPr>
          <a:xfrm>
            <a:off x="731520" y="240487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371600" y="235915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Туура жооп = 1 упай. Ыкмасын түшүндүрсө («адегенде 1 бирдикти таптым…») = дагы 1 упай.</a:t>
            </a:r>
          </a:p>
        </p:txBody>
      </p:sp>
      <p:sp>
        <p:nvSpPr>
          <p:cNvPr id="15" name="Oval 14"/>
          <p:cNvSpPr/>
          <p:nvPr/>
        </p:nvSpPr>
        <p:spPr>
          <a:xfrm>
            <a:off x="731520" y="3273552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227832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Жооп слайдында текшеребиз: «түзбү, тескериби, кантип билдиң?» деп 2–3 окуучудан сурайм.</a:t>
            </a:r>
          </a:p>
        </p:txBody>
      </p:sp>
      <p:sp>
        <p:nvSpPr>
          <p:cNvPr id="17" name="Oval 16"/>
          <p:cNvSpPr/>
          <p:nvPr/>
        </p:nvSpPr>
        <p:spPr>
          <a:xfrm>
            <a:off x="731520" y="4142231"/>
            <a:ext cx="457200" cy="457200"/>
          </a:xfrm>
          <a:prstGeom prst="ellipse">
            <a:avLst/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800" b="1">
                <a:solidFill>
                  <a:srgbClr val="1D3557"/>
                </a:solidFill>
                <a:latin typeface="PT Sans"/>
              </a:rPr>
              <a:t>4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4096511"/>
            <a:ext cx="9966960" cy="8229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100" b="0" i="0">
                <a:solidFill>
                  <a:srgbClr val="1F2430"/>
                </a:solidFill>
                <a:latin typeface="PT Sans"/>
              </a:rPr>
              <a:t>Ар ким өз упайын өзүнүн мурунку жыйынтыгы менен салыштырат; класс алдында тизме жок.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7007047" y="5669280"/>
            <a:ext cx="475488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1D3557"/>
                </a:solidFill>
                <a:latin typeface="PT Sans"/>
              </a:rPr>
              <a:t>Блум: Эстөө · Колдонуу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29768" y="5669280"/>
            <a:ext cx="5852160" cy="411480"/>
          </a:xfrm>
          <a:prstGeom prst="roundRect">
            <a:avLst>
              <a:gd name="adj" fmla="val 50000"/>
            </a:avLst>
          </a:prstGeom>
          <a:noFill/>
          <a:ln w="15875">
            <a:solidFill>
              <a:srgbClr val="A8440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1400" b="1">
                <a:solidFill>
                  <a:srgbClr val="A84400"/>
                </a:solidFill>
                <a:latin typeface="PT Sans"/>
              </a:rPr>
              <a:t>Бүгүнкү окуя: Тоңдогу ашар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кап 500 сом. 6 кап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 кап 500 сом. 6 кап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3 000 сом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киши 10 саат. 5 киши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2 киши 10 саат. 5 киши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4 саат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нан 90 сом. 1 нан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3-суроо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3 нан 90 сом. 1 нан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 сом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0,5 саат = ? мүнөт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4-суроо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0,5 саат = ? мүнөт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30 мүнөт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× y = 30, x = 5 → y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5-суроо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 × y = 30, x = 5 → y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6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y ÷ x = 4, x = 9 → y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6-суроо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y ÷ x = 4, x = 9 → y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36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 км/саат, 2 саат → ? км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7-суроо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80 км/саат, 2 саат → ? км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160 км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16/25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120 км, 40 км/саат → ? саат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8-суроо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17/25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120 км, 40 км/саат → ? саат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3 саат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18/25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киши 6 күн. 3 киши = 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9-суроо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19/25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4 киши 6 күн. 3 киши = 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8 күн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20/25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x: 2, 4  y: 5, 10. Кайсы?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10-суроо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21/25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x: 2, 4  y: 5, 10. Кайсы?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Түз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22/25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x: 2, 4  y: 10, 5. Кайсы?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11-суроо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23/25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x: 2, 4  y: 10, 5. Кайсы?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Тескери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24/25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x: 1, 2  y: 3, 5. Кайсы?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4206240"/>
            <a:ext cx="11332159" cy="54864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2200" b="0" i="1">
                <a:solidFill>
                  <a:srgbClr val="6B7280"/>
                </a:solidFill>
                <a:latin typeface="PT Sans"/>
              </a:rPr>
              <a:t>Ойлон… жаз… ыкмаңды айтууга даярдан!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Rounded Rectangle 1"/>
          <p:cNvSpPr/>
          <p:nvPr/>
        </p:nvSpPr>
        <p:spPr>
          <a:xfrm>
            <a:off x="429768" y="219456"/>
            <a:ext cx="11332159" cy="795528"/>
          </a:xfrm>
          <a:prstGeom prst="roundRect">
            <a:avLst>
              <a:gd name="adj" fmla="val 23300"/>
            </a:avLst>
          </a:prstGeom>
          <a:noFill/>
          <a:ln w="19050">
            <a:solidFill>
              <a:srgbClr val="1D3557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612648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007A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63524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A8440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914400" y="384048"/>
            <a:ext cx="100584" cy="457200"/>
          </a:xfrm>
          <a:prstGeom prst="roundRect">
            <a:avLst>
              <a:gd name="adj" fmla="val 50000"/>
            </a:avLst>
          </a:prstGeom>
          <a:solidFill>
            <a:srgbClr val="2441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34440" y="219456"/>
            <a:ext cx="7345375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2600" b="1" i="0">
                <a:solidFill>
                  <a:srgbClr val="1D3557"/>
                </a:solidFill>
                <a:latin typeface="PT Sans"/>
              </a:rPr>
              <a:t>12-суроо — жооп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323783" y="219456"/>
            <a:ext cx="3246120" cy="795528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/>
            </a:r>
          </a:p>
          <a:p>
            <a:pPr algn="r">
              <a:lnSpc>
                <a:spcPct val="100000"/>
              </a:lnSpc>
            </a:pPr>
            <a:r>
              <a:rPr sz="1400" b="0" i="0">
                <a:solidFill>
                  <a:srgbClr val="4A5A70"/>
                </a:solidFill>
                <a:latin typeface="PT Sans"/>
              </a:rPr>
              <a:t>Түз жана тескери пропорциялуулук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29768" y="6355080"/>
            <a:ext cx="576072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l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MathKG · Математика кыргызча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881567" y="6355080"/>
            <a:ext cx="2880360" cy="365760"/>
          </a:xfrm>
          <a:prstGeom prst="rect">
            <a:avLst/>
          </a:prstGeom>
          <a:noFill/>
        </p:spPr>
        <p:txBody>
          <a:bodyPr wrap="square" anchor="t" lIns="45720" rIns="45720" tIns="27432" bIns="27432">
            <a:spAutoFit/>
          </a:bodyPr>
          <a:lstStyle/>
          <a:p>
            <a:pPr algn="r">
              <a:lnSpc>
                <a:spcPct val="105000"/>
              </a:lnSpc>
            </a:pPr>
            <a:r>
              <a:rPr sz="1400" b="0" i="0">
                <a:solidFill>
                  <a:srgbClr val="6B7280"/>
                </a:solidFill>
                <a:latin typeface="PT Sans"/>
              </a:rPr>
              <a:t>25/25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9768" y="1463040"/>
            <a:ext cx="11332159" cy="2194560"/>
          </a:xfrm>
          <a:prstGeom prst="rect">
            <a:avLst/>
          </a:prstGeom>
          <a:noFill/>
        </p:spPr>
        <p:txBody>
          <a:bodyPr wrap="square" anchor="ctr" lIns="45720" rIns="45720" tIns="27432" bIns="27432">
            <a:spAutoFit/>
          </a:bodyPr>
          <a:lstStyle/>
          <a:p>
            <a:pPr algn="ctr">
              <a:lnSpc>
                <a:spcPct val="105000"/>
              </a:lnSpc>
            </a:pPr>
            <a:r>
              <a:rPr sz="5400" b="1" i="0">
                <a:solidFill>
                  <a:srgbClr val="1F2430"/>
                </a:solidFill>
                <a:latin typeface="PT Sans"/>
              </a:rPr>
              <a:t>x: 1, 2  y: 3, 5. Кайсы?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3352647" y="4114800"/>
            <a:ext cx="5486400" cy="1188720"/>
          </a:xfrm>
          <a:prstGeom prst="roundRect">
            <a:avLst>
              <a:gd name="adj" fmla="val 25000"/>
            </a:avLst>
          </a:prstGeom>
          <a:solidFill>
            <a:srgbClr val="FFFFFF"/>
          </a:solidFill>
          <a:ln w="31750">
            <a:solidFill>
              <a:srgbClr val="24418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4864" rIns="54864" tIns="0" bIns="0"/>
          <a:lstStyle/>
          <a:p>
            <a:pPr algn="ctr"/>
            <a:r>
              <a:rPr sz="4800" b="1">
                <a:solidFill>
                  <a:srgbClr val="24418C"/>
                </a:solidFill>
                <a:latin typeface="PT Sans"/>
              </a:rPr>
              <a:t>Эч кайсысы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