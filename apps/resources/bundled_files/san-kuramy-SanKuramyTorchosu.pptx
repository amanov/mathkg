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/>
  <p:notesSz cx="6858000" cy="9144000"/>
  <p:embeddedFontLst>
    <p:embeddedFont>
      <p:font typeface="IBM Plex Sans" pitchFamily="34" charset="0"/>
      <p:regular r:id="rId23"/>
      <p:bold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font" Target="fonts/font1.fntdata"/><Relationship Id="rId24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Мугалим: фигуралар менен көрсөтүп, андан кийин диаграммага өтүңүз (Конкреттүү → Сүрөт → Абстракттуу).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91407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Сан курамы торчосу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3884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Мисал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047342" y="3042757"/>
            <a:ext cx="878738" cy="208857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2926080" y="3042757"/>
            <a:ext cx="878738" cy="208857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2359152" y="1920240"/>
            <a:ext cx="1133856" cy="113385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59152" y="1920240"/>
            <a:ext cx="1133856" cy="11338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4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14" name="Oval 13"/>
          <p:cNvSpPr/>
          <p:nvPr/>
        </p:nvSpPr>
        <p:spPr>
          <a:xfrm>
            <a:off x="1525768" y="3241182"/>
            <a:ext cx="1043148" cy="10431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25768" y="3241182"/>
            <a:ext cx="1043148" cy="10431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4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6" name="Oval 15"/>
          <p:cNvSpPr/>
          <p:nvPr/>
        </p:nvSpPr>
        <p:spPr>
          <a:xfrm>
            <a:off x="3283245" y="3241182"/>
            <a:ext cx="1043148" cy="10431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83245" y="3241182"/>
            <a:ext cx="1043148" cy="10431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920240"/>
            <a:ext cx="5760720" cy="329184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Бүтүн</a:t>
            </a:r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 — үстүңкү тегерекче.</a:t>
            </a:r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Бөлүктөр</a:t>
            </a:r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 — астыңкы эки тегерекче.</a:t>
            </a:r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Бөлүктөрдү кошсок, бүтүн чыгат:</a:t>
            </a:r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 + 4 = 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91407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Сан курамы торчосу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3884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10го чейин</a:t>
            </a:r>
          </a:p>
        </p:txBody>
      </p:sp>
      <p:sp>
        <p:nvSpPr>
          <p:cNvPr id="5" name="Rectangle 4"/>
          <p:cNvSpPr/>
          <p:nvPr/>
        </p:nvSpPr>
        <p:spPr>
          <a:xfrm>
            <a:off x="8899855" y="3291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Деңгээл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0935" y="585216"/>
            <a:ext cx="691416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Этек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10367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758952"/>
            <a:ext cx="274320" cy="68580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68735" y="758952"/>
            <a:ext cx="274320" cy="68580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12" name="Freeform 11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813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Бош тегерекчеге жетпеген санды жаз.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802435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397709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013661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3661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1449111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9111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2639659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46778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500573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6095848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5711800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1800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29" name="Oval 28"/>
          <p:cNvSpPr/>
          <p:nvPr/>
        </p:nvSpPr>
        <p:spPr>
          <a:xfrm>
            <a:off x="5147249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4724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31" name="Oval 30"/>
          <p:cNvSpPr/>
          <p:nvPr/>
        </p:nvSpPr>
        <p:spPr>
          <a:xfrm>
            <a:off x="6337798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44917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198712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9793986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9409938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09938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37" name="Oval 36"/>
          <p:cNvSpPr/>
          <p:nvPr/>
        </p:nvSpPr>
        <p:spPr>
          <a:xfrm>
            <a:off x="8845387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45387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10035936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802435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2397709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2013661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13661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45" name="Oval 44"/>
          <p:cNvSpPr/>
          <p:nvPr/>
        </p:nvSpPr>
        <p:spPr>
          <a:xfrm>
            <a:off x="1449111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49111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47" name="Oval 46"/>
          <p:cNvSpPr/>
          <p:nvPr/>
        </p:nvSpPr>
        <p:spPr>
          <a:xfrm>
            <a:off x="2639659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46778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5500573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6095848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5711800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11800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53" name="Oval 52"/>
          <p:cNvSpPr/>
          <p:nvPr/>
        </p:nvSpPr>
        <p:spPr>
          <a:xfrm>
            <a:off x="5147249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4724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55" name="Oval 54"/>
          <p:cNvSpPr/>
          <p:nvPr/>
        </p:nvSpPr>
        <p:spPr>
          <a:xfrm>
            <a:off x="6337798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44917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9198712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58" name="Connector 57"/>
          <p:cNvCxnSpPr/>
          <p:nvPr/>
        </p:nvCxnSpPr>
        <p:spPr>
          <a:xfrm>
            <a:off x="9793986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59" name="Oval 58"/>
          <p:cNvSpPr/>
          <p:nvPr/>
        </p:nvSpPr>
        <p:spPr>
          <a:xfrm>
            <a:off x="9409938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409938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61" name="Oval 60"/>
          <p:cNvSpPr/>
          <p:nvPr/>
        </p:nvSpPr>
        <p:spPr>
          <a:xfrm>
            <a:off x="8845387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035936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35936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91407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Сан курамы торчосу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3884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10го чейин · жооптор</a:t>
            </a:r>
          </a:p>
        </p:txBody>
      </p:sp>
      <p:sp>
        <p:nvSpPr>
          <p:cNvPr id="5" name="Rectangle 4"/>
          <p:cNvSpPr/>
          <p:nvPr/>
        </p:nvSpPr>
        <p:spPr>
          <a:xfrm>
            <a:off x="8899855" y="3291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Деңгээл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0935" y="585216"/>
            <a:ext cx="691416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Этек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10367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758952"/>
            <a:ext cx="274320" cy="68580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68735" y="758952"/>
            <a:ext cx="274320" cy="68580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12" name="Freeform 11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813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Бош тегерекчеге жетпеген санды жаз.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802435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397709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013661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3661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1449111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9111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2639659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3965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6778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500573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6095848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28" name="Oval 27"/>
          <p:cNvSpPr/>
          <p:nvPr/>
        </p:nvSpPr>
        <p:spPr>
          <a:xfrm>
            <a:off x="5711800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1800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30" name="Oval 29"/>
          <p:cNvSpPr/>
          <p:nvPr/>
        </p:nvSpPr>
        <p:spPr>
          <a:xfrm>
            <a:off x="5147249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4724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6337798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37798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44917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9198712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9793986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37" name="Oval 36"/>
          <p:cNvSpPr/>
          <p:nvPr/>
        </p:nvSpPr>
        <p:spPr>
          <a:xfrm>
            <a:off x="9409938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09938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39" name="Oval 38"/>
          <p:cNvSpPr/>
          <p:nvPr/>
        </p:nvSpPr>
        <p:spPr>
          <a:xfrm>
            <a:off x="8845387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45387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41" name="Oval 40"/>
          <p:cNvSpPr/>
          <p:nvPr/>
        </p:nvSpPr>
        <p:spPr>
          <a:xfrm>
            <a:off x="10035936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35936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1802435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2397709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2013661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13661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48" name="Oval 47"/>
          <p:cNvSpPr/>
          <p:nvPr/>
        </p:nvSpPr>
        <p:spPr>
          <a:xfrm>
            <a:off x="1449111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49111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50" name="Oval 49"/>
          <p:cNvSpPr/>
          <p:nvPr/>
        </p:nvSpPr>
        <p:spPr>
          <a:xfrm>
            <a:off x="2639659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3965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46778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5500573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6095848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55" name="Oval 54"/>
          <p:cNvSpPr/>
          <p:nvPr/>
        </p:nvSpPr>
        <p:spPr>
          <a:xfrm>
            <a:off x="5711800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711800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57" name="Oval 56"/>
          <p:cNvSpPr/>
          <p:nvPr/>
        </p:nvSpPr>
        <p:spPr>
          <a:xfrm>
            <a:off x="5147249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4724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59" name="Oval 58"/>
          <p:cNvSpPr/>
          <p:nvPr/>
        </p:nvSpPr>
        <p:spPr>
          <a:xfrm>
            <a:off x="6337798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37798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44917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9198712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63" name="Connector 62"/>
          <p:cNvCxnSpPr/>
          <p:nvPr/>
        </p:nvCxnSpPr>
        <p:spPr>
          <a:xfrm>
            <a:off x="9793986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9409938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09938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66" name="Oval 65"/>
          <p:cNvSpPr/>
          <p:nvPr/>
        </p:nvSpPr>
        <p:spPr>
          <a:xfrm>
            <a:off x="8845387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45387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68" name="Oval 67"/>
          <p:cNvSpPr/>
          <p:nvPr/>
        </p:nvSpPr>
        <p:spPr>
          <a:xfrm>
            <a:off x="10035936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035936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91407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Сан курамы торчосу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3884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10го чейин</a:t>
            </a:r>
          </a:p>
        </p:txBody>
      </p:sp>
      <p:sp>
        <p:nvSpPr>
          <p:cNvPr id="5" name="Rectangle 4"/>
          <p:cNvSpPr/>
          <p:nvPr/>
        </p:nvSpPr>
        <p:spPr>
          <a:xfrm>
            <a:off x="8899855" y="3291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Деңгээл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0935" y="585216"/>
            <a:ext cx="691416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Этек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10367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758952"/>
            <a:ext cx="274320" cy="68580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68735" y="758952"/>
            <a:ext cx="274320" cy="68580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12" name="Freeform 11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813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Бош тегерекчеге жетпеген санды жаз.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802435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397709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013661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3661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21" name="Oval 20"/>
          <p:cNvSpPr/>
          <p:nvPr/>
        </p:nvSpPr>
        <p:spPr>
          <a:xfrm>
            <a:off x="1449111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39659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3965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6778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500573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6095848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5711800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1800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5147249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4724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31" name="Oval 30"/>
          <p:cNvSpPr/>
          <p:nvPr/>
        </p:nvSpPr>
        <p:spPr>
          <a:xfrm>
            <a:off x="6337798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44917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198712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9793986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9409938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09938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37" name="Oval 36"/>
          <p:cNvSpPr/>
          <p:nvPr/>
        </p:nvSpPr>
        <p:spPr>
          <a:xfrm>
            <a:off x="8845387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35936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35936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802435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2397709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2013661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13661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45" name="Oval 44"/>
          <p:cNvSpPr/>
          <p:nvPr/>
        </p:nvSpPr>
        <p:spPr>
          <a:xfrm>
            <a:off x="1449111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49111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47" name="Oval 46"/>
          <p:cNvSpPr/>
          <p:nvPr/>
        </p:nvSpPr>
        <p:spPr>
          <a:xfrm>
            <a:off x="2639659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46778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5500573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6095848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5711800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11800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53" name="Oval 52"/>
          <p:cNvSpPr/>
          <p:nvPr/>
        </p:nvSpPr>
        <p:spPr>
          <a:xfrm>
            <a:off x="5147249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4724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55" name="Oval 54"/>
          <p:cNvSpPr/>
          <p:nvPr/>
        </p:nvSpPr>
        <p:spPr>
          <a:xfrm>
            <a:off x="6337798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44917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9198712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58" name="Connector 57"/>
          <p:cNvCxnSpPr/>
          <p:nvPr/>
        </p:nvCxnSpPr>
        <p:spPr>
          <a:xfrm>
            <a:off x="9793986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59" name="Oval 58"/>
          <p:cNvSpPr/>
          <p:nvPr/>
        </p:nvSpPr>
        <p:spPr>
          <a:xfrm>
            <a:off x="9409938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409938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61" name="Oval 60"/>
          <p:cNvSpPr/>
          <p:nvPr/>
        </p:nvSpPr>
        <p:spPr>
          <a:xfrm>
            <a:off x="8845387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035936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35936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91407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Сан курамы торчосу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3884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10го чейин · жооптор</a:t>
            </a:r>
          </a:p>
        </p:txBody>
      </p:sp>
      <p:sp>
        <p:nvSpPr>
          <p:cNvPr id="5" name="Rectangle 4"/>
          <p:cNvSpPr/>
          <p:nvPr/>
        </p:nvSpPr>
        <p:spPr>
          <a:xfrm>
            <a:off x="8899855" y="3291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Деңгээл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0935" y="585216"/>
            <a:ext cx="691416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Этек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10367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758952"/>
            <a:ext cx="274320" cy="68580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68735" y="758952"/>
            <a:ext cx="274320" cy="68580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12" name="Freeform 11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813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Бош тегерекчеге жетпеген санды жаз.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802435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397709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013661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3661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21" name="Oval 20"/>
          <p:cNvSpPr/>
          <p:nvPr/>
        </p:nvSpPr>
        <p:spPr>
          <a:xfrm>
            <a:off x="1449111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9111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2639659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3965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6778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500573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6095848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28" name="Oval 27"/>
          <p:cNvSpPr/>
          <p:nvPr/>
        </p:nvSpPr>
        <p:spPr>
          <a:xfrm>
            <a:off x="5711800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1800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30" name="Oval 29"/>
          <p:cNvSpPr/>
          <p:nvPr/>
        </p:nvSpPr>
        <p:spPr>
          <a:xfrm>
            <a:off x="5147249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4724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32" name="Oval 31"/>
          <p:cNvSpPr/>
          <p:nvPr/>
        </p:nvSpPr>
        <p:spPr>
          <a:xfrm>
            <a:off x="6337798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37798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44917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9198712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9793986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37" name="Oval 36"/>
          <p:cNvSpPr/>
          <p:nvPr/>
        </p:nvSpPr>
        <p:spPr>
          <a:xfrm>
            <a:off x="9409938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09938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39" name="Oval 38"/>
          <p:cNvSpPr/>
          <p:nvPr/>
        </p:nvSpPr>
        <p:spPr>
          <a:xfrm>
            <a:off x="8845387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45387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10035936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35936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1802435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2397709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2013661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13661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48" name="Oval 47"/>
          <p:cNvSpPr/>
          <p:nvPr/>
        </p:nvSpPr>
        <p:spPr>
          <a:xfrm>
            <a:off x="1449111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49111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50" name="Oval 49"/>
          <p:cNvSpPr/>
          <p:nvPr/>
        </p:nvSpPr>
        <p:spPr>
          <a:xfrm>
            <a:off x="2639659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3965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46778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5500573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6095848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55" name="Oval 54"/>
          <p:cNvSpPr/>
          <p:nvPr/>
        </p:nvSpPr>
        <p:spPr>
          <a:xfrm>
            <a:off x="5711800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711800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5147249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4724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59" name="Oval 58"/>
          <p:cNvSpPr/>
          <p:nvPr/>
        </p:nvSpPr>
        <p:spPr>
          <a:xfrm>
            <a:off x="6337798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37798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44917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9198712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63" name="Connector 62"/>
          <p:cNvCxnSpPr/>
          <p:nvPr/>
        </p:nvCxnSpPr>
        <p:spPr>
          <a:xfrm>
            <a:off x="9793986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9409938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09938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66" name="Oval 65"/>
          <p:cNvSpPr/>
          <p:nvPr/>
        </p:nvSpPr>
        <p:spPr>
          <a:xfrm>
            <a:off x="8845387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45387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68" name="Oval 67"/>
          <p:cNvSpPr/>
          <p:nvPr/>
        </p:nvSpPr>
        <p:spPr>
          <a:xfrm>
            <a:off x="10035936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035936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91407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Сан курамы торчосу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3884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20га чейин</a:t>
            </a:r>
          </a:p>
        </p:txBody>
      </p:sp>
      <p:sp>
        <p:nvSpPr>
          <p:cNvPr id="5" name="Rectangle 4"/>
          <p:cNvSpPr/>
          <p:nvPr/>
        </p:nvSpPr>
        <p:spPr>
          <a:xfrm>
            <a:off x="8899855" y="3291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Деңгээл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25883" y="585216"/>
            <a:ext cx="556468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Бел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10367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68735" y="758952"/>
            <a:ext cx="274320" cy="68580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12" name="Freeform 11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813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Жетпеген бөлүктү же бүтүндү жаз.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802435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397709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013661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3661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14</a:t>
            </a:r>
          </a:p>
        </p:txBody>
      </p:sp>
      <p:sp>
        <p:nvSpPr>
          <p:cNvPr id="21" name="Oval 20"/>
          <p:cNvSpPr/>
          <p:nvPr/>
        </p:nvSpPr>
        <p:spPr>
          <a:xfrm>
            <a:off x="1449111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9111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23" name="Oval 22"/>
          <p:cNvSpPr/>
          <p:nvPr/>
        </p:nvSpPr>
        <p:spPr>
          <a:xfrm>
            <a:off x="2639659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46778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500573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6095848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5711800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1800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17</a:t>
            </a:r>
          </a:p>
        </p:txBody>
      </p:sp>
      <p:sp>
        <p:nvSpPr>
          <p:cNvPr id="29" name="Oval 28"/>
          <p:cNvSpPr/>
          <p:nvPr/>
        </p:nvSpPr>
        <p:spPr>
          <a:xfrm>
            <a:off x="5147249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7798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37798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44917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198712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9793986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9409938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09938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13</a:t>
            </a:r>
          </a:p>
        </p:txBody>
      </p:sp>
      <p:sp>
        <p:nvSpPr>
          <p:cNvPr id="37" name="Oval 36"/>
          <p:cNvSpPr/>
          <p:nvPr/>
        </p:nvSpPr>
        <p:spPr>
          <a:xfrm>
            <a:off x="8845387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45387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39" name="Oval 38"/>
          <p:cNvSpPr/>
          <p:nvPr/>
        </p:nvSpPr>
        <p:spPr>
          <a:xfrm>
            <a:off x="10035936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802435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2397709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2013661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13661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16</a:t>
            </a:r>
          </a:p>
        </p:txBody>
      </p:sp>
      <p:sp>
        <p:nvSpPr>
          <p:cNvPr id="45" name="Oval 44"/>
          <p:cNvSpPr/>
          <p:nvPr/>
        </p:nvSpPr>
        <p:spPr>
          <a:xfrm>
            <a:off x="1449111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49111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47" name="Oval 46"/>
          <p:cNvSpPr/>
          <p:nvPr/>
        </p:nvSpPr>
        <p:spPr>
          <a:xfrm>
            <a:off x="2639659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46778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5500573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6095848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5711800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11800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53" name="Oval 52"/>
          <p:cNvSpPr/>
          <p:nvPr/>
        </p:nvSpPr>
        <p:spPr>
          <a:xfrm>
            <a:off x="5147249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337798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37798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44917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9198712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58" name="Connector 57"/>
          <p:cNvCxnSpPr/>
          <p:nvPr/>
        </p:nvCxnSpPr>
        <p:spPr>
          <a:xfrm>
            <a:off x="9793986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59" name="Oval 58"/>
          <p:cNvSpPr/>
          <p:nvPr/>
        </p:nvSpPr>
        <p:spPr>
          <a:xfrm>
            <a:off x="9409938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409938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61" name="Oval 60"/>
          <p:cNvSpPr/>
          <p:nvPr/>
        </p:nvSpPr>
        <p:spPr>
          <a:xfrm>
            <a:off x="8845387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45387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63" name="Oval 62"/>
          <p:cNvSpPr/>
          <p:nvPr/>
        </p:nvSpPr>
        <p:spPr>
          <a:xfrm>
            <a:off x="10035936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91407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Сан курамы торчосу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3884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20га чейин · жооптор</a:t>
            </a:r>
          </a:p>
        </p:txBody>
      </p:sp>
      <p:sp>
        <p:nvSpPr>
          <p:cNvPr id="5" name="Rectangle 4"/>
          <p:cNvSpPr/>
          <p:nvPr/>
        </p:nvSpPr>
        <p:spPr>
          <a:xfrm>
            <a:off x="8899855" y="3291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Деңгээл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25883" y="585216"/>
            <a:ext cx="556468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Бел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10367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68735" y="758952"/>
            <a:ext cx="274320" cy="68580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12" name="Freeform 11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813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Жетпеген бөлүктү же бүтүндү жаз.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802435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397709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013661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3661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14</a:t>
            </a:r>
          </a:p>
        </p:txBody>
      </p:sp>
      <p:sp>
        <p:nvSpPr>
          <p:cNvPr id="21" name="Oval 20"/>
          <p:cNvSpPr/>
          <p:nvPr/>
        </p:nvSpPr>
        <p:spPr>
          <a:xfrm>
            <a:off x="1449111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9111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23" name="Oval 22"/>
          <p:cNvSpPr/>
          <p:nvPr/>
        </p:nvSpPr>
        <p:spPr>
          <a:xfrm>
            <a:off x="2639659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3965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6778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500573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6095848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28" name="Oval 27"/>
          <p:cNvSpPr/>
          <p:nvPr/>
        </p:nvSpPr>
        <p:spPr>
          <a:xfrm>
            <a:off x="5711800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1800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17</a:t>
            </a:r>
          </a:p>
        </p:txBody>
      </p:sp>
      <p:sp>
        <p:nvSpPr>
          <p:cNvPr id="30" name="Oval 29"/>
          <p:cNvSpPr/>
          <p:nvPr/>
        </p:nvSpPr>
        <p:spPr>
          <a:xfrm>
            <a:off x="5147249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4724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32" name="Oval 31"/>
          <p:cNvSpPr/>
          <p:nvPr/>
        </p:nvSpPr>
        <p:spPr>
          <a:xfrm>
            <a:off x="6337798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37798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44917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9198712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9793986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37" name="Oval 36"/>
          <p:cNvSpPr/>
          <p:nvPr/>
        </p:nvSpPr>
        <p:spPr>
          <a:xfrm>
            <a:off x="9409938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09938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13</a:t>
            </a:r>
          </a:p>
        </p:txBody>
      </p:sp>
      <p:sp>
        <p:nvSpPr>
          <p:cNvPr id="39" name="Oval 38"/>
          <p:cNvSpPr/>
          <p:nvPr/>
        </p:nvSpPr>
        <p:spPr>
          <a:xfrm>
            <a:off x="8845387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45387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41" name="Oval 40"/>
          <p:cNvSpPr/>
          <p:nvPr/>
        </p:nvSpPr>
        <p:spPr>
          <a:xfrm>
            <a:off x="10035936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35936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1802435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2397709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2013661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13661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16</a:t>
            </a:r>
          </a:p>
        </p:txBody>
      </p:sp>
      <p:sp>
        <p:nvSpPr>
          <p:cNvPr id="48" name="Oval 47"/>
          <p:cNvSpPr/>
          <p:nvPr/>
        </p:nvSpPr>
        <p:spPr>
          <a:xfrm>
            <a:off x="1449111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49111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50" name="Oval 49"/>
          <p:cNvSpPr/>
          <p:nvPr/>
        </p:nvSpPr>
        <p:spPr>
          <a:xfrm>
            <a:off x="2639659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3965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46778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5500573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6095848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55" name="Oval 54"/>
          <p:cNvSpPr/>
          <p:nvPr/>
        </p:nvSpPr>
        <p:spPr>
          <a:xfrm>
            <a:off x="5711800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711800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57" name="Oval 56"/>
          <p:cNvSpPr/>
          <p:nvPr/>
        </p:nvSpPr>
        <p:spPr>
          <a:xfrm>
            <a:off x="5147249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4724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59" name="Oval 58"/>
          <p:cNvSpPr/>
          <p:nvPr/>
        </p:nvSpPr>
        <p:spPr>
          <a:xfrm>
            <a:off x="6337798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37798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44917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9198712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63" name="Connector 62"/>
          <p:cNvCxnSpPr/>
          <p:nvPr/>
        </p:nvCxnSpPr>
        <p:spPr>
          <a:xfrm>
            <a:off x="9793986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9409938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09938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66" name="Oval 65"/>
          <p:cNvSpPr/>
          <p:nvPr/>
        </p:nvSpPr>
        <p:spPr>
          <a:xfrm>
            <a:off x="8845387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45387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68" name="Oval 67"/>
          <p:cNvSpPr/>
          <p:nvPr/>
        </p:nvSpPr>
        <p:spPr>
          <a:xfrm>
            <a:off x="10035936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035936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91407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Сан курамы торчосу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3884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20га чейин</a:t>
            </a:r>
          </a:p>
        </p:txBody>
      </p:sp>
      <p:sp>
        <p:nvSpPr>
          <p:cNvPr id="5" name="Rectangle 4"/>
          <p:cNvSpPr/>
          <p:nvPr/>
        </p:nvSpPr>
        <p:spPr>
          <a:xfrm>
            <a:off x="8899855" y="3291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Деңгээл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25883" y="585216"/>
            <a:ext cx="556468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Бел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10367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68735" y="758952"/>
            <a:ext cx="274320" cy="68580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12" name="Freeform 11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813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Жетпеген бөлүктү же бүтүндү жаз.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802435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397709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013661" y="1965960"/>
            <a:ext cx="768096" cy="768096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49111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49111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sp>
        <p:nvSpPr>
          <p:cNvPr id="22" name="Oval 21"/>
          <p:cNvSpPr/>
          <p:nvPr/>
        </p:nvSpPr>
        <p:spPr>
          <a:xfrm>
            <a:off x="2639659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3965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6778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500573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6095848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5711800" y="1965960"/>
            <a:ext cx="768096" cy="768096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47249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4724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30" name="Oval 29"/>
          <p:cNvSpPr/>
          <p:nvPr/>
        </p:nvSpPr>
        <p:spPr>
          <a:xfrm>
            <a:off x="6337798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37798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44917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198712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9793986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9409938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09938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19</a:t>
            </a:r>
          </a:p>
        </p:txBody>
      </p:sp>
      <p:sp>
        <p:nvSpPr>
          <p:cNvPr id="37" name="Oval 36"/>
          <p:cNvSpPr/>
          <p:nvPr/>
        </p:nvSpPr>
        <p:spPr>
          <a:xfrm>
            <a:off x="8845387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45387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39" name="Oval 38"/>
          <p:cNvSpPr/>
          <p:nvPr/>
        </p:nvSpPr>
        <p:spPr>
          <a:xfrm>
            <a:off x="10035936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802435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2397709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2013661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13661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20</a:t>
            </a:r>
          </a:p>
        </p:txBody>
      </p:sp>
      <p:sp>
        <p:nvSpPr>
          <p:cNvPr id="45" name="Oval 44"/>
          <p:cNvSpPr/>
          <p:nvPr/>
        </p:nvSpPr>
        <p:spPr>
          <a:xfrm>
            <a:off x="1449111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639659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3965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46778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5500573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6095848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5711800" y="4160520"/>
            <a:ext cx="768096" cy="768096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147249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4724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54" name="Oval 53"/>
          <p:cNvSpPr/>
          <p:nvPr/>
        </p:nvSpPr>
        <p:spPr>
          <a:xfrm>
            <a:off x="6337798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37798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44917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9198712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58" name="Connector 57"/>
          <p:cNvCxnSpPr/>
          <p:nvPr/>
        </p:nvCxnSpPr>
        <p:spPr>
          <a:xfrm>
            <a:off x="9793986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59" name="Oval 58"/>
          <p:cNvSpPr/>
          <p:nvPr/>
        </p:nvSpPr>
        <p:spPr>
          <a:xfrm>
            <a:off x="9409938" y="4160520"/>
            <a:ext cx="768096" cy="768096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845387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845387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62" name="Oval 61"/>
          <p:cNvSpPr/>
          <p:nvPr/>
        </p:nvSpPr>
        <p:spPr>
          <a:xfrm>
            <a:off x="10035936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35936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91407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Сан курамы торчосу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3884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20га чейин · жооптор</a:t>
            </a:r>
          </a:p>
        </p:txBody>
      </p:sp>
      <p:sp>
        <p:nvSpPr>
          <p:cNvPr id="5" name="Rectangle 4"/>
          <p:cNvSpPr/>
          <p:nvPr/>
        </p:nvSpPr>
        <p:spPr>
          <a:xfrm>
            <a:off x="8899855" y="3291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Деңгээл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25883" y="585216"/>
            <a:ext cx="556468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Бел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10367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68735" y="758952"/>
            <a:ext cx="274320" cy="68580"/>
          </a:xfrm>
          <a:prstGeom prst="rect">
            <a:avLst/>
          </a:prstGeom>
          <a:solidFill>
            <a:srgbClr val="D5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12" name="Freeform 11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813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Жетпеген бөлүктү же бүтүндү жаз.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802435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397709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013661" y="1965960"/>
            <a:ext cx="768096" cy="768096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3661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18</a:t>
            </a:r>
          </a:p>
        </p:txBody>
      </p:sp>
      <p:sp>
        <p:nvSpPr>
          <p:cNvPr id="21" name="Oval 20"/>
          <p:cNvSpPr/>
          <p:nvPr/>
        </p:nvSpPr>
        <p:spPr>
          <a:xfrm>
            <a:off x="1449111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9111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sp>
        <p:nvSpPr>
          <p:cNvPr id="23" name="Oval 22"/>
          <p:cNvSpPr/>
          <p:nvPr/>
        </p:nvSpPr>
        <p:spPr>
          <a:xfrm>
            <a:off x="2639659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3965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6778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500573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6095848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28" name="Oval 27"/>
          <p:cNvSpPr/>
          <p:nvPr/>
        </p:nvSpPr>
        <p:spPr>
          <a:xfrm>
            <a:off x="5711800" y="1965960"/>
            <a:ext cx="768096" cy="768096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1800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sp>
        <p:nvSpPr>
          <p:cNvPr id="30" name="Oval 29"/>
          <p:cNvSpPr/>
          <p:nvPr/>
        </p:nvSpPr>
        <p:spPr>
          <a:xfrm>
            <a:off x="5147249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4724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6337798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37798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44917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9198712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9793986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37" name="Oval 36"/>
          <p:cNvSpPr/>
          <p:nvPr/>
        </p:nvSpPr>
        <p:spPr>
          <a:xfrm>
            <a:off x="9409938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09938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19</a:t>
            </a:r>
          </a:p>
        </p:txBody>
      </p:sp>
      <p:sp>
        <p:nvSpPr>
          <p:cNvPr id="39" name="Oval 38"/>
          <p:cNvSpPr/>
          <p:nvPr/>
        </p:nvSpPr>
        <p:spPr>
          <a:xfrm>
            <a:off x="8845387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45387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41" name="Oval 40"/>
          <p:cNvSpPr/>
          <p:nvPr/>
        </p:nvSpPr>
        <p:spPr>
          <a:xfrm>
            <a:off x="10035936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35936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1802435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2397709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2013661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13661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20</a:t>
            </a:r>
          </a:p>
        </p:txBody>
      </p:sp>
      <p:sp>
        <p:nvSpPr>
          <p:cNvPr id="48" name="Oval 47"/>
          <p:cNvSpPr/>
          <p:nvPr/>
        </p:nvSpPr>
        <p:spPr>
          <a:xfrm>
            <a:off x="1449111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49111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13</a:t>
            </a:r>
          </a:p>
        </p:txBody>
      </p:sp>
      <p:sp>
        <p:nvSpPr>
          <p:cNvPr id="50" name="Oval 49"/>
          <p:cNvSpPr/>
          <p:nvPr/>
        </p:nvSpPr>
        <p:spPr>
          <a:xfrm>
            <a:off x="2639659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3965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46778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5500573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6095848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55" name="Oval 54"/>
          <p:cNvSpPr/>
          <p:nvPr/>
        </p:nvSpPr>
        <p:spPr>
          <a:xfrm>
            <a:off x="5711800" y="4160520"/>
            <a:ext cx="768096" cy="768096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711800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16</a:t>
            </a:r>
          </a:p>
        </p:txBody>
      </p:sp>
      <p:sp>
        <p:nvSpPr>
          <p:cNvPr id="57" name="Oval 56"/>
          <p:cNvSpPr/>
          <p:nvPr/>
        </p:nvSpPr>
        <p:spPr>
          <a:xfrm>
            <a:off x="5147249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4724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59" name="Oval 58"/>
          <p:cNvSpPr/>
          <p:nvPr/>
        </p:nvSpPr>
        <p:spPr>
          <a:xfrm>
            <a:off x="6337798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37798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44917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9198712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63" name="Connector 62"/>
          <p:cNvCxnSpPr/>
          <p:nvPr/>
        </p:nvCxnSpPr>
        <p:spPr>
          <a:xfrm>
            <a:off x="9793986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9409938" y="4160520"/>
            <a:ext cx="768096" cy="768096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09938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13</a:t>
            </a:r>
          </a:p>
        </p:txBody>
      </p:sp>
      <p:sp>
        <p:nvSpPr>
          <p:cNvPr id="66" name="Oval 65"/>
          <p:cNvSpPr/>
          <p:nvPr/>
        </p:nvSpPr>
        <p:spPr>
          <a:xfrm>
            <a:off x="8845387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45387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68" name="Oval 67"/>
          <p:cNvSpPr/>
          <p:nvPr/>
        </p:nvSpPr>
        <p:spPr>
          <a:xfrm>
            <a:off x="10035936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035936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91407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Сан курамы торчосу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3884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Аралаш</a:t>
            </a:r>
          </a:p>
        </p:txBody>
      </p:sp>
      <p:sp>
        <p:nvSpPr>
          <p:cNvPr id="5" name="Rectangle 4"/>
          <p:cNvSpPr/>
          <p:nvPr/>
        </p:nvSpPr>
        <p:spPr>
          <a:xfrm>
            <a:off x="8899855" y="3291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Деңгээл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299" y="585216"/>
            <a:ext cx="707053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Чоку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10367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68735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12" name="Freeform 11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813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Жетпеген санды жаз.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802435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397709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013661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3661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21" name="Oval 20"/>
          <p:cNvSpPr/>
          <p:nvPr/>
        </p:nvSpPr>
        <p:spPr>
          <a:xfrm>
            <a:off x="1449111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9111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23" name="Oval 22"/>
          <p:cNvSpPr/>
          <p:nvPr/>
        </p:nvSpPr>
        <p:spPr>
          <a:xfrm>
            <a:off x="2639659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46778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500573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6095848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5711800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1800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20</a:t>
            </a:r>
          </a:p>
        </p:txBody>
      </p:sp>
      <p:sp>
        <p:nvSpPr>
          <p:cNvPr id="29" name="Oval 28"/>
          <p:cNvSpPr/>
          <p:nvPr/>
        </p:nvSpPr>
        <p:spPr>
          <a:xfrm>
            <a:off x="5147249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7798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37798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44917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198712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9793986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9409938" y="1965960"/>
            <a:ext cx="768096" cy="768096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845387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45387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38" name="Oval 37"/>
          <p:cNvSpPr/>
          <p:nvPr/>
        </p:nvSpPr>
        <p:spPr>
          <a:xfrm>
            <a:off x="10035936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35936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802435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2397709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2013661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13661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45" name="Oval 44"/>
          <p:cNvSpPr/>
          <p:nvPr/>
        </p:nvSpPr>
        <p:spPr>
          <a:xfrm>
            <a:off x="1449111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639659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3965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46778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5500573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6095848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5711800" y="4160520"/>
            <a:ext cx="768096" cy="768096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147249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4724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54" name="Oval 53"/>
          <p:cNvSpPr/>
          <p:nvPr/>
        </p:nvSpPr>
        <p:spPr>
          <a:xfrm>
            <a:off x="6337798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37798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44917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9198712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58" name="Connector 57"/>
          <p:cNvCxnSpPr/>
          <p:nvPr/>
        </p:nvCxnSpPr>
        <p:spPr>
          <a:xfrm>
            <a:off x="9793986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59" name="Oval 58"/>
          <p:cNvSpPr/>
          <p:nvPr/>
        </p:nvSpPr>
        <p:spPr>
          <a:xfrm>
            <a:off x="9409938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409938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14</a:t>
            </a:r>
          </a:p>
        </p:txBody>
      </p:sp>
      <p:sp>
        <p:nvSpPr>
          <p:cNvPr id="61" name="Oval 60"/>
          <p:cNvSpPr/>
          <p:nvPr/>
        </p:nvSpPr>
        <p:spPr>
          <a:xfrm>
            <a:off x="8845387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45387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63" name="Oval 62"/>
          <p:cNvSpPr/>
          <p:nvPr/>
        </p:nvSpPr>
        <p:spPr>
          <a:xfrm>
            <a:off x="10035936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91407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Сан курамы торчосу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3884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Аралаш · жооптор</a:t>
            </a:r>
          </a:p>
        </p:txBody>
      </p:sp>
      <p:sp>
        <p:nvSpPr>
          <p:cNvPr id="5" name="Rectangle 4"/>
          <p:cNvSpPr/>
          <p:nvPr/>
        </p:nvSpPr>
        <p:spPr>
          <a:xfrm>
            <a:off x="8899855" y="3291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Деңгээл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299" y="585216"/>
            <a:ext cx="707053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Чоку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10367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68735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12" name="Freeform 11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813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Жетпеген санды жаз.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802435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397709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013661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3661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21" name="Oval 20"/>
          <p:cNvSpPr/>
          <p:nvPr/>
        </p:nvSpPr>
        <p:spPr>
          <a:xfrm>
            <a:off x="1449111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9111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23" name="Oval 22"/>
          <p:cNvSpPr/>
          <p:nvPr/>
        </p:nvSpPr>
        <p:spPr>
          <a:xfrm>
            <a:off x="2639659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3965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6778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500573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6095848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28" name="Oval 27"/>
          <p:cNvSpPr/>
          <p:nvPr/>
        </p:nvSpPr>
        <p:spPr>
          <a:xfrm>
            <a:off x="5711800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1800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20</a:t>
            </a:r>
          </a:p>
        </p:txBody>
      </p:sp>
      <p:sp>
        <p:nvSpPr>
          <p:cNvPr id="30" name="Oval 29"/>
          <p:cNvSpPr/>
          <p:nvPr/>
        </p:nvSpPr>
        <p:spPr>
          <a:xfrm>
            <a:off x="5147249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4724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sp>
        <p:nvSpPr>
          <p:cNvPr id="32" name="Oval 31"/>
          <p:cNvSpPr/>
          <p:nvPr/>
        </p:nvSpPr>
        <p:spPr>
          <a:xfrm>
            <a:off x="6337798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37798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44917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9198712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9793986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37" name="Oval 36"/>
          <p:cNvSpPr/>
          <p:nvPr/>
        </p:nvSpPr>
        <p:spPr>
          <a:xfrm>
            <a:off x="9409938" y="1965960"/>
            <a:ext cx="768096" cy="768096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09938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17</a:t>
            </a:r>
          </a:p>
        </p:txBody>
      </p:sp>
      <p:sp>
        <p:nvSpPr>
          <p:cNvPr id="39" name="Oval 38"/>
          <p:cNvSpPr/>
          <p:nvPr/>
        </p:nvSpPr>
        <p:spPr>
          <a:xfrm>
            <a:off x="8845387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45387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41" name="Oval 40"/>
          <p:cNvSpPr/>
          <p:nvPr/>
        </p:nvSpPr>
        <p:spPr>
          <a:xfrm>
            <a:off x="10035936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35936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1802435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2397709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2013661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13661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48" name="Oval 47"/>
          <p:cNvSpPr/>
          <p:nvPr/>
        </p:nvSpPr>
        <p:spPr>
          <a:xfrm>
            <a:off x="1449111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49111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50" name="Oval 49"/>
          <p:cNvSpPr/>
          <p:nvPr/>
        </p:nvSpPr>
        <p:spPr>
          <a:xfrm>
            <a:off x="2639659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3965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46778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5500573" y="492093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6095848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55" name="Oval 54"/>
          <p:cNvSpPr/>
          <p:nvPr/>
        </p:nvSpPr>
        <p:spPr>
          <a:xfrm>
            <a:off x="5711800" y="4160520"/>
            <a:ext cx="768096" cy="768096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711800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19</a:t>
            </a:r>
          </a:p>
        </p:txBody>
      </p:sp>
      <p:sp>
        <p:nvSpPr>
          <p:cNvPr id="57" name="Oval 56"/>
          <p:cNvSpPr/>
          <p:nvPr/>
        </p:nvSpPr>
        <p:spPr>
          <a:xfrm>
            <a:off x="5147249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47249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59" name="Oval 58"/>
          <p:cNvSpPr/>
          <p:nvPr/>
        </p:nvSpPr>
        <p:spPr>
          <a:xfrm>
            <a:off x="6337798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37798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44917" y="4160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9198712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63" name="Connector 62"/>
          <p:cNvCxnSpPr/>
          <p:nvPr/>
        </p:nvCxnSpPr>
        <p:spPr>
          <a:xfrm>
            <a:off x="9793986" y="492093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9409938" y="416052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09938" y="416052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14</a:t>
            </a:r>
          </a:p>
        </p:txBody>
      </p:sp>
      <p:sp>
        <p:nvSpPr>
          <p:cNvPr id="66" name="Oval 65"/>
          <p:cNvSpPr/>
          <p:nvPr/>
        </p:nvSpPr>
        <p:spPr>
          <a:xfrm>
            <a:off x="8845387" y="505535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45387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68" name="Oval 67"/>
          <p:cNvSpPr/>
          <p:nvPr/>
        </p:nvSpPr>
        <p:spPr>
          <a:xfrm>
            <a:off x="10035936" y="505535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035936" y="505535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91407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Сан курамы торчосу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3884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Аралаш</a:t>
            </a:r>
          </a:p>
        </p:txBody>
      </p:sp>
      <p:sp>
        <p:nvSpPr>
          <p:cNvPr id="5" name="Rectangle 4"/>
          <p:cNvSpPr/>
          <p:nvPr/>
        </p:nvSpPr>
        <p:spPr>
          <a:xfrm>
            <a:off x="8899855" y="3291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Деңгээл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299" y="585216"/>
            <a:ext cx="707053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Чоку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10367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68735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12" name="Freeform 11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813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Жетпеген санды жаз.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802435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397709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013661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3661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16</a:t>
            </a:r>
          </a:p>
        </p:txBody>
      </p:sp>
      <p:sp>
        <p:nvSpPr>
          <p:cNvPr id="21" name="Oval 20"/>
          <p:cNvSpPr/>
          <p:nvPr/>
        </p:nvSpPr>
        <p:spPr>
          <a:xfrm>
            <a:off x="1449111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39659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3965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6778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500573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6095848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5711800" y="1965960"/>
            <a:ext cx="768096" cy="768096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47249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4724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6337798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37798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44917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198712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9793986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9409938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09938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13</a:t>
            </a:r>
          </a:p>
        </p:txBody>
      </p:sp>
      <p:sp>
        <p:nvSpPr>
          <p:cNvPr id="37" name="Oval 36"/>
          <p:cNvSpPr/>
          <p:nvPr/>
        </p:nvSpPr>
        <p:spPr>
          <a:xfrm>
            <a:off x="8845387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45387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39" name="Oval 38"/>
          <p:cNvSpPr/>
          <p:nvPr/>
        </p:nvSpPr>
        <p:spPr>
          <a:xfrm>
            <a:off x="10035936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91407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Сан курамы торчосу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3884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Аралаш · жооптор</a:t>
            </a:r>
          </a:p>
        </p:txBody>
      </p:sp>
      <p:sp>
        <p:nvSpPr>
          <p:cNvPr id="5" name="Rectangle 4"/>
          <p:cNvSpPr/>
          <p:nvPr/>
        </p:nvSpPr>
        <p:spPr>
          <a:xfrm>
            <a:off x="8899855" y="3291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Деңгээл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299" y="585216"/>
            <a:ext cx="707053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Чоку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10367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68735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12" name="Freeform 11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813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2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Жетпеген санды жаз.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802435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397709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013661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3661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16</a:t>
            </a:r>
          </a:p>
        </p:txBody>
      </p:sp>
      <p:sp>
        <p:nvSpPr>
          <p:cNvPr id="21" name="Oval 20"/>
          <p:cNvSpPr/>
          <p:nvPr/>
        </p:nvSpPr>
        <p:spPr>
          <a:xfrm>
            <a:off x="1449111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49111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23" name="Oval 22"/>
          <p:cNvSpPr/>
          <p:nvPr/>
        </p:nvSpPr>
        <p:spPr>
          <a:xfrm>
            <a:off x="2639659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3965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6778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500573" y="2726375"/>
            <a:ext cx="595275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6095848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28" name="Oval 27"/>
          <p:cNvSpPr/>
          <p:nvPr/>
        </p:nvSpPr>
        <p:spPr>
          <a:xfrm>
            <a:off x="5711800" y="1965960"/>
            <a:ext cx="768096" cy="768096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1800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sp>
        <p:nvSpPr>
          <p:cNvPr id="30" name="Oval 29"/>
          <p:cNvSpPr/>
          <p:nvPr/>
        </p:nvSpPr>
        <p:spPr>
          <a:xfrm>
            <a:off x="5147249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47249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32" name="Oval 31"/>
          <p:cNvSpPr/>
          <p:nvPr/>
        </p:nvSpPr>
        <p:spPr>
          <a:xfrm>
            <a:off x="6337798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37798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44917" y="1965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9198712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9793986" y="2726375"/>
            <a:ext cx="595274" cy="141483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37" name="Oval 36"/>
          <p:cNvSpPr/>
          <p:nvPr/>
        </p:nvSpPr>
        <p:spPr>
          <a:xfrm>
            <a:off x="9409938" y="1965960"/>
            <a:ext cx="768096" cy="768096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09938" y="1965960"/>
            <a:ext cx="768096" cy="76809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13</a:t>
            </a:r>
          </a:p>
        </p:txBody>
      </p:sp>
      <p:sp>
        <p:nvSpPr>
          <p:cNvPr id="39" name="Oval 38"/>
          <p:cNvSpPr/>
          <p:nvPr/>
        </p:nvSpPr>
        <p:spPr>
          <a:xfrm>
            <a:off x="8845387" y="2860792"/>
            <a:ext cx="706648" cy="706648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45387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41" name="Oval 40"/>
          <p:cNvSpPr/>
          <p:nvPr/>
        </p:nvSpPr>
        <p:spPr>
          <a:xfrm>
            <a:off x="10035936" y="2860792"/>
            <a:ext cx="706648" cy="706648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35936" y="2860792"/>
            <a:ext cx="706648" cy="7066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254891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8дин курамы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4699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Бардык жуптарды тап</a:t>
            </a:r>
          </a:p>
        </p:txBody>
      </p:sp>
      <p:sp>
        <p:nvSpPr>
          <p:cNvPr id="5" name="Rectangle 4"/>
          <p:cNvSpPr/>
          <p:nvPr/>
        </p:nvSpPr>
        <p:spPr>
          <a:xfrm>
            <a:off x="8899855" y="3291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Деңгээл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299" y="585216"/>
            <a:ext cx="707053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Чоку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10367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68735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12" name="Freeform 11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828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0 + 8 = 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828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 + 7 = 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__ + __ = 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971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__ + __ = 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971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__ + __ = 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971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__ + __ = 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114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__ + __ = 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4114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__ + __ = 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4114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__ + __ = 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254891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8дин курамы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4699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жооптор</a:t>
            </a:r>
          </a:p>
        </p:txBody>
      </p:sp>
      <p:sp>
        <p:nvSpPr>
          <p:cNvPr id="5" name="Rectangle 4"/>
          <p:cNvSpPr/>
          <p:nvPr/>
        </p:nvSpPr>
        <p:spPr>
          <a:xfrm>
            <a:off x="8899855" y="3291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Деңгээл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299" y="585216"/>
            <a:ext cx="707053" cy="38404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Чоку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10367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68735" y="758952"/>
            <a:ext cx="274320" cy="68580"/>
          </a:xfrm>
          <a:prstGeom prst="rect">
            <a:avLst/>
          </a:prstGeom>
          <a:solidFill>
            <a:srgbClr val="376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12" name="Freeform 11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828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0 + 8 = 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828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 + 7 = 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2 + 6 = 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971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3 + 5 = 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971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4 + 4 = 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971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5 + 3 = 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114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6 + 2 = 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4114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7 + 1 = 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41148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3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8 + 0 = 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Сан курамы торчосу</dc:title>
  <dc:subject>Сан курамы: 10го жана 20га чейин</dc:subject>
  <dc:creator>MathKG</dc:creator>
  <cp:keywords>MathKG; сан курамы</cp:keywords>
  <dc:description>generated using python-pptx</dc:description>
  <cp:lastModifiedBy>MathKG</cp:lastModifiedBy>
  <cp:revision>1</cp:revision>
  <dcterms:created xsi:type="dcterms:W3CDTF">2013-01-27T09:14:16Z</dcterms:created>
  <dcterms:modified xsi:type="dcterms:W3CDTF">2013-01-27T09:15:58Z</dcterms:modified>
  <cp:category/>
  <dc:language>ky-KG</dc:language>
</cp:coreProperties>
</file>