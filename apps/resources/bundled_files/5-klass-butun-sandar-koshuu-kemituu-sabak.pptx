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Окуучулар болжолдошсун: түштө нөлдөн жогорубу же төмөнбү? Жоопту сабактын аягында (22-слайд) текшеребиз. Проектор жок болсо, термометрди доскага чийем.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2,6).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Сезим: сан огунда солдогу сан кичине, −7 &lt; −2 (Айбек – М1).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 (же 4 окуучуга): 3–4 м жип, бор же кагаз карточкалар (−10дон 10го чейин), бир таш, кагазга чийилген термометр. Бир окуучу ташты басат, экинчиси жазат. Эрежени окуучулар өздөрү айтышат: кошуу – оңго, кемитүү – солго. Проектор жок болсо, ушул сүрөттү доскага чийем. Класс чоң болсо, бир жипти полго коюп, жуптар кезек менен чыгат.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Сан огун доскага чийем, окуучулар чакмак дептерге (−20дан 5ке чейин, 1 чакмак = 1). Жебелер: −18ден нөлгө 18 кадам, андан ары 3 кадам; кечинде 3төн солго 9 кадам. Асты: −6 − (−18) – −18ден −6га чейин канча кадам оңго? 12. Ошондуктан терс санды кемитүү = карама-каршысын кошуу.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Терс санды кошуу = оң санды кемитүү; терс санды кемитүү = карама-каршы санды кошуу. Эмне үчүн? Карыз мисалы: −5 сом карызды алып салса, акчаң 5 сомго көбөйөт (М4).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ыкманы окуучу үн чыгарып айтат: «нөлгө чейин 8, андан ары 5». «Оозеки беш мүнөт» (класста колдонуу картасы) эки апта ушул ыкмаларды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М5; Б = ✓; В = М3; Г = М2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нөлдөн өтүү → карыз → салыштыруу. Жооптор: 9 + 4 = 13° жылыды; −300 + 450 = 150 сом; −4 − (−16) = 12°: Нарын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Нөлгө чейин 18°, калган 3° – нөлдөн жогору: −18 + 21 = 3. Кечинде 3 − 9 = −6. Текшерүү: −6 − (−18) = −6 + 18 = 12. Сан огунда (12-слайд) ошол эле секириктер.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−9 &lt; −4; 7; −12°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Бүтүн сандар: сан огу, салыштыруу, кошуу жана кемитүү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Нарындагы кыш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Айбек менен Сезим мектептин короосундагы термометрди күн бою карап, температуранын өзгөрүшүн жазышат.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Математика стандарты (2018), 5-класс: бүтүн сандар. Кыргызча окуу китеби папкада жок; мазмуну толук жаңы.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Нарындагы кыш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Нарында кыш катуу: эртең менен термометр нөлдөн төмөн түшөт.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Гүлзат эже Айбек менен Сезимге тапшырма берди: күн бою мектептин термометрин карап, жазып туруу.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Эртең менен термометр −18 градусту көрсөттү.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Түшкө чейин 21 градус жылыды, кечке 9 градус сууду.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Эртең менен −18°. Түшкө чейин 21° жылыды, кечке 9° сууду. Түштө жана кечинде канча градус болду?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Терс сандарды турмушта (температура, жерден ылдый, карыз) таанып, сан огунда белгилейм.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Бүтүн сандарды сан огу менен салыштырам (&lt; &gt;).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Бүтүн сандарды сан огунда басып кошом жана кемитем; терс санды кемитүү = карама-каршысын кошуу.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Сан огу, салыштыруу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Кошуу жана кемитүү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Терс санды кемитүү, маселелер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Сан огунда текшерүү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Жупта: жип менен сан огу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Нарындагы кыш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Термометр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Сан нуру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Кошуу, кемитүү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Терс сандар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Сан огу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18204" y="2057400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Рационалдык сандар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Көбөйтүү, бөлүү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Теңдемелер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Координаталар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12 − 7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□ + 8 = 15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Кайсысы чоң: 15 же 51?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0°тан 5 градус жылыды. Канча?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12 − 7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□ + 8 =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Кайсысы чоң: 15 же 51?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0°тан 5 градус жылыды. Канча?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Гүлзат эже: «Эртең менен −7°, кечинде −2°. Качан суугураак болду?»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Айбек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7 &gt; 2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Демек −7 &gt; −2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Кечинде суугураак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Сезим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Сан огунда −7 солдо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−7 &lt; −2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Эртең менен суугураак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Термометр же сан огу менен текшер.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полго жип менен сан огу (−10 … 10). Таш −8де: 3 кадам оңго, анан 4 кадам солго.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59" y="3977639"/>
            <a:ext cx="6812281" cy="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60919" y="3749039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D3557"/>
                </a:solidFill>
                <a:latin typeface="PT Sans"/>
              </a:rPr>
              <a:t>▶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3904487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408736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−10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7280" y="3904487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59" y="408736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A84400"/>
                </a:solidFill>
                <a:latin typeface="PT Sans"/>
              </a:rPr>
              <a:t>−9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7319" y="3904487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42999" y="408736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A84400"/>
                </a:solidFill>
                <a:latin typeface="PT Sans"/>
              </a:rPr>
              <a:t>−8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737360" y="3904487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463039" y="408736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−7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057400" y="3904487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783080" y="408736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−6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377440" y="3904487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103120" y="408736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A84400"/>
                </a:solidFill>
                <a:latin typeface="PT Sans"/>
              </a:rPr>
              <a:t>−5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97480" y="3904487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423160" y="408736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−4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017520" y="3904487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743200" y="408736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−3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337560" y="3904487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063240" y="408736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−2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657600" y="3904487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383280" y="408736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−1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977639" y="3849624"/>
            <a:ext cx="0" cy="256031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703320" y="408736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297680" y="3904487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023360" y="408736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617720" y="3904487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343400" y="408736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937759" y="3904487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663440" y="408736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257800" y="3904487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983480" y="408736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577840" y="3904487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303520" y="408736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897879" y="3904487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623559" y="408736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217920" y="3904487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43600" y="408736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537959" y="3904487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263640" y="408736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858000" y="3904487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583680" y="408736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178040" y="3904487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903720" y="408736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94360" y="4005072"/>
            <a:ext cx="6812280" cy="0"/>
          </a:xfrm>
          <a:prstGeom prst="line">
            <a:avLst/>
          </a:prstGeom>
          <a:ln w="12700">
            <a:solidFill>
              <a:srgbClr val="B0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298448" y="3593591"/>
            <a:ext cx="237744" cy="182880"/>
          </a:xfrm>
          <a:prstGeom prst="ellipse">
            <a:avLst/>
          </a:prstGeom>
          <a:solidFill>
            <a:srgbClr val="8A8F98"/>
          </a:solidFill>
          <a:ln w="6350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417320" y="3246120"/>
            <a:ext cx="960120" cy="685800"/>
          </a:xfrm>
          <a:custGeom>
            <a:avLst/>
            <a:gdLst/>
            <a:ahLst/>
            <a:cxnLst/>
            <a:rect l="l" t="t" r="r" b="b"/>
            <a:pathLst>
              <a:path w="105" h="75">
                <a:moveTo>
                  <a:pt x="0" y="75"/>
                </a:moveTo>
                <a:lnTo>
                  <a:pt x="0" y="67"/>
                </a:lnTo>
                <a:lnTo>
                  <a:pt x="1" y="58"/>
                </a:lnTo>
                <a:lnTo>
                  <a:pt x="3" y="50"/>
                </a:lnTo>
                <a:lnTo>
                  <a:pt x="5" y="42"/>
                </a:lnTo>
                <a:lnTo>
                  <a:pt x="8" y="35"/>
                </a:lnTo>
                <a:lnTo>
                  <a:pt x="11" y="28"/>
                </a:lnTo>
                <a:lnTo>
                  <a:pt x="15" y="22"/>
                </a:lnTo>
                <a:lnTo>
                  <a:pt x="20" y="16"/>
                </a:lnTo>
                <a:lnTo>
                  <a:pt x="25" y="11"/>
                </a:lnTo>
                <a:lnTo>
                  <a:pt x="30" y="7"/>
                </a:lnTo>
                <a:lnTo>
                  <a:pt x="35" y="4"/>
                </a:lnTo>
                <a:lnTo>
                  <a:pt x="41" y="2"/>
                </a:lnTo>
                <a:lnTo>
                  <a:pt x="47" y="0"/>
                </a:lnTo>
                <a:lnTo>
                  <a:pt x="53" y="0"/>
                </a:lnTo>
                <a:lnTo>
                  <a:pt x="58" y="0"/>
                </a:lnTo>
                <a:lnTo>
                  <a:pt x="64" y="2"/>
                </a:lnTo>
                <a:lnTo>
                  <a:pt x="70" y="4"/>
                </a:lnTo>
                <a:lnTo>
                  <a:pt x="75" y="7"/>
                </a:lnTo>
                <a:lnTo>
                  <a:pt x="80" y="11"/>
                </a:lnTo>
                <a:lnTo>
                  <a:pt x="85" y="16"/>
                </a:lnTo>
                <a:lnTo>
                  <a:pt x="90" y="22"/>
                </a:lnTo>
                <a:lnTo>
                  <a:pt x="94" y="28"/>
                </a:lnTo>
                <a:lnTo>
                  <a:pt x="97" y="35"/>
                </a:lnTo>
                <a:lnTo>
                  <a:pt x="100" y="42"/>
                </a:lnTo>
                <a:lnTo>
                  <a:pt x="102" y="50"/>
                </a:lnTo>
                <a:lnTo>
                  <a:pt x="104" y="58"/>
                </a:lnTo>
                <a:lnTo>
                  <a:pt x="105" y="67"/>
                </a:lnTo>
                <a:lnTo>
                  <a:pt x="105" y="75"/>
                </a:lnTo>
              </a:path>
            </a:pathLst>
          </a:custGeom>
          <a:noFill/>
          <a:ln w="285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2295144" y="3776472"/>
            <a:ext cx="164592" cy="137160"/>
          </a:xfrm>
          <a:custGeom>
            <a:avLst/>
            <a:gdLst/>
            <a:ahLst/>
            <a:cxnLst/>
            <a:rect l="l" t="t" r="r" b="b"/>
            <a:pathLst>
              <a:path w="18" h="15">
                <a:moveTo>
                  <a:pt x="0" y="0"/>
                </a:moveTo>
                <a:lnTo>
                  <a:pt x="18" y="0"/>
                </a:lnTo>
                <a:lnTo>
                  <a:pt x="9" y="15"/>
                </a:lnTo>
                <a:close/>
              </a:path>
            </a:pathLst>
          </a:custGeom>
          <a:solidFill>
            <a:srgbClr val="007A5A"/>
          </a:solidFill>
          <a:ln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48740" y="2834639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+3: оңго</a:t>
            </a:r>
          </a:p>
        </p:txBody>
      </p:sp>
      <p:sp>
        <p:nvSpPr>
          <p:cNvPr id="61" name="Freeform 60"/>
          <p:cNvSpPr/>
          <p:nvPr/>
        </p:nvSpPr>
        <p:spPr>
          <a:xfrm>
            <a:off x="1097280" y="4389120"/>
            <a:ext cx="1280160" cy="548640"/>
          </a:xfrm>
          <a:custGeom>
            <a:avLst/>
            <a:gdLst/>
            <a:ahLst/>
            <a:cxnLst/>
            <a:rect l="l" t="t" r="r" b="b"/>
            <a:pathLst>
              <a:path w="140" h="60">
                <a:moveTo>
                  <a:pt x="140" y="0"/>
                </a:moveTo>
                <a:lnTo>
                  <a:pt x="140" y="7"/>
                </a:lnTo>
                <a:lnTo>
                  <a:pt x="138" y="13"/>
                </a:lnTo>
                <a:lnTo>
                  <a:pt x="136" y="20"/>
                </a:lnTo>
                <a:lnTo>
                  <a:pt x="133" y="26"/>
                </a:lnTo>
                <a:lnTo>
                  <a:pt x="129" y="32"/>
                </a:lnTo>
                <a:lnTo>
                  <a:pt x="125" y="37"/>
                </a:lnTo>
                <a:lnTo>
                  <a:pt x="119" y="42"/>
                </a:lnTo>
                <a:lnTo>
                  <a:pt x="114" y="47"/>
                </a:lnTo>
                <a:lnTo>
                  <a:pt x="107" y="51"/>
                </a:lnTo>
                <a:lnTo>
                  <a:pt x="100" y="54"/>
                </a:lnTo>
                <a:lnTo>
                  <a:pt x="93" y="57"/>
                </a:lnTo>
                <a:lnTo>
                  <a:pt x="86" y="58"/>
                </a:lnTo>
                <a:lnTo>
                  <a:pt x="78" y="60"/>
                </a:lnTo>
                <a:lnTo>
                  <a:pt x="70" y="60"/>
                </a:lnTo>
                <a:lnTo>
                  <a:pt x="62" y="60"/>
                </a:lnTo>
                <a:lnTo>
                  <a:pt x="54" y="58"/>
                </a:lnTo>
                <a:lnTo>
                  <a:pt x="47" y="57"/>
                </a:lnTo>
                <a:lnTo>
                  <a:pt x="40" y="54"/>
                </a:lnTo>
                <a:lnTo>
                  <a:pt x="33" y="51"/>
                </a:lnTo>
                <a:lnTo>
                  <a:pt x="26" y="47"/>
                </a:lnTo>
                <a:lnTo>
                  <a:pt x="21" y="42"/>
                </a:lnTo>
                <a:lnTo>
                  <a:pt x="15" y="37"/>
                </a:lnTo>
                <a:lnTo>
                  <a:pt x="11" y="32"/>
                </a:lnTo>
                <a:lnTo>
                  <a:pt x="7" y="26"/>
                </a:lnTo>
                <a:lnTo>
                  <a:pt x="4" y="20"/>
                </a:lnTo>
                <a:lnTo>
                  <a:pt x="2" y="13"/>
                </a:lnTo>
                <a:lnTo>
                  <a:pt x="0" y="7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014984" y="4407408"/>
            <a:ext cx="164592" cy="137160"/>
          </a:xfrm>
          <a:custGeom>
            <a:avLst/>
            <a:gdLst/>
            <a:ahLst/>
            <a:cxnLst/>
            <a:rect l="l" t="t" r="r" b="b"/>
            <a:pathLst>
              <a:path w="18" h="15">
                <a:moveTo>
                  <a:pt x="0" y="15"/>
                </a:moveTo>
                <a:lnTo>
                  <a:pt x="18" y="15"/>
                </a:lnTo>
                <a:lnTo>
                  <a:pt x="9" y="0"/>
                </a:lnTo>
                <a:close/>
              </a:path>
            </a:pathLst>
          </a:custGeom>
          <a:solidFill>
            <a:srgbClr val="A84400"/>
          </a:solidFill>
          <a:ln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97280" y="4983479"/>
            <a:ext cx="1280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−4: солго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91840" y="2240280"/>
            <a:ext cx="40233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007A5A"/>
                </a:solidFill>
                <a:latin typeface="PT Sans"/>
              </a:rPr>
              <a:t>−8 + 3 = −5</a:t>
            </a:r>
          </a:p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−5 − 4 = −9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7240" y="5577840"/>
            <a:ext cx="6583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1">
                <a:solidFill>
                  <a:srgbClr val="4A5A70"/>
                </a:solidFill>
                <a:latin typeface="PT Sans"/>
              </a:rPr>
              <a:t>Таш = биз. Кадам = 1. Оңго – чоң, солго – кичине.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01000" y="2240280"/>
            <a:ext cx="292608" cy="333755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083296" y="4617720"/>
            <a:ext cx="128016" cy="777239"/>
          </a:xfrm>
          <a:prstGeom prst="rect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946136" y="5394959"/>
            <a:ext cx="402336" cy="402336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8293608" y="5349240"/>
            <a:ext cx="137160" cy="0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439912" y="5202936"/>
            <a:ext cx="502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−10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293608" y="4617720"/>
            <a:ext cx="137160" cy="0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439912" y="4471416"/>
            <a:ext cx="502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−5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8293608" y="3886200"/>
            <a:ext cx="137160" cy="0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8439912" y="3739896"/>
            <a:ext cx="502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8293608" y="3154680"/>
            <a:ext cx="137160" cy="0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8439912" y="3008376"/>
            <a:ext cx="502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8293608" y="2423160"/>
            <a:ext cx="137160" cy="0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8439912" y="2276856"/>
            <a:ext cx="502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80960" y="2167128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D3557"/>
                </a:solidFill>
                <a:latin typeface="PT Sans"/>
              </a:rPr>
              <a:t>°C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006840" y="2240280"/>
            <a:ext cx="274320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144000" y="2304288"/>
            <a:ext cx="2514600" cy="3383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Ар бир жупта: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3–4 м жип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−10 … 10 карточкалар (бор)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бир таш же капкак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кагаз термометр</a:t>
            </a:r>
          </a:p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4418C"/>
                </a:solidFill>
                <a:latin typeface="PT Sans"/>
              </a:rPr>
              <a:t>Термометр = тик сан огу!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сан огунда басуу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Кошуу – оңго, кемитүү – солго. Нөлгө чейин басып, анан калганын басабыз.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3794760"/>
            <a:ext cx="10698480" cy="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338559" y="3566160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D3557"/>
                </a:solidFill>
                <a:latin typeface="PT Sans"/>
              </a:rPr>
              <a:t>▶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" y="37216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59" y="390448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−20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80160" y="37216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05839" y="390448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−19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91640" y="37216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417320" y="390448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A84400"/>
                </a:solidFill>
                <a:latin typeface="PT Sans"/>
              </a:rPr>
              <a:t>−18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03120" y="37216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828799" y="390448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−17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514600" y="37216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240280" y="390448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−16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926080" y="37216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651760" y="390448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−15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337560" y="37216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063240" y="390448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−14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749039" y="37216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474720" y="390448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−13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160520" y="37216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886200" y="390448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−12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72000" y="37216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297680" y="390448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−11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983480" y="37216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709160" y="390448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−10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394960" y="37216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120640" y="390448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−9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806440" y="37216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532120" y="390448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−8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217920" y="37216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943600" y="390448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−7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629400" y="37216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355080" y="390448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A84400"/>
                </a:solidFill>
                <a:latin typeface="PT Sans"/>
              </a:rPr>
              <a:t>−6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040880" y="37216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766560" y="390448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−5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452360" y="37216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178040" y="390448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−4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863840" y="37216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589519" y="390448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−3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275319" y="37216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000999" y="390448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−2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686800" y="37216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412480" y="390448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−1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098280" y="3666744"/>
            <a:ext cx="0" cy="256032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823959" y="390448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A84400"/>
                </a:solidFill>
                <a:latin typeface="PT Sans"/>
              </a:rPr>
              <a:t>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9509759" y="37216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235439" y="390448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921240" y="37216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646919" y="390448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0332719" y="37216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0058399" y="390448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A84400"/>
                </a:solidFill>
                <a:latin typeface="PT Sans"/>
              </a:rPr>
              <a:t>3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0744200" y="37216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0469880" y="390448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1155680" y="3721608"/>
            <a:ext cx="0" cy="146304"/>
          </a:xfrm>
          <a:prstGeom prst="line">
            <a:avLst/>
          </a:prstGeom>
          <a:ln w="1587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0881359" y="3904488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66" name="Freeform 65"/>
          <p:cNvSpPr/>
          <p:nvPr/>
        </p:nvSpPr>
        <p:spPr>
          <a:xfrm>
            <a:off x="1691640" y="2514600"/>
            <a:ext cx="7406640" cy="1234440"/>
          </a:xfrm>
          <a:custGeom>
            <a:avLst/>
            <a:gdLst/>
            <a:ahLst/>
            <a:cxnLst/>
            <a:rect l="l" t="t" r="r" b="b"/>
            <a:pathLst>
              <a:path w="810" h="135">
                <a:moveTo>
                  <a:pt x="0" y="135"/>
                </a:moveTo>
                <a:lnTo>
                  <a:pt x="3" y="120"/>
                </a:lnTo>
                <a:lnTo>
                  <a:pt x="10" y="105"/>
                </a:lnTo>
                <a:lnTo>
                  <a:pt x="23" y="90"/>
                </a:lnTo>
                <a:lnTo>
                  <a:pt x="40" y="76"/>
                </a:lnTo>
                <a:lnTo>
                  <a:pt x="62" y="63"/>
                </a:lnTo>
                <a:lnTo>
                  <a:pt x="88" y="51"/>
                </a:lnTo>
                <a:lnTo>
                  <a:pt x="119" y="40"/>
                </a:lnTo>
                <a:lnTo>
                  <a:pt x="152" y="29"/>
                </a:lnTo>
                <a:lnTo>
                  <a:pt x="190" y="21"/>
                </a:lnTo>
                <a:lnTo>
                  <a:pt x="229" y="13"/>
                </a:lnTo>
                <a:lnTo>
                  <a:pt x="271" y="8"/>
                </a:lnTo>
                <a:lnTo>
                  <a:pt x="315" y="3"/>
                </a:lnTo>
                <a:lnTo>
                  <a:pt x="360" y="1"/>
                </a:lnTo>
                <a:lnTo>
                  <a:pt x="405" y="0"/>
                </a:lnTo>
                <a:lnTo>
                  <a:pt x="450" y="1"/>
                </a:lnTo>
                <a:lnTo>
                  <a:pt x="495" y="3"/>
                </a:lnTo>
                <a:lnTo>
                  <a:pt x="539" y="8"/>
                </a:lnTo>
                <a:lnTo>
                  <a:pt x="581" y="13"/>
                </a:lnTo>
                <a:lnTo>
                  <a:pt x="620" y="21"/>
                </a:lnTo>
                <a:lnTo>
                  <a:pt x="658" y="29"/>
                </a:lnTo>
                <a:lnTo>
                  <a:pt x="691" y="40"/>
                </a:lnTo>
                <a:lnTo>
                  <a:pt x="722" y="51"/>
                </a:lnTo>
                <a:lnTo>
                  <a:pt x="748" y="63"/>
                </a:lnTo>
                <a:lnTo>
                  <a:pt x="770" y="76"/>
                </a:lnTo>
                <a:lnTo>
                  <a:pt x="787" y="90"/>
                </a:lnTo>
                <a:lnTo>
                  <a:pt x="800" y="105"/>
                </a:lnTo>
                <a:lnTo>
                  <a:pt x="807" y="120"/>
                </a:lnTo>
                <a:lnTo>
                  <a:pt x="810" y="135"/>
                </a:lnTo>
              </a:path>
            </a:pathLst>
          </a:custGeom>
          <a:noFill/>
          <a:ln w="285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9015984" y="3593592"/>
            <a:ext cx="164592" cy="137160"/>
          </a:xfrm>
          <a:custGeom>
            <a:avLst/>
            <a:gdLst/>
            <a:ahLst/>
            <a:cxnLst/>
            <a:rect l="l" t="t" r="r" b="b"/>
            <a:pathLst>
              <a:path w="18" h="15">
                <a:moveTo>
                  <a:pt x="0" y="0"/>
                </a:moveTo>
                <a:lnTo>
                  <a:pt x="18" y="0"/>
                </a:lnTo>
                <a:lnTo>
                  <a:pt x="9" y="15"/>
                </a:lnTo>
                <a:close/>
              </a:path>
            </a:pathLst>
          </a:custGeom>
          <a:solidFill>
            <a:srgbClr val="007A5A"/>
          </a:solidFill>
          <a:ln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023360" y="210312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07A5A"/>
                </a:solidFill>
                <a:latin typeface="PT Sans"/>
              </a:rPr>
              <a:t>+18: нөлгө чейин</a:t>
            </a:r>
          </a:p>
        </p:txBody>
      </p:sp>
      <p:sp>
        <p:nvSpPr>
          <p:cNvPr id="69" name="Freeform 68"/>
          <p:cNvSpPr/>
          <p:nvPr/>
        </p:nvSpPr>
        <p:spPr>
          <a:xfrm>
            <a:off x="9098280" y="3200400"/>
            <a:ext cx="1234440" cy="548640"/>
          </a:xfrm>
          <a:custGeom>
            <a:avLst/>
            <a:gdLst/>
            <a:ahLst/>
            <a:cxnLst/>
            <a:rect l="l" t="t" r="r" b="b"/>
            <a:pathLst>
              <a:path w="135" h="60">
                <a:moveTo>
                  <a:pt x="0" y="60"/>
                </a:moveTo>
                <a:lnTo>
                  <a:pt x="0" y="53"/>
                </a:lnTo>
                <a:lnTo>
                  <a:pt x="2" y="47"/>
                </a:lnTo>
                <a:lnTo>
                  <a:pt x="4" y="40"/>
                </a:lnTo>
                <a:lnTo>
                  <a:pt x="7" y="34"/>
                </a:lnTo>
                <a:lnTo>
                  <a:pt x="10" y="28"/>
                </a:lnTo>
                <a:lnTo>
                  <a:pt x="15" y="23"/>
                </a:lnTo>
                <a:lnTo>
                  <a:pt x="20" y="18"/>
                </a:lnTo>
                <a:lnTo>
                  <a:pt x="25" y="13"/>
                </a:lnTo>
                <a:lnTo>
                  <a:pt x="32" y="9"/>
                </a:lnTo>
                <a:lnTo>
                  <a:pt x="38" y="6"/>
                </a:lnTo>
                <a:lnTo>
                  <a:pt x="45" y="3"/>
                </a:lnTo>
                <a:lnTo>
                  <a:pt x="52" y="2"/>
                </a:lnTo>
                <a:lnTo>
                  <a:pt x="60" y="0"/>
                </a:lnTo>
                <a:lnTo>
                  <a:pt x="67" y="0"/>
                </a:lnTo>
                <a:lnTo>
                  <a:pt x="75" y="0"/>
                </a:lnTo>
                <a:lnTo>
                  <a:pt x="83" y="2"/>
                </a:lnTo>
                <a:lnTo>
                  <a:pt x="90" y="3"/>
                </a:lnTo>
                <a:lnTo>
                  <a:pt x="97" y="6"/>
                </a:lnTo>
                <a:lnTo>
                  <a:pt x="103" y="9"/>
                </a:lnTo>
                <a:lnTo>
                  <a:pt x="110" y="13"/>
                </a:lnTo>
                <a:lnTo>
                  <a:pt x="115" y="18"/>
                </a:lnTo>
                <a:lnTo>
                  <a:pt x="120" y="23"/>
                </a:lnTo>
                <a:lnTo>
                  <a:pt x="125" y="28"/>
                </a:lnTo>
                <a:lnTo>
                  <a:pt x="128" y="34"/>
                </a:lnTo>
                <a:lnTo>
                  <a:pt x="131" y="40"/>
                </a:lnTo>
                <a:lnTo>
                  <a:pt x="133" y="47"/>
                </a:lnTo>
                <a:lnTo>
                  <a:pt x="135" y="53"/>
                </a:lnTo>
                <a:lnTo>
                  <a:pt x="135" y="60"/>
                </a:lnTo>
              </a:path>
            </a:pathLst>
          </a:custGeom>
          <a:noFill/>
          <a:ln w="285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10250424" y="3593592"/>
            <a:ext cx="164592" cy="137160"/>
          </a:xfrm>
          <a:custGeom>
            <a:avLst/>
            <a:gdLst/>
            <a:ahLst/>
            <a:cxnLst/>
            <a:rect l="l" t="t" r="r" b="b"/>
            <a:pathLst>
              <a:path w="18" h="15">
                <a:moveTo>
                  <a:pt x="0" y="0"/>
                </a:moveTo>
                <a:lnTo>
                  <a:pt x="18" y="0"/>
                </a:lnTo>
                <a:lnTo>
                  <a:pt x="9" y="15"/>
                </a:lnTo>
                <a:close/>
              </a:path>
            </a:pathLst>
          </a:custGeom>
          <a:solidFill>
            <a:srgbClr val="24418C"/>
          </a:solidFill>
          <a:ln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66860" y="283464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24418C"/>
                </a:solidFill>
                <a:latin typeface="PT Sans"/>
              </a:rPr>
              <a:t>+3</a:t>
            </a:r>
          </a:p>
        </p:txBody>
      </p:sp>
      <p:sp>
        <p:nvSpPr>
          <p:cNvPr id="72" name="Freeform 71"/>
          <p:cNvSpPr/>
          <p:nvPr/>
        </p:nvSpPr>
        <p:spPr>
          <a:xfrm>
            <a:off x="6629400" y="4206240"/>
            <a:ext cx="3703320" cy="685800"/>
          </a:xfrm>
          <a:custGeom>
            <a:avLst/>
            <a:gdLst/>
            <a:ahLst/>
            <a:cxnLst/>
            <a:rect l="l" t="t" r="r" b="b"/>
            <a:pathLst>
              <a:path w="405" h="75">
                <a:moveTo>
                  <a:pt x="405" y="0"/>
                </a:moveTo>
                <a:lnTo>
                  <a:pt x="404" y="8"/>
                </a:lnTo>
                <a:lnTo>
                  <a:pt x="400" y="17"/>
                </a:lnTo>
                <a:lnTo>
                  <a:pt x="394" y="25"/>
                </a:lnTo>
                <a:lnTo>
                  <a:pt x="385" y="33"/>
                </a:lnTo>
                <a:lnTo>
                  <a:pt x="374" y="40"/>
                </a:lnTo>
                <a:lnTo>
                  <a:pt x="361" y="47"/>
                </a:lnTo>
                <a:lnTo>
                  <a:pt x="346" y="53"/>
                </a:lnTo>
                <a:lnTo>
                  <a:pt x="329" y="59"/>
                </a:lnTo>
                <a:lnTo>
                  <a:pt x="310" y="64"/>
                </a:lnTo>
                <a:lnTo>
                  <a:pt x="290" y="68"/>
                </a:lnTo>
                <a:lnTo>
                  <a:pt x="269" y="71"/>
                </a:lnTo>
                <a:lnTo>
                  <a:pt x="248" y="73"/>
                </a:lnTo>
                <a:lnTo>
                  <a:pt x="225" y="75"/>
                </a:lnTo>
                <a:lnTo>
                  <a:pt x="202" y="75"/>
                </a:lnTo>
                <a:lnTo>
                  <a:pt x="180" y="75"/>
                </a:lnTo>
                <a:lnTo>
                  <a:pt x="157" y="73"/>
                </a:lnTo>
                <a:lnTo>
                  <a:pt x="136" y="71"/>
                </a:lnTo>
                <a:lnTo>
                  <a:pt x="115" y="68"/>
                </a:lnTo>
                <a:lnTo>
                  <a:pt x="95" y="64"/>
                </a:lnTo>
                <a:lnTo>
                  <a:pt x="76" y="59"/>
                </a:lnTo>
                <a:lnTo>
                  <a:pt x="59" y="53"/>
                </a:lnTo>
                <a:lnTo>
                  <a:pt x="44" y="47"/>
                </a:lnTo>
                <a:lnTo>
                  <a:pt x="31" y="40"/>
                </a:lnTo>
                <a:lnTo>
                  <a:pt x="20" y="33"/>
                </a:lnTo>
                <a:lnTo>
                  <a:pt x="11" y="25"/>
                </a:lnTo>
                <a:lnTo>
                  <a:pt x="5" y="17"/>
                </a:lnTo>
                <a:lnTo>
                  <a:pt x="1" y="8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6547104" y="4224528"/>
            <a:ext cx="164592" cy="137160"/>
          </a:xfrm>
          <a:custGeom>
            <a:avLst/>
            <a:gdLst/>
            <a:ahLst/>
            <a:cxnLst/>
            <a:rect l="l" t="t" r="r" b="b"/>
            <a:pathLst>
              <a:path w="18" h="15">
                <a:moveTo>
                  <a:pt x="0" y="15"/>
                </a:moveTo>
                <a:lnTo>
                  <a:pt x="18" y="15"/>
                </a:lnTo>
                <a:lnTo>
                  <a:pt x="9" y="0"/>
                </a:lnTo>
                <a:close/>
              </a:path>
            </a:pathLst>
          </a:custGeom>
          <a:solidFill>
            <a:srgbClr val="A84400"/>
          </a:solidFill>
          <a:ln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292339" y="493776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−9: кечинде сууду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2057400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4A5A70"/>
                </a:solidFill>
                <a:latin typeface="PT Sans"/>
              </a:rPr>
              <a:t>Түштө: 18 + 3 = 21 жылыды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−18 + 21 = 3;    3 − 9 = −6;    −6 − (−18) = −6 + 18 = 12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+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Оң санды кошуу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Сан огунда оңго бас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−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Оң санды кемитүү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Солго бас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+ (−a)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Терс санды кошуу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= − a: солго бас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− (−a)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Терс санды кемитүү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= + a: оңго бас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3 + (−5) = 3 − 5 = −2      3 − (−5) = 3 + 5 = 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Эртең менен −12°. Түшкө чейин 17° жылыды. Түштө канча градус?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−12 + 17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−12 + 12 + 5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нөлгө чейин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градус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Түштө = </a:t>
            </a:r>
            <a:r>
              <a:rPr sz="3400" b="1">
                <a:solidFill>
                  <a:srgbClr val="24418C"/>
                </a:solidFill>
                <a:latin typeface="PT Sans"/>
              </a:rPr>
              <a:t>5°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Нарында −15°, Бишкекте −6°. Бишкекте канча градус жылуу?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−6 − (−15)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−6 + 15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− (−15) = + 15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градус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Бишкекте жылуу = </a:t>
            </a:r>
            <a:r>
              <a:rPr sz="3400" b="1">
                <a:solidFill>
                  <a:srgbClr val="24418C"/>
                </a:solidFill>
                <a:latin typeface="PT Sans"/>
              </a:rPr>
              <a:t>9°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үч жол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Нөл аркылуу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−8 + 13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−8 + 8 + 5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0 + 5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Адегенде нөлгө чейин, анан калганы.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Карама-каршы жуп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−7 + 3 + 7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(−7 + 7) + 3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0 + 3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a + (−a) = 0: жупту тап, нөлгө айлант.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Минус минус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4 − (−6)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4 + 6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Терс санды кемитүү = карама-каршысын кошуу.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Түшүн → ыкма → эркин эсеп. Ыкмаңды үн чыгарып айт: «Мен ... деп ойлодум».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Нарында эртең менен −8° болчу. Түшкө чейин 3° жылыды. Түштө канча градус?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−11°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−5°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5°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11°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Эртең менен −9°, түштө 4°. Канча градуска жылыды? Тилкеге: нөлгө чейин жана нөлдөн кийин.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Айбектин 300 сом карызы бар эле. Ал 450 сом тапты да, карызын төлөдү. Канча сом калды?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Нарында −16°, Бишкекте −4°. Кайсы жер канча градус суугураак?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Эртең менен −9°, түштө 4°. Канча градуска жылыды? Тилкеге: нөлгө чейин жана нөлдөн кийин.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162270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89636" y="3017520"/>
            <a:ext cx="721203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9 + 4 = 13° жылыды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Айбектин 300 сом карызы бар эле. Ал 450 сом тапты да, карызын төлөдү. Канча сом калды?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19600" y="3017520"/>
            <a:ext cx="156260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2208" y="3017520"/>
            <a:ext cx="781304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150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992112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4951" y="3401568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037832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450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−300 + 450 = 150 сом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Нарында −16°, Бишкекте −4°. Кайсы жер канча градус суугураак?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2272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Нарын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35312" y="3017520"/>
            <a:ext cx="88087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2272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Бишкек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35312" y="3574389"/>
            <a:ext cx="220217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55530" y="3574389"/>
            <a:ext cx="660653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−4 − (−16) = 12°: Нарын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−9 + 6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2 − 11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−5 − 7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8 − (−4)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−13 + (−2)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Эртең менен −14°, түштө −3°. Канча градус жылыды?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−9 + 6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−3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2 − 11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−9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−5 − 7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−12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8 − (−4)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−13 + (−2)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−15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Эртең менен −14°, түштө −3°. Канча градус жылыды?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11°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Эртең менен −18°. Түшкө чейин 21° жылыды, кечке 9° сууду. Түштө жана кечинде канча градус болду?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Жылыды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40280"/>
            <a:ext cx="6505302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нөлгө чейин 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82742" y="2240280"/>
            <a:ext cx="1084217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−18 + 21 =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түштө 3°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3 − 9 = −6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кечинде −6°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611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−6 − (−18) =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2611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эртеңкиден 12° жылуу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Түштө 3°, кечинде −6°: эртең мененкиден 12° жылуу.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Нарындагы кыш жөнүндө маселе түз: температура жылыйт же суыйт, жообу терс сан болсун.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Айбек, Сезим, Гүлзат эже.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Салыштыр (&lt; же &gt;):  −9 □ −4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2 − (−5) =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Кечинде −7°, түнү дагы 5° сууду. Түнү канча градус?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Терс санды кошуу менен оң санды кемитүүнүн окшоштугу эмнеде?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3 − (−4) = 7? Сан огунда көрсөт.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Кайсы сан чоң: −20 же −2? Кантип билесиң?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Бүтүн сандар: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Полдогу жип сан огун ар сабакта колдонууну сунуштайм: окуучу өзү басат.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«Кошуу – оңго, кемитүү – солго» деп үн чыгарып айттырам (М5).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Терс сандарды салыштырууда термометрди көрсөтөм: «кайсы суугураак?» (М1).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Нөлдөн өткөн өзгөрүштө тилке: нөлгө чейин + нөлдөн кийин (М6).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