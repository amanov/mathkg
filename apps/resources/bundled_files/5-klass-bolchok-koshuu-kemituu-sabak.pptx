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Окуучулар болжолдошсун: боелгону жарымдан көппү же азбы? 1/3 + 1/4 = 2/7 деген жооп чыкса, азыр оңдобойм: сабактын аягында (22-слайд) тилке менен текшеребиз. Проектор жок болсо, тосмону доскага узун тик бурчтук кылып чийем.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Айдай. Санжардын жообу 2/5 &lt; 1/2: чоң атанын бир өзү эле 1/2 боёгон, бирге андан аз болбойт (М1).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эски дептерден кесилген бирдей 3 кагаз тилке (2 см × 24 см), 12 уячалуу жумуртка кутусу (же дептерге чийилген 2 × 6 чакмак), эки түстүү бөтөлкө капкактары (7 даана). Адегенде тилкелерди 3кө жана 4кө бүктөшөт, анан үчүнчү тилкени 12ге бүктөп, 1/3 жана 1/4кө канча кичине бөлүк туура келерин табышат. Кутуда: 1/3 = 4 уяча, 1/4 = 3 уяча, бирге 7 уяча. Эрежени окуучулар өздөрү айтышат: бөлүктөр бирдей болгондо гана санайбыз.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Бөлчөк дубалын доскага чийем, окуучулар чакмак дептерге (12 чакмак = 1). Сурайм: 3төгү да, 4төгү да бөлүктөрдү так жаба турган эң ири бөлүк кайсы? 3түн эселүүлөрү: 3, 6, 9, 12; 4түн эселүүлөрү: 4, 8, 12. Биринчи жалпы эселүү – 12. Ошондуктан жалпы бөлүм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ЖБ – жалпы бөлүм: эки бөлүмдүн тең эселүүсү. Эң кичинесин эселүүлөрдү тизмелеп табабыз. Аралаш сан: 3 1/4 − 1 3/4: 1/4төн 3/4 кемибейт, ошондуктан 3 1/4 = 2 5/4; 2 5/4 − 1 3/4 = 1 2/4 = 1 1/2 (М4, М5). Жоопту кыскартабыз, 1ден чоң болсо аралаш сан менен жазабыз.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ыкманы окуучу үн чыгарып айтат: «адегенде 1ге чейин толуктайм». «Оозеки беш мүнөт» (класста колдонуу картасы) эки апта ушул ыкмаларды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М1; Б = ✓; В = М2; Г = М6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бөлүк – бүтүн → салыштыруу → аралаш сан. Жооптор: 7/9 боелду; 2/9 калды; 5/6 − 3/6 = 1/3 саат; 3 1/2 − 1 3/4 = 1 3/4 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1/3 = 4/12, 1/4 = 3/12 (тилкени 12 бөлүккө бүктөдүк). Боелду 7/12 – жарымдан (6/12) бир аз көп. Калды 1 − 7/12 = 5/12. Текшерүү: 7/12 + 5/12 = 12/12 = 1. Сабактын башындагы 2/7 жообу эмне үчүн мүмкүн эмес? 2/7 бир эле 1/3төн кичине.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5/8; 2/3; 1/12 саат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>5-класс · Математика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Кара-Кулжада тосмо боёо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Айдай менен Санжар Асан чоң аталарына короонун узун тосмосун боёого жардам беришет: канчасы боелду, канчасы калды, боёк жетеби?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Математика стандарты 2018, 5-класс «Бөлчөктөр» жана «кадимки бөлчөктөр катышкан туюнтмалар» (кыргызча 5-класстын китеби папкада жок); мазмуну толук жаңы.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Кара-Кулжада тосмо боёо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Жайкы каникулда Айдай менен Санжар Кара-Кулжага, Асан чоң аталарына барышты.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Короонун жыгач тосмосу эскирип калыптыр. Чоң ата: «Тосмону бирге боёйлу», – деди.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Эртең менен Айдай тосмонун 1/3 бөлүгүн, Санжар 1/4 бөлүгүн боёду.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Банкада 2 1/4 л боёк бар эле. Бөлчөктөрдү кошуп, кемитүүнү үйрөнөбүз!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Айдай тосмонун 1/3 бөлүгүн, Санжар 1/4 бөлүгүн боёду. Тосмонун канча бөлүгү боелду? Канча бөлүгү калды?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Бөлүмдөрү бирдей бөлчөктөрдү кошом жана кемитем: алымдарын гана.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Бөлүмдөрү ар түрдүү болсо, эселүүлөрдөн жалпы бөлүм таап кошом жана кемитем.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Аралаш сандарды кошом жана кемитем; жетпесе 1 бүтүндү майдалайм (1 = 4/4).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Бөлүмдөрү бирдей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Жалпы бөлүм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Аралаш сандар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Тилке менен далилдөө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тилке бүктөө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Жумуртка кутусу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Кара-Кулжада тосмо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Боёк, такта, убакыт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3-класс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Бөлчөк түшүнүгү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1/4, 3/4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5-класс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Барабар бөлчөк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Салыштыруу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5-класс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Кошуу, кемитүү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Аралаш сандар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6-класс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Көбөйтүү, бөлүү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Ондук, процент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1/2 = □/6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4түн эселүүлөрү: 4, 8, 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3/4 = □/12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1 − 3/8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1/2 = □/6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4түн эселүүлөрү: 4, 8,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12, 16, 20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3/4 = □/12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1 − 3/8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5/8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Чоң ата дарбазанын 1/2 бөлүгүн, Санжар 1/3 бөлүгүн боёду. Бирге канча?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Санжар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 + 1 = 2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2 + 3 = 5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Жооп: 2/5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Айдай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1/2 = 3/6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1/3 = 2/6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Жооп: 5/6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Тилке же болжол менен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эки кагаз тилкени 3кө жана 4кө бүктөгүлө. 1/3 менен 1/4тү кантип кошобуз? Жумуртка кутусунун 12 уячасына капкак салгыла.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2331720"/>
            <a:ext cx="1706879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15640" y="2331720"/>
            <a:ext cx="1706879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22520" y="2331720"/>
            <a:ext cx="1706879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331720"/>
            <a:ext cx="1005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1/3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08760" y="3017520"/>
            <a:ext cx="1280160" cy="45720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88920" y="301752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9079" y="301752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49240" y="3017520"/>
            <a:ext cx="12801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017520"/>
            <a:ext cx="1005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1/4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08760" y="3794760"/>
            <a:ext cx="426719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35480" y="3794760"/>
            <a:ext cx="426719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62199" y="3794760"/>
            <a:ext cx="426719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88920" y="3794760"/>
            <a:ext cx="426719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15640" y="3794760"/>
            <a:ext cx="426719" cy="45720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42360" y="3794760"/>
            <a:ext cx="426719" cy="45720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69079" y="3794760"/>
            <a:ext cx="426719" cy="45720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95799" y="3794760"/>
            <a:ext cx="426719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22520" y="3794760"/>
            <a:ext cx="426719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49240" y="3794760"/>
            <a:ext cx="426719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75960" y="3794760"/>
            <a:ext cx="426719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2680" y="3794760"/>
            <a:ext cx="426719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3794760"/>
            <a:ext cx="1005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7/12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2331720"/>
            <a:ext cx="1005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07A5A"/>
                </a:solidFill>
                <a:latin typeface="PT Sans"/>
              </a:rPr>
              <a:t>Айдай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3017520"/>
            <a:ext cx="1005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A84400"/>
                </a:solidFill>
                <a:latin typeface="PT Sans"/>
              </a:rPr>
              <a:t>Санжар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3794760"/>
            <a:ext cx="1005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4418C"/>
                </a:solidFill>
                <a:latin typeface="PT Sans"/>
              </a:rPr>
              <a:t>Бирге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215640" y="2788920"/>
            <a:ext cx="0" cy="1005840"/>
          </a:xfrm>
          <a:prstGeom prst="line">
            <a:avLst/>
          </a:prstGeom>
          <a:ln w="25400">
            <a:solidFill>
              <a:srgbClr val="007A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788920" y="3474720"/>
            <a:ext cx="0" cy="274320"/>
          </a:xfrm>
          <a:prstGeom prst="line">
            <a:avLst/>
          </a:prstGeom>
          <a:ln w="25400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508760" y="4297680"/>
            <a:ext cx="6217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1/3 = 4/12,   1/4 = 3/12,   4/12 + 3/12 = 7/12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99031" y="4663440"/>
            <a:ext cx="2523744" cy="950976"/>
          </a:xfrm>
          <a:prstGeom prst="roundRect">
            <a:avLst>
              <a:gd name="adj" fmla="val 15000"/>
            </a:avLst>
          </a:prstGeom>
          <a:solidFill>
            <a:srgbClr val="E9DCC4"/>
          </a:solidFill>
          <a:ln w="15875">
            <a:solidFill>
              <a:srgbClr val="A88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536192" y="478231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8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581912" y="4828032"/>
            <a:ext cx="237744" cy="237744"/>
          </a:xfrm>
          <a:prstGeom prst="ellipse">
            <a:avLst/>
          </a:prstGeom>
          <a:solidFill>
            <a:srgbClr val="007A5A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920239" y="478231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8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965960" y="4828032"/>
            <a:ext cx="237744" cy="237744"/>
          </a:xfrm>
          <a:prstGeom prst="ellipse">
            <a:avLst/>
          </a:prstGeom>
          <a:solidFill>
            <a:srgbClr val="007A5A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304287" y="478231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8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350008" y="4828032"/>
            <a:ext cx="237744" cy="237744"/>
          </a:xfrm>
          <a:prstGeom prst="ellipse">
            <a:avLst/>
          </a:prstGeom>
          <a:solidFill>
            <a:srgbClr val="007A5A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688336" y="478231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8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734056" y="4828032"/>
            <a:ext cx="237744" cy="237744"/>
          </a:xfrm>
          <a:prstGeom prst="ellipse">
            <a:avLst/>
          </a:prstGeom>
          <a:solidFill>
            <a:srgbClr val="007A5A"/>
          </a:solidFill>
          <a:ln w="95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2384" y="478231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8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118104" y="4828032"/>
            <a:ext cx="237744" cy="237744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456432" y="478231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8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502152" y="4828032"/>
            <a:ext cx="237744" cy="237744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536192" y="516636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8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581912" y="5212080"/>
            <a:ext cx="237744" cy="237744"/>
          </a:xfrm>
          <a:prstGeom prst="ellipse">
            <a:avLst/>
          </a:prstGeom>
          <a:solidFill>
            <a:srgbClr val="A84400"/>
          </a:solidFill>
          <a:ln w="952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920239" y="516636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8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04287" y="516636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8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688336" y="516636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8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072384" y="516636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8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456432" y="516636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88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87368" y="4709160"/>
            <a:ext cx="365760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F2430"/>
                </a:solidFill>
                <a:latin typeface="PT Sans"/>
              </a:rPr>
              <a:t>Кутуда 12 уяча = 1</a:t>
            </a:r>
          </a:p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 жашыл + 3 сары = 7/12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2240280"/>
            <a:ext cx="352044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66760" y="2304288"/>
            <a:ext cx="3291840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3 бирдей кагаз тилке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12 уячалуу жумуртка кутусу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7 бөтөлкө капкагы (2 түс)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чакмак дептер (12 чакмак = 1)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24418C"/>
                </a:solidFill>
                <a:latin typeface="PT Sans"/>
              </a:rPr>
              <a:t>Бирдей бөлүктөрдү гана санайбыз!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бөлчөк дубалы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1/3 менен 1/4тү кошуу үчүн экөөнү тең бирдей майда бөлүктөргө бөлөбүз: 12ден бир.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2194560"/>
            <a:ext cx="768096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13258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2779776"/>
            <a:ext cx="256032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1/3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2779776"/>
            <a:ext cx="25603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1/3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2779776"/>
            <a:ext cx="25603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1/3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79776"/>
            <a:ext cx="13258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1/3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3364991"/>
            <a:ext cx="1920240" cy="45720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1/4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4760" y="3364991"/>
            <a:ext cx="19202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1/4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0" y="3364991"/>
            <a:ext cx="19202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1/4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3364991"/>
            <a:ext cx="192024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1/4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64991"/>
            <a:ext cx="13258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1/4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74519" y="3950208"/>
            <a:ext cx="64008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1F2430"/>
                </a:solidFill>
                <a:latin typeface="PT Sans"/>
              </a:rPr>
              <a:t>1/12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3950208"/>
            <a:ext cx="64008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1F2430"/>
                </a:solidFill>
                <a:latin typeface="PT Sans"/>
              </a:rPr>
              <a:t>1/12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54680" y="3950208"/>
            <a:ext cx="64008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1F2430"/>
                </a:solidFill>
                <a:latin typeface="PT Sans"/>
              </a:rPr>
              <a:t>1/12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94760" y="3950208"/>
            <a:ext cx="64008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1F2430"/>
                </a:solidFill>
                <a:latin typeface="PT Sans"/>
              </a:rPr>
              <a:t>1/12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3950208"/>
            <a:ext cx="640080" cy="45720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1F2430"/>
                </a:solidFill>
                <a:latin typeface="PT Sans"/>
              </a:rPr>
              <a:t>1/12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3950208"/>
            <a:ext cx="640080" cy="45720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1F2430"/>
                </a:solidFill>
                <a:latin typeface="PT Sans"/>
              </a:rPr>
              <a:t>1/12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0" y="3950208"/>
            <a:ext cx="640080" cy="45720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1F2430"/>
                </a:solidFill>
                <a:latin typeface="PT Sans"/>
              </a:rPr>
              <a:t>1/12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3950208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1F2430"/>
                </a:solidFill>
                <a:latin typeface="PT Sans"/>
              </a:rPr>
              <a:t>1/12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95160" y="3950208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1F2430"/>
                </a:solidFill>
                <a:latin typeface="PT Sans"/>
              </a:rPr>
              <a:t>1/12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35240" y="3950208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1F2430"/>
                </a:solidFill>
                <a:latin typeface="PT Sans"/>
              </a:rPr>
              <a:t>1/12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3950208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1F2430"/>
                </a:solidFill>
                <a:latin typeface="PT Sans"/>
              </a:rPr>
              <a:t>1/12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15400" y="3950208"/>
            <a:ext cx="64008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1F2430"/>
                </a:solidFill>
                <a:latin typeface="PT Sans"/>
              </a:rPr>
              <a:t>1/12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950208"/>
            <a:ext cx="13258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1/12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74519" y="4645152"/>
            <a:ext cx="64008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14600" y="4645152"/>
            <a:ext cx="64008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54680" y="4645152"/>
            <a:ext cx="64008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94760" y="4645152"/>
            <a:ext cx="640080" cy="457200"/>
          </a:xfrm>
          <a:prstGeom prst="rect">
            <a:avLst/>
          </a:prstGeom>
          <a:solidFill>
            <a:srgbClr val="B5E2D3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34840" y="4645152"/>
            <a:ext cx="640080" cy="45720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74920" y="4645152"/>
            <a:ext cx="640080" cy="45720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715000" y="4645152"/>
            <a:ext cx="640080" cy="457200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5080" y="4645152"/>
            <a:ext cx="32004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74519" y="5120640"/>
            <a:ext cx="25603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4/12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4840" y="5120640"/>
            <a:ext cx="192024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3/12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120640"/>
            <a:ext cx="32004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калды 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645152"/>
            <a:ext cx="13258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1" i="0">
                <a:solidFill>
                  <a:srgbClr val="24418C"/>
                </a:solidFill>
                <a:latin typeface="PT Sans"/>
              </a:rPr>
              <a:t>1/3 + 1/4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434840" y="2779776"/>
            <a:ext cx="0" cy="2322576"/>
          </a:xfrm>
          <a:prstGeom prst="line">
            <a:avLst/>
          </a:prstGeom>
          <a:ln w="28575">
            <a:solidFill>
              <a:srgbClr val="007A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355080" y="3364991"/>
            <a:ext cx="0" cy="1737361"/>
          </a:xfrm>
          <a:prstGeom prst="line">
            <a:avLst/>
          </a:prstGeom>
          <a:ln w="28575">
            <a:solidFill>
              <a:srgbClr val="A844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829800" y="2194560"/>
            <a:ext cx="192024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21240" y="2267712"/>
            <a:ext cx="1783080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007A5A"/>
                </a:solidFill>
                <a:latin typeface="PT Sans"/>
              </a:rPr>
              <a:t>1/3 = 4/12</a:t>
            </a:r>
          </a:p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A84400"/>
                </a:solidFill>
                <a:latin typeface="PT Sans"/>
              </a:rPr>
              <a:t>1/4 = 3/12</a:t>
            </a:r>
          </a:p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боелду 7/12</a:t>
            </a:r>
          </a:p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4A5A70"/>
                </a:solidFill>
                <a:latin typeface="PT Sans"/>
              </a:rPr>
              <a:t>калды 5/12</a:t>
            </a:r>
          </a:p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A5A70"/>
                </a:solidFill>
                <a:latin typeface="PT Sans"/>
              </a:rPr>
              <a:t>3, 6, 9, 12 / 4, 8, 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1/3 + 1/4 = 4/12 + 3/12 = 7/12;     1 − 7/12 = 5/12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06524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a/n + b/n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Бөлүмдөрү бирдей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Алымдарын кош (кемит), бөлүмү өзгөрбөйт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0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4436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ЖБ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Бөлүмдөрү ар түрдүү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Жалпы бөлүм тап, алымын да көбөйт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9127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65592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42348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1 = n/n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Аралаш сандар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Бөлчөк жетпесе, 1 бүтүндү майдала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1/3 + 1/4 = 4/12 + 3/12 = 7/12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Банкада 2 1/4 л боёк бар эле. Түшкө чейин 1 2/3 л кетти. Банкада канча литр калды?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2 1/4 − 1 2/3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2 3/12 − 1 8/12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жалпы бөлүм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1 15/12 − 1 8/12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1 = 12/12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7/12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литр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Калды = </a:t>
            </a:r>
            <a:r>
              <a:rPr sz="3400" b="1">
                <a:solidFill>
                  <a:srgbClr val="24418C"/>
                </a:solidFill>
                <a:latin typeface="PT Sans"/>
              </a:rPr>
              <a:t>7/12 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Айдай 3/4 саат, Санжар 5/6 саат боёду. Бирге канча саат иштешти?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3/4 + 5/6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9/12 + 10/12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4 жана 6: ЖБ =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19/12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1 7/12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12/12 =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Бирге = </a:t>
            </a:r>
            <a:r>
              <a:rPr sz="3400" b="1">
                <a:solidFill>
                  <a:srgbClr val="24418C"/>
                </a:solidFill>
                <a:latin typeface="PT Sans"/>
              </a:rPr>
              <a:t>1 7/12 саат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үч жол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1ге чейин толукта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3/8 + 7/8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3/8 + 5/8 + 2/8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1 + 2/8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1 1/4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Адегенде бүтүнгө чейин, анан калганы.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Бирлик бөлчөктөр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1/3 + 1/4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(4 + 3)/12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7/12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1/a + 1/b: бөлүмдөрдү кайчылаш кош, бөлүмү a · b.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1ди майдала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2 − 3/5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1 + 5/5 − 3/5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1 2/5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1 = 5/5: бөлүмү канча болсо, ошончо бөлүк.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Түшүн → ыкма → эркин эсеп. Ыкмаңды үн чыгарып айт: «Мен ... деп ойлодум».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Айдай тосмонун 1/4 бөлүгүн, Санжар 2/5 бөлүгүн боёду. Тосмонун канча бөлүгү боелду?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3/9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13/20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3/20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7/20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Айдай тосмонун 2/9 бөлүгүн, Санжар 5/9 бөлүгүн боёду. Бирге канча боёшту? Тосмонун канчасы калды?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Айдай 5/6 саат, Санжар 1/2 саат боёду. Айдай канча саат көп иштеди?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Дарбазага 3 1/2 м такта керек. Чоң атада 1 3/4 м такта бар. Дагы канча метр такта керек?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Айдай тосмонун 2/9 бөлүгүн, Санжар 5/9 бөлүгүн боёду. Бирге канча боёшту? Тосмонун канчасы калды?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520869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2/9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7797" y="3017520"/>
            <a:ext cx="1302173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5/9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89970" y="3017520"/>
            <a:ext cx="520869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7/9 боелду; 2/9 калды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Айдай 5/6 саат, Санжар 1/2 саат боёду. Айдай канча саат көп иштеди?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9600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Айдай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2640" y="3017520"/>
            <a:ext cx="528523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3/6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11163" y="3017520"/>
            <a:ext cx="352348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9600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Санжар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82640" y="3574389"/>
            <a:ext cx="528523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1/2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5/6 − 3/6 = 1/3 саат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Дарбазага 3 1/2 м такта керек. Чоң атада 1 3/4 м такта бар. Дагы канча метр такта керек?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2272" y="3017520"/>
            <a:ext cx="1171956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1 3/4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44228" y="3017520"/>
            <a:ext cx="1171956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3 1/2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3 1/2 − 1 3/4 = 1 3/4 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2/9 + 5/9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1/2 + 1/5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5/6 − 1/4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1 3/8 + 2 7/8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4 1/5 − 2 3/5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Айдай 1/2 л, Санжар 2/3 л айран ичти. Санжар канча көп ичти?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2/9 + 5/9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7/9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1/2 + 1/5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7/10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5/6 − 1/4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7/12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1 3/8 + 2 7/8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4 1/4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4 1/5 − 2 3/5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1 3/5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Айдай 1/2 л, Санжар 2/3 л айран ичти. Санжар канча көп ичти?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1/6 л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Айдай тосмонун 1/3 бөлүгүн, Санжар 1/4 бөлүгүн боёду. Тосмонун канча бөлүгү боелду? Канча бөлүгү калды?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240280"/>
            <a:ext cx="301751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Айдай 1/3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19" y="2240280"/>
            <a:ext cx="2263139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Санжар 1/4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5059" y="2240280"/>
            <a:ext cx="3771899" cy="548640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6B7280"/>
                </a:solidFill>
                <a:latin typeface="PT Sans"/>
              </a:rPr>
              <a:t>калды 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1/3 + 1/4 = 4/12 + 3/12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жалпы бөлүм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= 7/12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боелду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1 − 7/12 = 12/12 − 7/12 = 5/12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калды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Тосмонун 7/12 бөлүгү боелду, 5/12 бөлүгү калды.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Кара-Кулжада тосмо боёо жөнүндө маселе түз: бөлүмдөрү ар түрдүү эки бөлчөк кошулсун же кемитилсин.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Айдай, Санжар, Асан чоң ата.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3/8 + 1/4 =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2 1/3 − 1 2/3 =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Айдай 3/4 саат, Санжар 2/3 саат боёду. Айдай канча саат көп иштеди?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1/3 + 1/4 2/7 боло албайт? Тилке менен көрсөт.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Жалпы бөлүмдү кантип табасың? Эмне үчүн алымын да көбөйтөбүз?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3 1/4 − 1 3/4: «1ди майдалоо» эмнени билдирет?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Бөлчөктөрдү кошуу жана кемитүү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Кагаз тилкелер жана жумуртка кутусу ар бир жуптун колунда болсун: бүктөп, бети-бетине коюшат.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жоопту болжол менен текшертем: сумма ар бир кошулуучудан чоңбу (М1)?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Жалпы бөлүмдү эселүүлөрдү тизмелеп табышат; ЭКЖЭ терминин азырынча талап кылбайм.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Аралаш сандарда «1 = 4/4» деп тилкеде көрсөтөм (М4, М5).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