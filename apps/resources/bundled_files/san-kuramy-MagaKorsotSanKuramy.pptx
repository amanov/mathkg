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/>
  <p:notesSz cx="6858000" cy="9144000"/>
  <p:embeddedFontLst>
    <p:embeddedFont>
      <p:font typeface="IBM Plex Sans" pitchFamily="34" charset="0"/>
      <p:regular r:id="rId28"/>
      <p:bold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font" Target="fonts/font1.fntdata"/><Relationship Id="rId29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Бут класс. Ар бир суроодон кийин жооп слайды. Каталарды талкуулаңыз: кошуп коюу (7 + 10 = 17), бөлүк &gt; бүтүн.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6019215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Мага көрсөт: сан курамы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9023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Тактачага жооп жаз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26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1. Суроону оку.</a:t>
            </a:r>
          </a:p>
          <a:p>
            <a:pPr algn="l">
              <a:lnSpc>
                <a:spcPct val="130000"/>
              </a:lnSpc>
            </a:pPr>
            <a:r>
              <a:rPr sz="26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2. Тактачага жетпеген бөлүктү жаз.</a:t>
            </a:r>
          </a:p>
          <a:p>
            <a:pPr algn="l">
              <a:lnSpc>
                <a:spcPct val="130000"/>
              </a:lnSpc>
            </a:pPr>
            <a:r>
              <a:rPr sz="26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3. «Көрсөт!» дегенде тактачаны көтөр.</a:t>
            </a:r>
          </a:p>
          <a:p>
            <a:pPr algn="l">
              <a:lnSpc>
                <a:spcPct val="130000"/>
              </a:lnSpc>
            </a:pPr>
            <a:r>
              <a:rPr sz="26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Мугалим ар бир жоопту текшерет.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Сүрөт: он көзөнөктүү рамка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529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45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03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961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52928" y="2971800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38728" y="2971800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245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103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961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201168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Бүтүн: 10</a:t>
            </a:r>
          </a:p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 + ? = 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Сүрөт: он көзөнөктүү рамка · жооп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529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45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03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961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52928" y="2971800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38728" y="2971800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245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103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961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201168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Бүтүн: 10</a:t>
            </a:r>
          </a:p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 + 3 = 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Текшер: 10 − 7 = 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2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Сүрөт: он көзөнөктүү рамка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529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45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03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96128" y="2121408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529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387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245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103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961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201168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Бүтүн: 10</a:t>
            </a:r>
          </a:p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 + ? = 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2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Сүрөт: он көзөнөктүү рамка · жооп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529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45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03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96128" y="2121408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529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387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245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103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961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201168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Бүтүн: 10</a:t>
            </a:r>
          </a:p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 + 6 = 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Текшер: 10 − 4 = 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3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Сүрөт: он көзөнөктүү рамка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529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45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03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961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529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387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245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201168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Бүтүн: 8</a:t>
            </a:r>
          </a:p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 + ? = 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3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Сүрөт: он көзөнөктүү рамка · жооп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529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45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03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2011680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96128" y="2121408"/>
            <a:ext cx="466344" cy="466344"/>
          </a:xfrm>
          <a:prstGeom prst="ellipse">
            <a:avLst/>
          </a:prstGeom>
          <a:solidFill>
            <a:srgbClr val="1F7A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529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387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24528" y="2971800"/>
            <a:ext cx="466344" cy="466344"/>
          </a:xfrm>
          <a:prstGeom prst="ellipse">
            <a:avLst/>
          </a:prstGeom>
          <a:noFill/>
          <a:ln w="24765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2862072"/>
            <a:ext cx="685800" cy="685800"/>
          </a:xfrm>
          <a:prstGeom prst="rect">
            <a:avLst/>
          </a:prstGeom>
          <a:noFill/>
          <a:ln w="1905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201168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Бүтүн: 8</a:t>
            </a:r>
          </a:p>
          <a:p>
            <a:pPr algn="l"/>
            <a:r>
              <a:rPr sz="3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 + 3 = 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Текшер: 8 − 5 = 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4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Бөлүк–бүтүн диаграммасы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03285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09584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10048" y="1828800"/>
            <a:ext cx="1371600" cy="137160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10048" y="18288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4" name="Oval 13"/>
          <p:cNvSpPr/>
          <p:nvPr/>
        </p:nvSpPr>
        <p:spPr>
          <a:xfrm>
            <a:off x="4401922" y="3426714"/>
            <a:ext cx="1261872" cy="1261872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1922" y="3426714"/>
            <a:ext cx="1261872" cy="126187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6527902" y="3426714"/>
            <a:ext cx="1261872" cy="1261872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4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Бөлүк–бүтүн диаграммасы · жооп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03285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09584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10048" y="1828800"/>
            <a:ext cx="1371600" cy="137160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10048" y="18288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4" name="Oval 13"/>
          <p:cNvSpPr/>
          <p:nvPr/>
        </p:nvSpPr>
        <p:spPr>
          <a:xfrm>
            <a:off x="4401922" y="3426714"/>
            <a:ext cx="1261872" cy="1261872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1922" y="3426714"/>
            <a:ext cx="1261872" cy="126187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6527902" y="3426714"/>
            <a:ext cx="1261872" cy="1261872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7902" y="3426714"/>
            <a:ext cx="1261872" cy="126187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Текшер: 10 − 2 = 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Бөлүк–бүтүн диаграммасы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03285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09584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10048" y="1828800"/>
            <a:ext cx="1371600" cy="137160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10048" y="18288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4" name="Oval 13"/>
          <p:cNvSpPr/>
          <p:nvPr/>
        </p:nvSpPr>
        <p:spPr>
          <a:xfrm>
            <a:off x="4401922" y="3426714"/>
            <a:ext cx="1261872" cy="1261872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1922" y="3426714"/>
            <a:ext cx="1261872" cy="126187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6" name="Oval 15"/>
          <p:cNvSpPr/>
          <p:nvPr/>
        </p:nvSpPr>
        <p:spPr>
          <a:xfrm>
            <a:off x="6527902" y="3426714"/>
            <a:ext cx="1261872" cy="1261872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Бөлүк–бүтүн диаграммасы · жооп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11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03285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09584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10048" y="1828800"/>
            <a:ext cx="1371600" cy="137160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10048" y="18288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4" name="Oval 13"/>
          <p:cNvSpPr/>
          <p:nvPr/>
        </p:nvSpPr>
        <p:spPr>
          <a:xfrm>
            <a:off x="4401922" y="3426714"/>
            <a:ext cx="1261872" cy="1261872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1922" y="3426714"/>
            <a:ext cx="1261872" cy="126187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6" name="Oval 15"/>
          <p:cNvSpPr/>
          <p:nvPr/>
        </p:nvSpPr>
        <p:spPr>
          <a:xfrm>
            <a:off x="6527902" y="3426714"/>
            <a:ext cx="1261872" cy="1261872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7902" y="3426714"/>
            <a:ext cx="1261872" cy="126187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Текшер: 9 − 6 = 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6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Бөлүк–бүтүн диаграммасы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03285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09584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10048" y="1828800"/>
            <a:ext cx="1371600" cy="137160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10048" y="18288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14" name="Oval 13"/>
          <p:cNvSpPr/>
          <p:nvPr/>
        </p:nvSpPr>
        <p:spPr>
          <a:xfrm>
            <a:off x="4401922" y="3426714"/>
            <a:ext cx="1261872" cy="1261872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1922" y="3426714"/>
            <a:ext cx="1261872" cy="126187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6" name="Oval 15"/>
          <p:cNvSpPr/>
          <p:nvPr/>
        </p:nvSpPr>
        <p:spPr>
          <a:xfrm>
            <a:off x="6527902" y="3426714"/>
            <a:ext cx="1261872" cy="1261872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6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Бөлүк–бүтүн диаграммасы · жооп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13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03285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095848" y="3186684"/>
            <a:ext cx="1062990" cy="252649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10048" y="1828800"/>
            <a:ext cx="1371600" cy="137160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10048" y="18288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14" name="Oval 13"/>
          <p:cNvSpPr/>
          <p:nvPr/>
        </p:nvSpPr>
        <p:spPr>
          <a:xfrm>
            <a:off x="4401922" y="3426714"/>
            <a:ext cx="1261872" cy="1261872"/>
          </a:xfrm>
          <a:prstGeom prst="ellipse">
            <a:avLst/>
          </a:prstGeom>
          <a:solidFill>
            <a:srgbClr val="FFFFFF"/>
          </a:solidFill>
          <a:ln w="16764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1922" y="3426714"/>
            <a:ext cx="1261872" cy="126187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6" name="Oval 15"/>
          <p:cNvSpPr/>
          <p:nvPr/>
        </p:nvSpPr>
        <p:spPr>
          <a:xfrm>
            <a:off x="6527902" y="3426714"/>
            <a:ext cx="1261872" cy="1261872"/>
          </a:xfrm>
          <a:prstGeom prst="ellipse">
            <a:avLst/>
          </a:prstGeom>
          <a:solidFill>
            <a:srgbClr val="FFFFFF"/>
          </a:solidFill>
          <a:ln w="22352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7902" y="3426714"/>
            <a:ext cx="1261872" cy="126187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4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Текшер: 12 − 10 = 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7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Теңдеме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6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 + ? = 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7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Теңдеме · жооп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6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 + 7 = 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Текшер: 10 − 3 = 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8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Теңдеме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6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7 + ? = 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8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Теңдеме · жооп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6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7 + 8 = 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Текшер: 15 − 7 = 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9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Теңдеме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6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14 + ? = 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1904573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Суроо 9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4381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Теңдеме · жооп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66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14 + 6 = 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4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Текшер: 20 − 14 = 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Сан курамы: 10го жана 20га чейин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Эмнени үйрөндүк?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26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Бүтүн = бөлүк + бөлүк.</a:t>
            </a:r>
          </a:p>
          <a:p>
            <a:pPr algn="l">
              <a:lnSpc>
                <a:spcPct val="130000"/>
              </a:lnSpc>
            </a:pPr>
            <a:r>
              <a:rPr sz="26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Жетпеген бөлүктү табуу үчүн бүтүндөн белгилүү бөлүктү кемит.</a:t>
            </a:r>
          </a:p>
          <a:p>
            <a:pPr algn="l">
              <a:lnSpc>
                <a:spcPct val="130000"/>
              </a:lnSpc>
            </a:pPr>
            <a:r>
              <a:rPr sz="26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Бөлүк эч качан бүтүндөн чоң болбойт.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Мага көрсөт: сан курамы</dc:title>
  <dc:subject>Сан курамы: 10го жана 20га чейин</dc:subject>
  <dc:creator>MathKG</dc:creator>
  <cp:keywords>MathKG; сан курамы; show me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