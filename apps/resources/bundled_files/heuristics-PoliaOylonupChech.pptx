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/>
  <p:notesSz cx="6858000" cy="9144000"/>
  <p:embeddedFontLst>
    <p:embeddedFont>
      <p:font typeface="IBM Plex Sans" pitchFamily="3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маселени үн чыгарып ойлонуп чыгарыңыз. Окуучулардан «кайсы ыкма?» деп сураңыз.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Ойлонуп сүйлөңүз: «Акыркы кадам +5 болчу, демек артка −5 кылам…» Жооп: 17 − 5 = 12; 12 : 2 = 6. Текшер: 6 × 2 + 5 = 17 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Ойлонуп сүйлөңүз: «Акыркы кадам +5 болчу, демек артка −5 кылам…»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«Көп» деген бөлүктү бөлүп алсак, калганы эки бирдей бөлүк. Жооп: 30 − 6 = 24; 24 : 2 = 12. Айбек 12, Асан 18 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«Көп» деген бөлүктү бөлүп алсак, калганы эки бирдей бөлүк.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Бир калпакты бекитип, ага бардык чапандарды кошуп чыгыңыз — эч нерсе калбайт. Жооп: 3 × 2 = 6 түрдүү.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Бир калпакты бекитип, ага бардык чапандарды кошуп чыгыңыз — эч нерсе калбайт.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сынамыктан кийин «көппү, азбы?» деп сураңыз — ошондо жакшыртабыз. Жооп: 4 кой, 6 тоок.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сынамыктан кийин «көппү, азбы?» деп сураңыз — ошондо жакшыртабыз.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Маселе чыгаруу ыкмалары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4758680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Полиа: ойлонуп чыгар</a:t>
            </a:r>
          </a:p>
        </p:txBody>
      </p:sp>
      <p:sp>
        <p:nvSpPr>
          <p:cNvPr id="4" name="Rectangle 3"/>
          <p:cNvSpPr/>
          <p:nvPr/>
        </p:nvSpPr>
        <p:spPr>
          <a:xfrm>
            <a:off x="5508488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Полианын 4 кадамы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1. Түшүн: эмне белгилүү, эмне табылат?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2. План: кайсы ыкма жардам берет?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3. Аткар: планды кадам менен иштет.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4. Текшер: жооп маселеге туура келеби?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Маселе чыгаруу ыкмалары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Артка карай эсепте · Түшүн → План → Аткар → Текшер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Бир сан ойлодум. 2 ге көбөйтүп, 5 коштум — 17 чыкты. Сан кайсы?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451860"/>
            <a:ext cx="960120" cy="685800"/>
          </a:xfrm>
          <a:prstGeom prst="rect">
            <a:avLst/>
          </a:prstGeom>
          <a:noFill/>
          <a:ln w="1524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45186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9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23464" y="3794760"/>
            <a:ext cx="2510028" cy="0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4" name="Freeform 13"/>
          <p:cNvSpPr/>
          <p:nvPr/>
        </p:nvSpPr>
        <p:spPr>
          <a:xfrm>
            <a:off x="5396332" y="3712464"/>
            <a:ext cx="137160" cy="164592"/>
          </a:xfrm>
          <a:custGeom>
            <a:avLst/>
            <a:gdLst/>
            <a:ahLst/>
            <a:cxnLst/>
            <a:rect l="l" t="t" r="r" b="b"/>
            <a:pathLst>
              <a:path w="137160" h="164592">
                <a:moveTo>
                  <a:pt x="137160" y="82296"/>
                </a:moveTo>
                <a:lnTo>
                  <a:pt x="0" y="0"/>
                </a:lnTo>
                <a:lnTo>
                  <a:pt x="0" y="164592"/>
                </a:lnTo>
                <a:close/>
              </a:path>
            </a:pathLst>
          </a:custGeom>
          <a:solidFill>
            <a:srgbClr val="1A1A2E"/>
          </a:solidFill>
          <a:ln w="762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23464" y="2999232"/>
            <a:ext cx="2510028" cy="4114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70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×2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15788" y="3451860"/>
            <a:ext cx="960120" cy="685800"/>
          </a:xfrm>
          <a:prstGeom prst="rect">
            <a:avLst/>
          </a:prstGeom>
          <a:solidFill>
            <a:srgbClr val="E5F2FF"/>
          </a:solidFill>
          <a:ln w="1524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15788" y="345186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9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/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58204" y="3794760"/>
            <a:ext cx="2510028" cy="0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Freeform 18"/>
          <p:cNvSpPr/>
          <p:nvPr/>
        </p:nvSpPr>
        <p:spPr>
          <a:xfrm>
            <a:off x="9031072" y="3712464"/>
            <a:ext cx="137160" cy="164592"/>
          </a:xfrm>
          <a:custGeom>
            <a:avLst/>
            <a:gdLst/>
            <a:ahLst/>
            <a:cxnLst/>
            <a:rect l="l" t="t" r="r" b="b"/>
            <a:pathLst>
              <a:path w="137160" h="164592">
                <a:moveTo>
                  <a:pt x="137160" y="82296"/>
                </a:moveTo>
                <a:lnTo>
                  <a:pt x="0" y="0"/>
                </a:lnTo>
                <a:lnTo>
                  <a:pt x="0" y="164592"/>
                </a:lnTo>
                <a:close/>
              </a:path>
            </a:pathLst>
          </a:custGeom>
          <a:solidFill>
            <a:srgbClr val="1A1A2E"/>
          </a:solidFill>
          <a:ln w="762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58204" y="2999232"/>
            <a:ext cx="2510028" cy="4114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70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+5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50528" y="3451860"/>
            <a:ext cx="960120" cy="685800"/>
          </a:xfrm>
          <a:prstGeom prst="rect">
            <a:avLst/>
          </a:prstGeom>
          <a:solidFill>
            <a:srgbClr val="E5F2FF"/>
          </a:solidFill>
          <a:ln w="1524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0528" y="345186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9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Аягынан баштасак?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Маселе чыгаруу ыкмалары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Артка карай эсепте · Түшүн → План → Аткар → Текшер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Бир сан ойлодум. 2 ге көбөйтүп, 5 коштум — 17 чыкты. Сан кайсы?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3451860"/>
            <a:ext cx="960120" cy="685800"/>
          </a:xfrm>
          <a:prstGeom prst="rect">
            <a:avLst/>
          </a:prstGeom>
          <a:solidFill>
            <a:srgbClr val="E5F2FF"/>
          </a:solidFill>
          <a:ln w="1524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81048" y="345186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9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23464" y="3794760"/>
            <a:ext cx="2510028" cy="0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4" name="Freeform 13"/>
          <p:cNvSpPr/>
          <p:nvPr/>
        </p:nvSpPr>
        <p:spPr>
          <a:xfrm>
            <a:off x="5396332" y="3712464"/>
            <a:ext cx="137160" cy="164592"/>
          </a:xfrm>
          <a:custGeom>
            <a:avLst/>
            <a:gdLst/>
            <a:ahLst/>
            <a:cxnLst/>
            <a:rect l="l" t="t" r="r" b="b"/>
            <a:pathLst>
              <a:path w="137160" h="164592">
                <a:moveTo>
                  <a:pt x="137160" y="82296"/>
                </a:moveTo>
                <a:lnTo>
                  <a:pt x="0" y="0"/>
                </a:lnTo>
                <a:lnTo>
                  <a:pt x="0" y="164592"/>
                </a:lnTo>
                <a:close/>
              </a:path>
            </a:pathLst>
          </a:custGeom>
          <a:solidFill>
            <a:srgbClr val="1A1A2E"/>
          </a:solidFill>
          <a:ln w="762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23464" y="2999232"/>
            <a:ext cx="2510028" cy="4114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70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×2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15788" y="3451860"/>
            <a:ext cx="960120" cy="685800"/>
          </a:xfrm>
          <a:prstGeom prst="rect">
            <a:avLst/>
          </a:prstGeom>
          <a:solidFill>
            <a:srgbClr val="E5F2FF"/>
          </a:solidFill>
          <a:ln w="1524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15788" y="345186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9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58204" y="3794760"/>
            <a:ext cx="2510028" cy="0"/>
          </a:xfrm>
          <a:prstGeom prst="line">
            <a:avLst/>
          </a:prstGeom>
          <a:ln w="13970">
            <a:solidFill>
              <a:srgbClr val="1A1A2E"/>
            </a:solidFill>
          </a:ln>
        </p:spPr>
      </p:cxnSp>
      <p:sp>
        <p:nvSpPr>
          <p:cNvPr id="19" name="Freeform 18"/>
          <p:cNvSpPr/>
          <p:nvPr/>
        </p:nvSpPr>
        <p:spPr>
          <a:xfrm>
            <a:off x="9031072" y="3712464"/>
            <a:ext cx="137160" cy="164592"/>
          </a:xfrm>
          <a:custGeom>
            <a:avLst/>
            <a:gdLst/>
            <a:ahLst/>
            <a:cxnLst/>
            <a:rect l="l" t="t" r="r" b="b"/>
            <a:pathLst>
              <a:path w="137160" h="164592">
                <a:moveTo>
                  <a:pt x="137160" y="82296"/>
                </a:moveTo>
                <a:lnTo>
                  <a:pt x="0" y="0"/>
                </a:lnTo>
                <a:lnTo>
                  <a:pt x="0" y="164592"/>
                </a:lnTo>
                <a:close/>
              </a:path>
            </a:pathLst>
          </a:custGeom>
          <a:solidFill>
            <a:srgbClr val="1A1A2E"/>
          </a:solidFill>
          <a:ln w="762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58204" y="2999232"/>
            <a:ext cx="2510028" cy="411480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ctr"/>
            <a:r>
              <a:rPr sz="1709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+5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50528" y="3451860"/>
            <a:ext cx="960120" cy="685800"/>
          </a:xfrm>
          <a:prstGeom prst="rect">
            <a:avLst/>
          </a:prstGeom>
          <a:solidFill>
            <a:srgbClr val="E5F2FF"/>
          </a:solidFill>
          <a:ln w="15240">
            <a:solidFill>
              <a:srgbClr val="376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0528" y="3451860"/>
            <a:ext cx="960120" cy="68580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89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17 − 5 = 12; 12 : 2 = 6. Текшер: 6 × 2 + 5 = 17 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Маселе чыгаруу ыкмалары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 модели · Түшүн → План → Аткар → Текшер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Айбек менен Асанда 30 сом бар. Асанда 6 сом көп. Айбекте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Айбек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3192" y="2971800"/>
            <a:ext cx="4206240" cy="537667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33192" y="2971800"/>
            <a:ext cx="4206240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791102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791102"/>
            <a:ext cx="4206240" cy="537667"/>
          </a:xfrm>
          <a:prstGeom prst="rect">
            <a:avLst/>
          </a:prstGeom>
          <a:noFill/>
          <a:ln w="16510">
            <a:solidFill>
              <a:srgbClr val="C055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3192" y="3791102"/>
            <a:ext cx="4206240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9432" y="3791102"/>
            <a:ext cx="2103120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39432" y="3791102"/>
            <a:ext cx="2103120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44964" y="2971800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9544964" y="4328770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9647377" y="2971800"/>
            <a:ext cx="0" cy="135697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9698584" y="3394253"/>
            <a:ext cx="1152144" cy="51206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Тилкени кантип тартабыз?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Маселе чыгаруу ыкмалары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2-маселе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Тилке модели · Түшүн → План → Аткар → Текшер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Айбек менен Асанда 30 сом бар. Асанда 6 сом көп. Айбекте канча?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Айбек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3192" y="2971800"/>
            <a:ext cx="4206240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33192" y="2971800"/>
            <a:ext cx="4206240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8" y="3791102"/>
            <a:ext cx="1078992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679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Асан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3192" y="3791102"/>
            <a:ext cx="4206240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3192" y="3791102"/>
            <a:ext cx="4206240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9432" y="3791102"/>
            <a:ext cx="2103120" cy="537667"/>
          </a:xfrm>
          <a:prstGeom prst="rect">
            <a:avLst/>
          </a:prstGeom>
          <a:noFill/>
          <a:ln w="13970">
            <a:solidFill>
              <a:srgbClr val="1A1A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39432" y="3791102"/>
            <a:ext cx="2103120" cy="537667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44964" y="2971800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9544964" y="4328770"/>
            <a:ext cx="102413" cy="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9647377" y="2971800"/>
            <a:ext cx="0" cy="1356970"/>
          </a:xfrm>
          <a:prstGeom prst="line">
            <a:avLst/>
          </a:prstGeom>
          <a:ln w="11430">
            <a:solidFill>
              <a:srgbClr val="1A1A2E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9698584" y="3394253"/>
            <a:ext cx="1152144" cy="51206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679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30 − 6 = 24; 24 : 2 = 12. Айбек 12, Асан 18 сом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Маселе чыгаруу ыкмалары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Системалуу тизме · Түшүн → План → Аткар → Текшер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 калпак жана 2 чапан бар. Канча түрдүү кийинсе болот?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Калпактар: К1, К2, К3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8" y="3429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Чапандар: Ч1, Ч2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Тартип менен кантип тизмелейбиз?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Маселе чыгаруу ыкмалары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Системалуу тизме · Түшүн → План → Аткар → Текшер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 калпак жана 2 чапан бар. Канча түрдүү кийинсе болот?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К1–Ч1   К1–Ч2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8" y="3429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К2–Ч1   К2–Ч2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8" y="3886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К3–Ч1   К3–Ч2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3 × 2 = 6 түрдүү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Маселе чыгаруу ыкмалары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28245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03226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Сыноо жана жакшыртуу · Түшүн → План → Аткар → Текшер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Короодо 10 баш, 28 бут бар (тоок жана кой). Канча кой?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Баш: 10   Бут: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8" y="3429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Сына: 5 кой → ? бут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2600" b="1">
                <a:solidFill>
                  <a:srgbClr val="C05529"/>
                </a:solidFill>
                <a:latin typeface="IBM Plex Sans"/>
                <a:ea typeface="IBM Plex Sans"/>
                <a:cs typeface="IBM Plex Sans"/>
              </a:rPr>
              <a:t>Бир сынап көрөлүчү?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Маселе чыгаруу ыкмалары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3927634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4-маселе · жооп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7442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Сыноо жана жакшыртуу · Түшүн → План → Аткар → Текшер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4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Короодо 10 баш, 28 бут бар (тоок жана кой). Канча кой?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8" y="2971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5 кой: 20 + 10 = 30 — көп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8" y="3429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3 кой: 12 + 14 = 26 — аз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8" y="3886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ctr"/>
            <a:r>
              <a:rPr sz="2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4 кой: 16 + 12 = 28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4 кой, 6 тоок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9184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4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Маселе чыгаруу ыкмалары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1792"/>
            <a:ext cx="2861578" cy="60350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38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Жыйынтык</a:t>
            </a:r>
          </a:p>
        </p:txBody>
      </p:sp>
      <p:sp>
        <p:nvSpPr>
          <p:cNvPr id="4" name="Rectangle 3"/>
          <p:cNvSpPr/>
          <p:nvPr/>
        </p:nvSpPr>
        <p:spPr>
          <a:xfrm>
            <a:off x="3611386" y="676656"/>
            <a:ext cx="5486400" cy="512064"/>
          </a:xfrm>
          <a:prstGeom prst="rect">
            <a:avLst/>
          </a:prstGeom>
          <a:noFill/>
          <a:ln>
            <a:noFill/>
          </a:ln>
        </p:spPr>
        <p:txBody>
          <a:bodyPr rtlCol="0" anchor="b" wrap="square" lIns="0" rIns="0" tIns="0" bIns="0"/>
          <a:lstStyle/>
          <a:p>
            <a:pPr algn="l"/>
            <a:r>
              <a:rPr sz="20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Ыкмалар куралы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89888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6350">
            <a:solidFill>
              <a:srgbClr val="D5DCE6"/>
            </a:solidFill>
          </a:ln>
        </p:spPr>
      </p:cxnSp>
      <p:sp>
        <p:nvSpPr>
          <p:cNvPr id="7" name="Freeform 6"/>
          <p:cNvSpPr/>
          <p:nvPr/>
        </p:nvSpPr>
        <p:spPr>
          <a:xfrm>
            <a:off x="548663" y="6492263"/>
            <a:ext cx="155402" cy="155402"/>
          </a:xfrm>
          <a:custGeom>
            <a:avLst/>
            <a:gdLst/>
            <a:ahLst/>
            <a:cxnLst/>
            <a:rect l="l" t="t" r="r" b="b"/>
            <a:pathLst>
              <a:path w="155402" h="155402">
                <a:moveTo>
                  <a:pt x="155402" y="79608"/>
                </a:moveTo>
                <a:lnTo>
                  <a:pt x="155214" y="71983"/>
                </a:lnTo>
                <a:lnTo>
                  <a:pt x="154281" y="64413"/>
                </a:lnTo>
                <a:lnTo>
                  <a:pt x="152610" y="56971"/>
                </a:lnTo>
                <a:lnTo>
                  <a:pt x="150217" y="49729"/>
                </a:lnTo>
                <a:lnTo>
                  <a:pt x="147126" y="42755"/>
                </a:lnTo>
                <a:lnTo>
                  <a:pt x="143366" y="36119"/>
                </a:lnTo>
                <a:lnTo>
                  <a:pt x="138974" y="29883"/>
                </a:lnTo>
                <a:lnTo>
                  <a:pt x="133992" y="24107"/>
                </a:lnTo>
                <a:lnTo>
                  <a:pt x="128468" y="18848"/>
                </a:lnTo>
                <a:lnTo>
                  <a:pt x="122455" y="14155"/>
                </a:lnTo>
                <a:lnTo>
                  <a:pt x="116011" y="10074"/>
                </a:lnTo>
                <a:lnTo>
                  <a:pt x="109198" y="6645"/>
                </a:lnTo>
                <a:lnTo>
                  <a:pt x="102082" y="3900"/>
                </a:lnTo>
                <a:lnTo>
                  <a:pt x="94730" y="1866"/>
                </a:lnTo>
                <a:lnTo>
                  <a:pt x="87215" y="562"/>
                </a:lnTo>
                <a:lnTo>
                  <a:pt x="79608" y="0"/>
                </a:lnTo>
                <a:lnTo>
                  <a:pt x="71983" y="188"/>
                </a:lnTo>
                <a:lnTo>
                  <a:pt x="64413" y="1121"/>
                </a:lnTo>
                <a:lnTo>
                  <a:pt x="56971" y="2792"/>
                </a:lnTo>
                <a:lnTo>
                  <a:pt x="49729" y="5185"/>
                </a:lnTo>
                <a:lnTo>
                  <a:pt x="42755" y="8276"/>
                </a:lnTo>
                <a:lnTo>
                  <a:pt x="36119" y="12036"/>
                </a:lnTo>
                <a:lnTo>
                  <a:pt x="29883" y="16428"/>
                </a:lnTo>
                <a:lnTo>
                  <a:pt x="24107" y="21410"/>
                </a:lnTo>
                <a:lnTo>
                  <a:pt x="18848" y="26934"/>
                </a:lnTo>
                <a:lnTo>
                  <a:pt x="14155" y="32947"/>
                </a:lnTo>
                <a:lnTo>
                  <a:pt x="10074" y="39391"/>
                </a:lnTo>
                <a:lnTo>
                  <a:pt x="6645" y="46204"/>
                </a:lnTo>
                <a:lnTo>
                  <a:pt x="3900" y="53320"/>
                </a:lnTo>
                <a:lnTo>
                  <a:pt x="1866" y="60672"/>
                </a:lnTo>
                <a:lnTo>
                  <a:pt x="562" y="68187"/>
                </a:lnTo>
                <a:lnTo>
                  <a:pt x="0" y="75794"/>
                </a:lnTo>
                <a:lnTo>
                  <a:pt x="188" y="83419"/>
                </a:lnTo>
                <a:lnTo>
                  <a:pt x="1121" y="90989"/>
                </a:lnTo>
                <a:lnTo>
                  <a:pt x="2792" y="98431"/>
                </a:lnTo>
                <a:lnTo>
                  <a:pt x="5185" y="105673"/>
                </a:lnTo>
                <a:lnTo>
                  <a:pt x="8276" y="112647"/>
                </a:lnTo>
                <a:lnTo>
                  <a:pt x="12036" y="119283"/>
                </a:lnTo>
                <a:lnTo>
                  <a:pt x="16428" y="125519"/>
                </a:lnTo>
                <a:lnTo>
                  <a:pt x="21410" y="131295"/>
                </a:lnTo>
                <a:lnTo>
                  <a:pt x="26934" y="136554"/>
                </a:lnTo>
                <a:lnTo>
                  <a:pt x="32947" y="141247"/>
                </a:lnTo>
                <a:lnTo>
                  <a:pt x="39391" y="145328"/>
                </a:lnTo>
                <a:lnTo>
                  <a:pt x="46204" y="148757"/>
                </a:lnTo>
                <a:lnTo>
                  <a:pt x="53320" y="151502"/>
                </a:lnTo>
                <a:lnTo>
                  <a:pt x="60672" y="153536"/>
                </a:lnTo>
                <a:lnTo>
                  <a:pt x="68187" y="154840"/>
                </a:lnTo>
                <a:lnTo>
                  <a:pt x="75794" y="155402"/>
                </a:lnTo>
                <a:lnTo>
                  <a:pt x="83419" y="155214"/>
                </a:lnTo>
                <a:lnTo>
                  <a:pt x="90989" y="154281"/>
                </a:lnTo>
                <a:lnTo>
                  <a:pt x="98431" y="152610"/>
                </a:lnTo>
                <a:lnTo>
                  <a:pt x="105673" y="150217"/>
                </a:lnTo>
                <a:lnTo>
                  <a:pt x="112647" y="147126"/>
                </a:lnTo>
                <a:lnTo>
                  <a:pt x="119283" y="143366"/>
                </a:lnTo>
                <a:lnTo>
                  <a:pt x="125519" y="138974"/>
                </a:lnTo>
                <a:lnTo>
                  <a:pt x="131295" y="133992"/>
                </a:lnTo>
                <a:lnTo>
                  <a:pt x="136554" y="128468"/>
                </a:lnTo>
                <a:lnTo>
                  <a:pt x="141247" y="122455"/>
                </a:lnTo>
                <a:lnTo>
                  <a:pt x="145328" y="116011"/>
                </a:lnTo>
                <a:lnTo>
                  <a:pt x="148757" y="109198"/>
                </a:lnTo>
                <a:lnTo>
                  <a:pt x="151502" y="102082"/>
                </a:lnTo>
                <a:lnTo>
                  <a:pt x="153536" y="94730"/>
                </a:lnTo>
                <a:lnTo>
                  <a:pt x="154840" y="87215"/>
                </a:lnTo>
                <a:close/>
                <a:moveTo>
                  <a:pt x="143642" y="73650"/>
                </a:moveTo>
                <a:lnTo>
                  <a:pt x="106459" y="73815"/>
                </a:lnTo>
                <a:lnTo>
                  <a:pt x="106459" y="56716"/>
                </a:lnTo>
                <a:lnTo>
                  <a:pt x="140344" y="56716"/>
                </a:lnTo>
                <a:lnTo>
                  <a:pt x="142497" y="64812"/>
                </a:lnTo>
                <a:close/>
                <a:moveTo>
                  <a:pt x="137072" y="48724"/>
                </a:moveTo>
                <a:lnTo>
                  <a:pt x="106459" y="48943"/>
                </a:lnTo>
                <a:lnTo>
                  <a:pt x="106459" y="18224"/>
                </a:lnTo>
                <a:lnTo>
                  <a:pt x="115742" y="23687"/>
                </a:lnTo>
                <a:lnTo>
                  <a:pt x="124416" y="30986"/>
                </a:lnTo>
                <a:lnTo>
                  <a:pt x="131715" y="39660"/>
                </a:lnTo>
                <a:close/>
                <a:moveTo>
                  <a:pt x="98425" y="14970"/>
                </a:moveTo>
                <a:lnTo>
                  <a:pt x="98686" y="48943"/>
                </a:lnTo>
                <a:lnTo>
                  <a:pt x="81587" y="48943"/>
                </a:lnTo>
                <a:lnTo>
                  <a:pt x="81587" y="11751"/>
                </a:lnTo>
                <a:lnTo>
                  <a:pt x="89794" y="12752"/>
                </a:lnTo>
                <a:close/>
                <a:moveTo>
                  <a:pt x="73650" y="11760"/>
                </a:moveTo>
                <a:lnTo>
                  <a:pt x="73815" y="48943"/>
                </a:lnTo>
                <a:lnTo>
                  <a:pt x="56716" y="48943"/>
                </a:lnTo>
                <a:lnTo>
                  <a:pt x="56716" y="15058"/>
                </a:lnTo>
                <a:lnTo>
                  <a:pt x="64812" y="12905"/>
                </a:lnTo>
                <a:close/>
                <a:moveTo>
                  <a:pt x="48724" y="18330"/>
                </a:moveTo>
                <a:lnTo>
                  <a:pt x="48943" y="48943"/>
                </a:lnTo>
                <a:lnTo>
                  <a:pt x="18224" y="48943"/>
                </a:lnTo>
                <a:lnTo>
                  <a:pt x="23687" y="39660"/>
                </a:lnTo>
                <a:lnTo>
                  <a:pt x="30986" y="30986"/>
                </a:lnTo>
                <a:lnTo>
                  <a:pt x="39660" y="23687"/>
                </a:lnTo>
                <a:close/>
                <a:moveTo>
                  <a:pt x="14970" y="56977"/>
                </a:moveTo>
                <a:lnTo>
                  <a:pt x="48943" y="56716"/>
                </a:lnTo>
                <a:lnTo>
                  <a:pt x="48943" y="73815"/>
                </a:lnTo>
                <a:lnTo>
                  <a:pt x="11751" y="73815"/>
                </a:lnTo>
                <a:lnTo>
                  <a:pt x="12752" y="65608"/>
                </a:lnTo>
                <a:close/>
                <a:moveTo>
                  <a:pt x="11760" y="81752"/>
                </a:moveTo>
                <a:lnTo>
                  <a:pt x="48943" y="81587"/>
                </a:lnTo>
                <a:lnTo>
                  <a:pt x="48943" y="98686"/>
                </a:lnTo>
                <a:lnTo>
                  <a:pt x="15058" y="98686"/>
                </a:lnTo>
                <a:lnTo>
                  <a:pt x="12905" y="90590"/>
                </a:lnTo>
                <a:close/>
                <a:moveTo>
                  <a:pt x="18330" y="106678"/>
                </a:moveTo>
                <a:lnTo>
                  <a:pt x="48943" y="106459"/>
                </a:lnTo>
                <a:lnTo>
                  <a:pt x="48943" y="137178"/>
                </a:lnTo>
                <a:lnTo>
                  <a:pt x="39660" y="131715"/>
                </a:lnTo>
                <a:lnTo>
                  <a:pt x="30986" y="124416"/>
                </a:lnTo>
                <a:lnTo>
                  <a:pt x="23687" y="115742"/>
                </a:lnTo>
                <a:close/>
                <a:moveTo>
                  <a:pt x="56977" y="140432"/>
                </a:moveTo>
                <a:lnTo>
                  <a:pt x="56716" y="106459"/>
                </a:lnTo>
                <a:lnTo>
                  <a:pt x="73815" y="106459"/>
                </a:lnTo>
                <a:lnTo>
                  <a:pt x="73815" y="143651"/>
                </a:lnTo>
                <a:lnTo>
                  <a:pt x="65608" y="142650"/>
                </a:lnTo>
                <a:close/>
                <a:moveTo>
                  <a:pt x="81752" y="143642"/>
                </a:moveTo>
                <a:lnTo>
                  <a:pt x="81587" y="106459"/>
                </a:lnTo>
                <a:lnTo>
                  <a:pt x="98686" y="106459"/>
                </a:lnTo>
                <a:lnTo>
                  <a:pt x="98686" y="140344"/>
                </a:lnTo>
                <a:lnTo>
                  <a:pt x="90590" y="142497"/>
                </a:lnTo>
                <a:close/>
                <a:moveTo>
                  <a:pt x="106678" y="137072"/>
                </a:moveTo>
                <a:lnTo>
                  <a:pt x="106459" y="106459"/>
                </a:lnTo>
                <a:lnTo>
                  <a:pt x="137178" y="106459"/>
                </a:lnTo>
                <a:lnTo>
                  <a:pt x="131715" y="115742"/>
                </a:lnTo>
                <a:lnTo>
                  <a:pt x="124416" y="124416"/>
                </a:lnTo>
                <a:lnTo>
                  <a:pt x="115742" y="131715"/>
                </a:lnTo>
                <a:close/>
                <a:moveTo>
                  <a:pt x="140432" y="98425"/>
                </a:moveTo>
                <a:lnTo>
                  <a:pt x="106459" y="98686"/>
                </a:lnTo>
                <a:lnTo>
                  <a:pt x="106459" y="81587"/>
                </a:lnTo>
                <a:lnTo>
                  <a:pt x="143651" y="81587"/>
                </a:lnTo>
                <a:lnTo>
                  <a:pt x="142650" y="89794"/>
                </a:lnTo>
                <a:close/>
                <a:moveTo>
                  <a:pt x="73815" y="56716"/>
                </a:moveTo>
                <a:lnTo>
                  <a:pt x="73815" y="73815"/>
                </a:lnTo>
                <a:lnTo>
                  <a:pt x="56716" y="73815"/>
                </a:lnTo>
                <a:lnTo>
                  <a:pt x="56716" y="56716"/>
                </a:lnTo>
                <a:close/>
                <a:moveTo>
                  <a:pt x="73815" y="81587"/>
                </a:moveTo>
                <a:lnTo>
                  <a:pt x="73815" y="98686"/>
                </a:lnTo>
                <a:lnTo>
                  <a:pt x="56716" y="98686"/>
                </a:lnTo>
                <a:lnTo>
                  <a:pt x="56716" y="81587"/>
                </a:lnTo>
                <a:close/>
                <a:moveTo>
                  <a:pt x="98686" y="56716"/>
                </a:moveTo>
                <a:lnTo>
                  <a:pt x="98686" y="73815"/>
                </a:lnTo>
                <a:lnTo>
                  <a:pt x="81587" y="73815"/>
                </a:lnTo>
                <a:lnTo>
                  <a:pt x="81587" y="56716"/>
                </a:lnTo>
                <a:close/>
                <a:moveTo>
                  <a:pt x="98686" y="81587"/>
                </a:moveTo>
                <a:lnTo>
                  <a:pt x="98686" y="98686"/>
                </a:lnTo>
                <a:lnTo>
                  <a:pt x="81587" y="98686"/>
                </a:lnTo>
                <a:lnTo>
                  <a:pt x="81587" y="81587"/>
                </a:lnTo>
                <a:close/>
              </a:path>
            </a:pathLst>
          </a:custGeom>
          <a:solidFill>
            <a:srgbClr val="1A1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" y="6419088"/>
            <a:ext cx="1828800" cy="301752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l"/>
            <a:r>
              <a:rPr sz="1200" b="1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Math</a:t>
            </a:r>
            <a:r>
              <a:rPr sz="1200" b="1">
                <a:solidFill>
                  <a:srgbClr val="3761C2"/>
                </a:solidFill>
                <a:latin typeface="IBM Plex Sans"/>
                <a:ea typeface="IBM Plex Sans"/>
                <a:cs typeface="IBM Plex Sans"/>
              </a:rPr>
              <a:t>KG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28655" y="6455664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rtlCol="0" anchor="ctr" wrap="square" lIns="0" rIns="0" tIns="0" bIns="0"/>
          <a:lstStyle/>
          <a:p>
            <a:pPr algn="r"/>
            <a:r>
              <a:rPr sz="1200" b="0">
                <a:solidFill>
                  <a:srgbClr val="475569"/>
                </a:solidFill>
                <a:latin typeface="IBM Plex Sans"/>
                <a:ea typeface="IBM Plex Sans"/>
                <a:cs typeface="IBM Plex Sans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4114800"/>
          </a:xfrm>
          <a:prstGeom prst="rect">
            <a:avLst/>
          </a:prstGeom>
          <a:noFill/>
          <a:ln>
            <a:noFill/>
          </a:ln>
        </p:spPr>
        <p:txBody>
          <a:bodyPr rtlCol="0" anchor="t" wrap="square" lIns="0" rIns="0" tIns="0" bIns="0"/>
          <a:lstStyle/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Тилке модели · Системалуу тизме · Үлгү изде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Артка карай эсепте · Сыноо жана жакшыртуу · Сүрөт тарт</a:t>
            </a:r>
          </a:p>
          <a:p>
            <a:pPr algn="l"/>
            <a:r>
              <a:rPr sz="2800" b="0">
                <a:solidFill>
                  <a:srgbClr val="1A1A2E"/>
                </a:solidFill>
                <a:latin typeface="IBM Plex Sans"/>
                <a:ea typeface="IBM Plex Sans"/>
                <a:cs typeface="IBM Plex Sans"/>
              </a:rPr>
              <a:t>Ар дайым текшер!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Полиа: ойлонуп чеч</dc:title>
  <dc:subject>Маселе чечүү ыкмалары</dc:subject>
  <dc:creator>MathKG</dc:creator>
  <cp:keywords>MathKG; </cp:keywords>
  <dc:description>generated using python-pptx</dc:description>
  <cp:lastModifiedBy>MathKG</cp:lastModifiedBy>
  <cp:revision>1</cp:revision>
  <dcterms:created xsi:type="dcterms:W3CDTF">2013-01-27T09:14:16Z</dcterms:created>
  <dcterms:modified xsi:type="dcterms:W3CDTF">2013-01-27T09:15:58Z</dcterms:modified>
  <cp:category/>
  <dc:language>ky-KG</dc:language>
</cp:coreProperties>
</file>