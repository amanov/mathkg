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Сабактын аталышы жана бүгүнкү окуя.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Сабактын жолу: ар бир бөлүк өз слайды менен ачылат.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Окуяны окуп берем. Адегенде болжолдошсун: 12 см – бул 1 саатчы жолбу, бир күнчүбү? Карта ойдон чыгарылган (шарттуу), аралыктары сабак үчүн тандалган. Жоопту сабактын аягында (22-слайд) текшеребиз.</a:t>
            </a:r>
          </a:p>
          <a:p>
            <a:r>
              <a:t>3C (Байланыштыруу): Окуя турмуштан: бул суроого сабактын аягында кайтабыз.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Ой жүгүртүү маданияты (Wenxi Lee, 2.6).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Ийгилик критерийлери: сабактын аягында ар бирине ✓ коёбуз.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Спираль: тема класстан класска тереңдейт.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Мини-тактага жазышат. Жооптор кийинки слайдда.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Жоопту дароо айтпайбыз. Жупта талкуулашат. Жооп: Бегимай: масштаб – катыш, эки сан тең бир бирдикте (см). 100 000 см = 1 км. Элдияр см ордуна м алды (М3): 100 км жолду жөө бир күндө басып өтө албайбыз.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 бир жупка: 1 м жип (ар 10 см сайын түйүн же кийим кыскыч), сызгыч, чакмак дептер. 1) Класстын узундугун жип менен өлчөшөт (мисалы 8 м), туурасын (6 м). 2) Масштаб 1 : 100: 1 м = 100 см → 1 см, ошондуктан 8 м → 8 см, 6 м → 6 см (чакмак дептерде 16 жана 12 чакмак). 3) Мугалимдин үстөлүн, эшикти, партаны да планга түшүрүшөт (парта 1 м → 1 см). 4) «Эгер масштаб 1 : 200 болсочу?» – план эки эсе кичине: 4 см × 3 см. Класстын чыныгы өлчөмдөрү башка болсо, ошолорду колдоном. Проектор жок болсо, доскага чакмак сетка чийем.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Картаны доскага чакмак сетка менен чийем (же ушул слайдды көрсөтөм). Карта ойдон чыгарылган: 1 чакмак = 1 см. Окуучулар жолду чакмак менен санашат: 4 + 3 + 5 = 12. Анан эки сан огу: үстүндө «картада, см», астында «чыныгы, км»; 2 см ↔ 1 км, 12 см ↔ 6 км. Полянын 4 кадамы: түшүн, план түз, чыгар, текшер. Масштаб тилкеси: 1 чакмак = 500 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Масштаб – катыш: картадагы узундуктун чыныгы узундукка катышы. Эки сан тең бир бирдикте: 1 : 50 000 = 1 см : 50 000 см. Карта кичине, ошондуктан картадан чыныгыга көбөйтөбүз, чыныгыдан картага бөлөбүз. Ката коддору: М1 (× ордуна ÷), М2 (см → км), М3 (1 : 50 000 = 1 см : 50 000 м деп окуу).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 бир сап «=» менен башталат. Окуучулар кадамды айтып турат.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 бир сап «=» менен башталат. Окуучулар кадамды айтып турат.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Окуучулар ыкманы үн чыгарып айтышат: «адегенде 1 см канча экенин табам». «Оозеки беш мүнөт» (класста колдонуу картасы) эки апта ушуларды кайталайт.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Баары бир убакта манжа менен көрсөтөт (1–4). Туура эмес жооптун коду: А = М2; Б = ✓; В = М3; Г = М1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 деңгээл: картадан → чыныгы → чыныгыдан → картага → эки карта. Жооптор: 4 × 50 000 = 200 000 см = 2 км; 8 ÷ 2 = 4 см; 6 км → Б картада 6 см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Жеңилден баштап, мүмкүн болушунча алдыга. Жооптор кийинки слайдда.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Картада 4 + 3 + 5 = 12 см. 1 см = 50 000 см = 500 м, ошондуктан 12 см = 6 000 м = 6 км. 6 ÷ 3 = 2 саат. «12 × 50 000 = 600 000 м» деп алса (М3), 600 км чыгат: бул Бишкектен Ошко чейинкидей, жөө 2 саатта болбойт. 600 000 см ÷ 1 000 = 600 км (М2) да ушундай текшерилет.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Блум: Түзүү. Жупта алмашып, бири-биринин маселесин чыгарышат.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Жооптор: 3 км; 5 см; 1 : 25 000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Бул слайд окуучуларга көрсөтүлбөйт.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1/26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371600"/>
            <a:ext cx="164592" cy="128016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97280" y="1371600"/>
            <a:ext cx="164592" cy="128016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371600" y="1371600"/>
            <a:ext cx="164592" cy="128016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1188720"/>
            <a:ext cx="96012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4A5A70"/>
                </a:solidFill>
                <a:latin typeface="PT Sans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691640"/>
            <a:ext cx="9601200" cy="1737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D3557"/>
                </a:solidFill>
                <a:latin typeface="PT Sans"/>
              </a:rPr>
              <a:t>Масштаб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3611880"/>
            <a:ext cx="8778240" cy="1463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57400" y="3657600"/>
            <a:ext cx="83210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A84400"/>
                </a:solidFill>
                <a:latin typeface="PT Sans"/>
              </a:rPr>
              <a:t>Бүгүнкү окуя: Сары-Челекке саякат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4160520"/>
            <a:ext cx="832104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Мирлан агай, Элдияр жана Бегимай Аркыт айылынан Сары-Челек көлүнө жөө жолду карта менен пландашат.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5349240"/>
            <a:ext cx="96012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1">
                <a:solidFill>
                  <a:srgbClr val="6B7280"/>
                </a:solidFill>
                <a:latin typeface="PT Sans"/>
              </a:rPr>
              <a:t>Китеп: Математика стандарты, 6-класс: катыш жана пропорция, масштаб (улуттук B). Мазмуну оригиналдуу; карта ойдон чыгарылган (шарттуу), аралыктары сабак үчүн тандалган.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Сабактын мазмуну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Масштаб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0080" y="1463039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1280160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Кириш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1280160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Окуя, эрежелер, максаттар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" y="2212848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0080" y="2395728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212848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Даярдык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212848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Эстейбиз, «Ким туура?»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145536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0080" y="3328416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145536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Түшүнөбүз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3145536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К → С → А: буюм, тилке, эреже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" y="4078224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080" y="426110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4078224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Машыгабыз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078224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Чечүүчү суроо, тилке, өз алдынча иш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" y="5010912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0080" y="5193792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5010912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Жыйынтык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5010912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Окуяга кайтуу, түзүү, чыгуу билети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Окуя: Сары-Челекке саякат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Масштаб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6766560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325880"/>
            <a:ext cx="6217920" cy="4389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Туристтик ийрим Жалал-Абад облусундагы Сары-Челек коругуна барды.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2100" b="0" i="0">
                <a:solidFill>
                  <a:srgbClr val="1F2430"/>
                </a:solidFill>
                <a:latin typeface="PT Sans"/>
              </a:rPr>
              <a:t>Жетекчи – Мирлан агай. Элдияр менен Бегимай картаны жана сызгычты алып жүрөт.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Аркыт айылынан көлгө жөө барабыз. Жолду адегенде карта боюнча пландайбыз.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2100" b="0" i="0">
                <a:solidFill>
                  <a:srgbClr val="1F2430"/>
                </a:solidFill>
                <a:latin typeface="PT Sans"/>
              </a:rPr>
              <a:t>Картанын бурчунда жазылган: «Масштаб 1 : 50 000». Бул эмнени билдирет?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06640" y="1225296"/>
            <a:ext cx="4352544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35240" y="1325880"/>
            <a:ext cx="39319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A84400"/>
                </a:solidFill>
                <a:latin typeface="PT Sans"/>
              </a:rPr>
              <a:t>Суроо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1828800"/>
            <a:ext cx="3931920" cy="2743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Масштаб 1 : 50 000. Аркыттан Сары-Челекке чейинки жол картада 3 түз бөлүк: 4 см, 3 см жана 5 см. Топ саатына 3 км басат. Көлгө канча саатта жетебиз?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4572000"/>
            <a:ext cx="393192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1">
                <a:solidFill>
                  <a:srgbClr val="6B7280"/>
                </a:solidFill>
                <a:latin typeface="PT Sans"/>
              </a:rPr>
              <a:t>Азыр жообун айтпайбыз. Ойлон: кантип билебиз?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24418C"/>
                </a:solidFill>
                <a:latin typeface="PT Sans"/>
              </a:rPr>
              <a:t>3C · Байланыштыруу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Математикада биз…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Масштаб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4/26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325880"/>
            <a:ext cx="3624072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1600200"/>
            <a:ext cx="3166872" cy="1463040"/>
          </a:xfrm>
          <a:prstGeom prst="roundRect">
            <a:avLst>
              <a:gd name="adj" fmla="val 15000"/>
            </a:avLst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007A5A"/>
                </a:solidFill>
                <a:latin typeface="PT Sans"/>
              </a:rPr>
              <a:t>Ката – үйрөнүүнүн бир бөлүгү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291840"/>
            <a:ext cx="3166872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Ката кетсе, эмне үчүн кеткенин издейбиз.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82439" y="1325880"/>
            <a:ext cx="3624072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11039" y="1600200"/>
            <a:ext cx="3166872" cy="1463040"/>
          </a:xfrm>
          <a:prstGeom prst="roundRect">
            <a:avLst>
              <a:gd name="adj" fmla="val 15000"/>
            </a:avLst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A84400"/>
                </a:solidFill>
                <a:latin typeface="PT Sans"/>
              </a:rPr>
              <a:t>«Азырынча билбейм»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1039" y="3291840"/>
            <a:ext cx="3166872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«Билбейм» эмес, «азырынча». Машыксак, үйрөнөбүз.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5112" y="1325880"/>
            <a:ext cx="3624072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363712" y="1600200"/>
            <a:ext cx="3166872" cy="1463040"/>
          </a:xfrm>
          <a:prstGeom prst="roundRect">
            <a:avLst>
              <a:gd name="adj" fmla="val 15000"/>
            </a:avLst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24418C"/>
                </a:solidFill>
                <a:latin typeface="PT Sans"/>
              </a:rPr>
              <a:t>Адегенде түшүн, анан эсепте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3712" y="3291840"/>
            <a:ext cx="3166872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Сүрөт же тилке чийип, анан сан менен жазабыз.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Максаттар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Масштаб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5/26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6409944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429768" y="1865376"/>
            <a:ext cx="6409944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12648" y="1225296"/>
            <a:ext cx="6044184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Бүгүн биз үйрөнөбүз</a:t>
            </a:r>
          </a:p>
        </p:txBody>
      </p:sp>
      <p:sp>
        <p:nvSpPr>
          <p:cNvPr id="13" name="Oval 12"/>
          <p:cNvSpPr/>
          <p:nvPr/>
        </p:nvSpPr>
        <p:spPr>
          <a:xfrm>
            <a:off x="722376" y="214884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1872" y="2112264"/>
            <a:ext cx="539496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Масштаб 1 : n эмнени билдирерин түшүндүрөм: картада 1 см = чыныгы n см.</a:t>
            </a:r>
          </a:p>
        </p:txBody>
      </p:sp>
      <p:sp>
        <p:nvSpPr>
          <p:cNvPr id="15" name="Oval 14"/>
          <p:cNvSpPr/>
          <p:nvPr/>
        </p:nvSpPr>
        <p:spPr>
          <a:xfrm>
            <a:off x="722376" y="342900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61872" y="3392424"/>
            <a:ext cx="539496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Картадагы аралыктан чыныгысын (× n), чыныгыдан картадагысын (÷ n) табам жана бирдикти өткөрөм.</a:t>
            </a:r>
          </a:p>
        </p:txBody>
      </p:sp>
      <p:sp>
        <p:nvSpPr>
          <p:cNvPr id="17" name="Oval 16"/>
          <p:cNvSpPr/>
          <p:nvPr/>
        </p:nvSpPr>
        <p:spPr>
          <a:xfrm>
            <a:off x="722376" y="470916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61872" y="4672584"/>
            <a:ext cx="539496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Масштабды табам, чакмак дептерде масштабдык план чийем жана барак үчүн масштаб тандайм.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0" y="1225296"/>
            <a:ext cx="4636008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7132320" y="1865376"/>
            <a:ext cx="4636008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306056" y="1225296"/>
            <a:ext cx="4270248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Деңгээлдер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60920" y="2103120"/>
            <a:ext cx="1143000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007A5A"/>
                </a:solidFill>
                <a:latin typeface="PT Sans"/>
              </a:rPr>
              <a:t>Жеңил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41080" y="2057400"/>
            <a:ext cx="301752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1 : n, 1 см = 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60920" y="3127248"/>
            <a:ext cx="1143000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A84400"/>
                </a:solidFill>
                <a:latin typeface="PT Sans"/>
              </a:rPr>
              <a:t>Орто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41080" y="3081528"/>
            <a:ext cx="301752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Картадан ↔ чыныгы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60920" y="4151376"/>
            <a:ext cx="1143000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4A5A70"/>
                </a:solidFill>
                <a:latin typeface="PT Sans"/>
              </a:rPr>
              <a:t>Оор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41080" y="4105656"/>
            <a:ext cx="301752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6B7280"/>
                </a:solidFill>
                <a:latin typeface="PT Sans"/>
              </a:rPr>
              <a:t>Масштаб табуу, план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3C: бүгүн кантип ойлонобуз?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Масштаб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6/26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3593592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04088" y="1463040"/>
            <a:ext cx="3044952" cy="6400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007A5A"/>
                </a:solidFill>
                <a:latin typeface="PT Sans"/>
              </a:rPr>
              <a:t>Сынчыл ой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286000"/>
            <a:ext cx="3136392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Текшеребиз, далилдейбиз, катаны издейбиз.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04088" y="3703320"/>
            <a:ext cx="304495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58368" y="3794760"/>
            <a:ext cx="313639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6B7280"/>
                </a:solidFill>
                <a:latin typeface="PT Sans"/>
              </a:rPr>
              <a:t>Бүгүн: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4206240"/>
            <a:ext cx="3136392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«Ким туура?»</a:t>
            </a:r>
          </a:p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100 км же 1 км?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1225296"/>
            <a:ext cx="3593592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72000" y="1463040"/>
            <a:ext cx="3044952" cy="6400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A84400"/>
                </a:solidFill>
                <a:latin typeface="PT Sans"/>
              </a:rPr>
              <a:t>Кызматташуу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286000"/>
            <a:ext cx="3136392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Жупта жана топто сүйлөшөбүз.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572000" y="3703320"/>
            <a:ext cx="304495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526280" y="3794760"/>
            <a:ext cx="313639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6B7280"/>
                </a:solidFill>
                <a:latin typeface="PT Sans"/>
              </a:rPr>
              <a:t>Бүгүн: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4206240"/>
            <a:ext cx="3136392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Жупта план чийүү</a:t>
            </a:r>
          </a:p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карта сорттоо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65592" y="1225296"/>
            <a:ext cx="3593592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439912" y="1463040"/>
            <a:ext cx="3044952" cy="6400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24418C"/>
                </a:solidFill>
                <a:latin typeface="PT Sans"/>
              </a:rPr>
              <a:t>Байланыштыруу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94192" y="2286000"/>
            <a:ext cx="3136392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Математиканы турмуш менен байланыштырабыз.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439912" y="3703320"/>
            <a:ext cx="304495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394192" y="3794760"/>
            <a:ext cx="313639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6B7280"/>
                </a:solidFill>
                <a:latin typeface="PT Sans"/>
              </a:rPr>
              <a:t>Бүгүн: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94192" y="4206240"/>
            <a:ext cx="3136392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Сары-Челек</a:t>
            </a:r>
          </a:p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Карта жана жол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Мурун – бүгүн – кийин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Масштаб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7/26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3017520"/>
            <a:ext cx="2660904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31089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007A5A"/>
                </a:solidFill>
                <a:latin typeface="PT Sans"/>
              </a:rPr>
              <a:t/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04088" y="3657600"/>
            <a:ext cx="2112264" cy="0"/>
          </a:xfrm>
          <a:prstGeom prst="line">
            <a:avLst/>
          </a:prstGeom>
          <a:ln w="1270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12647" y="3749039"/>
            <a:ext cx="2295144" cy="1920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Узундук бирдиктери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Ондук бөлчөктөр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19272" y="2560320"/>
            <a:ext cx="2660904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56432" y="26517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007A5A"/>
                </a:solidFill>
                <a:latin typeface="PT Sans"/>
              </a:rPr>
              <a:t/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593591" y="3200400"/>
            <a:ext cx="2112265" cy="0"/>
          </a:xfrm>
          <a:prstGeom prst="line">
            <a:avLst/>
          </a:prstGeom>
          <a:ln w="1270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502152" y="3291839"/>
            <a:ext cx="2295144" cy="23774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Катыш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1 бөлүктү табуу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08776" y="2103120"/>
            <a:ext cx="2660904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45936" y="21945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A84400"/>
                </a:solidFill>
                <a:latin typeface="PT Sans"/>
              </a:rPr>
              <a:t/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483096" y="2743200"/>
            <a:ext cx="2112263" cy="0"/>
          </a:xfrm>
          <a:prstGeom prst="line">
            <a:avLst/>
          </a:prstGeom>
          <a:ln w="127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391656" y="2834639"/>
            <a:ext cx="2295144" cy="2834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Масштаб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Карта жана план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07708" y="1600199"/>
            <a:ext cx="1463040" cy="384048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A84400"/>
                </a:solidFill>
                <a:latin typeface="PT Sans"/>
              </a:rPr>
              <a:t>Бүгүн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98280" y="1645919"/>
            <a:ext cx="2660904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5440" y="17373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4A5A70"/>
                </a:solidFill>
                <a:latin typeface="PT Sans"/>
              </a:rPr>
              <a:t/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372600" y="2286000"/>
            <a:ext cx="2112264" cy="0"/>
          </a:xfrm>
          <a:prstGeom prst="line">
            <a:avLst/>
          </a:prstGeom>
          <a:ln w="12700">
            <a:solidFill>
              <a:srgbClr val="4A5A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281160" y="2377439"/>
            <a:ext cx="2295144" cy="3291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6B7280"/>
                </a:solidFill>
                <a:latin typeface="PT Sans"/>
              </a:rPr>
              <a:t>• Пропорционалдуулук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500" b="0" i="0">
                <a:solidFill>
                  <a:srgbClr val="6B7280"/>
                </a:solidFill>
                <a:latin typeface="PT Sans"/>
              </a:rPr>
              <a:t>• Окшош фигуралар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" y="5806440"/>
            <a:ext cx="11329416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1">
                <a:solidFill>
                  <a:srgbClr val="6B7280"/>
                </a:solidFill>
                <a:latin typeface="PT Sans"/>
              </a:rPr>
              <a:t>Ар бир класс мурункусунун үстүнө курулат.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Даярдык: эстейли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Масштаб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8/26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14300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Мини-тактага жаз. 2 мүнөт.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" y="169164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12647" y="253517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7" y="169164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1 м = □ см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69164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91656" y="253517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86016" y="169164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1 км = □ 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" y="400050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12647" y="484403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7" y="400050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1 км = □ см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08776" y="400050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91656" y="484403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86016" y="400050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4 × 50 000 = 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Даярдык: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Масштаб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9/26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325880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581912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1325880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1 м = □ см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34804" y="1325880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100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325880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45936" y="1581912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94576" y="1325880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1 км = □ 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13812" y="1325880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1 000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2350008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2606040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2350008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1 км = □ см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34804" y="2350008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100 000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08776" y="2350008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45936" y="2606040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350008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4 × 50 000 = 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13812" y="2350008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200 000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Ким туура?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Масштаб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10/26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Мирлан агай: «Картанын масштабы 1 : 100 000. Картада 1 см чыныгы канча?»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" y="2103120"/>
            <a:ext cx="5550408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429768" y="2697480"/>
            <a:ext cx="5550408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29768" y="2103120"/>
            <a:ext cx="5550408" cy="5943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Элдияр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2834640"/>
            <a:ext cx="5029200" cy="2286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1 : 100 000</a:t>
            </a:r>
          </a:p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1 см = 100 000 м</a:t>
            </a:r>
          </a:p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= 100 км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8776" y="2103120"/>
            <a:ext cx="5550408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6208776" y="2697480"/>
            <a:ext cx="5550408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208776" y="2103120"/>
            <a:ext cx="5550408" cy="5943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Бегимай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3096" y="2834640"/>
            <a:ext cx="5029200" cy="2286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1 : 100 000</a:t>
            </a:r>
          </a:p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1 см = 100 000 см</a:t>
            </a:r>
          </a:p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= 1 км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349240"/>
            <a:ext cx="11329416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600" b="1" i="0">
                <a:solidFill>
                  <a:srgbClr val="A84400"/>
                </a:solidFill>
                <a:latin typeface="PT Sans"/>
              </a:rPr>
              <a:t>Ким туура? Бирдиктер бирдейби?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007A5A"/>
                </a:solidFill>
                <a:latin typeface="PT Sans"/>
              </a:rPr>
              <a:t>3C · Сынчыл ой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К: буюм менен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Масштаб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11/26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Жупта: класстын узундугун жана туурасын жип (1 м) менен өлчөп, чакмак дептерге 1 : 100 масштабда план чийгиле: 1 м → 1 см.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993392"/>
            <a:ext cx="5943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1D3557"/>
                </a:solidFill>
                <a:latin typeface="PT Sans"/>
              </a:rPr>
              <a:t>Класстын планы, 1 : 100 (1 чакмак = 5 мм)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20624" y="2331720"/>
            <a:ext cx="0" cy="2615184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21792" y="2331720"/>
            <a:ext cx="0" cy="2615184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22960" y="2331720"/>
            <a:ext cx="0" cy="2615184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24128" y="2331720"/>
            <a:ext cx="0" cy="2615184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225296" y="2331720"/>
            <a:ext cx="0" cy="2615184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426464" y="2331720"/>
            <a:ext cx="0" cy="2615184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627632" y="2331720"/>
            <a:ext cx="0" cy="2615184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828800" y="2331720"/>
            <a:ext cx="0" cy="2615184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029968" y="2331720"/>
            <a:ext cx="0" cy="2615184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231136" y="2331720"/>
            <a:ext cx="0" cy="2615184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432304" y="2331720"/>
            <a:ext cx="0" cy="2615184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633472" y="2331720"/>
            <a:ext cx="0" cy="2615184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834640" y="2331720"/>
            <a:ext cx="0" cy="2615184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035808" y="2331720"/>
            <a:ext cx="0" cy="2615184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3236976" y="2331720"/>
            <a:ext cx="0" cy="2615184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3438144" y="2331720"/>
            <a:ext cx="0" cy="2615184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3639312" y="2331720"/>
            <a:ext cx="0" cy="2615184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840480" y="2331720"/>
            <a:ext cx="0" cy="2615184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4041648" y="2331720"/>
            <a:ext cx="0" cy="2615184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4242816" y="2331720"/>
            <a:ext cx="0" cy="2615184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4443984" y="2331720"/>
            <a:ext cx="0" cy="2615184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420624" y="2331720"/>
            <a:ext cx="4023360" cy="0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420624" y="2532888"/>
            <a:ext cx="4023360" cy="0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420624" y="2734056"/>
            <a:ext cx="4023360" cy="0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420624" y="2935224"/>
            <a:ext cx="4023360" cy="0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420624" y="3136391"/>
            <a:ext cx="4023360" cy="0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420624" y="3337560"/>
            <a:ext cx="4023360" cy="0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20624" y="3538728"/>
            <a:ext cx="4023360" cy="0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20624" y="3739896"/>
            <a:ext cx="4023360" cy="0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20624" y="3941063"/>
            <a:ext cx="4023360" cy="0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20624" y="4142231"/>
            <a:ext cx="4023360" cy="0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20624" y="4343400"/>
            <a:ext cx="4023360" cy="0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20624" y="4544568"/>
            <a:ext cx="4023360" cy="0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20624" y="4745736"/>
            <a:ext cx="4023360" cy="0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20624" y="4946904"/>
            <a:ext cx="4023360" cy="0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/>
          <p:cNvSpPr/>
          <p:nvPr/>
        </p:nvSpPr>
        <p:spPr>
          <a:xfrm>
            <a:off x="822960" y="2432303"/>
            <a:ext cx="3218688" cy="2414016"/>
          </a:xfrm>
          <a:prstGeom prst="rect">
            <a:avLst/>
          </a:prstGeom>
          <a:noFill/>
          <a:ln w="285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" name="Connector 48"/>
          <p:cNvCxnSpPr/>
          <p:nvPr/>
        </p:nvCxnSpPr>
        <p:spPr>
          <a:xfrm>
            <a:off x="4041648" y="4041648"/>
            <a:ext cx="0" cy="402335"/>
          </a:xfrm>
          <a:prstGeom prst="line">
            <a:avLst/>
          </a:prstGeom>
          <a:ln w="508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4059935" y="4021531"/>
            <a:ext cx="6400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4A5A70"/>
                </a:solidFill>
                <a:latin typeface="PT Sans"/>
              </a:rPr>
              <a:t>эшик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029968" y="2633472"/>
            <a:ext cx="804672" cy="201168"/>
          </a:xfrm>
          <a:prstGeom prst="rect">
            <a:avLst/>
          </a:prstGeom>
          <a:solidFill>
            <a:srgbClr val="F5E9E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225296" y="3236976"/>
            <a:ext cx="402336" cy="201168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2231136" y="3236976"/>
            <a:ext cx="402336" cy="201168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236976" y="3236976"/>
            <a:ext cx="402336" cy="201168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225296" y="3739896"/>
            <a:ext cx="402336" cy="201168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2231136" y="3739896"/>
            <a:ext cx="402336" cy="201168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236976" y="3739896"/>
            <a:ext cx="402336" cy="201168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225296" y="4242816"/>
            <a:ext cx="402336" cy="201168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2231136" y="4242816"/>
            <a:ext cx="402336" cy="201168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3236976" y="4242816"/>
            <a:ext cx="402336" cy="201168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22960" y="4992624"/>
            <a:ext cx="3218688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24418C"/>
                </a:solidFill>
                <a:latin typeface="PT Sans"/>
              </a:rPr>
              <a:t>8 м → 8 см (16 чакмак)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498848" y="3136391"/>
            <a:ext cx="146304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24418C"/>
                </a:solidFill>
                <a:latin typeface="PT Sans"/>
              </a:rPr>
              <a:t>6 м →</a:t>
            </a:r>
          </a:p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24418C"/>
                </a:solidFill>
                <a:latin typeface="PT Sans"/>
              </a:rPr>
              <a:t>6 см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5074920" y="4800600"/>
            <a:ext cx="1828800" cy="0"/>
          </a:xfrm>
          <a:prstGeom prst="line">
            <a:avLst/>
          </a:prstGeom>
          <a:ln w="317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Oval 63"/>
          <p:cNvSpPr/>
          <p:nvPr/>
        </p:nvSpPr>
        <p:spPr>
          <a:xfrm>
            <a:off x="5033772" y="4759452"/>
            <a:ext cx="82296" cy="82296"/>
          </a:xfrm>
          <a:prstGeom prst="ellipse">
            <a:avLst/>
          </a:prstGeom>
          <a:solidFill>
            <a:srgbClr val="A84400"/>
          </a:solidFill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5216652" y="4759452"/>
            <a:ext cx="82296" cy="82296"/>
          </a:xfrm>
          <a:prstGeom prst="ellipse">
            <a:avLst/>
          </a:prstGeom>
          <a:solidFill>
            <a:srgbClr val="A84400"/>
          </a:solidFill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5399532" y="4759452"/>
            <a:ext cx="82296" cy="82296"/>
          </a:xfrm>
          <a:prstGeom prst="ellipse">
            <a:avLst/>
          </a:prstGeom>
          <a:solidFill>
            <a:srgbClr val="A84400"/>
          </a:solidFill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5582412" y="4759452"/>
            <a:ext cx="82296" cy="82296"/>
          </a:xfrm>
          <a:prstGeom prst="ellipse">
            <a:avLst/>
          </a:prstGeom>
          <a:solidFill>
            <a:srgbClr val="A84400"/>
          </a:solidFill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5765292" y="4759452"/>
            <a:ext cx="82296" cy="82296"/>
          </a:xfrm>
          <a:prstGeom prst="ellipse">
            <a:avLst/>
          </a:prstGeom>
          <a:solidFill>
            <a:srgbClr val="A84400"/>
          </a:solidFill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5948172" y="4759452"/>
            <a:ext cx="82296" cy="82296"/>
          </a:xfrm>
          <a:prstGeom prst="ellipse">
            <a:avLst/>
          </a:prstGeom>
          <a:solidFill>
            <a:srgbClr val="A84400"/>
          </a:solidFill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6131052" y="4759452"/>
            <a:ext cx="82296" cy="82296"/>
          </a:xfrm>
          <a:prstGeom prst="ellipse">
            <a:avLst/>
          </a:prstGeom>
          <a:solidFill>
            <a:srgbClr val="A84400"/>
          </a:solidFill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6313932" y="4759452"/>
            <a:ext cx="82296" cy="82296"/>
          </a:xfrm>
          <a:prstGeom prst="ellipse">
            <a:avLst/>
          </a:prstGeom>
          <a:solidFill>
            <a:srgbClr val="A84400"/>
          </a:solidFill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6496812" y="4759452"/>
            <a:ext cx="82296" cy="82296"/>
          </a:xfrm>
          <a:prstGeom prst="ellipse">
            <a:avLst/>
          </a:prstGeom>
          <a:solidFill>
            <a:srgbClr val="A84400"/>
          </a:solidFill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6679692" y="4759452"/>
            <a:ext cx="82296" cy="82296"/>
          </a:xfrm>
          <a:prstGeom prst="ellipse">
            <a:avLst/>
          </a:prstGeom>
          <a:solidFill>
            <a:srgbClr val="A84400"/>
          </a:solidFill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6862572" y="4759452"/>
            <a:ext cx="82296" cy="82296"/>
          </a:xfrm>
          <a:prstGeom prst="ellipse">
            <a:avLst/>
          </a:prstGeom>
          <a:solidFill>
            <a:srgbClr val="A84400"/>
          </a:solidFill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983480" y="4873752"/>
            <a:ext cx="21031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4A5A70"/>
                </a:solidFill>
                <a:latin typeface="PT Sans"/>
              </a:rPr>
              <a:t>жип: 1 м, ар 10 см – түйүн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983480" y="3886200"/>
            <a:ext cx="21945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007A5A"/>
                </a:solidFill>
                <a:latin typeface="PT Sans"/>
              </a:rPr>
              <a:t>Парта: 1 м → 1 см</a:t>
            </a:r>
          </a:p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A84400"/>
                </a:solidFill>
                <a:latin typeface="PT Sans"/>
              </a:rPr>
              <a:t>Үстөл: 2 м → 2 см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7315200" y="2194560"/>
            <a:ext cx="443484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498079" y="2286000"/>
            <a:ext cx="4114800" cy="3383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F2430"/>
                </a:solidFill>
                <a:latin typeface="PT Sans"/>
              </a:rPr>
              <a:t>Ар бир жупта:</a:t>
            </a:r>
          </a:p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1F2430"/>
                </a:solidFill>
                <a:latin typeface="PT Sans"/>
              </a:rPr>
              <a:t>• 1 м жип (түйүн же кыскыч менен)</a:t>
            </a:r>
          </a:p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1F2430"/>
                </a:solidFill>
                <a:latin typeface="PT Sans"/>
              </a:rPr>
              <a:t>• сызгыч жана чакмак дептер</a:t>
            </a:r>
          </a:p>
          <a:p>
            <a:pPr algn="l">
              <a:lnSpc>
                <a:spcPct val="115000"/>
              </a:lnSpc>
              <a:spcBef>
                <a:spcPts val="1000"/>
              </a:spcBef>
            </a:pPr>
            <a:r>
              <a:rPr sz="1900" b="1" i="0">
                <a:solidFill>
                  <a:srgbClr val="007A5A"/>
                </a:solidFill>
                <a:latin typeface="PT Sans"/>
              </a:rPr>
              <a:t>1 : 100 = 1 см : 100 см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2000" b="1" i="0">
                <a:solidFill>
                  <a:srgbClr val="24418C"/>
                </a:solidFill>
                <a:latin typeface="PT Sans"/>
              </a:rPr>
              <a:t>1 см планда = 1 м класста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900" b="1" i="0">
                <a:solidFill>
                  <a:srgbClr val="A84400"/>
                </a:solidFill>
                <a:latin typeface="PT Sans"/>
              </a:rPr>
              <a:t>1 : 200 болсо: 4 см × 3 см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К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С: карта жана эки сан огу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Масштаб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12/26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Масштаб 1 : 50 000. Аркыттан Сары-Челекке жол: 4 см + 3 см + 5 см. Чыныгы жол канча км? Саатына 3 км: канча саат?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2240280"/>
            <a:ext cx="5559552" cy="2779776"/>
          </a:xfrm>
          <a:prstGeom prst="rect">
            <a:avLst/>
          </a:prstGeom>
          <a:solidFill>
            <a:srgbClr val="FFFFFF"/>
          </a:solidFill>
          <a:ln w="1270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685800" y="2240280"/>
            <a:ext cx="0" cy="2779776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33271" y="2240280"/>
            <a:ext cx="0" cy="2779776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380744" y="2240280"/>
            <a:ext cx="0" cy="2779776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728216" y="2240280"/>
            <a:ext cx="0" cy="2779776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075688" y="2240280"/>
            <a:ext cx="0" cy="2779776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423160" y="2240280"/>
            <a:ext cx="0" cy="2779776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2770632" y="2240280"/>
            <a:ext cx="0" cy="2779776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118104" y="2240280"/>
            <a:ext cx="0" cy="2779776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465576" y="2240280"/>
            <a:ext cx="0" cy="2779776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813048" y="2240280"/>
            <a:ext cx="0" cy="2779776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160520" y="2240280"/>
            <a:ext cx="0" cy="2779776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507992" y="2240280"/>
            <a:ext cx="0" cy="2779776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855464" y="2240280"/>
            <a:ext cx="0" cy="2779776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202936" y="2240280"/>
            <a:ext cx="0" cy="2779776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550408" y="2240280"/>
            <a:ext cx="0" cy="2779776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897880" y="2240280"/>
            <a:ext cx="0" cy="2779776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245352" y="2240280"/>
            <a:ext cx="0" cy="2779776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85800" y="2240280"/>
            <a:ext cx="5559552" cy="0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85800" y="2587752"/>
            <a:ext cx="5559552" cy="0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85800" y="2935224"/>
            <a:ext cx="5559552" cy="0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85800" y="3282696"/>
            <a:ext cx="5559552" cy="0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685800" y="3630168"/>
            <a:ext cx="5559552" cy="0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685800" y="3977639"/>
            <a:ext cx="5559552" cy="0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685800" y="4325112"/>
            <a:ext cx="5559552" cy="0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685800" y="4672584"/>
            <a:ext cx="5559552" cy="0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685800" y="5020056"/>
            <a:ext cx="5559552" cy="0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4160520" y="2587752"/>
            <a:ext cx="1494129" cy="1250899"/>
          </a:xfrm>
          <a:prstGeom prst="ellipse">
            <a:avLst/>
          </a:prstGeom>
          <a:solidFill>
            <a:srgbClr val="CFE3F2"/>
          </a:solidFill>
          <a:ln w="190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230014" y="2900476"/>
            <a:ext cx="135514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90000"/>
              </a:lnSpc>
            </a:pPr>
            <a:r>
              <a:rPr sz="1200" b="1" i="0">
                <a:solidFill>
                  <a:srgbClr val="24418C"/>
                </a:solidFill>
                <a:latin typeface="PT Sans"/>
              </a:rPr>
              <a:t>Сары-Челек</a:t>
            </a:r>
          </a:p>
          <a:p>
            <a:pPr algn="ctr">
              <a:lnSpc>
                <a:spcPct val="90000"/>
              </a:lnSpc>
            </a:pPr>
            <a:r>
              <a:rPr sz="1200" b="1" i="0">
                <a:solidFill>
                  <a:srgbClr val="24418C"/>
                </a:solidFill>
                <a:latin typeface="PT Sans"/>
              </a:rPr>
              <a:t>көлү</a:t>
            </a:r>
          </a:p>
        </p:txBody>
      </p:sp>
      <p:sp>
        <p:nvSpPr>
          <p:cNvPr id="41" name="Oval 40"/>
          <p:cNvSpPr/>
          <p:nvPr/>
        </p:nvSpPr>
        <p:spPr>
          <a:xfrm>
            <a:off x="1102766" y="2448763"/>
            <a:ext cx="764438" cy="451713"/>
          </a:xfrm>
          <a:prstGeom prst="ellipse">
            <a:avLst/>
          </a:prstGeom>
          <a:solidFill>
            <a:srgbClr val="CFE3F2"/>
          </a:solidFill>
          <a:ln w="127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63777" y="2935224"/>
            <a:ext cx="111191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 i="0">
                <a:solidFill>
                  <a:srgbClr val="24418C"/>
                </a:solidFill>
                <a:latin typeface="PT Sans"/>
              </a:rPr>
              <a:t>Ийри-Көл</a:t>
            </a:r>
          </a:p>
        </p:txBody>
      </p:sp>
      <p:sp>
        <p:nvSpPr>
          <p:cNvPr id="43" name="Isosceles Triangle 42"/>
          <p:cNvSpPr/>
          <p:nvPr/>
        </p:nvSpPr>
        <p:spPr>
          <a:xfrm>
            <a:off x="2909620" y="2414016"/>
            <a:ext cx="457200" cy="347472"/>
          </a:xfrm>
          <a:prstGeom prst="triangle">
            <a:avLst/>
          </a:prstGeom>
          <a:solidFill>
            <a:srgbClr val="C9BFA8"/>
          </a:solidFill>
          <a:ln w="952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Isosceles Triangle 43"/>
          <p:cNvSpPr/>
          <p:nvPr/>
        </p:nvSpPr>
        <p:spPr>
          <a:xfrm>
            <a:off x="3326587" y="2657246"/>
            <a:ext cx="457200" cy="347472"/>
          </a:xfrm>
          <a:prstGeom prst="triangle">
            <a:avLst/>
          </a:prstGeom>
          <a:solidFill>
            <a:srgbClr val="C9BFA8"/>
          </a:solidFill>
          <a:ln w="952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Isosceles Triangle 44"/>
          <p:cNvSpPr/>
          <p:nvPr/>
        </p:nvSpPr>
        <p:spPr>
          <a:xfrm>
            <a:off x="4855464" y="4081881"/>
            <a:ext cx="457200" cy="347472"/>
          </a:xfrm>
          <a:prstGeom prst="triangle">
            <a:avLst/>
          </a:prstGeom>
          <a:solidFill>
            <a:srgbClr val="C9BFA8"/>
          </a:solidFill>
          <a:ln w="952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Isosceles Triangle 45"/>
          <p:cNvSpPr/>
          <p:nvPr/>
        </p:nvSpPr>
        <p:spPr>
          <a:xfrm>
            <a:off x="5272430" y="4325112"/>
            <a:ext cx="457200" cy="347472"/>
          </a:xfrm>
          <a:prstGeom prst="triangle">
            <a:avLst/>
          </a:prstGeom>
          <a:solidFill>
            <a:srgbClr val="C9BFA8"/>
          </a:solidFill>
          <a:ln w="952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Isosceles Triangle 46"/>
          <p:cNvSpPr/>
          <p:nvPr/>
        </p:nvSpPr>
        <p:spPr>
          <a:xfrm>
            <a:off x="3222345" y="3769156"/>
            <a:ext cx="457200" cy="347472"/>
          </a:xfrm>
          <a:prstGeom prst="triangle">
            <a:avLst/>
          </a:prstGeom>
          <a:solidFill>
            <a:srgbClr val="C9BFA8"/>
          </a:solidFill>
          <a:ln w="952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" name="Connector 47"/>
          <p:cNvCxnSpPr/>
          <p:nvPr/>
        </p:nvCxnSpPr>
        <p:spPr>
          <a:xfrm>
            <a:off x="1033271" y="4325112"/>
            <a:ext cx="1389889" cy="0"/>
          </a:xfrm>
          <a:prstGeom prst="line">
            <a:avLst/>
          </a:prstGeom>
          <a:ln w="508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2423160" y="3282696"/>
            <a:ext cx="0" cy="1042416"/>
          </a:xfrm>
          <a:prstGeom prst="line">
            <a:avLst/>
          </a:prstGeom>
          <a:ln w="508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2423160" y="3282696"/>
            <a:ext cx="1737360" cy="0"/>
          </a:xfrm>
          <a:prstGeom prst="line">
            <a:avLst/>
          </a:prstGeom>
          <a:ln w="508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1484985" y="4359859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A84400"/>
                </a:solidFill>
                <a:latin typeface="PT Sans"/>
              </a:rPr>
              <a:t>4 см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475280" y="3699662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A84400"/>
                </a:solidFill>
                <a:latin typeface="PT Sans"/>
              </a:rPr>
              <a:t>3 см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048609" y="3004718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A84400"/>
                </a:solidFill>
                <a:latin typeface="PT Sans"/>
              </a:rPr>
              <a:t>5 см</a:t>
            </a:r>
          </a:p>
        </p:txBody>
      </p:sp>
      <p:sp>
        <p:nvSpPr>
          <p:cNvPr id="54" name="Oval 53"/>
          <p:cNvSpPr/>
          <p:nvPr/>
        </p:nvSpPr>
        <p:spPr>
          <a:xfrm>
            <a:off x="941831" y="4233672"/>
            <a:ext cx="182880" cy="18288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47471" y="4434840"/>
            <a:ext cx="1371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1D3557"/>
                </a:solidFill>
                <a:latin typeface="PT Sans"/>
              </a:rPr>
              <a:t>Аркыт</a:t>
            </a:r>
          </a:p>
        </p:txBody>
      </p:sp>
      <p:sp>
        <p:nvSpPr>
          <p:cNvPr id="56" name="Oval 55"/>
          <p:cNvSpPr/>
          <p:nvPr/>
        </p:nvSpPr>
        <p:spPr>
          <a:xfrm>
            <a:off x="2331720" y="3191256"/>
            <a:ext cx="182880" cy="18288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737360" y="2898648"/>
            <a:ext cx="1371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1D3557"/>
                </a:solidFill>
                <a:latin typeface="PT Sans"/>
              </a:rPr>
              <a:t>Кордон</a:t>
            </a:r>
          </a:p>
        </p:txBody>
      </p:sp>
      <p:sp>
        <p:nvSpPr>
          <p:cNvPr id="58" name="Oval 57"/>
          <p:cNvSpPr/>
          <p:nvPr/>
        </p:nvSpPr>
        <p:spPr>
          <a:xfrm>
            <a:off x="4069080" y="3191256"/>
            <a:ext cx="182880" cy="182880"/>
          </a:xfrm>
          <a:prstGeom prst="ellipse">
            <a:avLst/>
          </a:prstGeom>
          <a:solidFill>
            <a:srgbClr val="A84400"/>
          </a:solidFill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20547" y="2257653"/>
            <a:ext cx="457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4A5A70"/>
                </a:solidFill>
                <a:latin typeface="PT Sans"/>
              </a:rPr>
              <a:t>Т ↑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85800" y="5111496"/>
            <a:ext cx="15544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1D3557"/>
                </a:solidFill>
                <a:latin typeface="PT Sans"/>
              </a:rPr>
              <a:t>1 : 50 000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286000" y="5184648"/>
            <a:ext cx="347472" cy="91440"/>
          </a:xfrm>
          <a:prstGeom prst="rect">
            <a:avLst/>
          </a:prstGeom>
          <a:solidFill>
            <a:srgbClr val="1D3557"/>
          </a:solidFill>
          <a:ln w="952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2633472" y="5184648"/>
            <a:ext cx="347472" cy="91440"/>
          </a:xfrm>
          <a:prstGeom prst="rect">
            <a:avLst/>
          </a:prstGeom>
          <a:solidFill>
            <a:srgbClr val="FFFFFF"/>
          </a:solidFill>
          <a:ln w="952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2980944" y="5184648"/>
            <a:ext cx="347472" cy="91440"/>
          </a:xfrm>
          <a:prstGeom prst="rect">
            <a:avLst/>
          </a:prstGeom>
          <a:solidFill>
            <a:srgbClr val="1D3557"/>
          </a:solidFill>
          <a:ln w="952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3328416" y="5184648"/>
            <a:ext cx="347472" cy="91440"/>
          </a:xfrm>
          <a:prstGeom prst="rect">
            <a:avLst/>
          </a:prstGeom>
          <a:solidFill>
            <a:srgbClr val="FFFFFF"/>
          </a:solidFill>
          <a:ln w="952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965960" y="5276088"/>
            <a:ext cx="64008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 i="0">
                <a:solidFill>
                  <a:srgbClr val="1F2430"/>
                </a:solidFill>
                <a:latin typeface="PT Sans"/>
              </a:rPr>
              <a:t>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660903" y="5276088"/>
            <a:ext cx="64008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 i="0">
                <a:solidFill>
                  <a:srgbClr val="1F2430"/>
                </a:solidFill>
                <a:latin typeface="PT Sans"/>
              </a:rPr>
              <a:t>1 км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355847" y="5276088"/>
            <a:ext cx="64008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 i="0">
                <a:solidFill>
                  <a:srgbClr val="1F2430"/>
                </a:solidFill>
                <a:latin typeface="PT Sans"/>
              </a:rPr>
              <a:t>2 км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041648" y="5074920"/>
            <a:ext cx="265176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D3557"/>
                </a:solidFill>
                <a:latin typeface="PT Sans"/>
              </a:rPr>
              <a:t>1 чакмак = 1 см → 500 м</a:t>
            </a:r>
          </a:p>
          <a:p>
            <a:pPr algn="l">
              <a:lnSpc>
                <a:spcPct val="105000"/>
              </a:lnSpc>
            </a:pPr>
            <a:r>
              <a:rPr sz="1000" b="0" i="1">
                <a:solidFill>
                  <a:srgbClr val="6B7280"/>
                </a:solidFill>
                <a:latin typeface="PT Sans"/>
              </a:rPr>
              <a:t>  (шарттуу карта)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812280" y="2194560"/>
            <a:ext cx="493776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949440" y="2240280"/>
            <a:ext cx="46634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1D3557"/>
                </a:solidFill>
                <a:latin typeface="PT Sans"/>
              </a:rPr>
              <a:t>Эки сан огу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903720" y="274320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300" b="1" i="0">
                <a:solidFill>
                  <a:srgbClr val="A84400"/>
                </a:solidFill>
                <a:latin typeface="PT Sans"/>
              </a:rPr>
              <a:t>см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7772400" y="2926080"/>
            <a:ext cx="3703320" cy="0"/>
          </a:xfrm>
          <a:prstGeom prst="line">
            <a:avLst/>
          </a:prstGeom>
          <a:ln w="2222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7772400" y="2852928"/>
            <a:ext cx="0" cy="146304"/>
          </a:xfrm>
          <a:prstGeom prst="line">
            <a:avLst/>
          </a:prstGeom>
          <a:ln w="1587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7498079" y="2596896"/>
            <a:ext cx="548640" cy="2560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A84400"/>
                </a:solidFill>
                <a:latin typeface="PT Sans"/>
              </a:rPr>
              <a:t>0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8389620" y="2852928"/>
            <a:ext cx="0" cy="146304"/>
          </a:xfrm>
          <a:prstGeom prst="line">
            <a:avLst/>
          </a:prstGeom>
          <a:ln w="1587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8115300" y="2596896"/>
            <a:ext cx="548640" cy="2560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A84400"/>
                </a:solidFill>
                <a:latin typeface="PT Sans"/>
              </a:rPr>
              <a:t>2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9006840" y="2852928"/>
            <a:ext cx="0" cy="146304"/>
          </a:xfrm>
          <a:prstGeom prst="line">
            <a:avLst/>
          </a:prstGeom>
          <a:ln w="1587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8732519" y="2596896"/>
            <a:ext cx="548640" cy="2560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A84400"/>
                </a:solidFill>
                <a:latin typeface="PT Sans"/>
              </a:rPr>
              <a:t>4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9624060" y="2852928"/>
            <a:ext cx="0" cy="146304"/>
          </a:xfrm>
          <a:prstGeom prst="line">
            <a:avLst/>
          </a:prstGeom>
          <a:ln w="1587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9349740" y="2596896"/>
            <a:ext cx="548640" cy="2560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A84400"/>
                </a:solidFill>
                <a:latin typeface="PT Sans"/>
              </a:rPr>
              <a:t>6</a:t>
            </a:r>
          </a:p>
        </p:txBody>
      </p:sp>
      <p:cxnSp>
        <p:nvCxnSpPr>
          <p:cNvPr id="81" name="Connector 80"/>
          <p:cNvCxnSpPr/>
          <p:nvPr/>
        </p:nvCxnSpPr>
        <p:spPr>
          <a:xfrm>
            <a:off x="10241280" y="2852928"/>
            <a:ext cx="0" cy="146304"/>
          </a:xfrm>
          <a:prstGeom prst="line">
            <a:avLst/>
          </a:prstGeom>
          <a:ln w="1587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9966960" y="2596896"/>
            <a:ext cx="548640" cy="2560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A84400"/>
                </a:solidFill>
                <a:latin typeface="PT Sans"/>
              </a:rPr>
              <a:t>8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10858500" y="2852928"/>
            <a:ext cx="0" cy="146304"/>
          </a:xfrm>
          <a:prstGeom prst="line">
            <a:avLst/>
          </a:prstGeom>
          <a:ln w="1587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/>
        </p:nvSpPr>
        <p:spPr>
          <a:xfrm>
            <a:off x="10584180" y="2596896"/>
            <a:ext cx="548640" cy="2560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A84400"/>
                </a:solidFill>
                <a:latin typeface="PT Sans"/>
              </a:rPr>
              <a:t>10</a:t>
            </a:r>
          </a:p>
        </p:txBody>
      </p:sp>
      <p:cxnSp>
        <p:nvCxnSpPr>
          <p:cNvPr id="85" name="Connector 84"/>
          <p:cNvCxnSpPr/>
          <p:nvPr/>
        </p:nvCxnSpPr>
        <p:spPr>
          <a:xfrm>
            <a:off x="11475720" y="2852928"/>
            <a:ext cx="0" cy="146304"/>
          </a:xfrm>
          <a:prstGeom prst="line">
            <a:avLst/>
          </a:prstGeom>
          <a:ln w="1587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TextBox 85"/>
          <p:cNvSpPr txBox="1"/>
          <p:nvPr/>
        </p:nvSpPr>
        <p:spPr>
          <a:xfrm>
            <a:off x="11201400" y="2596896"/>
            <a:ext cx="548640" cy="2560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A84400"/>
                </a:solidFill>
                <a:latin typeface="PT Sans"/>
              </a:rPr>
              <a:t>12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903720" y="333756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300" b="1" i="0">
                <a:solidFill>
                  <a:srgbClr val="24418C"/>
                </a:solidFill>
                <a:latin typeface="PT Sans"/>
              </a:rPr>
              <a:t>км</a:t>
            </a:r>
          </a:p>
        </p:txBody>
      </p:sp>
      <p:cxnSp>
        <p:nvCxnSpPr>
          <p:cNvPr id="88" name="Connector 87"/>
          <p:cNvCxnSpPr/>
          <p:nvPr/>
        </p:nvCxnSpPr>
        <p:spPr>
          <a:xfrm>
            <a:off x="7772400" y="3520440"/>
            <a:ext cx="3703320" cy="0"/>
          </a:xfrm>
          <a:prstGeom prst="line">
            <a:avLst/>
          </a:prstGeom>
          <a:ln w="2222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7772400" y="3447288"/>
            <a:ext cx="0" cy="146304"/>
          </a:xfrm>
          <a:prstGeom prst="line">
            <a:avLst/>
          </a:prstGeom>
          <a:ln w="1587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TextBox 89"/>
          <p:cNvSpPr txBox="1"/>
          <p:nvPr/>
        </p:nvSpPr>
        <p:spPr>
          <a:xfrm>
            <a:off x="7498079" y="3593592"/>
            <a:ext cx="548640" cy="2560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24418C"/>
                </a:solidFill>
                <a:latin typeface="PT Sans"/>
              </a:rPr>
              <a:t>0</a:t>
            </a:r>
          </a:p>
        </p:txBody>
      </p:sp>
      <p:cxnSp>
        <p:nvCxnSpPr>
          <p:cNvPr id="91" name="Connector 90"/>
          <p:cNvCxnSpPr/>
          <p:nvPr/>
        </p:nvCxnSpPr>
        <p:spPr>
          <a:xfrm>
            <a:off x="8389620" y="3447288"/>
            <a:ext cx="0" cy="146304"/>
          </a:xfrm>
          <a:prstGeom prst="line">
            <a:avLst/>
          </a:prstGeom>
          <a:ln w="1587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TextBox 91"/>
          <p:cNvSpPr txBox="1"/>
          <p:nvPr/>
        </p:nvSpPr>
        <p:spPr>
          <a:xfrm>
            <a:off x="8115300" y="3593592"/>
            <a:ext cx="548640" cy="2560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24418C"/>
                </a:solidFill>
                <a:latin typeface="PT Sans"/>
              </a:rPr>
              <a:t>1</a:t>
            </a:r>
          </a:p>
        </p:txBody>
      </p:sp>
      <p:cxnSp>
        <p:nvCxnSpPr>
          <p:cNvPr id="93" name="Connector 92"/>
          <p:cNvCxnSpPr/>
          <p:nvPr/>
        </p:nvCxnSpPr>
        <p:spPr>
          <a:xfrm>
            <a:off x="9006840" y="3447288"/>
            <a:ext cx="0" cy="146304"/>
          </a:xfrm>
          <a:prstGeom prst="line">
            <a:avLst/>
          </a:prstGeom>
          <a:ln w="1587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TextBox 93"/>
          <p:cNvSpPr txBox="1"/>
          <p:nvPr/>
        </p:nvSpPr>
        <p:spPr>
          <a:xfrm>
            <a:off x="8732519" y="3593592"/>
            <a:ext cx="548640" cy="2560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24418C"/>
                </a:solidFill>
                <a:latin typeface="PT Sans"/>
              </a:rPr>
              <a:t>2</a:t>
            </a:r>
          </a:p>
        </p:txBody>
      </p:sp>
      <p:cxnSp>
        <p:nvCxnSpPr>
          <p:cNvPr id="95" name="Connector 94"/>
          <p:cNvCxnSpPr/>
          <p:nvPr/>
        </p:nvCxnSpPr>
        <p:spPr>
          <a:xfrm>
            <a:off x="9624060" y="3447288"/>
            <a:ext cx="0" cy="146304"/>
          </a:xfrm>
          <a:prstGeom prst="line">
            <a:avLst/>
          </a:prstGeom>
          <a:ln w="1587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TextBox 95"/>
          <p:cNvSpPr txBox="1"/>
          <p:nvPr/>
        </p:nvSpPr>
        <p:spPr>
          <a:xfrm>
            <a:off x="9349740" y="3593592"/>
            <a:ext cx="548640" cy="2560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24418C"/>
                </a:solidFill>
                <a:latin typeface="PT Sans"/>
              </a:rPr>
              <a:t>3</a:t>
            </a:r>
          </a:p>
        </p:txBody>
      </p:sp>
      <p:cxnSp>
        <p:nvCxnSpPr>
          <p:cNvPr id="97" name="Connector 96"/>
          <p:cNvCxnSpPr/>
          <p:nvPr/>
        </p:nvCxnSpPr>
        <p:spPr>
          <a:xfrm>
            <a:off x="10241280" y="3447288"/>
            <a:ext cx="0" cy="146304"/>
          </a:xfrm>
          <a:prstGeom prst="line">
            <a:avLst/>
          </a:prstGeom>
          <a:ln w="1587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TextBox 97"/>
          <p:cNvSpPr txBox="1"/>
          <p:nvPr/>
        </p:nvSpPr>
        <p:spPr>
          <a:xfrm>
            <a:off x="9966960" y="3593592"/>
            <a:ext cx="548640" cy="2560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24418C"/>
                </a:solidFill>
                <a:latin typeface="PT Sans"/>
              </a:rPr>
              <a:t>4</a:t>
            </a:r>
          </a:p>
        </p:txBody>
      </p:sp>
      <p:cxnSp>
        <p:nvCxnSpPr>
          <p:cNvPr id="99" name="Connector 98"/>
          <p:cNvCxnSpPr/>
          <p:nvPr/>
        </p:nvCxnSpPr>
        <p:spPr>
          <a:xfrm>
            <a:off x="10858500" y="3447288"/>
            <a:ext cx="0" cy="146304"/>
          </a:xfrm>
          <a:prstGeom prst="line">
            <a:avLst/>
          </a:prstGeom>
          <a:ln w="1587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TextBox 99"/>
          <p:cNvSpPr txBox="1"/>
          <p:nvPr/>
        </p:nvSpPr>
        <p:spPr>
          <a:xfrm>
            <a:off x="10584180" y="3593592"/>
            <a:ext cx="548640" cy="2560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24418C"/>
                </a:solidFill>
                <a:latin typeface="PT Sans"/>
              </a:rPr>
              <a:t>5</a:t>
            </a:r>
          </a:p>
        </p:txBody>
      </p:sp>
      <p:cxnSp>
        <p:nvCxnSpPr>
          <p:cNvPr id="101" name="Connector 100"/>
          <p:cNvCxnSpPr/>
          <p:nvPr/>
        </p:nvCxnSpPr>
        <p:spPr>
          <a:xfrm>
            <a:off x="11475720" y="3447288"/>
            <a:ext cx="0" cy="146304"/>
          </a:xfrm>
          <a:prstGeom prst="line">
            <a:avLst/>
          </a:prstGeom>
          <a:ln w="1587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TextBox 101"/>
          <p:cNvSpPr txBox="1"/>
          <p:nvPr/>
        </p:nvSpPr>
        <p:spPr>
          <a:xfrm>
            <a:off x="11201400" y="3593592"/>
            <a:ext cx="548640" cy="2560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24418C"/>
                </a:solidFill>
                <a:latin typeface="PT Sans"/>
              </a:rPr>
              <a:t>6</a:t>
            </a:r>
          </a:p>
        </p:txBody>
      </p:sp>
      <p:cxnSp>
        <p:nvCxnSpPr>
          <p:cNvPr id="103" name="Connector 102"/>
          <p:cNvCxnSpPr/>
          <p:nvPr/>
        </p:nvCxnSpPr>
        <p:spPr>
          <a:xfrm>
            <a:off x="8389620" y="2999232"/>
            <a:ext cx="0" cy="448056"/>
          </a:xfrm>
          <a:prstGeom prst="line">
            <a:avLst/>
          </a:prstGeom>
          <a:ln w="12700">
            <a:solidFill>
              <a:srgbClr val="4A5A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11475720" y="2999232"/>
            <a:ext cx="0" cy="448056"/>
          </a:xfrm>
          <a:prstGeom prst="line">
            <a:avLst/>
          </a:prstGeom>
          <a:ln w="12700">
            <a:solidFill>
              <a:srgbClr val="4A5A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Rounded Rectangle 104"/>
          <p:cNvSpPr/>
          <p:nvPr/>
        </p:nvSpPr>
        <p:spPr>
          <a:xfrm>
            <a:off x="6812280" y="4114800"/>
            <a:ext cx="493776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949440" y="4133087"/>
            <a:ext cx="4663440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F2430"/>
                </a:solidFill>
                <a:latin typeface="PT Sans"/>
              </a:rPr>
              <a:t>Поля: 1) Түшүн: масштаб, жол, ылдамдык.</a:t>
            </a:r>
          </a:p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F2430"/>
                </a:solidFill>
                <a:latin typeface="PT Sans"/>
              </a:rPr>
              <a:t>2) План: картада см → чыныгы км → саат.</a:t>
            </a:r>
          </a:p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24418C"/>
                </a:solidFill>
                <a:latin typeface="PT Sans"/>
              </a:rPr>
              <a:t>3) Чыгар: 12 см → 6 км; 6 ÷ 3 = 2 саат.</a:t>
            </a:r>
          </a:p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007A5A"/>
                </a:solidFill>
                <a:latin typeface="PT Sans"/>
              </a:rPr>
              <a:t>4) Текшер: 2 саатта 6 км жөө басса болобу? ✓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29768" y="562356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12 × 50 000 = 600 000 см = 6 км;  6 ÷ 3 = 2 саат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С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А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24418C"/>
                </a:solidFill>
                <a:latin typeface="PT Sans"/>
              </a:rPr>
              <a:t>3C · Байланыштыруу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А: эреже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Масштаб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13/26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371600"/>
            <a:ext cx="2626614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23035" y="1600200"/>
            <a:ext cx="640080" cy="64008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7" y="2377440"/>
            <a:ext cx="2443734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24418C"/>
                </a:solidFill>
                <a:latin typeface="PT Sans"/>
              </a:rPr>
              <a:t>1 : 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7" y="3063240"/>
            <a:ext cx="2443734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1F2430"/>
                </a:solidFill>
                <a:latin typeface="PT Sans"/>
              </a:rPr>
              <a:t>Масштаб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3566160"/>
            <a:ext cx="2352294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1 см = n см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056382" y="2880360"/>
            <a:ext cx="274320" cy="0"/>
          </a:xfrm>
          <a:prstGeom prst="line">
            <a:avLst/>
          </a:prstGeom>
          <a:ln w="317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330702" y="1371600"/>
            <a:ext cx="2626614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323969" y="1600200"/>
            <a:ext cx="640080" cy="64008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2142" y="2377440"/>
            <a:ext cx="2443734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24418C"/>
                </a:solidFill>
                <a:latin typeface="PT Sans"/>
              </a:rPr>
              <a:t>× 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2142" y="3063240"/>
            <a:ext cx="2443734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1F2430"/>
                </a:solidFill>
                <a:latin typeface="PT Sans"/>
              </a:rPr>
              <a:t>Карта → чыныгы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67862" y="3566160"/>
            <a:ext cx="2352294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4 см × 50 000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957316" y="2880360"/>
            <a:ext cx="274320" cy="0"/>
          </a:xfrm>
          <a:prstGeom prst="line">
            <a:avLst/>
          </a:prstGeom>
          <a:ln w="317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231636" y="1371600"/>
            <a:ext cx="2626614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224902" y="1600200"/>
            <a:ext cx="640080" cy="64008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23075" y="2377440"/>
            <a:ext cx="2443734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24418C"/>
                </a:solidFill>
                <a:latin typeface="PT Sans"/>
              </a:rPr>
              <a:t>÷ 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23075" y="3063240"/>
            <a:ext cx="2443734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1F2430"/>
                </a:solidFill>
                <a:latin typeface="PT Sans"/>
              </a:rPr>
              <a:t>Чыныгы → карта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68796" y="3566160"/>
            <a:ext cx="2352294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6 км → 12 см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858250" y="2880360"/>
            <a:ext cx="274320" cy="0"/>
          </a:xfrm>
          <a:prstGeom prst="line">
            <a:avLst/>
          </a:prstGeom>
          <a:ln w="317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132570" y="1371600"/>
            <a:ext cx="2626614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25837" y="1600200"/>
            <a:ext cx="640080" cy="64008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24010" y="2377440"/>
            <a:ext cx="2443734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24418C"/>
                </a:solidFill>
                <a:latin typeface="PT Sans"/>
              </a:rPr>
              <a:t>см → км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24010" y="3063240"/>
            <a:ext cx="2443734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1F2430"/>
                </a:solidFill>
                <a:latin typeface="PT Sans"/>
              </a:rPr>
              <a:t>Бирдик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69730" y="3566160"/>
            <a:ext cx="2352294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÷ 100 000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874519" y="4709160"/>
            <a:ext cx="8449056" cy="758952"/>
          </a:xfrm>
          <a:prstGeom prst="roundRect">
            <a:avLst>
              <a:gd name="adj" fmla="val 244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600" b="1">
                <a:solidFill>
                  <a:srgbClr val="A84400"/>
                </a:solidFill>
                <a:latin typeface="PT Sans"/>
              </a:rPr>
              <a:t>1 км = 1 000 м = 100 000 см;   1 м = 100 см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Мисал 1: мен көрсөтөм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Масштаб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14/26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Масштаб 1 : 25 000. Картада Кылдоо көлүнүн узундугу 8 см. Чыныгы узундугу канча км?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40280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8 × 25 000 = 200 000 см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2240280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× 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898648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= 2 000 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898648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÷ 100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557016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24418C"/>
                </a:solidFill>
                <a:latin typeface="PT Sans"/>
              </a:rPr>
              <a:t>= 2 км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3557016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÷ 1 000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" y="5596128"/>
            <a:ext cx="11329416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400" b="1" i="0">
                <a:solidFill>
                  <a:srgbClr val="1F2430"/>
                </a:solidFill>
                <a:latin typeface="PT Sans"/>
              </a:rPr>
              <a:t>Чыныгы узундугу = </a:t>
            </a:r>
            <a:r>
              <a:rPr sz="3400" b="1">
                <a:solidFill>
                  <a:srgbClr val="24418C"/>
                </a:solidFill>
                <a:latin typeface="PT Sans"/>
              </a:rPr>
              <a:t>2 км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Мисал 2: мен көрсөтөм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Масштаб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15/26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Аркыттан Жаңы-Базарга чейин 12 км. Масштабы 1 : 200 000 картада бул жол канча см болот?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40280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12 км = 1 200 000 см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2240280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км → см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898648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1 200 000 ÷ 200 000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898648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÷ 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557016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24418C"/>
                </a:solidFill>
                <a:latin typeface="PT Sans"/>
              </a:rPr>
              <a:t>= 6 см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" y="5596128"/>
            <a:ext cx="11329416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400" b="1" i="0">
                <a:solidFill>
                  <a:srgbClr val="1F2430"/>
                </a:solidFill>
                <a:latin typeface="PT Sans"/>
              </a:rPr>
              <a:t>Картада = </a:t>
            </a:r>
            <a:r>
              <a:rPr sz="3400" b="1">
                <a:solidFill>
                  <a:srgbClr val="24418C"/>
                </a:solidFill>
                <a:latin typeface="PT Sans"/>
              </a:rPr>
              <a:t>6 см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Оозеки ыкма: 1 см = ?, нөлдөр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Масштаб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16/26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3593592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12647" y="1444752"/>
            <a:ext cx="457200" cy="45720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2679192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Адегенде 1 см = 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194560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1 : 50 000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2761488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1 см = 50 000 см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3328415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= 500 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895344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= 0,5 км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4526280"/>
            <a:ext cx="3136392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Эки нөл сызсаң – метр, беш нөл сызсаң – км.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1280160"/>
            <a:ext cx="3593592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480560" y="1444752"/>
            <a:ext cx="457200" cy="45720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4920" y="1371600"/>
            <a:ext cx="2679192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Нөлдөрдү сыз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2194560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1 : 200 000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2761488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1 см = 2 км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3328415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7 см → 7 ×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3895344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= 14 км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4526280"/>
            <a:ext cx="3136392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200 000 см: беш нөлдү сызабыз → 2 км.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65592" y="1280160"/>
            <a:ext cx="3593592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348472" y="1444752"/>
            <a:ext cx="457200" cy="45720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42832" y="1371600"/>
            <a:ext cx="2679192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Эки сан огу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94192" y="2194560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2 см ↔ 1 км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94192" y="2761488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6 см ↔ 3 км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94192" y="3328415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12 см ↔ 6 км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94192" y="3895344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12 см = 6 км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94192" y="4526280"/>
            <a:ext cx="3136392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Картада эки эсе узун = чыныгы эки эсе алыс.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9768" y="5577840"/>
            <a:ext cx="11329416" cy="50292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222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700" b="1">
                <a:solidFill>
                  <a:srgbClr val="007A5A"/>
                </a:solidFill>
                <a:latin typeface="PT Sans"/>
              </a:rPr>
              <a:t>1 см = ? → × n же ÷ n → бирдикти өткөр → жоопту турмуш менен текшер.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007A5A"/>
                </a:solidFill>
                <a:latin typeface="PT Sans"/>
              </a:rPr>
              <a:t>3C · Сынчыл ой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Чечүүчү 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Масштаб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17/26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Масштаб 1 : 20 000. Картада 5 см. Чыныгы аралык канча метр?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" y="2286000"/>
            <a:ext cx="5550408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04088" y="2743200"/>
            <a:ext cx="594360" cy="59436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7048" y="2286000"/>
            <a:ext cx="429768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100 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08776" y="2286000"/>
            <a:ext cx="5550408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83096" y="2743200"/>
            <a:ext cx="594360" cy="59436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06056" y="2286000"/>
            <a:ext cx="429768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1 000 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4023360"/>
            <a:ext cx="5550408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4088" y="4480560"/>
            <a:ext cx="594360" cy="59436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7048" y="4023360"/>
            <a:ext cx="429768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100 000 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08776" y="4023360"/>
            <a:ext cx="5550408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83096" y="4480560"/>
            <a:ext cx="594360" cy="59436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06056" y="4023360"/>
            <a:ext cx="429768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4 000 м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007A5A"/>
                </a:solidFill>
                <a:latin typeface="PT Sans"/>
              </a:rPr>
              <a:t>3C · Сынчыл ой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Тилке машыгуусу: чий, анан эсепте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Масштаб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18/26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691640"/>
            <a:ext cx="3624072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828800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1755648"/>
            <a:ext cx="2892552" cy="1051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Масштаб 1 : 50 000: 1 см = 500 м, демек 2 см = 1 км. Картада булактан көлгө 4 см. Чыныгы аралык канча?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3429000"/>
            <a:ext cx="3075432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1">
                <a:solidFill>
                  <a:srgbClr val="6B7280"/>
                </a:solidFill>
                <a:latin typeface="PT Sans"/>
              </a:rPr>
              <a:t>Тилкени бул жерге чий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7" y="4572000"/>
            <a:ext cx="155448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Туюнтма: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167128" y="4956048"/>
            <a:ext cx="170383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12647" y="5257800"/>
            <a:ext cx="100584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Жообу: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618488" y="5641848"/>
            <a:ext cx="225247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282439" y="1691640"/>
            <a:ext cx="3624072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419600" y="1828800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76800" y="1755648"/>
            <a:ext cx="2892552" cy="1051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Масштаб 1 : 200 000, демек 1 см = 2 км. Көлдүн узундугу 8 км. Картада канча см болот?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56759" y="3429000"/>
            <a:ext cx="3075432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1">
                <a:solidFill>
                  <a:srgbClr val="6B7280"/>
                </a:solidFill>
                <a:latin typeface="PT Sans"/>
              </a:rPr>
              <a:t>Тилкени бул жерге чий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65320" y="4572000"/>
            <a:ext cx="155448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Туюнтма: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19800" y="4956048"/>
            <a:ext cx="1703831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465320" y="5257800"/>
            <a:ext cx="100584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Жообу: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471159" y="5641848"/>
            <a:ext cx="225247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135112" y="1691640"/>
            <a:ext cx="3624072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72272" y="1828800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29472" y="1755648"/>
            <a:ext cx="2892552" cy="1051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Аркыттан көлгө А картада (1 : 50 000) 12 см. Б картада (1 : 100 000) канча см болот? Тилкеде: чыныгы, А, Б.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09432" y="3429000"/>
            <a:ext cx="3075432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1">
                <a:solidFill>
                  <a:srgbClr val="6B7280"/>
                </a:solidFill>
                <a:latin typeface="PT Sans"/>
              </a:rPr>
              <a:t>Тилкени бул жерге чий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17991" y="4572000"/>
            <a:ext cx="155448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Туюнтма: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872471" y="4956048"/>
            <a:ext cx="1703833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317991" y="5257800"/>
            <a:ext cx="100584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Жообу: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323831" y="5641848"/>
            <a:ext cx="2252473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С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Тилке машыгуусу: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Масштаб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19/26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3624072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417319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1344168"/>
            <a:ext cx="2892552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Масштаб 1 : 50 000: 1 см = 500 м, демек 2 см = 1 км. Картада булактан көлгө 4 см. Чыныгы аралык канча?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3017520"/>
            <a:ext cx="1171956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1 км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38884" y="3017520"/>
            <a:ext cx="1171956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1 км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574389"/>
            <a:ext cx="1171956" cy="384048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2 см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738884" y="3574389"/>
            <a:ext cx="1171956" cy="384048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2 см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002280" y="301752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139440" y="3017520"/>
            <a:ext cx="0" cy="384048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002280" y="3401568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185160" y="2935224"/>
            <a:ext cx="1005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A84400"/>
                </a:solidFill>
                <a:latin typeface="PT Sans"/>
              </a:rPr>
              <a:t>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7" y="5120640"/>
            <a:ext cx="3258312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24418C"/>
                </a:solidFill>
                <a:latin typeface="PT Sans"/>
              </a:rPr>
              <a:t>4 × 50 000 = 200 000 см = 2 км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82439" y="1280160"/>
            <a:ext cx="3624072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419600" y="1417319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76800" y="1344168"/>
            <a:ext cx="2892552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Масштаб 1 : 200 000, демек 1 см = 2 км. Көлдүн узундугу 8 км. Картада канча см болот?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19600" y="3017520"/>
            <a:ext cx="585978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2 км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05578" y="3017520"/>
            <a:ext cx="585978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2 км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591555" y="3017520"/>
            <a:ext cx="585978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2 км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77533" y="3017520"/>
            <a:ext cx="585978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2 км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19600" y="3574389"/>
            <a:ext cx="585978" cy="384048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1 см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5578" y="3574389"/>
            <a:ext cx="585978" cy="384048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1 см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91555" y="3574389"/>
            <a:ext cx="585978" cy="384048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1 см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77533" y="3574389"/>
            <a:ext cx="585978" cy="384048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1 см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854951" y="3017520"/>
            <a:ext cx="137161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6992112" y="3017520"/>
            <a:ext cx="0" cy="384048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6854951" y="3401568"/>
            <a:ext cx="137161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7037832" y="2935224"/>
            <a:ext cx="1005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A84400"/>
                </a:solidFill>
                <a:latin typeface="PT Sans"/>
              </a:rPr>
              <a:t>8 км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65320" y="5120640"/>
            <a:ext cx="3258312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24418C"/>
                </a:solidFill>
                <a:latin typeface="PT Sans"/>
              </a:rPr>
              <a:t>8 ÷ 2 = 4 см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135112" y="1280160"/>
            <a:ext cx="3624072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272272" y="1417319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29472" y="1344168"/>
            <a:ext cx="2892552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Аркыттан көлгө А картада (1 : 50 000) 12 см. Б картада (1 : 100 000) канча см болот? Тилкеде: чыныгы, А, Б.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72272" y="3017520"/>
            <a:ext cx="781304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2 км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053576" y="3017520"/>
            <a:ext cx="781304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2 км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834880" y="3017520"/>
            <a:ext cx="781304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2 км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272272" y="3574389"/>
            <a:ext cx="781304" cy="384048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4 см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053576" y="3574389"/>
            <a:ext cx="781304" cy="384048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4 см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834880" y="3574389"/>
            <a:ext cx="781304" cy="384048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4 см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272272" y="4131259"/>
            <a:ext cx="781304" cy="384048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2 см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053576" y="4131259"/>
            <a:ext cx="781304" cy="384048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2 см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834880" y="4131259"/>
            <a:ext cx="781304" cy="384048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2 см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10707624" y="301752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0844784" y="3017520"/>
            <a:ext cx="0" cy="384048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0707624" y="3401568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10890503" y="2935224"/>
            <a:ext cx="1005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A84400"/>
                </a:solidFill>
                <a:latin typeface="PT Sans"/>
              </a:rPr>
              <a:t>6 км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17991" y="5120640"/>
            <a:ext cx="3258312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24418C"/>
                </a:solidFill>
                <a:latin typeface="PT Sans"/>
              </a:rPr>
              <a:t>6 км → Б картада 6 см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Өз алдынча иш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Масштаб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20/26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14300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Дептериңе чыгар. Кыйын болсо – жакшы! Мээң өсүп жатат.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" y="169164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12647" y="215036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7" y="169164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1 : 50 000, картада 7 см. Чыныгы канча км?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69164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91656" y="215036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86016" y="169164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1 : 200 000, картада 9 см. Чыныгы канча км?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" y="323088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12647" y="368960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7" y="323088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1 : 25 000, чыныгы 3 км. Картада канча см?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08776" y="323088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91656" y="368960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86016" y="323088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1 см = 4 км. Масштабды жаз.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8" y="477012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12647" y="522884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07007" y="477012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1 : 500, бакча 20 м × 15 м. Планда?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08776" y="477012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91656" y="522884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86016" y="477012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Картада 6 см = 1,2 км. Масштабды жаз.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Өз алдынча иш: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Масштаб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21/26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325880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581912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1325880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1 : 50 000, картада 7 см. Чыныгы канча км?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34804" y="1325880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3,5 км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325880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45936" y="1581912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94576" y="1325880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1 : 200 000, картада 9 см. Чыныгы канча км?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13812" y="1325880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18 км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2350008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2606040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2350008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1 : 25 000, чыныгы 3 км. Картада канча см?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34804" y="2350008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12 см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08776" y="2350008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45936" y="2606040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350008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1 см = 4 км. Масштабды жаз.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13812" y="2350008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1 : 400 000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" y="3374136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66928" y="3630168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" y="3374136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1 : 500, бакча 20 м × 15 м. Планда?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34804" y="3374136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4 см × 3 см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08776" y="3374136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345936" y="3630168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94576" y="3374136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Картада 6 см = 1,2 км. Масштабды жаз.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13812" y="3374136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1 : 20 000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Окуяга кайтабыз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Масштаб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22/26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Масштаб 1 : 50 000. Аркыттан Сары-Челекке чейинки жол картада 3 түз бөлүк: 4 см, 3 см жана 5 см. Топ саатына 3 км басат. Көлгө канча саатта жетебиз?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240280"/>
            <a:ext cx="137160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1F2430"/>
                </a:solidFill>
                <a:latin typeface="PT Sans"/>
              </a:rPr>
              <a:t>Картада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77440" y="2240280"/>
            <a:ext cx="2529839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4 см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07280" y="2240280"/>
            <a:ext cx="1897379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3 см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04660" y="2240280"/>
            <a:ext cx="3162299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5 см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035808"/>
            <a:ext cx="137160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1F2430"/>
                </a:solidFill>
                <a:latin typeface="PT Sans"/>
              </a:rPr>
              <a:t>Чыныгы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77440" y="3035808"/>
            <a:ext cx="2529839" cy="548640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2 км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07280" y="3035808"/>
            <a:ext cx="1897379" cy="548640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1,5 км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04660" y="3035808"/>
            <a:ext cx="3162299" cy="548640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2,5 км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0058399" y="224028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0195559" y="2240280"/>
            <a:ext cx="0" cy="54864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058399" y="278892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0241279" y="2240280"/>
            <a:ext cx="1005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A84400"/>
                </a:solidFill>
                <a:latin typeface="PT Sans"/>
              </a:rPr>
              <a:t>12 см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3922776"/>
            <a:ext cx="7498079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600" b="1" i="0">
                <a:solidFill>
                  <a:srgbClr val="1F2430"/>
                </a:solidFill>
                <a:latin typeface="PT Sans"/>
              </a:rPr>
              <a:t>12 × 50 000 = 600 000 см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3922776"/>
            <a:ext cx="310896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A84400"/>
                </a:solidFill>
                <a:latin typeface="PT Sans"/>
              </a:rPr>
              <a:t>4 + 3 + 5 = 12 см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489704"/>
            <a:ext cx="7498079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600" b="1" i="0">
                <a:solidFill>
                  <a:srgbClr val="24418C"/>
                </a:solidFill>
                <a:latin typeface="PT Sans"/>
              </a:rPr>
              <a:t>600 000 см = 6 км → 6 ÷ 3 = 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4489704"/>
            <a:ext cx="310896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A84400"/>
                </a:solidFill>
                <a:latin typeface="PT Sans"/>
              </a:rPr>
              <a:t>саат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874519" y="5486400"/>
            <a:ext cx="8449056" cy="640080"/>
          </a:xfrm>
          <a:prstGeom prst="roundRect">
            <a:avLst>
              <a:gd name="adj" fmla="val 244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A84400"/>
                </a:solidFill>
                <a:latin typeface="PT Sans"/>
              </a:rPr>
              <a:t>Чыныгы жол 6 км: 2 саатта Сары-Челекке жетебиз!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24418C"/>
                </a:solidFill>
                <a:latin typeface="PT Sans"/>
              </a:rPr>
              <a:t>3C · Байланыштыруу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Түз: өзүң маселе түз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Масштаб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23/26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4892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371600"/>
            <a:ext cx="10780776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Сары-Челек картасы боюнча маселе түз: масштаб жана бир аралык берилсин.</a:t>
            </a:r>
          </a:p>
        </p:txBody>
      </p:sp>
      <p:sp>
        <p:nvSpPr>
          <p:cNvPr id="12" name="Oval 11"/>
          <p:cNvSpPr/>
          <p:nvPr/>
        </p:nvSpPr>
        <p:spPr>
          <a:xfrm>
            <a:off x="704088" y="256032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542032"/>
            <a:ext cx="10049256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Окуядагы каармандарды колдон: Элдияр, Бегимай, Мирлан агай.</a:t>
            </a:r>
          </a:p>
        </p:txBody>
      </p:sp>
      <p:sp>
        <p:nvSpPr>
          <p:cNvPr id="14" name="Oval 13"/>
          <p:cNvSpPr/>
          <p:nvPr/>
        </p:nvSpPr>
        <p:spPr>
          <a:xfrm>
            <a:off x="704088" y="3383279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364991"/>
            <a:ext cx="10049256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Тилкесин чий жана туюнтмасын жаз.</a:t>
            </a:r>
          </a:p>
        </p:txBody>
      </p:sp>
      <p:sp>
        <p:nvSpPr>
          <p:cNvPr id="16" name="Oval 15"/>
          <p:cNvSpPr/>
          <p:nvPr/>
        </p:nvSpPr>
        <p:spPr>
          <a:xfrm>
            <a:off x="704088" y="420624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4187952"/>
            <a:ext cx="10049256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Жупуңа бер: ал чыгарсын, сен текшер.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3C · Кызматташуу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Чыгуу билети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Масштаб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24/26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14300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Өз алдынча, 3 мүнөт. Кагазыңа жазып бер.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" y="1691640"/>
            <a:ext cx="11329416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12647" y="215036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7" y="1691640"/>
            <a:ext cx="10415016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1 : 50 000, картада 6 см. Чыныгы аралык канча км?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" y="3230880"/>
            <a:ext cx="11329416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12647" y="368960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7007" y="3230880"/>
            <a:ext cx="10415016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1 : 200 000, чыныгы 10 км. Картада канча см?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" y="4770120"/>
            <a:ext cx="11329416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12647" y="522884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7" y="4770120"/>
            <a:ext cx="10415016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Картада 4 см = чыныгы 1 км. Масштабды 1 : n түрүндө жаз.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Оозеки талкуу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Масштаб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25/26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80160"/>
            <a:ext cx="10780776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Оозеки талкуу</a:t>
            </a:r>
          </a:p>
        </p:txBody>
      </p:sp>
      <p:sp>
        <p:nvSpPr>
          <p:cNvPr id="12" name="Oval 11"/>
          <p:cNvSpPr/>
          <p:nvPr/>
        </p:nvSpPr>
        <p:spPr>
          <a:xfrm>
            <a:off x="704088" y="192024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1901952"/>
            <a:ext cx="10049256" cy="6217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1 : 50 000 эмнени билдирет? Бирдиги кандай?</a:t>
            </a:r>
          </a:p>
        </p:txBody>
      </p:sp>
      <p:sp>
        <p:nvSpPr>
          <p:cNvPr id="14" name="Oval 13"/>
          <p:cNvSpPr/>
          <p:nvPr/>
        </p:nvSpPr>
        <p:spPr>
          <a:xfrm>
            <a:off x="704088" y="2542032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2523744"/>
            <a:ext cx="10049256" cy="6217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Качан × n, качан ÷ n? Кантип эстейсиң?</a:t>
            </a:r>
          </a:p>
        </p:txBody>
      </p:sp>
      <p:sp>
        <p:nvSpPr>
          <p:cNvPr id="16" name="Oval 15"/>
          <p:cNvSpPr/>
          <p:nvPr/>
        </p:nvSpPr>
        <p:spPr>
          <a:xfrm>
            <a:off x="704088" y="3163824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145536"/>
            <a:ext cx="10049256" cy="6217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1 : 10 000 же 1 : 1 000 000: кайсынысында айыл көрүнөт?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" y="461772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1">
                <a:solidFill>
                  <a:srgbClr val="6B7280"/>
                </a:solidFill>
                <a:latin typeface="PT Sans"/>
              </a:rPr>
              <a:t>Өзүңдү баала: колуңду көтөр.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8407" y="5120640"/>
            <a:ext cx="3291840" cy="73152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007A5A"/>
                </a:solidFill>
                <a:latin typeface="PT Sans"/>
              </a:rPr>
              <a:t>Түшүндүм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36008" y="5120640"/>
            <a:ext cx="3291840" cy="73152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A84400"/>
                </a:solidFill>
                <a:latin typeface="PT Sans"/>
              </a:rPr>
              <a:t>Дагы машыгам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93608" y="5120640"/>
            <a:ext cx="3291840" cy="73152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Жардам керек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Мугалим үчүн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Масштаб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26/26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5120640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280160"/>
            <a:ext cx="466344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Тилке моделин кантип үйрөтөбүз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1874519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19" y="1856231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Ар бир жупка 1 м жип, сызгыч жана чакмак дептер: класстын планы 1 : 100.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2898648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19" y="2880360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Ар бир маселеде: «Карта кичинеби, чыныгыбы? × n же ÷ n?» деп сурайм (М1).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" y="3922776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19" y="3904488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1 км = 1 000 м = 100 000 см тилкеси доскада сабак бою турат (М2).</a:t>
            </a:r>
          </a:p>
        </p:txBody>
      </p:sp>
      <p:sp>
        <p:nvSpPr>
          <p:cNvPr id="18" name="Oval 17"/>
          <p:cNvSpPr/>
          <p:nvPr/>
        </p:nvSpPr>
        <p:spPr>
          <a:xfrm>
            <a:off x="658368" y="4946904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19" y="4928616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Жоопту турмуш менен текшертем: «2 саатта 600 км басабызбы?» (М3).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79007" y="1225296"/>
            <a:ext cx="5980176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07607" y="1280160"/>
            <a:ext cx="548640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Ой жүгүртүү: эмне деп айтабыз?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07607" y="1783080"/>
            <a:ext cx="26517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6B7280"/>
                </a:solidFill>
                <a:latin typeface="PT Sans"/>
              </a:rPr>
              <a:t>Айтпайбыз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96528" y="1783080"/>
            <a:ext cx="29260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007A5A"/>
                </a:solidFill>
                <a:latin typeface="PT Sans"/>
              </a:rPr>
              <a:t>Айтабыз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07607" y="219456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«Бул оңой эмеспи?»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567928" y="2468879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796528" y="219456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«Кадамдарды бирге карайлы.»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07607" y="315468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«Туура эмес!»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567928" y="3429000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796528" y="315468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«Кантип таптың? Текшерип көрөлүчү.»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07607" y="411480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«Сен математикага жөндөмсүзсүң»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567928" y="4389120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796528" y="411480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«Азырынча. Машыксаң, үйрөнөсүң.»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07607" y="507492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«Тез чыгар»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567928" y="5349240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796528" y="507492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«Шашпа, адегенде тилке чий.»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