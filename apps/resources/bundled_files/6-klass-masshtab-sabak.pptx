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Адегенде болжолдошсун: 12 см – бул 1 саатчы жолбу, бир күнчүбү? Карта ойдон чыгарылган (шарттуу), аралыктары сабак үчүн тандалган.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Бегимай: масштаб – катыш, эки сан тең бир бирдикте (см). 100 000 см = 1 км. Элдияр см ордуна м алды (М3): 100 км жолду жөө бир күндө басып өтө албайбыз.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1 м жип (ар 10 см сайын түйүн же кийим кыскыч), сызгыч, чакмак дептер. 1) Класстын узундугун жип менен өлчөшөт (мисалы 8 м), туурасын (6 м). 2) Масштаб 1 : 100: 1 м = 100 см → 1 см, ошондуктан 8 м → 8 см, 6 м → 6 см (чакмак дептерде 16 жана 12 чакмак). 3) Мугалимдин үстөлүн, эшикти, партаны да планга түшүрүшөт (парта 1 м → 1 см). 4) «Эгер масштаб 1 : 200 болсочу?» – план эки эсе кичине: 4 см × 3 см. Класстын чыныгы өлчөмдөрү башка болсо, ошолорду колдоном. Проектор жок болсо, доскага чакмак сетка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Картаны доскага чакмак сетка менен чийем (же ушул слайдды көрсөтөм). Карта ойдон чыгарылган: 1 чакмак = 1 см. Окуучулар жолду чакмак менен санашат: 4 + 3 + 5 = 12. Анан эки сан огу: үстүндө «картада, см», астында «чыныгы, км»; 2 см ↔ 1 км, 12 см ↔ 6 км. Полянын 4 кадамы: түшүн, план түз, чыгар, текшер. Масштаб тилкеси: 1 чакмак = 500 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Масштаб – катыш: картадагы узундуктун чыныгы узундукка катышы. Эки сан тең бир бирдикте: 1 : 50 000 = 1 см : 50 000 см. Карта кичине, ошондуктан картадан чыныгыга көбөйтөбүз, чыныгыдан картага бөлөбүз. Ката коддору: М1 (× ордуна ÷), М2 (см → км), М3 (1 : 50 000 = 1 см : 50 000 м деп окуу).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«адегенде 1 см канча экенин табам». «Оозеки беш мүнөт» (класста колдонуу картасы)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М2; Б = ✓; В = М3; Г = М1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картадан → чыныгы → чыныгыдан → картага → эки карта. Жооптор: 4 × 50 000 = 200 000 см = 2 км; 8 ÷ 2 = 4 см; 6 км → Б картада 6 см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Картада 4 + 3 + 5 = 12 см. 1 см = 50 000 см = 500 м, ошондуктан 12 см = 6 000 м = 6 км. 6 ÷ 3 = 2 саат. «12 × 50 000 = 600 000 м» деп алса (М3), 600 км чыгат: бул Бишкектен Ошко чейинкидей, жөө 2 саатта болбойт. 600 000 см ÷ 1 000 = 600 км (М2) да ушундай текшерилет.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3 км; 5 см; 1 : 25 000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Масштаб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Сары-Челекке саякат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Мирлан агай, Элдияр жана Бегимай Аркыт айылынан Сары-Челек көлүнө жөө жолду карта менен пландашат.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6-класс: катыш жана пропорция, масштаб (улуттук B). Мазмуну оригиналдуу; карта ойдон чыгарылган (шарттуу), аралыктары сабак үчүн тандалган.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Сары-Челекке саякат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Туристтик ийрим Жалал-Абад облусундагы Сары-Челек коругуна барды.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Жетекчи – Мирлан агай. Элдияр менен Бегимай картаны жана сызгычты алып жүрөт.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Аркыт айылынан көлгө жөө барабыз. Жолду адегенде карта боюнча пландайбыз.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Картанын бурчунда жазылган: «Масштаб 1 : 50 000». Бул эмнени билдирет?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Масштаб 1 : 50 000. Аркыттан Сары-Челекке чейинки жол картада 3 түз бөлүк: 4 см, 3 см жана 5 см. Топ саатына 3 км басат. Көлгө канча саатта жетебиз?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Масштаб 1 : n эмнени билдирерин түшүндүрөм: картада 1 см = чыныгы n см.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Картадагы аралыктан чыныгысын (× n), чыныгыдан картадагысын (÷ n) табам жана бирдикти өткөрөм.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Масштабды табам, чакмак дептерде масштабдык план чийем жана барак үчүн масштаб тандайм.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1 : n, 1 см =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Картадан ↔ чыныгы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Масштаб табуу, план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100 км же 1 км?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план чийүү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сорттоо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Сары-Челек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Карта жана жол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Узундук бирдиктери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Ондук бөлчөктөр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6-класс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Катыш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 бөлүктү табуу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Масштаб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Карта жана план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Пропорционалдуулук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Окшош фигуралар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 м = □ см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 км = □ 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 км = □ см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× 50 000 =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м = □ 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км = □ 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км = □ см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100 000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× 50 000 = 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200 000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Мирлан агай: «Картанын масштабы 1 : 100 000. Картада 1 см чыныгы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Элдияр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 : 100 000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 см = 100 000 м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100 км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Бегимай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 : 100 000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1 см = 100 000 см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 км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Бирдиктер бирдейби?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класстын узундугун жана туурасын жип (1 м) менен өлчөп, чакмак дептерге 1 : 100 масштабда план чийгиле: 1 м → 1 см.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93392"/>
            <a:ext cx="59436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Класстын планы, 1 : 100 (1 чакмак = 5 мм)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2062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21792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22960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24128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225296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42646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27632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828800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29968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231136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43230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633472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834640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3035808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3236976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3814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639312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3840480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41648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242816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443984" y="2331720"/>
            <a:ext cx="0" cy="2615184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20624" y="233172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420624" y="2532888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20624" y="2734056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20624" y="2935224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420624" y="3136391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20624" y="333756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20624" y="3538728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420624" y="3739896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0624" y="3941063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20624" y="4142231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0624" y="4343400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20624" y="4544568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20624" y="4745736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20624" y="4946904"/>
            <a:ext cx="4023360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2960" y="2432303"/>
            <a:ext cx="3218688" cy="2414016"/>
          </a:xfrm>
          <a:prstGeom prst="rect">
            <a:avLst/>
          </a:prstGeom>
          <a:noFill/>
          <a:ln w="285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9" name="Connector 48"/>
          <p:cNvCxnSpPr/>
          <p:nvPr/>
        </p:nvCxnSpPr>
        <p:spPr>
          <a:xfrm>
            <a:off x="4041648" y="4041648"/>
            <a:ext cx="0" cy="402335"/>
          </a:xfrm>
          <a:prstGeom prst="line">
            <a:avLst/>
          </a:prstGeom>
          <a:ln w="5080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4059935" y="4021531"/>
            <a:ext cx="6400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4A5A70"/>
                </a:solidFill>
                <a:latin typeface="PT Sans"/>
              </a:rPr>
              <a:t>эшик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029968" y="2633472"/>
            <a:ext cx="804672" cy="201168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225296" y="323697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31136" y="323697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236976" y="323697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225296" y="373989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31136" y="373989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36976" y="373989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25296" y="424281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31136" y="424281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236976" y="4242816"/>
            <a:ext cx="402336" cy="201168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22960" y="4992624"/>
            <a:ext cx="3218688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8 м → 8 см (16 чакмак)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498848" y="3136391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6 м →</a:t>
            </a:r>
          </a:p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6 см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074920" y="4800600"/>
            <a:ext cx="182880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503377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21665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539953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558241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576529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594817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13105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31393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9681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7969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6862572" y="4759452"/>
            <a:ext cx="82296" cy="82296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983480" y="4873752"/>
            <a:ext cx="210312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4A5A70"/>
                </a:solidFill>
                <a:latin typeface="PT Sans"/>
              </a:rPr>
              <a:t>жип: 1 м, ар 10 см – түйүн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83480" y="3886200"/>
            <a:ext cx="21945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07A5A"/>
                </a:solidFill>
                <a:latin typeface="PT Sans"/>
              </a:rPr>
              <a:t>Парта: 1 м → 1 см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Үстөл: 2 м → 2 см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7315200" y="2194560"/>
            <a:ext cx="4434840" cy="3566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98079" y="2286000"/>
            <a:ext cx="4114800" cy="3383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1 м жип (түйүн же кыскыч менен)</a:t>
            </a:r>
          </a:p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F2430"/>
                </a:solidFill>
                <a:latin typeface="PT Sans"/>
              </a:rPr>
              <a:t>• сызгыч жана чакмак дептер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900" b="1" i="0">
                <a:solidFill>
                  <a:srgbClr val="007A5A"/>
                </a:solidFill>
                <a:latin typeface="PT Sans"/>
              </a:rPr>
              <a:t>1 : 100 = 1 см : 100 см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2000" b="1" i="0">
                <a:solidFill>
                  <a:srgbClr val="24418C"/>
                </a:solidFill>
                <a:latin typeface="PT Sans"/>
              </a:rPr>
              <a:t>1 см планда = 1 м класста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900" b="1" i="0">
                <a:solidFill>
                  <a:srgbClr val="A84400"/>
                </a:solidFill>
                <a:latin typeface="PT Sans"/>
              </a:rPr>
              <a:t>1 : 200 болсо: 4 см × 3 см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карта жана эки сан огу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Масштаб 1 : 50 000. Аркыттан Сары-Челекке жол: 4 см + 3 см + 5 см. Чыныгы жол канча км? Саатына 3 км: канча саат?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2240280"/>
            <a:ext cx="5559552" cy="2779776"/>
          </a:xfrm>
          <a:prstGeom prst="rect">
            <a:avLst/>
          </a:prstGeom>
          <a:solidFill>
            <a:srgbClr val="FFFFFF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685800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33271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380744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728216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075688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423160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2770632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118104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465576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813048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160520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4507992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55464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5202936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550408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5897880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245352" y="2240280"/>
            <a:ext cx="0" cy="2779776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800" y="2240280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85800" y="2587752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85800" y="2935224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85800" y="3282696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85800" y="3630168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5800" y="3977639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685800" y="4325112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85800" y="4672584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85800" y="5020056"/>
            <a:ext cx="5559552" cy="0"/>
          </a:xfrm>
          <a:prstGeom prst="line">
            <a:avLst/>
          </a:prstGeom>
          <a:ln w="9525">
            <a:solidFill>
              <a:srgbClr val="C9D3E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Oval 38"/>
          <p:cNvSpPr/>
          <p:nvPr/>
        </p:nvSpPr>
        <p:spPr>
          <a:xfrm>
            <a:off x="4160520" y="2587752"/>
            <a:ext cx="1494129" cy="1250899"/>
          </a:xfrm>
          <a:prstGeom prst="ellipse">
            <a:avLst/>
          </a:prstGeom>
          <a:solidFill>
            <a:srgbClr val="CFE3F2"/>
          </a:solidFill>
          <a:ln w="190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30014" y="2900476"/>
            <a:ext cx="13551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90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Сары-Челек</a:t>
            </a:r>
          </a:p>
          <a:p>
            <a:pPr algn="ctr">
              <a:lnSpc>
                <a:spcPct val="90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көлү</a:t>
            </a:r>
          </a:p>
        </p:txBody>
      </p:sp>
      <p:sp>
        <p:nvSpPr>
          <p:cNvPr id="41" name="Oval 40"/>
          <p:cNvSpPr/>
          <p:nvPr/>
        </p:nvSpPr>
        <p:spPr>
          <a:xfrm>
            <a:off x="1102766" y="2448763"/>
            <a:ext cx="764438" cy="451713"/>
          </a:xfrm>
          <a:prstGeom prst="ellipse">
            <a:avLst/>
          </a:prstGeom>
          <a:solidFill>
            <a:srgbClr val="CFE3F2"/>
          </a:solidFill>
          <a:ln w="127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3777" y="2935224"/>
            <a:ext cx="111191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24418C"/>
                </a:solidFill>
                <a:latin typeface="PT Sans"/>
              </a:rPr>
              <a:t>Ийри-Көл</a:t>
            </a:r>
          </a:p>
        </p:txBody>
      </p:sp>
      <p:sp>
        <p:nvSpPr>
          <p:cNvPr id="43" name="Isosceles Triangle 42"/>
          <p:cNvSpPr/>
          <p:nvPr/>
        </p:nvSpPr>
        <p:spPr>
          <a:xfrm>
            <a:off x="2909620" y="2414016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Isosceles Triangle 43"/>
          <p:cNvSpPr/>
          <p:nvPr/>
        </p:nvSpPr>
        <p:spPr>
          <a:xfrm>
            <a:off x="3326587" y="2657246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Isosceles Triangle 44"/>
          <p:cNvSpPr/>
          <p:nvPr/>
        </p:nvSpPr>
        <p:spPr>
          <a:xfrm>
            <a:off x="4855464" y="4081881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Isosceles Triangle 45"/>
          <p:cNvSpPr/>
          <p:nvPr/>
        </p:nvSpPr>
        <p:spPr>
          <a:xfrm>
            <a:off x="5272430" y="4325112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Isosceles Triangle 46"/>
          <p:cNvSpPr/>
          <p:nvPr/>
        </p:nvSpPr>
        <p:spPr>
          <a:xfrm>
            <a:off x="3222345" y="3769156"/>
            <a:ext cx="457200" cy="347472"/>
          </a:xfrm>
          <a:prstGeom prst="triangle">
            <a:avLst/>
          </a:prstGeom>
          <a:solidFill>
            <a:srgbClr val="C9BFA8"/>
          </a:solidFill>
          <a:ln w="9525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8" name="Connector 47"/>
          <p:cNvCxnSpPr/>
          <p:nvPr/>
        </p:nvCxnSpPr>
        <p:spPr>
          <a:xfrm>
            <a:off x="1033271" y="4325112"/>
            <a:ext cx="1389889" cy="0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423160" y="3282696"/>
            <a:ext cx="0" cy="1042416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423160" y="3282696"/>
            <a:ext cx="1737360" cy="0"/>
          </a:xfrm>
          <a:prstGeom prst="line">
            <a:avLst/>
          </a:prstGeom>
          <a:ln w="508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1484985" y="4359859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4 см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475280" y="3699662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3 см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48609" y="3004718"/>
            <a:ext cx="914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5 см</a:t>
            </a:r>
          </a:p>
        </p:txBody>
      </p:sp>
      <p:sp>
        <p:nvSpPr>
          <p:cNvPr id="54" name="Oval 53"/>
          <p:cNvSpPr/>
          <p:nvPr/>
        </p:nvSpPr>
        <p:spPr>
          <a:xfrm>
            <a:off x="941831" y="4233672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7471" y="4434840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Аркыт</a:t>
            </a:r>
          </a:p>
        </p:txBody>
      </p:sp>
      <p:sp>
        <p:nvSpPr>
          <p:cNvPr id="56" name="Oval 55"/>
          <p:cNvSpPr/>
          <p:nvPr/>
        </p:nvSpPr>
        <p:spPr>
          <a:xfrm>
            <a:off x="2331720" y="3191256"/>
            <a:ext cx="182880" cy="1828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737360" y="2898648"/>
            <a:ext cx="1371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1D3557"/>
                </a:solidFill>
                <a:latin typeface="PT Sans"/>
              </a:rPr>
              <a:t>Кордон</a:t>
            </a:r>
          </a:p>
        </p:txBody>
      </p:sp>
      <p:sp>
        <p:nvSpPr>
          <p:cNvPr id="58" name="Oval 57"/>
          <p:cNvSpPr/>
          <p:nvPr/>
        </p:nvSpPr>
        <p:spPr>
          <a:xfrm>
            <a:off x="4069080" y="3191256"/>
            <a:ext cx="182880" cy="182880"/>
          </a:xfrm>
          <a:prstGeom prst="ellipse">
            <a:avLst/>
          </a:prstGeom>
          <a:solidFill>
            <a:srgbClr val="A8440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0547" y="2257653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4A5A70"/>
                </a:solidFill>
                <a:latin typeface="PT Sans"/>
              </a:rPr>
              <a:t>Т ↑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5111496"/>
            <a:ext cx="155448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1D3557"/>
                </a:solidFill>
                <a:latin typeface="PT Sans"/>
              </a:rPr>
              <a:t>1 : 50 000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0" y="5184648"/>
            <a:ext cx="347472" cy="91440"/>
          </a:xfrm>
          <a:prstGeom prst="rect">
            <a:avLst/>
          </a:prstGeom>
          <a:solidFill>
            <a:srgbClr val="1D3557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2633472" y="5184648"/>
            <a:ext cx="347472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80944" y="5184648"/>
            <a:ext cx="347472" cy="91440"/>
          </a:xfrm>
          <a:prstGeom prst="rect">
            <a:avLst/>
          </a:prstGeom>
          <a:solidFill>
            <a:srgbClr val="1D3557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328416" y="5184648"/>
            <a:ext cx="347472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965960" y="5276088"/>
            <a:ext cx="6400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1F2430"/>
                </a:solidFill>
                <a:latin typeface="PT Sans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660903" y="5276088"/>
            <a:ext cx="6400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1F2430"/>
                </a:solidFill>
                <a:latin typeface="PT Sans"/>
              </a:rPr>
              <a:t>1 км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355847" y="5276088"/>
            <a:ext cx="64008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000" b="0" i="0">
                <a:solidFill>
                  <a:srgbClr val="1F2430"/>
                </a:solidFill>
                <a:latin typeface="PT Sans"/>
              </a:rPr>
              <a:t>2 км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041648" y="5074920"/>
            <a:ext cx="26517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1" i="0">
                <a:solidFill>
                  <a:srgbClr val="1D3557"/>
                </a:solidFill>
                <a:latin typeface="PT Sans"/>
              </a:rPr>
              <a:t>1 чакмак = 1 см → 500 м</a:t>
            </a:r>
          </a:p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6B7280"/>
                </a:solidFill>
                <a:latin typeface="PT Sans"/>
              </a:rPr>
              <a:t>  (шарттуу карта)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812280" y="2194560"/>
            <a:ext cx="49377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949440" y="2240280"/>
            <a:ext cx="466344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1D3557"/>
                </a:solidFill>
                <a:latin typeface="PT Sans"/>
              </a:rPr>
              <a:t>Эки сан огу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03720" y="27432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A84400"/>
                </a:solidFill>
                <a:latin typeface="PT Sans"/>
              </a:rPr>
              <a:t>см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7772400" y="2926080"/>
            <a:ext cx="370332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777240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7498079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0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38962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11530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2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900684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8732519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4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962406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34974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6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1024128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96696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8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1085850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1058418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A84400"/>
                </a:solidFill>
                <a:latin typeface="PT Sans"/>
              </a:rPr>
              <a:t>10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11475720" y="285292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11201400" y="2596896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903720" y="333756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км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7772400" y="3520440"/>
            <a:ext cx="3703320" cy="0"/>
          </a:xfrm>
          <a:prstGeom prst="line">
            <a:avLst/>
          </a:prstGeom>
          <a:ln w="2222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Connector 88"/>
          <p:cNvCxnSpPr/>
          <p:nvPr/>
        </p:nvCxnSpPr>
        <p:spPr>
          <a:xfrm>
            <a:off x="777240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7498079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0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838962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2" name="TextBox 91"/>
          <p:cNvSpPr txBox="1"/>
          <p:nvPr/>
        </p:nvSpPr>
        <p:spPr>
          <a:xfrm>
            <a:off x="811530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1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900684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TextBox 93"/>
          <p:cNvSpPr txBox="1"/>
          <p:nvPr/>
        </p:nvSpPr>
        <p:spPr>
          <a:xfrm>
            <a:off x="8732519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2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962406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934974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1024128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996696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085850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1058418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0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11475720" y="3447288"/>
            <a:ext cx="0" cy="146304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/>
          <p:cNvSpPr txBox="1"/>
          <p:nvPr/>
        </p:nvSpPr>
        <p:spPr>
          <a:xfrm>
            <a:off x="11201400" y="3593592"/>
            <a:ext cx="548640" cy="25603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389620" y="2999232"/>
            <a:ext cx="0" cy="448056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 103"/>
          <p:cNvCxnSpPr/>
          <p:nvPr/>
        </p:nvCxnSpPr>
        <p:spPr>
          <a:xfrm>
            <a:off x="11475720" y="2999232"/>
            <a:ext cx="0" cy="448056"/>
          </a:xfrm>
          <a:prstGeom prst="line">
            <a:avLst/>
          </a:prstGeom>
          <a:ln w="12700">
            <a:solidFill>
              <a:srgbClr val="4A5A7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6812280" y="4114800"/>
            <a:ext cx="4937760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949440" y="4133087"/>
            <a:ext cx="46634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Поля: 1) Түшүн: масштаб, жол, ылдамдык.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1F2430"/>
                </a:solidFill>
                <a:latin typeface="PT Sans"/>
              </a:rPr>
              <a:t>2) План: картада см → чыныгы км → саат.</a:t>
            </a:r>
          </a:p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3) Чыгар: 12 см → 6 км; 6 ÷ 3 = 2 саат.</a:t>
            </a:r>
          </a:p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007A5A"/>
                </a:solidFill>
                <a:latin typeface="PT Sans"/>
              </a:rPr>
              <a:t>4) Текшер: 2 саатта 6 км жөө басса болобу? ✓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12 × 50 000 = 600 000 см = 6 км;  6 ÷ 3 = 2 саат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 : 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Масштаб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 см = n см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× 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Карта → чыныгы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4 см × 50 000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Чыныгы → карта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6 км → 12 см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см → км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Бирдик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÷ 100 000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1 км = 1 000 м = 100 000 см;   1 м = 100 см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Масштаб 1 : 25 000. Картада Кылдоо көлүнүн узундугу 8 см. Чыныгы узундугу канча км?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× 25 000 = 200 000 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× 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2 000 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100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2 км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1 000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Чыныгы узундугу = </a:t>
            </a:r>
            <a:r>
              <a:rPr sz="3400" b="1">
                <a:solidFill>
                  <a:srgbClr val="24418C"/>
                </a:solidFill>
                <a:latin typeface="PT Sans"/>
              </a:rPr>
              <a:t>2 км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Аркыттан Жаңы-Базарга чейин 12 км. Масштабы 1 : 200 000 картада бул жол канча см болот?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 км = 1 200 000 см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км → см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1 200 000 ÷ 200 000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÷ 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6 см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Картада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6 см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1 см = ?, нөлдөр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Адегенде 1 см =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50 000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см = 50 000 см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500 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0,5 км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Эки нөл сызсаң – метр, беш нөл сызсаң – км.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Нөлдөрдү сыз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200 000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см = 2 км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 см → 7 ×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14 км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200 000 см: беш нөлдү сызабыз → 2 км.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Эки сан огу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 см ↔ 1 км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6 см ↔ 3 км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12 см ↔ 6 км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12 см = 6 км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Картада эки эсе узун = чыныгы эки эсе алыс.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1 см = ? → × n же ÷ n → бирдикти өткөр → жоопту турмуш менен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Масштаб 1 : 20 000. Картада 5 см. Чыныгы аралык канча метр?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100 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1 000 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100 000 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4 000 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Масштаб 1 : 50 000: 1 см = 500 м, демек 2 см = 1 км. Картада булактан көлгө 4 см. Чыныгы аралык канча?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Масштаб 1 : 200 000, демек 1 см = 2 км. Көлдүн узундугу 8 км. Картада канча см болот?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Аркыттан көлгө А картада (1 : 50 000) 12 см. Б картада (1 : 100 000) канча см болот? Тилкеде: чыныгы, А, Б.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Масштаб 1 : 50 000: 1 см = 500 м, демек 2 см = 1 км. Картада булактан көлгө 4 см. Чыныгы аралык канча?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км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38884" y="3017520"/>
            <a:ext cx="117195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км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574389"/>
            <a:ext cx="117195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8884" y="3574389"/>
            <a:ext cx="1171956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 × 50 000 = 200 000 см = 2 км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Масштаб 1 : 200 000, демек 1 см = 2 км. Көлдүн узундугу 8 км. Картада канча см болот?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05578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91555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7533" y="3017520"/>
            <a:ext cx="585978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19600" y="3574389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см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05578" y="3574389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см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591555" y="3574389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см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7533" y="3574389"/>
            <a:ext cx="585978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 см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 км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 ÷ 2 = 4 см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Аркыттан көлгө А картада (1 : 50 000) 12 см. Б картада (1 : 100 000) канча см болот? Тилкеде: чыныгы, А, Б.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27227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5357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34880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2272" y="357438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 см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3576" y="357438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 см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34880" y="357438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 см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2272" y="413125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53576" y="413125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834880" y="4131259"/>
            <a:ext cx="78130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 см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6 км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6 км → Б картада 6 см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50 000, картада 7 см. Чыныгы канча км?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200 000, картада 9 см. Чыныгы канча км?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25 000, чыныгы 3 км. Картада канча см?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см = 4 км. Масштабды жаз.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 : 500, бакча 20 м × 15 м. Планда?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Картада 6 см = 1,2 км. Масштабды жаз.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: 50 000, картада 7 см. Чыныгы канча км?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3,5 км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: 200 000, картада 9 см. Чыныгы канча км?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18 км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: 25 000, чыныгы 3 км. Картада канча см?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 см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см = 4 км. Масштабды жаз.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: 400 000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 : 500, бакча 20 м × 15 м. Планда?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 см × 3 см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Картада 6 см = 1,2 км. Масштабды жаз.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 : 20 000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Масштаб 1 : 50 000. Аркыттан Сары-Челекке чейинки жол картада 3 түз бөлүк: 4 см, 3 см жана 5 см. Топ саатына 3 км басат. Көлгө канча саатта жетебиз?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Картада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25298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 см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07280" y="2240280"/>
            <a:ext cx="18973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 см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04660" y="2240280"/>
            <a:ext cx="316229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 см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Чыныгы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77440" y="3035808"/>
            <a:ext cx="252983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 км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07280" y="3035808"/>
            <a:ext cx="189737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1,5 км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04660" y="3035808"/>
            <a:ext cx="316229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2,5 км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12 см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12 × 50 000 = 600 000 см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4 + 3 + 5 = 12 см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600 000 см = 6 км → 6 ÷ 3 = 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саат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Чыныгы жол 6 км: 2 саатта Сары-Челекке жетебиз!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Сары-Челек картасы боюнча маселе түз: масштаб жана бир аралык берилсин.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Элдияр, Бегимай, Мирлан агай.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 : 50 000, картада 6 см. Чыныгы аралык канча км?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1 : 200 000, чыныгы 10 км. Картада канча см?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Картада 4 см = чыныгы 1 км. Масштабды 1 : n түрүндө жаз.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 : 50 000 эмнени билдирет? Бирдиги кандай?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Качан × n, качан ÷ n? Кантип эстейсиң?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 : 10 000 же 1 : 1 000 000: кайсынысында айыл көрүнөт?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Масштаб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1 м жип, сызгыч жана чакмак дептер: класстын планы 1 : 100.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маселеде: «Карта кичинеби, чыныгыбы? × n же ÷ n?» деп сурайм (М1).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1 км = 1 000 м = 100 000 см тилкеси доскада сабак бою турат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Жоопту турмуш менен текшертем: «2 саатта 600 км басабызбы?» (М3).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