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аталышы жана бүгүнкү окуя.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жолу: ар бир бөлүк өз слайды менен ачылат.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Окуяны окуп берем. Адегенде болжолдошсун: самса жарымынан көппү, азбы? Бир катышта токоч 3 бөлүк, экинчисинде 4 бөлүк: ушул сабактын жаңы суроосу. Жоопту сабактын аягында (22-слайд) текшеребиз.</a:t>
            </a:r>
          </a:p>
          <a:p>
            <a:r>
              <a:t>3C (Байланыштыруу): Окуя турмуштан: бул суроого сабактын аягында кайтабыз.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Ой жүгүртүү маданияты (Wenxi Lee, 2.6).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Ийгилик критерийлери: сабактын аягында ар бирине ✓ коёбуз.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Спираль: тема класстан класска тереңдейт.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Мини-тактага жазышат.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Жоопту дароо айтпайбыз. Жупта талкуулашат. Жооп: Жаннат: 4 нан кошулду, 4 бөлүк эмес. 10 патыр, 10 самса → 1 : 1. Элдияр мүчөгө санды кошту (М4).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жупка: 10 көк, 25 сары жана 18 кызыл бөтөлкө капкагы (же маркер менен боёлгон таш, буурчак). 1) 2 көк + 3 сары = бир топ (патыр : токоч = 2 : 3). 2) 4 сары + 5 кызыл = бир топ (токоч : самса = 4 : 5). 3) Сары капкактар эки жакта бирдей болгончо топ кошушат: 4 топ жана 3 топ, сары 12ден. 4) Санашат: 8 көк, 12 сары, 15 кызыл → 8 : 12 : 15. Проектор жок болсо, доскага тегерекчелер чийем.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Тилкени доскага кадам менен чийем: 1) патыр 2 бөлүк, токоч 3 бөлүк. 2) Экинчи катышта токоч ОШОЛ ЭЛЕ узундукта, бирок 4 бөлүк, самса 5 бөлүк. 3) «Токочту 3кө да, 4кө да бөлсө болот: 12 майда бөлүк». Ар бир чоң бөлүктү бөлөбүз: патыр 8, токоч 12, самса 15. Окуучулар чакмак дептерге: токоч = 12 чакмак.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Катыш өзгөрбөйт, эгер эки мүчөнү бир санга бөлсөк же көбөйтсөк: 4 : 10 = (4 ÷ 4) : (10 ÷ 4) = 1 : 2,5. 1 : n түрү катыштарды салыштырууга ыңгайлуу. Ката коддору: М1 (тескери бөлүү, 1 : 0,4), М2 (калдыкты таштоо, 1 : 2), М3 (ортоңкуну теңебей), М4 (мүчөгө санды кошуу), М7 (катышты кошуу/кемитүү менен өзгөртүү).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Окуучулар ыкманы үн чыгарып айтышат: «экөөнү тең биринчи мүчөгө бөлөм». «Оозеки беш мүнөт» (класста колдонуу картасы) эки апта ушуларды кайталайт.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Баары бир убакта манжа менен көрсөтөт (1–4). Туура эмес жооптун коду: А = М1; Б = М2; В = ✓; Г = М7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деңгээл: 1 : n түрү → бириктирүү → бөлчөк, катыш, пайыз. Жооптор: 1 ÷ 2 = 0,5; 5 × 0,5 = 2,5 → 2,5 : 1; 6 : 4 : 1; 12 ÷ 6 = 2; май 2 кг; 3 : 5; 37,5%; 36 нан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Жеңилден баштап, мүмкүн болушунча алдыга.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Токочту теңейбиз: ЭКЖБ(3, 4) = 12. 2 : 3 = 8 : 12, 4 : 5 = 12 : 15 → 8 : 12 : 15, баары 35 бөлүк. 1 бөлүк = 105 ÷ 35 = 3. Самса 15 × 3 = 45, патыр 24, токоч 36. 2 : 3 : 5 деп алса (М3), 105 ÷ 10 = 10,5: нан бүтүн эмес, ката ошондон көрүнөт.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Блум: Түзүү. Жупта алмашып, бири-биринин маселесин чыгарышат.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Жооптор: 1 : 0,625; 6 : 4 : 7; 10 самса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Бул слайд окуучуларга көрсөтүлбөйт.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188720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4A5A70"/>
                </a:solidFill>
                <a:latin typeface="PT Sans"/>
              </a:rPr>
              <a:t>6-класс · Математика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91640"/>
            <a:ext cx="960120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3557"/>
                </a:solidFill>
                <a:latin typeface="PT Sans"/>
              </a:rPr>
              <a:t>Катыш: 1 : n түрү, бириктирүү жана өзгөрүү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611880"/>
            <a:ext cx="87782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3657600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Бүгүнкү окуя: Аравандагы тандыр нан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160520"/>
            <a:ext cx="83210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Жаннат менен Элдияр чоң аталарынын тандырында нан бышырып, Кара-Суу базарына даярдашат.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34924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6B7280"/>
                </a:solidFill>
                <a:latin typeface="PT Sans"/>
              </a:rPr>
              <a:t>Китеп: Математика стандарты, 6-класс: катыш (Cambridge Stage 6, улуттук B). «Катыш» жана «Пропорция жана пайыз» пакеттеринин уландысы. Мазмуну оригиналдуу.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Сабактын мазмуну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Катыш: 1 : n, бириктирүү,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1463039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280160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Кириш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280160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Окуя, эрежелер, максаттар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2212848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2395728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212848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Даярдык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212848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Эстейбиз, «Ким туура?»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145536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328416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45536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Түшүнөбүз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145536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 → С → А: буюм, тилке, эреже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" y="4078224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426110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078224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Машыгабыз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78224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Чечүүчү суроо, тилке, өз алдынча иш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5010912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5193792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010912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Жыйынтык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010912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Окуяга кайтуу, түзүү, чыгуу билети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Окуя: Аравандагы тандыр нан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Катыш: 1 : n, бириктирүү,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7665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25880"/>
            <a:ext cx="6217920" cy="4389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Араванда Абдыкадыр чоң атанын короосунда эски тандыр бар. Ал күн сайын патыр, токоч жана самса бышырат.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Жаннат менен иниси Элдияр камыр жуурууга жардам беришет: ун менен суунун катышы туура болбосо, нан жакшы бышпайт.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Нандын бир бөлүгү Араванда сатылат, калганы Кара-Суу базарына кетет.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Бүгүн чоң ата: «Патыр : токоч = 2 : 3, токоч : самса = 4 : 5 болсун» деди.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225296"/>
            <a:ext cx="4352544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32588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Суроо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393192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Тандырдан бүгүн 105 нан чыкты. Патыр : токоч = 2 : 3, токоч : самса = 4 : 5. Самсанын баары Кара-Суу базарына кетет. Канча самса кетет?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572000"/>
            <a:ext cx="3931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6B7280"/>
                </a:solidFill>
                <a:latin typeface="PT Sans"/>
              </a:rPr>
              <a:t>Азыр жообун айтпайбыз. Ойлон: кантип билебиз?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Математикада биз…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Катыш: 1 : n, бириктирүү,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Ката – үйрөнүүнүн бир бөлүгү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Ката кетсе, эмне үчүн кеткенин издейбиз.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39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11039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«Азырынча билбейм»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1039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«Билбейм» эмес, «азырынча». Машыксак, үйрөнөбүз.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5112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3712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Адегенде түшүн, анан эсепте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3712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Сүрөт же тилке чийип, анан сан менен жазабыз.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Максаттар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Катыш: 1 : n, бириктирүү,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409944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29768" y="1865376"/>
            <a:ext cx="6409944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1225296"/>
            <a:ext cx="604418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Бүгүн биз үйрөнөбүз</a:t>
            </a:r>
          </a:p>
        </p:txBody>
      </p:sp>
      <p:sp>
        <p:nvSpPr>
          <p:cNvPr id="13" name="Oval 12"/>
          <p:cNvSpPr/>
          <p:nvPr/>
        </p:nvSpPr>
        <p:spPr>
          <a:xfrm>
            <a:off x="722376" y="21488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11226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Катышты 1 : n же n : 1 түрүндө жазам (ондук бөлчөк менен) жана катыштарды ошентип салыштырам.</a:t>
            </a:r>
          </a:p>
        </p:txBody>
      </p:sp>
      <p:sp>
        <p:nvSpPr>
          <p:cNvPr id="15" name="Oval 14"/>
          <p:cNvSpPr/>
          <p:nvPr/>
        </p:nvSpPr>
        <p:spPr>
          <a:xfrm>
            <a:off x="722376" y="342900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39242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a : b жана b : c катыштарын бириктирем: ортоңку мүчөнү ЭКЖБ менен теңейм.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22376" y="470916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67258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Бир чоңдук өзгөргөндө жаңы катышты табам; бөлчөк, пайыз жана катышты которуп бөлүшөм.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1225296"/>
            <a:ext cx="4636008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132320" y="1865376"/>
            <a:ext cx="46360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06056" y="1225296"/>
            <a:ext cx="4270248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Деңгээлдер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103120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007A5A"/>
                </a:solidFill>
                <a:latin typeface="PT Sans"/>
              </a:rPr>
              <a:t>Жеңил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057400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1 : n түрү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3127248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Орто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081528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Бириктирүү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4151376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4A5A70"/>
                </a:solidFill>
                <a:latin typeface="PT Sans"/>
              </a:rPr>
              <a:t>Оор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105656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6B7280"/>
                </a:solidFill>
                <a:latin typeface="PT Sans"/>
              </a:rPr>
              <a:t>Өзгөрүү, пайыз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3C: бүгүн кантип ойлонобуз?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Катыш: 1 : n, бириктирүү,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Сынчыл 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Текшеребиз, далилдейбиз, катаны издейбиз.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4088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«Ким туура?»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5 : 7 же 1 : 1?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Кызматташуу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 жана топто сүйлөшөбүз.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0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26280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Жупта капкак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карта сорттоо, домино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39912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Байланыштыруу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Математиканы турмуш менен байланыштырабыз.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39912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394192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Аравандагы тандыр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Ун, суу, нан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Мурун – бүгүн – кийин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Катыш: 1 : n, бириктирүү,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3017520"/>
            <a:ext cx="2660904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1089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>6-класс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" y="3657600"/>
            <a:ext cx="2112264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7" y="3749039"/>
            <a:ext cx="2295144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Катыш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Бүтүндү бөлүү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2560320"/>
            <a:ext cx="266090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26517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>6-класс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93591" y="3200400"/>
            <a:ext cx="2112265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02152" y="3291839"/>
            <a:ext cx="2295144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Пропорция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Сандын пайызы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03120"/>
            <a:ext cx="2660904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1945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6-класс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83096" y="2743200"/>
            <a:ext cx="2112263" cy="0"/>
          </a:xfrm>
          <a:prstGeom prst="line">
            <a:avLst/>
          </a:prstGeom>
          <a:ln w="127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91656" y="2834639"/>
            <a:ext cx="2295144" cy="2834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1 : n, бириктирүү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Өзгөрүү, % ↔ катыш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07708" y="1600199"/>
            <a:ext cx="1463040" cy="38404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Бүгүн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645919"/>
            <a:ext cx="2660904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7373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>7-класс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72600" y="2286000"/>
            <a:ext cx="2112264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81160" y="2377439"/>
            <a:ext cx="2295144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Түз пропорционалдуулук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Теңдеме менен маселе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5806440"/>
            <a:ext cx="1132941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1">
                <a:solidFill>
                  <a:srgbClr val="6B7280"/>
                </a:solidFill>
                <a:latin typeface="PT Sans"/>
              </a:rPr>
              <a:t>Ар бир класс мурункусунун үстүнө курулат.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эстейли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Катыш: 1 : n, бириктирүү,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Мини-тактага жаз. 2 мүнөт.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Кыскарт: 12 : 18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ЭКЖБ(3, 4) =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3 ÷ 4 = ? (ондук)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2/5 = □%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Катыш: 1 : n, бириктирүү,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Кыскарт: 12 : 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2 : 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ЭКЖБ(3, 4) =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3 ÷ 4 = ? (ондук)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0,75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2/5 = □%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40%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Ким туура?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Катыш: 1 : n, бириктирүү,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Чоң ата: «Себетте 10 патыр, 6 самса. Элдияр дагы 4 самса салды. Эми патыр : самса кандай?»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29768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9768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Элдияр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10 : 6 = 5 : 3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5 : (3 + 4)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= 5 : 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208776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08776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Жаннат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10 : (6 + 4)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= 10 : 10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= 1 :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34924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Ким туура? Капкак менен текшер.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К: буюм менен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Катыш: 1 : n, бириктирүү,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Жупта: көк капкак = патыр, сары = токоч, кызыл = самса. Токоч эки катышта бирдей болгончо топ кош.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65836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D3557"/>
                </a:solidFill>
                <a:latin typeface="PT Sans"/>
              </a:rPr>
              <a:t>Патыр : токоч = 2 : 3  →  4 топ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450591"/>
            <a:ext cx="996695" cy="713232"/>
          </a:xfrm>
          <a:prstGeom prst="roundRect">
            <a:avLst>
              <a:gd name="adj" fmla="val 25000"/>
            </a:avLst>
          </a:prstGeom>
          <a:noFill/>
          <a:ln w="1587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2542032"/>
            <a:ext cx="246888" cy="246888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6424" y="2542032"/>
            <a:ext cx="246888" cy="246888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2825496"/>
            <a:ext cx="246888" cy="246888"/>
          </a:xfrm>
          <a:prstGeom prst="ellipse">
            <a:avLst/>
          </a:prstGeom>
          <a:solidFill>
            <a:srgbClr val="E3AE22"/>
          </a:solidFill>
          <a:ln w="12700">
            <a:solidFill>
              <a:srgbClr val="E3A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06424" y="2825496"/>
            <a:ext cx="246888" cy="246888"/>
          </a:xfrm>
          <a:prstGeom prst="ellipse">
            <a:avLst/>
          </a:prstGeom>
          <a:solidFill>
            <a:srgbClr val="E3AE22"/>
          </a:solidFill>
          <a:ln w="12700">
            <a:solidFill>
              <a:srgbClr val="E3A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89888" y="2825496"/>
            <a:ext cx="246888" cy="246888"/>
          </a:xfrm>
          <a:prstGeom prst="ellipse">
            <a:avLst/>
          </a:prstGeom>
          <a:solidFill>
            <a:srgbClr val="E3AE22"/>
          </a:solidFill>
          <a:ln w="12700">
            <a:solidFill>
              <a:srgbClr val="E3A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011679" y="2450591"/>
            <a:ext cx="996695" cy="713232"/>
          </a:xfrm>
          <a:prstGeom prst="roundRect">
            <a:avLst>
              <a:gd name="adj" fmla="val 25000"/>
            </a:avLst>
          </a:prstGeom>
          <a:noFill/>
          <a:ln w="1587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03120" y="2542032"/>
            <a:ext cx="246888" cy="246888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386584" y="2542032"/>
            <a:ext cx="246888" cy="246888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03120" y="2825496"/>
            <a:ext cx="246888" cy="246888"/>
          </a:xfrm>
          <a:prstGeom prst="ellipse">
            <a:avLst/>
          </a:prstGeom>
          <a:solidFill>
            <a:srgbClr val="E3AE22"/>
          </a:solidFill>
          <a:ln w="12700">
            <a:solidFill>
              <a:srgbClr val="E3A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386584" y="2825496"/>
            <a:ext cx="246888" cy="246888"/>
          </a:xfrm>
          <a:prstGeom prst="ellipse">
            <a:avLst/>
          </a:prstGeom>
          <a:solidFill>
            <a:srgbClr val="E3AE22"/>
          </a:solidFill>
          <a:ln w="12700">
            <a:solidFill>
              <a:srgbClr val="E3A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670048" y="2825496"/>
            <a:ext cx="246888" cy="246888"/>
          </a:xfrm>
          <a:prstGeom prst="ellipse">
            <a:avLst/>
          </a:prstGeom>
          <a:solidFill>
            <a:srgbClr val="E3AE22"/>
          </a:solidFill>
          <a:ln w="12700">
            <a:solidFill>
              <a:srgbClr val="E3A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291839" y="2450591"/>
            <a:ext cx="996695" cy="713232"/>
          </a:xfrm>
          <a:prstGeom prst="roundRect">
            <a:avLst>
              <a:gd name="adj" fmla="val 25000"/>
            </a:avLst>
          </a:prstGeom>
          <a:noFill/>
          <a:ln w="1587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383279" y="2542032"/>
            <a:ext cx="246888" cy="246888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666744" y="2542032"/>
            <a:ext cx="246888" cy="246888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383279" y="2825496"/>
            <a:ext cx="246888" cy="246888"/>
          </a:xfrm>
          <a:prstGeom prst="ellipse">
            <a:avLst/>
          </a:prstGeom>
          <a:solidFill>
            <a:srgbClr val="E3AE22"/>
          </a:solidFill>
          <a:ln w="12700">
            <a:solidFill>
              <a:srgbClr val="E3A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666744" y="2825496"/>
            <a:ext cx="246888" cy="246888"/>
          </a:xfrm>
          <a:prstGeom prst="ellipse">
            <a:avLst/>
          </a:prstGeom>
          <a:solidFill>
            <a:srgbClr val="E3AE22"/>
          </a:solidFill>
          <a:ln w="12700">
            <a:solidFill>
              <a:srgbClr val="E3A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50207" y="2825496"/>
            <a:ext cx="246888" cy="246888"/>
          </a:xfrm>
          <a:prstGeom prst="ellipse">
            <a:avLst/>
          </a:prstGeom>
          <a:solidFill>
            <a:srgbClr val="E3AE22"/>
          </a:solidFill>
          <a:ln w="12700">
            <a:solidFill>
              <a:srgbClr val="E3A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572000" y="2450591"/>
            <a:ext cx="996695" cy="713232"/>
          </a:xfrm>
          <a:prstGeom prst="roundRect">
            <a:avLst>
              <a:gd name="adj" fmla="val 25000"/>
            </a:avLst>
          </a:prstGeom>
          <a:noFill/>
          <a:ln w="1587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63440" y="2542032"/>
            <a:ext cx="246888" cy="246888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946903" y="2542032"/>
            <a:ext cx="246888" cy="246888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663440" y="2825496"/>
            <a:ext cx="246888" cy="246888"/>
          </a:xfrm>
          <a:prstGeom prst="ellipse">
            <a:avLst/>
          </a:prstGeom>
          <a:solidFill>
            <a:srgbClr val="E3AE22"/>
          </a:solidFill>
          <a:ln w="12700">
            <a:solidFill>
              <a:srgbClr val="E3A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946903" y="2825496"/>
            <a:ext cx="246888" cy="246888"/>
          </a:xfrm>
          <a:prstGeom prst="ellipse">
            <a:avLst/>
          </a:prstGeom>
          <a:solidFill>
            <a:srgbClr val="E3AE22"/>
          </a:solidFill>
          <a:ln w="12700">
            <a:solidFill>
              <a:srgbClr val="E3A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230368" y="2825496"/>
            <a:ext cx="246888" cy="246888"/>
          </a:xfrm>
          <a:prstGeom prst="ellipse">
            <a:avLst/>
          </a:prstGeom>
          <a:solidFill>
            <a:srgbClr val="E3AE22"/>
          </a:solidFill>
          <a:ln w="12700">
            <a:solidFill>
              <a:srgbClr val="E3A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3310128"/>
            <a:ext cx="65836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D3557"/>
                </a:solidFill>
                <a:latin typeface="PT Sans"/>
              </a:rPr>
              <a:t>Токоч : самса = 4 : 5  →  3 топ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3703320"/>
            <a:ext cx="1563624" cy="713232"/>
          </a:xfrm>
          <a:prstGeom prst="roundRect">
            <a:avLst>
              <a:gd name="adj" fmla="val 25000"/>
            </a:avLst>
          </a:prstGeom>
          <a:noFill/>
          <a:ln w="1587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22960" y="3794760"/>
            <a:ext cx="246888" cy="246888"/>
          </a:xfrm>
          <a:prstGeom prst="ellipse">
            <a:avLst/>
          </a:prstGeom>
          <a:solidFill>
            <a:srgbClr val="E3AE22"/>
          </a:solidFill>
          <a:ln w="12700">
            <a:solidFill>
              <a:srgbClr val="E3A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06424" y="3794760"/>
            <a:ext cx="246888" cy="246888"/>
          </a:xfrm>
          <a:prstGeom prst="ellipse">
            <a:avLst/>
          </a:prstGeom>
          <a:solidFill>
            <a:srgbClr val="E3AE22"/>
          </a:solidFill>
          <a:ln w="12700">
            <a:solidFill>
              <a:srgbClr val="E3A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389888" y="3794760"/>
            <a:ext cx="246888" cy="246888"/>
          </a:xfrm>
          <a:prstGeom prst="ellipse">
            <a:avLst/>
          </a:prstGeom>
          <a:solidFill>
            <a:srgbClr val="E3AE22"/>
          </a:solidFill>
          <a:ln w="12700">
            <a:solidFill>
              <a:srgbClr val="E3A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673352" y="3794760"/>
            <a:ext cx="246888" cy="246888"/>
          </a:xfrm>
          <a:prstGeom prst="ellipse">
            <a:avLst/>
          </a:prstGeom>
          <a:solidFill>
            <a:srgbClr val="E3AE22"/>
          </a:solidFill>
          <a:ln w="12700">
            <a:solidFill>
              <a:srgbClr val="E3A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22960" y="4078224"/>
            <a:ext cx="246888" cy="246888"/>
          </a:xfrm>
          <a:prstGeom prst="ellipse">
            <a:avLst/>
          </a:prstGeom>
          <a:solidFill>
            <a:srgbClr val="C84B3C"/>
          </a:solidFill>
          <a:ln w="12700">
            <a:solidFill>
              <a:srgbClr val="C84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06424" y="4078224"/>
            <a:ext cx="246888" cy="246888"/>
          </a:xfrm>
          <a:prstGeom prst="ellipse">
            <a:avLst/>
          </a:prstGeom>
          <a:solidFill>
            <a:srgbClr val="C84B3C"/>
          </a:solidFill>
          <a:ln w="12700">
            <a:solidFill>
              <a:srgbClr val="C84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389888" y="4078224"/>
            <a:ext cx="246888" cy="246888"/>
          </a:xfrm>
          <a:prstGeom prst="ellipse">
            <a:avLst/>
          </a:prstGeom>
          <a:solidFill>
            <a:srgbClr val="C84B3C"/>
          </a:solidFill>
          <a:ln w="12700">
            <a:solidFill>
              <a:srgbClr val="C84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673352" y="4078224"/>
            <a:ext cx="246888" cy="246888"/>
          </a:xfrm>
          <a:prstGeom prst="ellipse">
            <a:avLst/>
          </a:prstGeom>
          <a:solidFill>
            <a:srgbClr val="C84B3C"/>
          </a:solidFill>
          <a:ln w="12700">
            <a:solidFill>
              <a:srgbClr val="C84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956816" y="4078224"/>
            <a:ext cx="246888" cy="246888"/>
          </a:xfrm>
          <a:prstGeom prst="ellipse">
            <a:avLst/>
          </a:prstGeom>
          <a:solidFill>
            <a:srgbClr val="C84B3C"/>
          </a:solidFill>
          <a:ln w="12700">
            <a:solidFill>
              <a:srgbClr val="C84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2560320" y="3703320"/>
            <a:ext cx="1563624" cy="713232"/>
          </a:xfrm>
          <a:prstGeom prst="roundRect">
            <a:avLst>
              <a:gd name="adj" fmla="val 25000"/>
            </a:avLst>
          </a:prstGeom>
          <a:noFill/>
          <a:ln w="1587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651760" y="3794760"/>
            <a:ext cx="246888" cy="246888"/>
          </a:xfrm>
          <a:prstGeom prst="ellipse">
            <a:avLst/>
          </a:prstGeom>
          <a:solidFill>
            <a:srgbClr val="E3AE22"/>
          </a:solidFill>
          <a:ln w="12700">
            <a:solidFill>
              <a:srgbClr val="E3A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935224" y="3794760"/>
            <a:ext cx="246888" cy="246888"/>
          </a:xfrm>
          <a:prstGeom prst="ellipse">
            <a:avLst/>
          </a:prstGeom>
          <a:solidFill>
            <a:srgbClr val="E3AE22"/>
          </a:solidFill>
          <a:ln w="12700">
            <a:solidFill>
              <a:srgbClr val="E3A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218688" y="3794760"/>
            <a:ext cx="246888" cy="246888"/>
          </a:xfrm>
          <a:prstGeom prst="ellipse">
            <a:avLst/>
          </a:prstGeom>
          <a:solidFill>
            <a:srgbClr val="E3AE22"/>
          </a:solidFill>
          <a:ln w="12700">
            <a:solidFill>
              <a:srgbClr val="E3A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502152" y="3794760"/>
            <a:ext cx="246888" cy="246888"/>
          </a:xfrm>
          <a:prstGeom prst="ellipse">
            <a:avLst/>
          </a:prstGeom>
          <a:solidFill>
            <a:srgbClr val="E3AE22"/>
          </a:solidFill>
          <a:ln w="12700">
            <a:solidFill>
              <a:srgbClr val="E3A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651760" y="4078224"/>
            <a:ext cx="246888" cy="246888"/>
          </a:xfrm>
          <a:prstGeom prst="ellipse">
            <a:avLst/>
          </a:prstGeom>
          <a:solidFill>
            <a:srgbClr val="C84B3C"/>
          </a:solidFill>
          <a:ln w="12700">
            <a:solidFill>
              <a:srgbClr val="C84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935224" y="4078224"/>
            <a:ext cx="246888" cy="246888"/>
          </a:xfrm>
          <a:prstGeom prst="ellipse">
            <a:avLst/>
          </a:prstGeom>
          <a:solidFill>
            <a:srgbClr val="C84B3C"/>
          </a:solidFill>
          <a:ln w="12700">
            <a:solidFill>
              <a:srgbClr val="C84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218688" y="4078224"/>
            <a:ext cx="246888" cy="246888"/>
          </a:xfrm>
          <a:prstGeom prst="ellipse">
            <a:avLst/>
          </a:prstGeom>
          <a:solidFill>
            <a:srgbClr val="C84B3C"/>
          </a:solidFill>
          <a:ln w="12700">
            <a:solidFill>
              <a:srgbClr val="C84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3502152" y="4078224"/>
            <a:ext cx="246888" cy="246888"/>
          </a:xfrm>
          <a:prstGeom prst="ellipse">
            <a:avLst/>
          </a:prstGeom>
          <a:solidFill>
            <a:srgbClr val="C84B3C"/>
          </a:solidFill>
          <a:ln w="12700">
            <a:solidFill>
              <a:srgbClr val="C84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785615" y="4078224"/>
            <a:ext cx="246888" cy="246888"/>
          </a:xfrm>
          <a:prstGeom prst="ellipse">
            <a:avLst/>
          </a:prstGeom>
          <a:solidFill>
            <a:srgbClr val="C84B3C"/>
          </a:solidFill>
          <a:ln w="12700">
            <a:solidFill>
              <a:srgbClr val="C84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389120" y="3703320"/>
            <a:ext cx="1563624" cy="713232"/>
          </a:xfrm>
          <a:prstGeom prst="roundRect">
            <a:avLst>
              <a:gd name="adj" fmla="val 25000"/>
            </a:avLst>
          </a:prstGeom>
          <a:noFill/>
          <a:ln w="1587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480560" y="3794760"/>
            <a:ext cx="246888" cy="246888"/>
          </a:xfrm>
          <a:prstGeom prst="ellipse">
            <a:avLst/>
          </a:prstGeom>
          <a:solidFill>
            <a:srgbClr val="E3AE22"/>
          </a:solidFill>
          <a:ln w="12700">
            <a:solidFill>
              <a:srgbClr val="E3A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764024" y="3794760"/>
            <a:ext cx="246888" cy="246888"/>
          </a:xfrm>
          <a:prstGeom prst="ellipse">
            <a:avLst/>
          </a:prstGeom>
          <a:solidFill>
            <a:srgbClr val="E3AE22"/>
          </a:solidFill>
          <a:ln w="12700">
            <a:solidFill>
              <a:srgbClr val="E3A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5047488" y="3794760"/>
            <a:ext cx="246888" cy="246888"/>
          </a:xfrm>
          <a:prstGeom prst="ellipse">
            <a:avLst/>
          </a:prstGeom>
          <a:solidFill>
            <a:srgbClr val="E3AE22"/>
          </a:solidFill>
          <a:ln w="12700">
            <a:solidFill>
              <a:srgbClr val="E3A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5330952" y="3794760"/>
            <a:ext cx="246888" cy="246888"/>
          </a:xfrm>
          <a:prstGeom prst="ellipse">
            <a:avLst/>
          </a:prstGeom>
          <a:solidFill>
            <a:srgbClr val="E3AE22"/>
          </a:solidFill>
          <a:ln w="12700">
            <a:solidFill>
              <a:srgbClr val="E3A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480560" y="4078224"/>
            <a:ext cx="246888" cy="246888"/>
          </a:xfrm>
          <a:prstGeom prst="ellipse">
            <a:avLst/>
          </a:prstGeom>
          <a:solidFill>
            <a:srgbClr val="C84B3C"/>
          </a:solidFill>
          <a:ln w="12700">
            <a:solidFill>
              <a:srgbClr val="C84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764024" y="4078224"/>
            <a:ext cx="246888" cy="246888"/>
          </a:xfrm>
          <a:prstGeom prst="ellipse">
            <a:avLst/>
          </a:prstGeom>
          <a:solidFill>
            <a:srgbClr val="C84B3C"/>
          </a:solidFill>
          <a:ln w="12700">
            <a:solidFill>
              <a:srgbClr val="C84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5047488" y="4078224"/>
            <a:ext cx="246888" cy="246888"/>
          </a:xfrm>
          <a:prstGeom prst="ellipse">
            <a:avLst/>
          </a:prstGeom>
          <a:solidFill>
            <a:srgbClr val="C84B3C"/>
          </a:solidFill>
          <a:ln w="12700">
            <a:solidFill>
              <a:srgbClr val="C84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330952" y="4078224"/>
            <a:ext cx="246888" cy="246888"/>
          </a:xfrm>
          <a:prstGeom prst="ellipse">
            <a:avLst/>
          </a:prstGeom>
          <a:solidFill>
            <a:srgbClr val="C84B3C"/>
          </a:solidFill>
          <a:ln w="12700">
            <a:solidFill>
              <a:srgbClr val="C84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614416" y="4078224"/>
            <a:ext cx="246888" cy="246888"/>
          </a:xfrm>
          <a:prstGeom prst="ellipse">
            <a:avLst/>
          </a:prstGeom>
          <a:solidFill>
            <a:srgbClr val="C84B3C"/>
          </a:solidFill>
          <a:ln w="12700">
            <a:solidFill>
              <a:srgbClr val="C84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0080" y="4572000"/>
            <a:ext cx="65836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A84400"/>
                </a:solidFill>
                <a:latin typeface="PT Sans"/>
              </a:rPr>
              <a:t>Сары (токоч): 4 × 3 = 12 жана 3 × 4 = 12, бирдей!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983480"/>
            <a:ext cx="65836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Көк 8 : сары 12 : кызыл 15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315200" y="2194560"/>
            <a:ext cx="443484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498079" y="2286000"/>
            <a:ext cx="4114800" cy="3383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Ар бир жупта: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10 көк капкак (патыр)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25 сары капкак (токоч)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18 кызыл капкак (самса)</a:t>
            </a:r>
          </a:p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007A5A"/>
                </a:solidFill>
                <a:latin typeface="PT Sans"/>
              </a:rPr>
              <a:t>Сары эки жакта тең 12</a:t>
            </a:r>
          </a:p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8 : 12 : 15 = 35 бөлүк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К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С: тилке модели – токочту теңейбиз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Катыш: 1 : n, бириктирүү,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Патыр : токоч = 2 : 3, токоч : самса = 4 : 5. Токоч тилкеси эки жолу тең бирдей узун.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121408"/>
            <a:ext cx="1261872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Патыр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2121408"/>
            <a:ext cx="1097280" cy="329184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26080" y="2121408"/>
            <a:ext cx="1097280" cy="329184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505456"/>
            <a:ext cx="1261872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Токоч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2505456"/>
            <a:ext cx="1097280" cy="329184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26080" y="2505456"/>
            <a:ext cx="1097280" cy="329184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23360" y="2505456"/>
            <a:ext cx="1097280" cy="329184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044952"/>
            <a:ext cx="1261872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Токоч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3044952"/>
            <a:ext cx="822960" cy="329184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51760" y="3044952"/>
            <a:ext cx="822960" cy="329184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74720" y="3044952"/>
            <a:ext cx="822960" cy="329184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3044952"/>
            <a:ext cx="822960" cy="329184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429000"/>
            <a:ext cx="1261872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Самса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0" y="3429000"/>
            <a:ext cx="822960" cy="329184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651760" y="3429000"/>
            <a:ext cx="822960" cy="329184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74720" y="3429000"/>
            <a:ext cx="822960" cy="329184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97680" y="3429000"/>
            <a:ext cx="822960" cy="329184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20640" y="3429000"/>
            <a:ext cx="822960" cy="329184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2286000"/>
            <a:ext cx="18288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D3557"/>
                </a:solidFill>
                <a:latin typeface="PT Sans"/>
              </a:rPr>
              <a:t>2 :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3200400"/>
            <a:ext cx="18288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D3557"/>
                </a:solidFill>
                <a:latin typeface="PT Sans"/>
              </a:rPr>
              <a:t>4 : 5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120640" y="2057400"/>
            <a:ext cx="0" cy="1764791"/>
          </a:xfrm>
          <a:prstGeom prst="line">
            <a:avLst/>
          </a:prstGeom>
          <a:ln w="19050">
            <a:solidFill>
              <a:srgbClr val="A844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02920" y="4023360"/>
            <a:ext cx="1261872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Патыр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0" y="4023360"/>
            <a:ext cx="274320" cy="329184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103120" y="4023360"/>
            <a:ext cx="274320" cy="329184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377440" y="4023360"/>
            <a:ext cx="274320" cy="329184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651760" y="4023360"/>
            <a:ext cx="274320" cy="329184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926080" y="4023360"/>
            <a:ext cx="274320" cy="329184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00400" y="4023360"/>
            <a:ext cx="274320" cy="329184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474720" y="4023360"/>
            <a:ext cx="274320" cy="329184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749039" y="4023360"/>
            <a:ext cx="274320" cy="329184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4407408"/>
            <a:ext cx="1261872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Токоч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28800" y="4407408"/>
            <a:ext cx="274320" cy="329184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103120" y="4407408"/>
            <a:ext cx="274320" cy="329184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377440" y="4407408"/>
            <a:ext cx="274320" cy="329184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651760" y="4407408"/>
            <a:ext cx="274320" cy="329184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926080" y="4407408"/>
            <a:ext cx="274320" cy="329184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200400" y="4407408"/>
            <a:ext cx="274320" cy="329184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474720" y="4407408"/>
            <a:ext cx="274320" cy="329184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749039" y="4407408"/>
            <a:ext cx="274320" cy="329184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023360" y="4407408"/>
            <a:ext cx="274320" cy="329184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297679" y="4407408"/>
            <a:ext cx="274320" cy="329184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72000" y="4407408"/>
            <a:ext cx="274320" cy="329184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46320" y="4407408"/>
            <a:ext cx="274320" cy="329184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2920" y="4791456"/>
            <a:ext cx="1261872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Самса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0" y="4791456"/>
            <a:ext cx="274320" cy="329184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103120" y="4791456"/>
            <a:ext cx="274320" cy="329184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377440" y="4791456"/>
            <a:ext cx="274320" cy="329184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651760" y="4791456"/>
            <a:ext cx="274320" cy="329184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926080" y="4791456"/>
            <a:ext cx="274320" cy="329184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200400" y="4791456"/>
            <a:ext cx="274320" cy="329184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474720" y="4791456"/>
            <a:ext cx="274320" cy="329184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749039" y="4791456"/>
            <a:ext cx="274320" cy="329184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023360" y="4791456"/>
            <a:ext cx="274320" cy="329184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297679" y="4791456"/>
            <a:ext cx="274320" cy="329184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572000" y="4791456"/>
            <a:ext cx="274320" cy="329184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846320" y="4791456"/>
            <a:ext cx="274320" cy="329184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120640" y="4791456"/>
            <a:ext cx="274320" cy="329184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394960" y="4791456"/>
            <a:ext cx="274320" cy="329184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669280" y="4791456"/>
            <a:ext cx="274320" cy="329184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080760" y="4389120"/>
            <a:ext cx="18288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8 : 12 : 15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001000" y="2103120"/>
            <a:ext cx="3749039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183879" y="2194560"/>
            <a:ext cx="3474720" cy="3108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Кадамдар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1. Чий: 2 : 3 жана 4 : 5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2. Токоч эки жолу бирдей узун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3. ЭКЖБ(3, 4) = 12 майда бөлүк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4. Патыр 8, самса 15</a:t>
            </a:r>
          </a:p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007A5A"/>
                </a:solidFill>
                <a:latin typeface="PT Sans"/>
              </a:rPr>
              <a:t>Текшер: 8 : 12 = 2 : 3 ✓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29768" y="562356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Токоч: 3 × 4 = 12 = 4 × 3  →  8 : 12 : 15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А: эреже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Катыш: 1 : n, бириктирүү,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3035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1 : 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1 : n түрү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a : b → 1 : (b ÷ a)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56382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330702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23969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2142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a:b:c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2142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Бириктирүү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7862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Ортоңку мүчөнү ЭКЖБ менен теңе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57316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31636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24902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3075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+ 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3075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Өзгөрүү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8796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Өзгөрбөгөнүн тап, тилке чий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58250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132570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25837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4010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% ↔ 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4010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Пайыз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69730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3 : 5 → 37,5% жана 62,5%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74519" y="4709160"/>
            <a:ext cx="8449056" cy="758952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4 : 10 = 1 : 2,5 = 0,4 : 1   (÷ 4 же ÷ 10)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1: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Катыш: 1 : n, бириктирүү,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Кайсы камырда суу көбүрөөк: ун : суу = 8 : 5 же 5 : 3? 1 : n түрүндө салыштыр.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8 : 5 = 1 : 0,625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40280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÷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5 : 3 = 1 : 0,6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÷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0,625 &gt; 0,6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1 кг унга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Суусу көп камыр = </a:t>
            </a:r>
            <a:r>
              <a:rPr sz="3400" b="1">
                <a:solidFill>
                  <a:srgbClr val="24418C"/>
                </a:solidFill>
                <a:latin typeface="PT Sans"/>
              </a:rPr>
              <a:t>8 : 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2: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Катыш: 1 : n, бириктирүү,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Себетте патыр : самса = 5 : 3. Дагы 12 самса салышты, эми 5 : 7. Канча патыр?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Патыр өзгөргөн жок: 5 бөлүк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7 − 3 = 4 бөлүк =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кошулду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 бөлүк = 12 ÷ 4 =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15384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5 × 3 = 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4215384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патыр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Патыр = </a:t>
            </a:r>
            <a:r>
              <a:rPr sz="3400" b="1">
                <a:solidFill>
                  <a:srgbClr val="24418C"/>
                </a:solidFill>
                <a:latin typeface="PT 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ыкма: бөл, теңе, пайызга өт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Катыш: 1 : n, бириктирүү,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7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1 : n: бөлүп кой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6 :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15 ÷ 6 = 2,5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1 : 2,5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Экинчи мүчөнү биринчисине бөлөбүз.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80560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Ортоңкуну теңе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 : 3 жана 4 :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токоч 3 жана 4 → 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8 : 12 : 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ЭКЖБ: экөөндө тең бирдей сан.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65592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48472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42832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Катыштан пайызга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3 : 5 → 8 бөлүк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1/8 = 12,5%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3 × 12,5 = 37,5%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37,5% жана 62,5%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1 бөлүктүн пайызын тап, анан көбөйт.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" y="5577840"/>
            <a:ext cx="11329416" cy="5029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007A5A"/>
                </a:solidFill>
                <a:latin typeface="PT Sans"/>
              </a:rPr>
              <a:t>Бөл же теңе → тилке менен текшер → «Мен ... деп ойлодум» деп үн чыгарып айт.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Чечүүчү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Катыш: 1 : n, бириктирүү,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Камырда суу : ун = 2 : 5. Бул катышты 1 : n түрүндө жаз.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4088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1 : 0,4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83096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6056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1 :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8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1 : 2,5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3096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6056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1 : 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чий, анан эсепте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Катыш: 1 : n, бириктирүү,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Камырда ун : суу = 5 : 2. 1 кг сууга канча кг ун туура келет? Катышты n : 1 түрүндө жаз.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67128" y="4956048"/>
            <a:ext cx="170383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7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18488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82439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19600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6800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Ун : суу = 3 : 2, суу : май = 4 : 1. Камырга 12 кг ун кетти. Канча кг май керек?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6759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5320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19800" y="4956048"/>
            <a:ext cx="170383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65320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71159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35112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72272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9472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Нандын 3/8 бөлүгү Кара-Сууга, калганы Араванга. Араванга 60 нан. Кара-Суу : Араван = ? Кара-Сууга канча % жана канча нан?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9432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7991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72471" y="4956048"/>
            <a:ext cx="170383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17991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23831" y="5641848"/>
            <a:ext cx="225247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Катыш: 1 : n, бириктирүү,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Камырда ун : суу = 5 : 2. 1 кг сууга канча кг ун туура келет? Катышты n : 1 түрүндө жаз.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017520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Ун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29968" y="3017520"/>
            <a:ext cx="17617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0,5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06142" y="3017520"/>
            <a:ext cx="17617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0,5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82316" y="3017520"/>
            <a:ext cx="17617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0,5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58491" y="3017520"/>
            <a:ext cx="17617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0,5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34665" y="3017520"/>
            <a:ext cx="17617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0,5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574389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Суу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29968" y="3574389"/>
            <a:ext cx="17617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0,5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06142" y="3574389"/>
            <a:ext cx="17617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0,5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7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1 ÷ 2 = 0,5; 5 × 0,5 = 2,5 → 2,5 : 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82439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19600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76800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Ун : суу = 3 : 2, суу : май = 4 : 1. Камырга 12 кг ун кетти. Канча кг май керек?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9600" y="3017520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Ун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82640" y="3017520"/>
            <a:ext cx="146811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29452" y="3017520"/>
            <a:ext cx="146811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6264" y="3017520"/>
            <a:ext cx="146811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23076" y="3017520"/>
            <a:ext cx="146811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69888" y="3017520"/>
            <a:ext cx="146811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16700" y="3017520"/>
            <a:ext cx="146811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19600" y="3574389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Суу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82640" y="3574389"/>
            <a:ext cx="146811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29452" y="3574389"/>
            <a:ext cx="146811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6264" y="3574389"/>
            <a:ext cx="146811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23076" y="3574389"/>
            <a:ext cx="146811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19600" y="4131259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Май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82640" y="4131259"/>
            <a:ext cx="146811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65320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6 : 4 : 1; 12 ÷ 6 = 2; май 2 кг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5112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72272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29472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Нандын 3/8 бөлүгү Кара-Сууга, калганы Араванга. Араванга 60 нан. Кара-Суу : Араван = ? Кара-Сууга канча % жана канча нан?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2272" y="3017520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Кара-Суу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735312" y="3017520"/>
            <a:ext cx="17617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911486" y="3017520"/>
            <a:ext cx="17617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087660" y="3017520"/>
            <a:ext cx="17617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2272" y="3574389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Араван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735312" y="3574389"/>
            <a:ext cx="17617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911486" y="3574389"/>
            <a:ext cx="17617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087660" y="3574389"/>
            <a:ext cx="17617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263835" y="3574389"/>
            <a:ext cx="17617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440009" y="3574389"/>
            <a:ext cx="17617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17991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3 : 5; 37,5%; 36 нан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Катыш: 1 : n, бириктирүү,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Дептериңе чыгар. Кыйын болсо – жакшы! Мээң өсүп жатат.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12 : 30 → 1 : 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9 : 6 → n :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a : b = 4 : 5, b : c = 3 : 2. a : b : c =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Патыр : самса = 3 : 2. 10 самса кошулду, эми 3 : 4. Патыр?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7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720 сомду 5 : 3 бөл. Ар бир бөлүк, %?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91656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Калькулятор менен: 17 : 23. Кичине бөлүк, %?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Катыш: 1 : n, бириктирүү,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12 : 30 → 1 : 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 : 2,5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9 : 6 → n :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1,5 :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a : b = 4 : 5, b : c = 3 : 2. a : b : c = 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12 : 15 : 10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Патыр : самса = 3 : 2. 10 самса кошулду, эми 3 : 4. Патыр?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15 патыр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6928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720 сомду 5 : 3 бөл. Ар бир бөлүк, %?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804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450, 270; 62,5%, 37,5%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45936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4576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Калькулятор менен: 17 : 23. Кичине бөлүк, %?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13812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42,5%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Окуяга кайтабыз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Катыш: 1 : n, бириктирүү,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Тандырдан бүгүн 105 нан чыкты. Патыр : токоч = 2 : 3, токоч : самса = 4 : 5. Самсанын баары Кара-Суу базарына кетет. Канча самса кетет?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1371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Патыр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2240280"/>
            <a:ext cx="505967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3408" y="2240280"/>
            <a:ext cx="505967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9376" y="2240280"/>
            <a:ext cx="505967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95344" y="2240280"/>
            <a:ext cx="505967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01311" y="2240280"/>
            <a:ext cx="505967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07279" y="2240280"/>
            <a:ext cx="505967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13247" y="2240280"/>
            <a:ext cx="505967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19215" y="2240280"/>
            <a:ext cx="505967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035808"/>
            <a:ext cx="1371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Токоч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3035808"/>
            <a:ext cx="505967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83408" y="3035808"/>
            <a:ext cx="505967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9376" y="3035808"/>
            <a:ext cx="505967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95344" y="3035808"/>
            <a:ext cx="505967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01311" y="3035808"/>
            <a:ext cx="505967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07279" y="3035808"/>
            <a:ext cx="505967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13247" y="3035808"/>
            <a:ext cx="505967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19215" y="3035808"/>
            <a:ext cx="505967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25183" y="3035808"/>
            <a:ext cx="505967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31151" y="3035808"/>
            <a:ext cx="505967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37119" y="3035808"/>
            <a:ext cx="505967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43087" y="3035808"/>
            <a:ext cx="505967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3831336"/>
            <a:ext cx="1371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Самса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77440" y="3831336"/>
            <a:ext cx="505967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83408" y="3831336"/>
            <a:ext cx="505967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89376" y="3831336"/>
            <a:ext cx="505967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95344" y="3831336"/>
            <a:ext cx="505967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01311" y="3831336"/>
            <a:ext cx="505967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07279" y="3831336"/>
            <a:ext cx="505967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13247" y="3831336"/>
            <a:ext cx="505967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19215" y="3831336"/>
            <a:ext cx="505967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25183" y="3831336"/>
            <a:ext cx="505967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31151" y="3831336"/>
            <a:ext cx="505967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37119" y="3831336"/>
            <a:ext cx="505967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43087" y="3831336"/>
            <a:ext cx="505967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49055" y="3831336"/>
            <a:ext cx="505967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955023" y="3831336"/>
            <a:ext cx="505967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460991" y="3831336"/>
            <a:ext cx="505967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0058399" y="224028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195559" y="2240280"/>
            <a:ext cx="0" cy="2139696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058399" y="4379976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0241279" y="3035808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105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4718304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24418C"/>
                </a:solidFill>
                <a:latin typeface="PT Sans"/>
              </a:rPr>
              <a:t>105 ÷ 35 = 3;  самса 15 × 3 = 45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66760" y="4718304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8 : 12 : 15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874519" y="5486400"/>
            <a:ext cx="8449056" cy="640080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45 самса Кара-Сууга; патыр 24, токоч 36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Түз: өзүң маселе түз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Катыш: 1 : n, бириктирүү,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71600"/>
            <a:ext cx="10780776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Тандыр жөнүндө маселе түз: эки катышты бириктир же бир чоңдукту өзгөрт. Жообу бүтүн сан болсун.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256032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54203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Окуядагы каармандарды колдон: Жаннат, Элдияр, Абдыкадыр чоң ата.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338327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364991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Тилкесин чий жана туюнтмасын жаз.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4206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8795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Жупуңа бер: ал чыгарсын, сен текшер.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3C · Кызматташуу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Чыгуу билети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Катыш: 1 : n, бириктирүү,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Өз алдынча, 3 мүнөт. Кагазыңа жазып бер.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Ун : суу = 8 : 5. 1 : n түрүндө жаз.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323088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323088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a : b = 3 : 2, b : c = 4 : 7. a : b : c =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77012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77012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Патыр : самса = 3 : 2. 9 патыр сатылганда 3 : 5 болду. Самса канча?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Катыш: 1 : n, бириктирүү,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80160"/>
            <a:ext cx="1078077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1920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901952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Эмне үчүн 2 : 5 = 1 : 2,5, бирок 1 : 0,4 эмес?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2542032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523744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Эки катышты бириктиргенде эмне үчүн ортоңку мүчөнү теңейбиз?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316382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145536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Самса кошулганда эмне өзгөрбөйт? Ал бизге кантип жардам берет?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461772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1">
                <a:solidFill>
                  <a:srgbClr val="6B7280"/>
                </a:solidFill>
                <a:latin typeface="PT Sans"/>
              </a:rPr>
              <a:t>Өзүңдү баала: колуңду көтөр.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7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007A5A"/>
                </a:solidFill>
                <a:latin typeface="PT Sans"/>
              </a:rPr>
              <a:t>Түшүндүм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60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Дагы машыгам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936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Жардам керек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Мугалим үчүн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Катыш: 1 : n, бириктирүү, өзгөрүү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5120640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80160"/>
            <a:ext cx="46634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Тилке моделин кантип үйрөтөбүз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187451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1856231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 жупка үч түстүү капкак: көк = патыр, сары = токоч, кызыл = самса.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898648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2880360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1 : n: «экөөнү тең биринчи мүчөгө бөлөм» деп үн чыгарып айттырам (М1, М2).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392277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3904488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Чейин – кийин маселеде: «Эмне өзгөргөн жок?» деп сурайм (М5).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494690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4928616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Пайызда бөлүктөрдү санатам: 3 : 5 → 8 бөлүк (М6).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79007" y="1225296"/>
            <a:ext cx="5980176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7607" y="1280160"/>
            <a:ext cx="54864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Ой жүгүртүү: эмне деп айтабыз?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7" y="178308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6B7280"/>
                </a:solidFill>
                <a:latin typeface="PT Sans"/>
              </a:rPr>
              <a:t>Айтпайбыз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178308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Айтабыз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7" y="219456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«Бул оңой эмеспи?»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67928" y="2468879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796528" y="219456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«Кадамдарды бирге карайлы.»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7607" y="315468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«Туура эмес!»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67928" y="342900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796528" y="315468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«Кантип таптың? Текшерип көрөлүчү.»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7607" y="411480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«Сен математикага жөндөмсүзсүң»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67928" y="438912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796528" y="411480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«Азырынча. Машыксаң, үйрөнөсүң.»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07607" y="507492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«Тез чыгар»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567928" y="534924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796528" y="507492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«Шашпа, адегенде тилке чий.»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