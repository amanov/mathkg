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1040" r:id="rId17"/>
    <p:sldId id="1041" r:id="rId18"/>
    <p:sldId id="1042" r:id="rId19"/>
    <p:sldId id="1043" r:id="rId20"/>
    <p:sldId id="1044" r:id="rId21"/>
    <p:sldId id="1045" r:id="rId22"/>
    <p:sldId id="1046" r:id="rId23"/>
  </p:sldIdLst>
  <p:sldSz cx="9906000" cy="6858000" type="A4"/>
  <p:notesSz cx="7104063" cy="10234613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 Math" panose="02040503050406030204" pitchFamily="18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90"/>
            <p14:sldId id="848"/>
          </p14:sldIdLst>
        </p14:section>
        <p14:section name="Yes No Maybe Slides" id="{059544AC-2C27-45B1-9F95-F87DF8854DD6}">
          <p14:sldIdLst>
            <p14:sldId id="1039"/>
            <p14:sldId id="946"/>
          </p14:sldIdLst>
        </p14:section>
        <p14:section name="goteachmaths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FF"/>
    <a:srgbClr val="FF0066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115" d="100"/>
          <a:sy n="115" d="100"/>
        </p:scale>
        <p:origin x="1446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Ооба / Жок / Балким. Жупта 30 секунд талкуулагыла, анан белги боюнча колду көтөргүлө (ооба — бармак өйдө, жок — ылдый, балким — капталга). Ар бир жоопту «анткени…» деп негиздегиле.</a:t>
            </a:r>
          </a:p>
          <a:p>
            <a:r>
              <a:t>Мугалим үчүн: Балким. Орточо боюнча — ооба (1 550 : 5 = 310; 1 800 : 6 = 300). Бирок «Тулпардын» орточосун Жамиланын 220 см натыйжасы төмөн түшүрөт. Суроо: «Бир өтө кичине сан орточону кантип өзгөртөт?»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Ооба / Жок / Балким. Жупта 30 секунд талкуулагыла, анан белги боюнча колду көтөргүлө (ооба — бармак өйдө, жок — ылдый, балким — капталга). Ар бир жоопту «анткени…» деп негиздегиле.</a:t>
            </a:r>
          </a:p>
          <a:p>
            <a:r>
              <a:t>Мугалим үчүн: Балким. Ирээттелген тизме 220, 280, 310, 320, 335, 335 → медиана (310 + 320) : 2 = 315. Медианага Жамиланын 220 см натыйжасы таасир бербейт — ошондуктан бул далил күчтүү. Бирок «жакшыраак» деген эмнени билдирерин алдын ала макулдашуу керек.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Ооба / Жок / Балким. Жупта 30 секунд талкуулагыла, анан белги боюнча колду көтөргүлө (ооба — бармак өйдө, жок — ылдый, балким — капталга). Ар бир жоопту «анткени…» деп негиздегиле.</a:t>
            </a:r>
          </a:p>
          <a:p>
            <a:r>
              <a:t>Мугалим үчүн: Жок. Командаларда окуучулардын саны ар башка (6 жана 5). Сумманы эмес, бир окуучуга туура келген маанини (орточо же медиана) салыштыруу адилет.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Ооба / Жок / Балким. Жупта 30 секунд талкуулагыла, анан белги боюнча колду көтөргүлө (ооба — бармак өйдө, жок — ылдый, балким — капталга). Ар бир жоопту «анткени…» деп негиздегиле.</a:t>
            </a:r>
          </a:p>
          <a:p>
            <a:r>
              <a:t>Мугалим үчүн: Жок. Бир окуучу бүт команданы көрсөтпөйт. Бул «эң чоң маанини» гана карайт.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Ооба / Жок / Балким. Жупта 30 секунд талкуулагыла, анан белги боюнча колду көтөргүлө (ооба — бармак өйдө, жок — ылдый, балким — капталга). Ар бир жоопту «анткени…» деп негиздегиле.</a:t>
            </a:r>
          </a:p>
          <a:p>
            <a:r>
              <a:t>Мугалим үчүн: Балким, бирок алсыз далил. Мода 335 — эки гана окуучунун натыйжасы. Мода «эң көп кездешкен» маанини гана айтат.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Ооба / Жок / Балким. Жупта 30 секунд талкуулагыла, анан белги боюнча колду көтөргүлө (ооба — бармак өйдө, жок — ылдый, балким — капталга). Ар бир жоопту «анткени…» деп негиздегиле.</a:t>
            </a:r>
          </a:p>
          <a:p>
            <a:r>
              <a:t>Мугалим үчүн: Ооба. 335 + 320 + 280 + 335 + 310 = 1 580; 1 580 : 5 = 316. Суроо: «Натыйжаны алып салуу адилетпи? Качан адилет болот?»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Ооба / Жок / Балким. Жупта 30 секунд талкуулагыла, анан белги боюнча колду көтөргүлө (ооба — бармак өйдө, жок — ылдый, балким — капталга). Ар бир жоопту «анткени…» деп негиздегиле.</a:t>
            </a:r>
          </a:p>
          <a:p>
            <a:r>
              <a:t>Мугалим үчүн: Жок. Кулач: «Шумкар» 360 − 280 = 80, «Тулпар» 335 − 220 = 115. «Шумкардын» натыйжалары жакыныраак.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2814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E79704-99DD-4B1B-8494-D08CBDEB0F74}"/>
              </a:ext>
            </a:extLst>
          </p:cNvPr>
          <p:cNvSpPr/>
          <p:nvPr/>
        </p:nvSpPr>
        <p:spPr>
          <a:xfrm>
            <a:off x="54510" y="65838"/>
            <a:ext cx="9791702" cy="6734907"/>
          </a:xfrm>
          <a:prstGeom prst="roundRect">
            <a:avLst>
              <a:gd name="adj" fmla="val 5179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C2B81-8C57-AFF2-F2A3-953188CC4EF0}"/>
              </a:ext>
            </a:extLst>
          </p:cNvPr>
          <p:cNvSpPr txBox="1"/>
          <p:nvPr/>
        </p:nvSpPr>
        <p:spPr>
          <a:xfrm>
            <a:off x="640080" y="914400"/>
            <a:ext cx="8595360" cy="457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400">
                <a:latin typeface="Calibri"/>
                <a:cs typeface="Calibri"/>
              </a:rPr>
              <a:t>«Шумкар» жакшыраак секирди, анткени анын орточосу чоңураак: 310 &gt; 300.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44" y="6035040"/>
            <a:ext cx="7606494" cy="7193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3600" b="1">
                <a:solidFill>
                  <a:srgbClr val="FE0165"/>
                </a:solidFill>
                <a:latin typeface="Arial Black"/>
                <a:cs typeface="Arial Black"/>
              </a:rPr>
              <a:t>Ооба…   Жок…   Балким…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Ырастоо 1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E79704-99DD-4B1B-8494-D08CBDEB0F74}"/>
              </a:ext>
            </a:extLst>
          </p:cNvPr>
          <p:cNvSpPr/>
          <p:nvPr/>
        </p:nvSpPr>
        <p:spPr>
          <a:xfrm>
            <a:off x="54510" y="65838"/>
            <a:ext cx="9791702" cy="6734907"/>
          </a:xfrm>
          <a:prstGeom prst="roundRect">
            <a:avLst>
              <a:gd name="adj" fmla="val 5179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C2B81-8C57-AFF2-F2A3-953188CC4EF0}"/>
              </a:ext>
            </a:extLst>
          </p:cNvPr>
          <p:cNvSpPr txBox="1"/>
          <p:nvPr/>
        </p:nvSpPr>
        <p:spPr>
          <a:xfrm>
            <a:off x="640080" y="914400"/>
            <a:ext cx="8595360" cy="457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400">
                <a:latin typeface="Calibri"/>
                <a:cs typeface="Calibri"/>
              </a:rPr>
              <a:t>«Тулпар» жакшыраак секирди, анткени анын медианасы чоңураак: 315 &gt; 300.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44" y="6035040"/>
            <a:ext cx="7606494" cy="7193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3600" b="1">
                <a:solidFill>
                  <a:srgbClr val="FE0165"/>
                </a:solidFill>
                <a:latin typeface="Arial Black"/>
                <a:cs typeface="Arial Black"/>
              </a:rPr>
              <a:t>Ооба…   Жок…   Балким…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Ырастоо 2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E79704-99DD-4B1B-8494-D08CBDEB0F74}"/>
              </a:ext>
            </a:extLst>
          </p:cNvPr>
          <p:cNvSpPr/>
          <p:nvPr/>
        </p:nvSpPr>
        <p:spPr>
          <a:xfrm>
            <a:off x="54510" y="65838"/>
            <a:ext cx="9791702" cy="6734907"/>
          </a:xfrm>
          <a:prstGeom prst="roundRect">
            <a:avLst>
              <a:gd name="adj" fmla="val 5179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C2B81-8C57-AFF2-F2A3-953188CC4EF0}"/>
              </a:ext>
            </a:extLst>
          </p:cNvPr>
          <p:cNvSpPr txBox="1"/>
          <p:nvPr/>
        </p:nvSpPr>
        <p:spPr>
          <a:xfrm>
            <a:off x="640080" y="914400"/>
            <a:ext cx="8595360" cy="457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400">
                <a:latin typeface="Calibri"/>
                <a:cs typeface="Calibri"/>
              </a:rPr>
              <a:t>«Тулпардын» натыйжаларынын суммасы 1 800 см, «Шумкардыкы» 1 550 см. Демек «Тулпар» жеңди.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44" y="6035040"/>
            <a:ext cx="7606494" cy="7193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3600" b="1">
                <a:solidFill>
                  <a:srgbClr val="FE0165"/>
                </a:solidFill>
                <a:latin typeface="Arial Black"/>
                <a:cs typeface="Arial Black"/>
              </a:rPr>
              <a:t>Ооба…   Жок…   Балким…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Ырастоо 3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E79704-99DD-4B1B-8494-D08CBDEB0F74}"/>
              </a:ext>
            </a:extLst>
          </p:cNvPr>
          <p:cNvSpPr/>
          <p:nvPr/>
        </p:nvSpPr>
        <p:spPr>
          <a:xfrm>
            <a:off x="54510" y="65838"/>
            <a:ext cx="9791702" cy="6734907"/>
          </a:xfrm>
          <a:prstGeom prst="roundRect">
            <a:avLst>
              <a:gd name="adj" fmla="val 5179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C2B81-8C57-AFF2-F2A3-953188CC4EF0}"/>
              </a:ext>
            </a:extLst>
          </p:cNvPr>
          <p:cNvSpPr txBox="1"/>
          <p:nvPr/>
        </p:nvSpPr>
        <p:spPr>
          <a:xfrm>
            <a:off x="640080" y="914400"/>
            <a:ext cx="8595360" cy="457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400">
                <a:latin typeface="Calibri"/>
                <a:cs typeface="Calibri"/>
              </a:rPr>
              <a:t>Эң узун секирик (360 см) «Шумкарда». Демек «Шумкар» жакшыраак.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44" y="6035040"/>
            <a:ext cx="7606494" cy="7193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3600" b="1">
                <a:solidFill>
                  <a:srgbClr val="FE0165"/>
                </a:solidFill>
                <a:latin typeface="Arial Black"/>
                <a:cs typeface="Arial Black"/>
              </a:rPr>
              <a:t>Ооба…   Жок…   Балким…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Ырастоо 4 /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E79704-99DD-4B1B-8494-D08CBDEB0F74}"/>
              </a:ext>
            </a:extLst>
          </p:cNvPr>
          <p:cNvSpPr/>
          <p:nvPr/>
        </p:nvSpPr>
        <p:spPr>
          <a:xfrm>
            <a:off x="54510" y="65838"/>
            <a:ext cx="9791702" cy="6734907"/>
          </a:xfrm>
          <a:prstGeom prst="roundRect">
            <a:avLst>
              <a:gd name="adj" fmla="val 5179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C2B81-8C57-AFF2-F2A3-953188CC4EF0}"/>
              </a:ext>
            </a:extLst>
          </p:cNvPr>
          <p:cNvSpPr txBox="1"/>
          <p:nvPr/>
        </p:nvSpPr>
        <p:spPr>
          <a:xfrm>
            <a:off x="640080" y="914400"/>
            <a:ext cx="8595360" cy="457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400">
                <a:latin typeface="Calibri"/>
                <a:cs typeface="Calibri"/>
              </a:rPr>
              <a:t>Мода боюнча «Тулпар» жеңди: 335 &gt; 300.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44" y="6035040"/>
            <a:ext cx="7606494" cy="7193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3600" b="1">
                <a:solidFill>
                  <a:srgbClr val="FE0165"/>
                </a:solidFill>
                <a:latin typeface="Arial Black"/>
                <a:cs typeface="Arial Black"/>
              </a:rPr>
              <a:t>Ооба…   Жок…   Балким…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Ырастоо 5 /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E79704-99DD-4B1B-8494-D08CBDEB0F74}"/>
              </a:ext>
            </a:extLst>
          </p:cNvPr>
          <p:cNvSpPr/>
          <p:nvPr/>
        </p:nvSpPr>
        <p:spPr>
          <a:xfrm>
            <a:off x="54510" y="65838"/>
            <a:ext cx="9791702" cy="6734907"/>
          </a:xfrm>
          <a:prstGeom prst="roundRect">
            <a:avLst>
              <a:gd name="adj" fmla="val 5179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C2B81-8C57-AFF2-F2A3-953188CC4EF0}"/>
              </a:ext>
            </a:extLst>
          </p:cNvPr>
          <p:cNvSpPr txBox="1"/>
          <p:nvPr/>
        </p:nvSpPr>
        <p:spPr>
          <a:xfrm>
            <a:off x="640080" y="914400"/>
            <a:ext cx="8595360" cy="457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400">
                <a:latin typeface="Calibri"/>
                <a:cs typeface="Calibri"/>
              </a:rPr>
              <a:t>Жамиланын 220 см натыйжасын алып салсак, «Тулпардын» орточосу 316 см болот.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44" y="6035040"/>
            <a:ext cx="7606494" cy="7193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3600" b="1">
                <a:solidFill>
                  <a:srgbClr val="FE0165"/>
                </a:solidFill>
                <a:latin typeface="Arial Black"/>
                <a:cs typeface="Arial Black"/>
              </a:rPr>
              <a:t>Ооба…   Жок…   Балким…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Ырастоо 6 /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E79704-99DD-4B1B-8494-D08CBDEB0F74}"/>
              </a:ext>
            </a:extLst>
          </p:cNvPr>
          <p:cNvSpPr/>
          <p:nvPr/>
        </p:nvSpPr>
        <p:spPr>
          <a:xfrm>
            <a:off x="54510" y="65838"/>
            <a:ext cx="9791702" cy="6734907"/>
          </a:xfrm>
          <a:prstGeom prst="roundRect">
            <a:avLst>
              <a:gd name="adj" fmla="val 5179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C2B81-8C57-AFF2-F2A3-953188CC4EF0}"/>
              </a:ext>
            </a:extLst>
          </p:cNvPr>
          <p:cNvSpPr txBox="1"/>
          <p:nvPr/>
        </p:nvSpPr>
        <p:spPr>
          <a:xfrm>
            <a:off x="640080" y="914400"/>
            <a:ext cx="8595360" cy="4572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3400">
                <a:latin typeface="Calibri"/>
                <a:cs typeface="Calibri"/>
              </a:rPr>
              <a:t>«Тулпардын» натыйжалары бири-бирине жакыныраак, анткени анын кулачы кичине.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44" y="6035040"/>
            <a:ext cx="7606494" cy="7193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3600" b="1">
                <a:solidFill>
                  <a:srgbClr val="FE0165"/>
                </a:solidFill>
                <a:latin typeface="Arial Black"/>
                <a:cs typeface="Arial Black"/>
              </a:rPr>
              <a:t>Ооба…   Жок…   Балким…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ky-KG" sz="1600">
                <a:solidFill>
                  <a:srgbClr val="7F7F7F"/>
                </a:solidFill>
                <a:latin typeface="Calibri"/>
                <a:cs typeface="Calibri"/>
              </a:rPr>
              <a:t>Ырастоо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10452</TotalTime>
  <Words>168</Words>
  <Application>Microsoft Office PowerPoint</Application>
  <PresentationFormat>A4 Paper (210x297 mm)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Rufus Woodwark</cp:lastModifiedBy>
  <cp:revision>509</cp:revision>
  <cp:lastPrinted>2017-12-31T22:38:51Z</cp:lastPrinted>
  <dcterms:created xsi:type="dcterms:W3CDTF">2017-01-17T16:57:04Z</dcterms:created>
  <dcterms:modified xsi:type="dcterms:W3CDTF">2024-08-12T09:56:59Z</dcterms:modified>
</cp:coreProperties>
</file>