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беремин. Шырдактын, ала кийиздин же боз үйдүн оюусунун сүрөтүн көрсөтүүнү сунуштайм: оюунун сол жана оң жагы кандай? Окуучулар болжолдошсун: жарымын билсек, бүтүнүн кантип табабыз?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Тилек туура. Кыйгачынан бүктөсө, бурчтар дал келбейт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2–3 барак эски кагаз (дептердин барагы болот), кайчы, 3–4 бөтөлкө капкагы, чоң чакмактуу кагаз, кичине күзгү (болсо). 1) Кагазды так ортосунан бүктөп, бүктөмдүн жанынан жарым оюу кесишет; ачканда бүктөм сызыгы = симметрия огу. 2) Капкактарды чакмак кагазга коюп, «3 оңго» жылдырышат: ар бир капкак бирдей жылат, фигура бурулбайт (М5). Баштапкы чакмакты санабайбыз: «бир, эки, үч» (М4).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чакмак дептерге 8 × 6 тор чийип, тамгаларды (А–И) жана сандарды (1–6, ылдыйдан өйдө) жазышат. «З» тамгасын колдонбойбуз: ал 3 цифрасына окшош, ошондуктан Ж дан кийин И келет. Солдо: ар бир чакмак үчүн «октон канча?» деп санап, ары жагына ошончо коёбуз (М3); үч бурчтуктун учу да оодарылат (М2). Оңдо: тумарчанын ар бир чакмагы 4 оңго, 2 өйдө жылат, учу ошол эле жакты карайт (М5). Тамгалардын жуптары 9га толот: Б (2) ↔ Ж (7).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жаттоодон мурун ар бирин колго алып көрөбүз: бүктөө (ок), күзгү (чагылдыруу), столдо сүйрөтүү (жылдыруу). Чагылдырганда фигура оодарылат, жылдырганда оодарылбайт жана бурулбайт (М2, М5).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«Б экинчи тамга, 9 − 2 = 7, жетинчи тамга Ж».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✓; Б = М4; В = М7; Г = М7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эки эселөө → кайталап жылдыруу → салыштыруу. Жооптор: 7 × 2 = 14 чакмак; 7 × 3 = 21 чакмак; 22 − 14 = 8 чакмак көп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Чагылдыруу жарымды эки эселейт: 9 × 2 = 18 чакмак (12-слайддагы оюу). Жылдыруу оюуну кайталайт, өзгөртпөйт: 18 × 4 = 72. Боёк: 72 ÷ 24 = 3 банка. Эки жарым чакмак (үч бурчтук) = 1 чакмак.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 ок; Ж5;  Е2; Е4, Ж4, Ж5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4-класс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Симметрия, чагылдыруу жана жылдыруу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Караколдогу оюу дубал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Айдана менен Тилек мектептин дубалына оюу тартышат: чагылдырышат жана жылдырышат.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стандарты: 2-класс (симметрия, чагылдыруу), Cambridge Stage 4 (чакмак кагазда чагылдыруу жана жылдыруу). Мазмуну, сандары жана окуясы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Караколдогу оюу дубал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Каракол шаарындагы мектепте коридордун дубалы жаңыланат. 4-класс аны кыргыз оюусу менен кооздойт.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Айдана оюунун сол жарымын чакмак кагазга чийди. Тилек оң жарымын күзгүдөй чагылдырат.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Гүлзат эже: «Бүтүн оюуну дубал боюнча жылдырып, 4 жолу кайталайбыз».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чакмак боёк менен боёлот. Канча банка боёк алыш керек?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Оюунун жарымында 9 чакмак. Аны чагылдырып, бүтүн оюуну дубалга 4 жолу тартышат. 1 банка боёк 24 чакмакка жетет. Канча банка керек?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Фигуранын симметрия огун табам жана бүктөп текшерем.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Фигураны тик же жатык ок боюнча чакмак кагазда чагылдырам.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Фигураны чакмак кагазда жылдырам жана жылдырууну айтам: «3 оңго, 2 өйдө».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Симметрия огу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Чагылдыруу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Жылдыруу, чакмак аттары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Октон канча чакмак?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кагаз бүктөө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Капкактар чакмакта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Караколдогу оюу дубал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Шырдак, ала кийиз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2-класс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Симметрия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Буруу, чагылдыруу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3-класс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Фигуралар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Чакмак кагаз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4-класс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Симметрия огу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Чагылдыруу, жылдыруу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5–6-класс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Бурчтар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Координаттар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Квадраттын канча жагы бар?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 ×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16нын жарымы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Тик бурчтуктун карама-каршы жактары кандай?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Квадраттын канча жагы бар?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9 ×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16нын жарымы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Тик бурчтуктун карама-каршы жактары кандай?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Барабар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Гүлзат эже: «Тик бурчтуктун канча симметрия огу бар?»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Айдана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Тик ок, жатык ок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жана эки кыйгач: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ок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Тилек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Тик ок жана жатык ок: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 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Кагаз тик бурчтукту бүктөп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кагазды бүктөп оюу кесебиз (симметрия), капкактарды чакмак кагазда жылдырабыз.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38862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57984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3557"/>
                </a:solidFill>
                <a:latin typeface="PT Sans"/>
              </a:rPr>
              <a:t>1. Бүктө → кес → ач</a:t>
            </a:r>
          </a:p>
        </p:txBody>
      </p:sp>
      <p:sp>
        <p:nvSpPr>
          <p:cNvPr id="14" name="Freeform 13"/>
          <p:cNvSpPr/>
          <p:nvPr/>
        </p:nvSpPr>
        <p:spPr>
          <a:xfrm>
            <a:off x="640080" y="2606040"/>
            <a:ext cx="960120" cy="1691640"/>
          </a:xfrm>
          <a:custGeom>
            <a:avLst/>
            <a:gdLst/>
            <a:ahLst/>
            <a:cxnLst/>
            <a:rect l="l" t="t" r="r" b="b"/>
            <a:pathLst>
              <a:path w="960120" h="1691640">
                <a:moveTo>
                  <a:pt x="0" y="0"/>
                </a:moveTo>
                <a:lnTo>
                  <a:pt x="960120" y="0"/>
                </a:lnTo>
                <a:lnTo>
                  <a:pt x="960120" y="1691640"/>
                </a:lnTo>
                <a:lnTo>
                  <a:pt x="0" y="169164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14400" y="2697480"/>
            <a:ext cx="685800" cy="1463040"/>
          </a:xfrm>
          <a:custGeom>
            <a:avLst/>
            <a:gdLst/>
            <a:ahLst/>
            <a:cxnLst/>
            <a:rect l="l" t="t" r="r" b="b"/>
            <a:pathLst>
              <a:path w="685800" h="1463040">
                <a:moveTo>
                  <a:pt x="685800" y="0"/>
                </a:moveTo>
                <a:lnTo>
                  <a:pt x="274320" y="228600"/>
                </a:lnTo>
                <a:lnTo>
                  <a:pt x="457200" y="411480"/>
                </a:lnTo>
                <a:lnTo>
                  <a:pt x="0" y="502920"/>
                </a:lnTo>
                <a:lnTo>
                  <a:pt x="182880" y="731520"/>
                </a:lnTo>
                <a:lnTo>
                  <a:pt x="0" y="960120"/>
                </a:lnTo>
                <a:lnTo>
                  <a:pt x="457200" y="1051560"/>
                </a:lnTo>
                <a:lnTo>
                  <a:pt x="274320" y="1234440"/>
                </a:lnTo>
                <a:lnTo>
                  <a:pt x="685800" y="1463040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600200" y="2514600"/>
            <a:ext cx="0" cy="1874520"/>
          </a:xfrm>
          <a:prstGeom prst="line">
            <a:avLst/>
          </a:prstGeom>
          <a:ln w="2540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59" y="4343400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A5A70"/>
                </a:solidFill>
                <a:latin typeface="PT Sans"/>
              </a:rPr>
              <a:t>бүктөлгөн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83080" y="3429000"/>
            <a:ext cx="502920" cy="0"/>
          </a:xfrm>
          <a:prstGeom prst="line">
            <a:avLst/>
          </a:prstGeom>
          <a:ln w="25400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2331720" y="2606040"/>
            <a:ext cx="1828800" cy="1691640"/>
          </a:xfrm>
          <a:custGeom>
            <a:avLst/>
            <a:gdLst/>
            <a:ahLst/>
            <a:cxnLst/>
            <a:rect l="l" t="t" r="r" b="b"/>
            <a:pathLst>
              <a:path w="1828800" h="1691640">
                <a:moveTo>
                  <a:pt x="0" y="0"/>
                </a:moveTo>
                <a:lnTo>
                  <a:pt x="1828800" y="0"/>
                </a:lnTo>
                <a:lnTo>
                  <a:pt x="1828800" y="1691640"/>
                </a:lnTo>
                <a:lnTo>
                  <a:pt x="0" y="169164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560320" y="2697480"/>
            <a:ext cx="1371600" cy="1463040"/>
          </a:xfrm>
          <a:custGeom>
            <a:avLst/>
            <a:gdLst/>
            <a:ahLst/>
            <a:cxnLst/>
            <a:rect l="l" t="t" r="r" b="b"/>
            <a:pathLst>
              <a:path w="1371600" h="1463040">
                <a:moveTo>
                  <a:pt x="685800" y="0"/>
                </a:moveTo>
                <a:lnTo>
                  <a:pt x="274320" y="228600"/>
                </a:lnTo>
                <a:lnTo>
                  <a:pt x="457200" y="411480"/>
                </a:lnTo>
                <a:lnTo>
                  <a:pt x="0" y="502920"/>
                </a:lnTo>
                <a:lnTo>
                  <a:pt x="182880" y="731520"/>
                </a:lnTo>
                <a:lnTo>
                  <a:pt x="0" y="960120"/>
                </a:lnTo>
                <a:lnTo>
                  <a:pt x="457200" y="1051560"/>
                </a:lnTo>
                <a:lnTo>
                  <a:pt x="274320" y="1234440"/>
                </a:lnTo>
                <a:lnTo>
                  <a:pt x="685800" y="1463040"/>
                </a:lnTo>
                <a:lnTo>
                  <a:pt x="1097280" y="1234440"/>
                </a:lnTo>
                <a:lnTo>
                  <a:pt x="914400" y="1051560"/>
                </a:lnTo>
                <a:lnTo>
                  <a:pt x="1371600" y="960120"/>
                </a:lnTo>
                <a:lnTo>
                  <a:pt x="1188720" y="731520"/>
                </a:lnTo>
                <a:lnTo>
                  <a:pt x="1371600" y="502920"/>
                </a:lnTo>
                <a:lnTo>
                  <a:pt x="914400" y="411480"/>
                </a:lnTo>
                <a:lnTo>
                  <a:pt x="1097280" y="228600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246120" y="2514600"/>
            <a:ext cx="0" cy="1874520"/>
          </a:xfrm>
          <a:prstGeom prst="line">
            <a:avLst/>
          </a:prstGeom>
          <a:ln w="2540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31720" y="43434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A5A70"/>
                </a:solidFill>
                <a:latin typeface="PT Sans"/>
              </a:rPr>
              <a:t>ачылды: бүктөм = ок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8848" y="2103120"/>
            <a:ext cx="420624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157984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3557"/>
                </a:solidFill>
                <a:latin typeface="PT Sans"/>
              </a:rPr>
              <a:t>2. Капкактарды 3 оңго жылдыр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54880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93792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32704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71616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10528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0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88352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27264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66175" y="2743200"/>
            <a:ext cx="0" cy="219456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54880" y="2743200"/>
            <a:ext cx="3511295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754880" y="3182112"/>
            <a:ext cx="3511295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754880" y="3621024"/>
            <a:ext cx="3511295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80" y="4059935"/>
            <a:ext cx="3511295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80" y="4498848"/>
            <a:ext cx="3511295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754880" y="4937760"/>
            <a:ext cx="3511295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800600" y="3666744"/>
            <a:ext cx="347472" cy="347472"/>
          </a:xfrm>
          <a:prstGeom prst="ellipse">
            <a:avLst/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17336" y="3666744"/>
            <a:ext cx="347472" cy="347472"/>
          </a:xfrm>
          <a:prstGeom prst="ellipse">
            <a:avLst/>
          </a:prstGeom>
          <a:solidFill>
            <a:srgbClr val="F5E9E0"/>
          </a:solidFill>
          <a:ln w="222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00600" y="4105655"/>
            <a:ext cx="347472" cy="347472"/>
          </a:xfrm>
          <a:prstGeom prst="ellipse">
            <a:avLst/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17336" y="4105655"/>
            <a:ext cx="347472" cy="347472"/>
          </a:xfrm>
          <a:prstGeom prst="ellipse">
            <a:avLst/>
          </a:prstGeom>
          <a:solidFill>
            <a:srgbClr val="F5E9E0"/>
          </a:solidFill>
          <a:ln w="222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239512" y="4105655"/>
            <a:ext cx="347472" cy="347472"/>
          </a:xfrm>
          <a:prstGeom prst="ellipse">
            <a:avLst/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56248" y="4105655"/>
            <a:ext cx="347472" cy="347472"/>
          </a:xfrm>
          <a:prstGeom prst="ellipse">
            <a:avLst/>
          </a:prstGeom>
          <a:solidFill>
            <a:srgbClr val="F5E9E0"/>
          </a:solidFill>
          <a:ln w="222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974336" y="3474720"/>
            <a:ext cx="1316736" cy="0"/>
          </a:xfrm>
          <a:prstGeom prst="line">
            <a:avLst/>
          </a:prstGeom>
          <a:ln w="25400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96281" y="3163824"/>
            <a:ext cx="3950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35193" y="3163824"/>
            <a:ext cx="3950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4105" y="3163824"/>
            <a:ext cx="3950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49834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4A5A70"/>
                </a:solidFill>
                <a:latin typeface="PT Sans"/>
              </a:rPr>
              <a:t>Ар бир капкак 3 чакмак оңго. Фигура бурулбайт!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8" y="2103120"/>
            <a:ext cx="287121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2157984"/>
            <a:ext cx="265176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2–3 барак эски кагаз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кайчы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3–4 бөтөлкө капкагы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чакмак кагаз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кичине күзгү (болсо)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Бүктөм = ок; сүйрөө = жылдыруу!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чакмак кагазда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Айдананын жарым оюусу Г|Д огуна чейин. Тилек аны чагылдырат; тумарча жылдырылат.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62456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64792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67128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69464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71800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74136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78808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0120" y="2194560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" y="2596896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0120" y="2999232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" y="3401568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0120" y="3803904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0120" y="4206240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" y="4608576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167128" y="2194560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402336" y="0"/>
                </a:move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4792" y="2596896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402336" y="0"/>
                </a:move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167128" y="2596896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362456" y="299923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402336" y="0"/>
                </a:move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764792" y="299923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167128" y="299923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62456" y="34015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764792" y="34015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167128" y="34015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4792" y="3803904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167128" y="3803904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167128" y="4206240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569464" y="2194560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971800" y="2596896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569464" y="2596896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374136" y="299923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971800" y="299923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569464" y="299923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374136" y="34015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971800" y="34015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569464" y="34015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971800" y="3803904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569464" y="3803904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569464" y="4206240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569464" y="2084831"/>
            <a:ext cx="0" cy="2633473"/>
          </a:xfrm>
          <a:prstGeom prst="line">
            <a:avLst/>
          </a:prstGeom>
          <a:ln w="3175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60120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2456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64792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67128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9464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71800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74136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76472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" y="2194560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" y="2596896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" y="2999232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" y="3401568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3803904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4206240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0248" y="237744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A5A"/>
                </a:solidFill>
                <a:latin typeface="PT Sans"/>
              </a:rPr>
              <a:t>Айдана:</a:t>
            </a:r>
          </a:p>
          <a:p>
            <a:pPr algn="l"/>
            <a:r>
              <a:rPr sz="1300" b="1" i="0">
                <a:solidFill>
                  <a:srgbClr val="007A5A"/>
                </a:solidFill>
                <a:latin typeface="PT Sans"/>
              </a:rPr>
              <a:t>сол жарымы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70248" y="320040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84400"/>
                </a:solidFill>
                <a:latin typeface="PT Sans"/>
              </a:rPr>
              <a:t>Тилек:</a:t>
            </a:r>
          </a:p>
          <a:p>
            <a:pPr algn="l"/>
            <a:r>
              <a:rPr sz="1300" b="1" i="0">
                <a:solidFill>
                  <a:srgbClr val="A84400"/>
                </a:solidFill>
                <a:latin typeface="PT Sans"/>
              </a:rPr>
              <a:t>чагылдырды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70248" y="402336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84400"/>
                </a:solidFill>
                <a:latin typeface="PT Sans"/>
              </a:rPr>
              <a:t>Ок: Г|Д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66560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168896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571232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73568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375904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778240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180576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582912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985248" y="2194560"/>
            <a:ext cx="0" cy="241401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766560" y="2194560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766560" y="2596896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766560" y="2999232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766560" y="3401568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766560" y="3803904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766560" y="4206240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766560" y="4608576"/>
            <a:ext cx="32186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7168896" y="3803904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7571232" y="3803904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7571232" y="34015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8778240" y="299923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9180576" y="299923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0"/>
                </a:ln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9180576" y="2596896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66560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68896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71232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73568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75904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78240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Е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0576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Ж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82912" y="4636008"/>
            <a:ext cx="4023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73952" y="2194560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73952" y="2596896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73952" y="2999232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73952" y="3401568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73952" y="3803904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73952" y="4206240"/>
            <a:ext cx="256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cxnSp>
        <p:nvCxnSpPr>
          <p:cNvPr id="106" name="Connector 105"/>
          <p:cNvCxnSpPr/>
          <p:nvPr/>
        </p:nvCxnSpPr>
        <p:spPr>
          <a:xfrm flipV="1">
            <a:off x="7370064" y="3273552"/>
            <a:ext cx="1499616" cy="731520"/>
          </a:xfrm>
          <a:prstGeom prst="line">
            <a:avLst/>
          </a:prstGeom>
          <a:ln w="28575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076688" y="2468879"/>
            <a:ext cx="1463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3557"/>
                </a:solidFill>
                <a:latin typeface="PT Sans"/>
              </a:rPr>
              <a:t>4 оңго,</a:t>
            </a:r>
          </a:p>
          <a:p>
            <a:pPr algn="l"/>
            <a:r>
              <a:rPr sz="1500" b="1" i="0">
                <a:solidFill>
                  <a:srgbClr val="1D3557"/>
                </a:solidFill>
                <a:latin typeface="PT Sans"/>
              </a:rPr>
              <a:t>2 өйдө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76688" y="3566160"/>
            <a:ext cx="1463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4A5A70"/>
                </a:solidFill>
                <a:latin typeface="PT Sans"/>
              </a:rPr>
              <a:t>Учу ошол</a:t>
            </a:r>
          </a:p>
          <a:p>
            <a:pPr algn="l"/>
            <a:r>
              <a:rPr sz="1200" b="0" i="1">
                <a:solidFill>
                  <a:srgbClr val="4A5A70"/>
                </a:solidFill>
                <a:latin typeface="PT Sans"/>
              </a:rPr>
              <a:t>эле жакты</a:t>
            </a:r>
          </a:p>
          <a:p>
            <a:pPr algn="l"/>
            <a:r>
              <a:rPr sz="1200" b="0" i="1">
                <a:solidFill>
                  <a:srgbClr val="4A5A70"/>
                </a:solidFill>
                <a:latin typeface="PT Sans"/>
              </a:rPr>
              <a:t>карайт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Чагылдыруу: А↔И, Б↔Ж, В↔Е, Г↔Д.     Жылдыруу: Б2 → Е4 (4 оңго, 2 өйдө)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Бүктө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Симметрия огу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Эки жагы дал келет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Чагылдыруу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Октон бирдей; оодарылат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→ 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Жылдыруу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Бурулбайт, оодарылбайт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Чакмак аты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Тамга + сан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Тик ок Г|Д: Б3 → Ж3.     Б3 → 4 оңго, 2 өйдө → Е5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Тумарча Б2, В2, В3 чакмактарында. Тик ок Г|Д. Тумарчаны чагылдыр.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Б2 → Ж2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 + 7 =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В2 → Е2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 + 6 =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В3 → Е3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катар өзгөрбөйт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Чагылдырылган тумарча = </a:t>
            </a:r>
            <a:r>
              <a:rPr sz="3400" b="1">
                <a:solidFill>
                  <a:srgbClr val="24418C"/>
                </a:solidFill>
                <a:latin typeface="PT Sans"/>
              </a:rPr>
              <a:t>Ж2, Е2, Е3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Гүл В1, Г1, Г2 чакмактарында. Аны 4 чакмак оңго, 3 чакмак өйдө жылдыр.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В1 → Ж4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В + 4 = Ж;  1 + 3 =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Г1 → И4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Г + 4 = 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Г2 → И5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 + 3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Жылдырылган гүл = </a:t>
            </a:r>
            <a:r>
              <a:rPr sz="3400" b="1">
                <a:solidFill>
                  <a:srgbClr val="24418C"/>
                </a:solidFill>
                <a:latin typeface="PT Sans"/>
              </a:rPr>
              <a:t>Ж4, И4, И5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9га толуктоо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Тик ок Г|Д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 = 2, 9 − 2 =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Ок Г|Д: жуп тамгалардын номерлери 9га толот.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Октон сана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В: окко чейин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ары жагында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Октон канча болсо, ары жагында ошончо.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Жылдырууларды кош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оңго + 3 оңго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+ 1 ылдый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5 оңго, 1 ылдый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Тилке боюнча өзүнчө, катар боюнча өзүнчө.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Гүл Г2 чакмагында. Аны 3 чакмак оңго, 2 чакмак өйдө жылдырышты. Гүл кайсы чакмакта?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Ж4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Е3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Е5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А4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Оюунун бир жарымында 7 чакмак боёлгон. Тилек экинчи жарымын чагылдырат. Бүтүн оюуда канча чакмак?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Бир оюу 3 чакмак узун. Ал жылдырылып, катар 7 оюу тартылды (арасы жок). Кайма канча чакмак?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Айдананын оюусунун жарымында 7 чакмак, Тилектикинде 11 чакмак. Бүтүн оюуларда Тилекте канча көп?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Оюунун бир жарымында 7 чакмак боёлгон. Тилек экинчи жарымын чагылдырат. Бүтүн оюуда канча чакмак?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8884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 × 2 = 14 чакмак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Бир оюу 3 чакмак узун. Ал жылдырылып, катар 7 оюу тартылды (арасы жок). Кайма канча чакмак?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444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9289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4133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58978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3822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8667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 × 3 = 21 чакмак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Айдананын оюусунун жарымында 7 чакмак, Тилектикинде 11 чакмак. Бүтүн оюуларда Тилекте канча көп?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Айдана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5312" y="3017520"/>
            <a:ext cx="56055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Тилек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5312" y="3574389"/>
            <a:ext cx="56055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95866" y="3574389"/>
            <a:ext cx="320317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22 − 14 = 8 чакмак көп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Квадраттын симметрия огу канча?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Тик ок Г|Д: А3 →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Тик ок Г|Д: В6 →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Д2 → 3 өйдө, 2 солго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Б1 → Е4: кантип жылды?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Жатык ок 4|5: Г2 → 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Квадраттын симметрия огу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 ок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Тик ок Г|Д: А3 →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И3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Тик ок Г|Д: В6 →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Е6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Д2 → 3 өйдө, 2 солго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В5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Б1 → Е4: кантип жылды?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 оңго, 3 өйдө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Жатык ок 4|5: Г2 → 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Г7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Оюунун жарымында 9 чакмак. Аны чагылдырып, бүтүн оюуну дубалга 4 жолу тартышат. 1 банка боёк 24 чакмакка жетет. Канча банка керек?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4 оюу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2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9579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9 × 2 =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бир оюуда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18 × 4 = 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4 оюуда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72 ÷ 24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банка боёк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Бир оюуда 18 чакмак, 4 оюуда 72 чакмак: 3 банка боёк.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Караколдогу дубал үчүн оюу түз: 1 симметрия огу болсун, анан аны жылдырып кайма жаса.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Айдана, Тилек, Гүлзат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Тик бурчтуктун (квадрат эмес) канча симметрия огу бар?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Тик ок Г|Д. Б5 жана В2 чакмактарын чагылдыр.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Тумарча Б2, В2, В3 чакмактарында. Аны 4 оңго, 2 өйдө жылдыр.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Симметрия огун кантип табабыз жана кантип текшеребиз?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Чагылдыруу менен жылдыруунун айырмасы эмнеде?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тик бурчтуктун кыйгачы симметрия огу эмес?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чагылдырууда «октон канча чакмак?» деп сурайм (М3).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Чагылдыргандан кийин кагазды бүктөтүп же күзгү коюп текшертем (М2).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Жылдырууда баштапкы чакмакты санабайбыз: сызыкты аттап «бир, эки, үч» (М4).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Тик бурчтукту кыйгачынан бүктөтөм: дал келбегенин окуучу өзү көрсүн (М1).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