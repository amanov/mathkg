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болжолдошсун: кургак өрүк 14 кгдан көппү, азбы? 0,5ке бөлгөндө пакет 3,5тен азбы, көппү? Жоопту сабактын аягында (22-слайд) текшеребиз. Проектор жок болсо, сандарды доскага жазам.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Жаркынай: 3 : 0,5 = 30 : 5 = 6 (Самат – М5, «бөлүү дайыма кичирейтет»).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кагазга чийилген разряд таблицасы жана 10–15 бөтөлкө капкагы (же таш, буурчак), чакмак дептерден 10 × 10 чарчы жана эки түстүү карандаш, 3 кагаз тилке (1 м же 10 чакмак). 1) 0,35ти капкак менен коюшат, анан × 10: ар бир капкак бир тилке солго жылат, үтүр ордунда калат. 2) Чарчы = 1. 4 мамыча (0,4) бир түс, 3 сап (0,3) экинчи түс; эки түс кесилишкен 12 чакмак = 0,12. 3) 3 тилкени жарымга кесишет: 6 бөлүк, демек 3 : 0,5 = 6.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Сан огун доскага чийем. Сурайм: 0дөн 3,5ке чейин 0,5тен канча кадам? Окуучулар санашат: 7. Анан ошол эле тилкеге сандарды 10 эсе чоң жазам: 0, 10, 20, 30, 35. Кадам 5, кадамдар дагы эле 7. «Экөөнү тең 10 эсе чоңойтсок, тийинди өзгөрбөйт» деп окуучулар өздөрү айтышсын. Саматтын «бөлүү кичирейтет» деген оюна кайтам (М5).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× 10, 100, 1000: цифралар 1, 2, 3 орун солго жылат (үтүрдү оңго жылдырабыз деп да айтабыз). «Аягына нөл кош» эрежеси бүтүн сандарга гана туура (М1). Көбөйтүү: үтүрсүз эсептеп, көбөйтүүчүлөрдүн үтүрдөн кийинки цифраларын кошобуз (М4). Бөлүү: бөлүүчү бүтүн болгуча экөөнү тең бирдей чоңойтобуз (М6), тийинди өзгөрбөйт (Мисал 2). Ар дайым болжол менен текшеребиз.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«2,4 × 3: эки бүтүн үч жолу – 6, төрт ондон бир үч жолу – 1,2». «Оозеки беш мүнөт» (класста колдонуу картасы) эки апта ушул ыкмаларды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М6; Б = ✓; В = М5; Г = М2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бөлүктөр → канча жолу бар → эки кадам. Жооптор: 2,4 × 3 = 7,2 кг; 2,5 : 0,5 = 25 : 5 = 5 пакет; 18 × 0,2 = 3,6;  3,6 : 0,6 =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 × 0,25: 14 × 25 = 350, үтүрдөн кийин 2 цифра: 3,50 = 3,5 кг. Же оозеки: 0,25 = чейрек, 14түн чейреги 3,5. 3,5 : 0,5: экөөнү тең × 10, 35 : 5 = 7. Тилкеде 0,5 кг жети жолу бар. Самат М5 катасын кетирди: 1ден кичине санга бөлсөк, жооп чоңоёт. 12-слайдды кайра көрсөтөм.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270; 0,48;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5-класс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Баткендеги өрүк кургатуу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Самат менен Жаркынай Гүлзат эженин бакчасында өрүк терип, күнгө кургатып, пакеттерге салышат.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Математика стандарты (2018), 5-класс: ондук бөлчөктөр менен амалдар. Кыргызча окуу китеби папкада жок;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Баткендеги өрүк кургатуу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Баткенде жай: Гүлзат эженин бакчасында өрүк бышты.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Самат 14 кг жаңы өрүк терди. Өрүктү тактайларга жайып, күнгө кургатышат.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Гүлзат эже: «1 кг жаңы өрүктөн 0,25 кг гана кургак өрүк чыгат».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Жаркынай кургак өрүктү 0,5 кгдан пакеттерге салат. Самат: «0,5ке бөлсөк, сан кичирейет. Пакет аз болот!»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14 кг жаңы өрүктөн канча кг кургак өрүк чыгат? Ал 0,5 кгдан канча пакет болот? Самат туурабы?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бөлчөктү 10, 100, 1000ге көбөйтөм жана бөлөм, цифралардын жылышын түшүндүрөм.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бөлчөктү бүтүн санга жана ондук бөлчөккө көбөйтөм, үтүрдү туура коём.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Ондук бөлчөккө бөлөм: экөөнү тең чоңойтуп, бүтүн санга бөлөм.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× жана : 10, 100, 1000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× бүтүн сан, × ондук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: ондук, маселелер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Катаны тап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капкак, чарчы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Өрүк кургатуу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Сом жана кг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Көп орундуу сандарды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көбөйтүү, бөлүү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бөлчөк: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разряд, кошуу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5-класс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Ондук бөлчөктөрдү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көбөйтүү, бөлүү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6-класс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Бөлчөк, ондук, пайыз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Пайызды табуу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36 ×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4 500 :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3,45 санында 4түн мааниси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24 × 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36 ×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3 600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4 500 :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3,45 санында 4түн мааниси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24 × 13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Гүлзат эже: «3 кг кургак өрүктү 0,5 кгдан пакеттерге салабыз. Канча пакет болот?»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Самат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Бөлүү кичирейтет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 : 0,5 = 1,5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1,5 пакет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Жаркынай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 кгда 0,5 кг канча жолу бар?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 кгда 2 пакет, 3 кгда 6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30 : 5 = 6 пакет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Кагаз тилкени кесип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капкактарды разряд таблицасында жылдыр (× 10); чакмак кагазда 0,4 × 0,3; тилкени 0,5тен кес.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48840"/>
            <a:ext cx="3840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Разряд таблицасы: × 10, ×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560320"/>
            <a:ext cx="713232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Ондук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06324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61872" y="2560320"/>
            <a:ext cx="713232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Бирдик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61872" y="306324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61872" y="370332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61872" y="434340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49424" y="2560320"/>
            <a:ext cx="713232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Ондон бир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9424" y="306324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424" y="370332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9424" y="434340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62656" y="2560320"/>
            <a:ext cx="713232" cy="50292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1">
                <a:solidFill>
                  <a:srgbClr val="1F2430"/>
                </a:solidFill>
                <a:latin typeface="PT Sans"/>
              </a:rPr>
              <a:t>Жүздөн бир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62656" y="306324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962656" y="370332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62656" y="4343400"/>
            <a:ext cx="713232" cy="6400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61872" y="306324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9384" y="3063240"/>
            <a:ext cx="3657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9424" y="306324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62656" y="306324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1872" y="370332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9384" y="3703320"/>
            <a:ext cx="3657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9424" y="370332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34340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61872" y="4343400"/>
            <a:ext cx="713232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9384" y="4343400"/>
            <a:ext cx="36576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5" y="3502152"/>
            <a:ext cx="685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×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4175" y="4142232"/>
            <a:ext cx="685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× 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3931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Ар бир цифра бир орун солго жылат, үтүр ордунда калат: 0,35 → 3,5 → 35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550408"/>
            <a:ext cx="39319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4A5A70"/>
                </a:solidFill>
                <a:latin typeface="PT Sans"/>
              </a:rPr>
              <a:t>Аягына нөл кошпойбуз: 3,50 = 3,5 (М1)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210312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Чарчы = 1:  0,4 × 0,3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83480" y="2560320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198364" y="2560320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13248" y="2560320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628132" y="2560320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43016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57900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72784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87668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702552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917436" y="2560320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83480" y="2775203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98364" y="2775203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13248" y="2775203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28132" y="2775203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43016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057900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272784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87668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02552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917436" y="2775203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983480" y="2990087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198364" y="2990087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13248" y="2990087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28132" y="2990087"/>
            <a:ext cx="214884" cy="214884"/>
          </a:xfrm>
          <a:prstGeom prst="rect">
            <a:avLst/>
          </a:prstGeom>
          <a:solidFill>
            <a:srgbClr val="007A5A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43016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57900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72784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87668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2552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17436" y="2990087"/>
            <a:ext cx="214884" cy="214884"/>
          </a:xfrm>
          <a:prstGeom prst="rect">
            <a:avLst/>
          </a:prstGeom>
          <a:solidFill>
            <a:srgbClr val="F5E9E0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983480" y="320497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98364" y="320497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413248" y="320497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628132" y="320497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843016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057900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272784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87668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02552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17436" y="320497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983480" y="3419856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98364" y="3419856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413248" y="3419856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628132" y="3419856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843016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57900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272784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487668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702552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17436" y="3419856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983480" y="3634739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198364" y="3634739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413248" y="3634739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5628132" y="3634739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43016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57900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72784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87668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02552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917436" y="3634739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983480" y="3849624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198364" y="3849624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13248" y="3849624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28132" y="3849624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843016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057900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72784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87668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02552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17436" y="3849624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983480" y="4064508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198364" y="4064508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13248" y="4064508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28132" y="4064508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843016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057900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272784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487668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02552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917436" y="4064508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983480" y="427939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198364" y="427939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413248" y="427939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28132" y="4279392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843016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57900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72784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87668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702552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917436" y="4279392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983480" y="4494275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198364" y="4494275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413248" y="4494275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628132" y="4494275"/>
            <a:ext cx="214884" cy="214884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843016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57900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272784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487668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02552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917436" y="4494275"/>
            <a:ext cx="214884" cy="214884"/>
          </a:xfrm>
          <a:prstGeom prst="rect">
            <a:avLst/>
          </a:prstGeom>
          <a:solidFill>
            <a:srgbClr val="FFFFFF"/>
          </a:solidFill>
          <a:ln w="635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4983480" y="2560320"/>
            <a:ext cx="2148839" cy="2148839"/>
          </a:xfrm>
          <a:prstGeom prst="rect">
            <a:avLst/>
          </a:prstGeom>
          <a:noFill/>
          <a:ln w="2222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44568" y="2560320"/>
            <a:ext cx="411480" cy="64465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1" i="0">
                <a:solidFill>
                  <a:srgbClr val="A84400"/>
                </a:solidFill>
                <a:latin typeface="PT Sans"/>
              </a:rPr>
              <a:t>0,3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983480" y="4727447"/>
            <a:ext cx="859536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007A5A"/>
                </a:solidFill>
                <a:latin typeface="PT Sans"/>
              </a:rPr>
              <a:t>0,4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0" y="5029199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12 чакмак 100дөн = 0,12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406640" y="210312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D3557"/>
                </a:solidFill>
                <a:latin typeface="PT Sans"/>
              </a:rPr>
              <a:t>Кагаз тилке: 3 м : 0,5 м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498079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161019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897111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560051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296144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959084" y="2560320"/>
            <a:ext cx="66294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300" b="1">
                <a:solidFill>
                  <a:srgbClr val="1F2430"/>
                </a:solidFill>
                <a:latin typeface="PT Sans"/>
              </a:rPr>
              <a:t>6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406640" y="3063239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1 м = 2 жарым: 6 бөлүк.  3 : 0,5 = 6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406640" y="3611880"/>
            <a:ext cx="4343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543800" y="3657600"/>
            <a:ext cx="4114800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кагаз разряд таблицасы жана 10–15 капкак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чакмак дептерден 10 × 10 чарчы, 2 түстүү карандаш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• 3 кагаз тилке (гезиттен же дептер барагынан), кайчы</a:t>
            </a:r>
          </a:p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4418C"/>
                </a:solidFill>
                <a:latin typeface="PT Sans"/>
              </a:rPr>
              <a:t>Капкак жылат, үтүр жылбайт!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жана сан огу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3,5 кгда 0,5 кг канча жолу бар? Тилкени сан огуна коёбуз, анан эки санды тең × 10.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325880" y="3246120"/>
            <a:ext cx="9464039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716767" y="3026663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97280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06040" y="3182112"/>
            <a:ext cx="0" cy="128015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749039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83279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92040" y="3182112"/>
            <a:ext cx="0" cy="128015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35040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79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78040" y="3182112"/>
            <a:ext cx="0" cy="128015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321040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55279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64040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98280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3,5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607040" y="3127248"/>
            <a:ext cx="0" cy="237743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241280" y="335584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63040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2679191"/>
            <a:ext cx="1142999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49039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78040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21040" y="2679191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679191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кг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73767" y="2679191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7 бөлүк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325880" y="4983480"/>
            <a:ext cx="9464039" cy="0"/>
          </a:xfrm>
          <a:prstGeom prst="line">
            <a:avLst/>
          </a:prstGeom>
          <a:ln w="254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716767" y="4764024"/>
            <a:ext cx="365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1D3557"/>
                </a:solidFill>
                <a:latin typeface="PT Sans"/>
              </a:rPr>
              <a:t>▶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63040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97280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606040" y="49194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49039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383279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10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892040" y="49194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035040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669279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78040" y="4919472"/>
            <a:ext cx="0" cy="128016"/>
          </a:xfrm>
          <a:prstGeom prst="line">
            <a:avLst/>
          </a:prstGeom>
          <a:ln w="1270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321040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55279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30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464040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98280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 i="0">
                <a:solidFill>
                  <a:srgbClr val="A84400"/>
                </a:solidFill>
                <a:latin typeface="PT Sans"/>
              </a:rPr>
              <a:t>35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607040" y="4864608"/>
            <a:ext cx="0" cy="237744"/>
          </a:xfrm>
          <a:prstGeom prst="line">
            <a:avLst/>
          </a:prstGeom>
          <a:ln w="22225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41280" y="5093208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63040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06040" y="4416552"/>
            <a:ext cx="1142999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749039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92040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35040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78040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21040" y="4416552"/>
            <a:ext cx="1143000" cy="457200"/>
          </a:xfrm>
          <a:prstGeom prst="rect">
            <a:avLst/>
          </a:prstGeom>
          <a:solidFill>
            <a:srgbClr val="B5E2D3"/>
          </a:solidFill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4416552"/>
            <a:ext cx="100584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× 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7" y="4416552"/>
            <a:ext cx="118872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4418C"/>
                </a:solidFill>
                <a:latin typeface="PT Sans"/>
              </a:rPr>
              <a:t>7 бөлүк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9768" y="3749039"/>
            <a:ext cx="11329416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4A5A70"/>
                </a:solidFill>
                <a:latin typeface="PT Sans"/>
              </a:rPr>
              <a:t>Экөөнү тең 10 эсе чоңойттук: тилке ошол эле, бөлүктөрдүн саны ошол эле.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3,5 : 0,5 = 35 : 5 = 7 пакет:   тийинди өзгөргөн жок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× 10, 100, 1000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Цифралар 1, 2, 3 орун солго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: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: 10, 100, 1000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Цифралар оңго; бош орунга 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× 0,3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Ондук × ондук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Үтүрсүз көбөйт, цифраларды сана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: 0,6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Ондукка бөлүү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Экөөнү тең × 10 же × 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0,4 × 0,3:  4 × 3 = 12,  1 + 1 = 2 цифра  →  0,12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кутуда 1,35 кг кургак өрүк бар. Гүлзат эже 12 куту даярдады. Баары канча кг?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135 × 12 = 1 620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үтүрсүз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1,35: үтүрдөн кийин 2 цифра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сана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16,20 = 16,2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2 цифра бөл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болжол: 1,4 × 12 ≈ 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Баары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16,2 кг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Гүлзат эже 1,8 кг кургак өрүктү белек үчүн 0,15 кгдан кичине баштыктарга салат. Канча баштык?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1,8 : 0,15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бөлүүчү ондук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180 :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экөө тең ×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текшер: 12 × 0,15 = 1,8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Баштык = </a:t>
            </a:r>
            <a:r>
              <a:rPr sz="34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үч жол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Цифраларды жылдыр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0,35 × 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4,2 :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0,042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× – чоңоёт, : – кичирейет. Нөл саны = орун саны.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Бөлүп көбөйт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2,4 ×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2 × 3 + 0,4 ×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6 + 1,2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7,2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Бүтүнүн жана ондон бирин өзүнчө, анан кош.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Экөөнү тең чоңойт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: 0,5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30 :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Тийинди өзгөрбөйт. Текшер: 6 × 0,5 = 3.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Эсепте:   3,6 : 0,4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1,44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0,09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Бир тактайга 2,4 кг жаңы өрүк жайылат. 3 тактайга канча кг өрүк жайылат?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2,5 кг кургак өрүк 0,5 кгдан пакеттерге салынат. Канча пакет болот?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Жаркынай 18 кг жаңы өрүк терди. 1 кгдан 0,2 кг кургак өрүк чыгат. Аны 0,6 кгдан баштыкка салат. Канча баштык?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Бир тактайга 2,4 кг жаңы өрүк жайылат. 3 тактайга канча кг өрүк жайылат?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2,4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2,4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2,4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7,2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2,4 × 3 = 7,2 кг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2,5 кг кургак өрүк 0,5 кгдан пакеттерге салынат. Канча пакет болот?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9600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88382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57164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25947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4729" y="3017520"/>
            <a:ext cx="46878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2,5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2,5 : 0,5 = 25 : 5 = 5 пакет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Жаркынай 18 кг жаңы өрүк терди. 1 кгдан 0,2 кг кургак өрүк чыгат. Аны 0,6 кгдан баштыкка салат. Канча баштык?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227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6292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53575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44227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34879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225531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0,6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3,6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18 × 0,2 = 3,6;  3,6 : 0,6 = 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0,37 ×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5,6 :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3,4 × 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9,6 : 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0,7 × 0,08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4,5 : 0,09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0,37 ×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5,6 :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3,4 ×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20,4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9,6 :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1,2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0,7 × 0,08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0,056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4,5 : 0,09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14 кг жаңы өрүктөн канча кг кургак өрүк чыгат? Ал 0,5 кгдан канча пакет болот? Самат туурабы?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Кургак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1657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5874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30091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4308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98525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82742" y="2240280"/>
            <a:ext cx="1084217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0,5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3,5 кг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14 × 0,25 = 3,5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кг кургак өрүк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3,5 : 0,5 = 35 : 5 =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пакет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3,5 кг кургак өрүк, 7 пакет. Самат туура эмес: 7 &gt; 3,5.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Өрүк кургатуу жөнүндө маселе түз: ондук бөлчөккө көбөйтүү же ондук бөлчөккө бөлүү керек болсун.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Самат, Жаркынай, Гүлзат эже.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2,7 × 100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1,6 × 0,3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Эсепте: 4,2 : 0,7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3 : 0,5 = 6, 3төн чоң?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0,4 × 0,3 = 0,12: эмне үчүн үтүрдөн кийин 2 цифра?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2,4 : 0,6 = 24 : 6. Эмне үчүн экөөнү тең чоңойтобуз?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5-класс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Ондук бөлчөктөрдү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сабакта разряд таблицасын жана капкактарды колдонууну сунуштайм: цифралар жылат, үтүр ордунда.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эсептен мурун «болжол менен канча?» деп сурайм (М2, М4, М5).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10 × 10 чарчыны ондук × ондук үчүн дайыма колдоном (М4).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Бөлүүдө «экөөнү тең» деп үн чыгарып айттырам жана көбөйтүү менен текшертем (М6, М7).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