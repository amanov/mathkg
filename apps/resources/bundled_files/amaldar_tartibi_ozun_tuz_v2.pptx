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088" y="50292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9536" y="502920"/>
            <a:ext cx="82296" cy="50292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38912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MathKG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457200"/>
            <a:ext cx="59436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000" b="1" i="0">
                <a:solidFill>
                  <a:srgbClr val="1D3557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000" b="1" i="0">
                <a:solidFill>
                  <a:srgbClr val="007A5A"/>
                </a:solidFill>
                <a:latin typeface="Golos Text"/>
              </a:rPr>
              <a:t>Өзүң түз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24418C"/>
                </a:solidFill>
                <a:latin typeface="Golos Text"/>
              </a:rPr>
              <a:t>Эсепте · Текшер · Өзүң түз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6583680" cy="224028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4418C"/>
                </a:solidFill>
                <a:latin typeface="Golos Text"/>
              </a:rPr>
              <a:t>Мугалим үчүн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6217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D3557"/>
                </a:solidFill>
                <a:latin typeface="Golos Text"/>
              </a:rPr>
              <a:t>•  4 негизги амалдын тартиби: адегенде кашаа, анан көбөйтүү жана бөлүү, анан кошуу жана кемитүү.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D3557"/>
                </a:solidFill>
                <a:latin typeface="Golos Text"/>
              </a:rPr>
              <a:t>•  Бул суроолорду экранда көрсөтсө болот же көнүгүү катары берсе болот.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D3557"/>
                </a:solidFill>
                <a:latin typeface="Golos Text"/>
              </a:rPr>
              <a:t>•  ⑤-тапшырмада окуучу өзү мисал түзөт.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25880"/>
            <a:ext cx="393192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46304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Golos Text"/>
              </a:rPr>
              <a:t>Амалдардын тартиби</a:t>
            </a:r>
          </a:p>
        </p:txBody>
      </p:sp>
      <p:sp>
        <p:nvSpPr>
          <p:cNvPr id="15" name="Oval 14"/>
          <p:cNvSpPr/>
          <p:nvPr/>
        </p:nvSpPr>
        <p:spPr>
          <a:xfrm>
            <a:off x="7955279" y="2194560"/>
            <a:ext cx="566928" cy="566928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6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10312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12140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 i="0">
                <a:solidFill>
                  <a:srgbClr val="007A5A"/>
                </a:solidFill>
                <a:latin typeface="Golos Text"/>
              </a:rPr>
              <a:t>(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7860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1D3557"/>
                </a:solidFill>
                <a:latin typeface="Golos Text"/>
              </a:rPr>
              <a:t>Кашаа</a:t>
            </a:r>
          </a:p>
        </p:txBody>
      </p:sp>
      <p:sp>
        <p:nvSpPr>
          <p:cNvPr id="19" name="Oval 18"/>
          <p:cNvSpPr/>
          <p:nvPr/>
        </p:nvSpPr>
        <p:spPr>
          <a:xfrm>
            <a:off x="7955279" y="3520440"/>
            <a:ext cx="566928" cy="56692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6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429000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447288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 i="0">
                <a:solidFill>
                  <a:srgbClr val="A84400"/>
                </a:solidFill>
                <a:latin typeface="Golos Text"/>
              </a:rPr>
              <a:t>× 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904487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1D3557"/>
                </a:solidFill>
                <a:latin typeface="Golos Text"/>
              </a:rPr>
              <a:t>Көбөйтүү, бөлүү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4846319"/>
            <a:ext cx="566928" cy="566928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6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754879"/>
            <a:ext cx="27432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773167"/>
            <a:ext cx="274320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 i="0">
                <a:solidFill>
                  <a:srgbClr val="24418C"/>
                </a:solidFill>
                <a:latin typeface="Golos Text"/>
              </a:rPr>
              <a:t>+  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230367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 i="0">
                <a:solidFill>
                  <a:srgbClr val="1D3557"/>
                </a:solidFill>
                <a:latin typeface="Golos Text"/>
              </a:rPr>
              <a:t>Кошуу, кемитүү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Эсептеңиз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4A5A70"/>
                </a:solidFill>
                <a:latin typeface="Golos Text"/>
              </a:rPr>
              <a:t>Адегенде кашаа, анан × жана :, акырында + жана −.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5544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5486400" cy="1645919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173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1600200"/>
            <a:ext cx="502920" cy="502920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7312" y="15544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920240"/>
            <a:ext cx="5486400" cy="1645919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0690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A84400"/>
                </a:solidFill>
                <a:latin typeface="DejaVu Sans"/>
              </a:rPr>
              <a:t>★★☆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486400" cy="1645919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9319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82512" y="4114800"/>
            <a:ext cx="502920" cy="502920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5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7312" y="4069080"/>
            <a:ext cx="1005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600" b="0" i="0">
                <a:solidFill>
                  <a:srgbClr val="24418C"/>
                </a:solidFill>
                <a:latin typeface="DejaVu Sans"/>
              </a:rPr>
              <a:t>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7732" y="4705350"/>
            <a:ext cx="1981200" cy="5334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83452" y="5257800"/>
            <a:ext cx="1889759" cy="0"/>
          </a:xfrm>
          <a:prstGeom prst="line">
            <a:avLst/>
          </a:prstGeom>
          <a:ln w="27214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7732" y="5276850"/>
            <a:ext cx="1981200" cy="57150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30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8932" y="4972050"/>
            <a:ext cx="3429000" cy="5715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30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30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⑤ Өзүң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88720"/>
            <a:ext cx="11183112" cy="1554480"/>
          </a:xfrm>
          <a:prstGeom prst="roundRect">
            <a:avLst>
              <a:gd name="adj" fmla="val 12000"/>
            </a:avLst>
          </a:prstGeom>
          <a:solidFill>
            <a:srgbClr val="D1E7E1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4, 2, 3 жана 6 сандарын жана каалаган амалдарды колдонуп, жообу 10 болгон мисал түз.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971800"/>
            <a:ext cx="10972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971800"/>
            <a:ext cx="10972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 i="1">
                <a:solidFill>
                  <a:srgbClr val="1D3557"/>
                </a:solidFill>
                <a:latin typeface="Golos Text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 i="1">
                <a:solidFill>
                  <a:srgbClr val="4A5A70"/>
                </a:solidFill>
                <a:latin typeface="Golos Text"/>
              </a:rPr>
              <a:t>Ар бир сан бир жолу гана колдонулат.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1D3557"/>
                </a:solidFill>
                <a:latin typeface="Golos Text"/>
              </a:rPr>
              <a:t>1.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5257800"/>
            <a:ext cx="9601200" cy="0"/>
          </a:xfrm>
          <a:prstGeom prst="line">
            <a:avLst/>
          </a:prstGeom>
          <a:ln w="15875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69880" y="4919472"/>
            <a:ext cx="1097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24418C"/>
                </a:solidFill>
                <a:latin typeface="Golos Text"/>
              </a:rPr>
              <a:t>2. Дагы бир мисал түз: кашааларды колдон.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6172200"/>
            <a:ext cx="4389120" cy="0"/>
          </a:xfrm>
          <a:prstGeom prst="line">
            <a:avLst/>
          </a:prstGeom>
          <a:ln w="15875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69880" y="5833872"/>
            <a:ext cx="1097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64592"/>
            <a:ext cx="563864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273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2006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3738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253" y="164592"/>
            <a:ext cx="3101256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Golos Text"/>
              </a:rPr>
              <a:t>Амалдар тартиби: Өзүң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76656"/>
            <a:ext cx="451091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4A5A70"/>
                </a:solidFill>
                <a:latin typeface="Golos Text"/>
              </a:rPr>
              <a:t>Аты-жөнү: ______________   Классы: ______   Күнү: __________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2047" y="704088"/>
            <a:ext cx="965200" cy="213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680" b="1">
                <a:solidFill>
                  <a:srgbClr val="1D3557"/>
                </a:solidFill>
                <a:latin typeface="Golos Text"/>
              </a:rPr>
              <a:t>Калькуляторсуз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547104"/>
            <a:ext cx="33831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5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7923" y="6547104"/>
            <a:ext cx="2819323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75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960120"/>
            <a:ext cx="56386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0" i="1">
                <a:solidFill>
                  <a:srgbClr val="4A5A70"/>
                </a:solidFill>
                <a:latin typeface="Golos Text"/>
              </a:rPr>
              <a:t>Эсептеңиз. Адегенде кашаа, анан × жана :, акырында + жана −.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2103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606040"/>
            <a:ext cx="2293543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16503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07943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007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6503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45103" y="260604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8600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0040" y="3108960"/>
            <a:ext cx="329184" cy="329184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2103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A84400"/>
                </a:solidFill>
                <a:latin typeface="DejaVu Sans"/>
              </a:rPr>
              <a:t>★★☆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3429000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4343400"/>
            <a:ext cx="2293543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116503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07943" y="3108960"/>
            <a:ext cx="329184" cy="329184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0007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24418C"/>
                </a:solidFill>
                <a:latin typeface="DejaVu Sans"/>
              </a:rPr>
              <a:t>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3625" y="3518535"/>
            <a:ext cx="990600" cy="2667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99345" y="3794760"/>
            <a:ext cx="899160" cy="0"/>
          </a:xfrm>
          <a:prstGeom prst="line">
            <a:avLst/>
          </a:prstGeom>
          <a:ln w="13607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53625" y="3804285"/>
            <a:ext cx="990600" cy="28575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4225" y="3651885"/>
            <a:ext cx="1714500" cy="28575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45103" y="434340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28600" y="4709160"/>
            <a:ext cx="5638647" cy="1764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0040" y="4800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45736"/>
            <a:ext cx="50900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1D3557"/>
                </a:solidFill>
                <a:latin typeface="Golos Text"/>
              </a:rPr>
              <a:t>4, 2, 3 жана 6 сандарын жана каалаган амалдарды колдонуп, жообу 10 болгон мисал түз.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38928"/>
            <a:ext cx="5090007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 i="1">
                <a:solidFill>
                  <a:srgbClr val="4A5A70"/>
                </a:solidFill>
                <a:latin typeface="Golos Text"/>
              </a:rPr>
              <a:t>Ар бир сан бир жолу гана колдонулат.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34924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/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5596128"/>
            <a:ext cx="4678527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208879" y="534924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650992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>Дагы бир мисал түз: кашааларды колдон.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46120" y="5897880"/>
            <a:ext cx="1935327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208879" y="565099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4447" y="164592"/>
            <a:ext cx="563864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56121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47853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39586" y="261152"/>
            <a:ext cx="48280" cy="24579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9101" y="164592"/>
            <a:ext cx="3101256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Golos Text"/>
              </a:rPr>
              <a:t>Амалдар тартиби: Өзүң түз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4447" y="676656"/>
            <a:ext cx="451091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 i="0">
                <a:solidFill>
                  <a:srgbClr val="4A5A70"/>
                </a:solidFill>
                <a:latin typeface="Golos Text"/>
              </a:rPr>
              <a:t>Аты-жөнү: ______________   Классы: ______   Күнү: __________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97895" y="704088"/>
            <a:ext cx="965200" cy="213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680" b="1">
                <a:solidFill>
                  <a:srgbClr val="1D3557"/>
                </a:solidFill>
                <a:latin typeface="Golos Text"/>
              </a:rPr>
              <a:t>Калькуляторсуз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4447" y="6547104"/>
            <a:ext cx="33831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5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3771" y="6547104"/>
            <a:ext cx="2819323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75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4447" y="960120"/>
            <a:ext cx="563864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0" i="1">
                <a:solidFill>
                  <a:srgbClr val="4A5A70"/>
                </a:solidFill>
                <a:latin typeface="Golos Text"/>
              </a:rPr>
              <a:t>Эсептеңиз. Адегенде кашаа, анан × жана :, акырында + жана −.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4447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15887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7951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4447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53047" y="260604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212351" y="128016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03791" y="1371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85855" y="134416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007A5A"/>
                </a:solidFill>
                <a:latin typeface="DejaVu Sans"/>
              </a:rPr>
              <a:t>★☆☆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12351" y="1691639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440951" y="260604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324447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15887" y="3108960"/>
            <a:ext cx="329184" cy="329184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97951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A84400"/>
                </a:solidFill>
                <a:latin typeface="DejaVu Sans"/>
              </a:rPr>
              <a:t>★★☆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4447" y="3429000"/>
            <a:ext cx="2750743" cy="7315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53047" y="434340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212351" y="3017520"/>
            <a:ext cx="2750743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03791" y="3108960"/>
            <a:ext cx="329184" cy="329184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85855" y="3081527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24418C"/>
                </a:solidFill>
                <a:latin typeface="DejaVu Sans"/>
              </a:rPr>
              <a:t>★★★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49473" y="3518535"/>
            <a:ext cx="990600" cy="2667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395193" y="3794760"/>
            <a:ext cx="899160" cy="0"/>
          </a:xfrm>
          <a:prstGeom prst="line">
            <a:avLst/>
          </a:prstGeom>
          <a:ln w="13607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349473" y="3804285"/>
            <a:ext cx="990600" cy="28575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40073" y="3651885"/>
            <a:ext cx="1714500" cy="28575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1500" b="0" i="0">
                <a:solidFill>
                  <a:srgbClr val="1D3557"/>
                </a:solidFill>
                <a:latin typeface="Golos Text"/>
              </a:rPr>
              <a:t> =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440951" y="4343400"/>
            <a:ext cx="2293544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6324447" y="4709160"/>
            <a:ext cx="5638647" cy="17647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415887" y="4800600"/>
            <a:ext cx="329184" cy="329184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80" b="1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81647" y="4745736"/>
            <a:ext cx="50900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 i="0">
                <a:solidFill>
                  <a:srgbClr val="1D3557"/>
                </a:solidFill>
                <a:latin typeface="Golos Text"/>
              </a:rPr>
              <a:t>4, 2, 3 жана 6 сандарын жана каалаган амалдарды колдонуп, жообу 10 болгон мисал түз.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81647" y="5138928"/>
            <a:ext cx="5090007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 i="1">
                <a:solidFill>
                  <a:srgbClr val="4A5A70"/>
                </a:solidFill>
                <a:latin typeface="Golos Text"/>
              </a:rPr>
              <a:t>Ар бир сан бир жолу гана колдонулат.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61607" y="534924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/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598767" y="5596128"/>
            <a:ext cx="4678528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1304727" y="5349240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1607" y="5650992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1" i="0">
                <a:solidFill>
                  <a:srgbClr val="24418C"/>
                </a:solidFill>
                <a:latin typeface="Golos Text"/>
              </a:rPr>
              <a:t>Дагы бир мисал түз: кашааларды колдон.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9341967" y="5897880"/>
            <a:ext cx="1935328" cy="0"/>
          </a:xfrm>
          <a:prstGeom prst="line">
            <a:avLst/>
          </a:prstGeom>
          <a:ln w="12700">
            <a:solidFill>
              <a:srgbClr val="8D99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304727" y="5650992"/>
            <a:ext cx="594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1D3557"/>
                </a:solidFill>
                <a:latin typeface="Golos Text"/>
              </a:rPr>
              <a:t>= 10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095847" y="45720"/>
            <a:ext cx="0" cy="6766560"/>
          </a:xfrm>
          <a:prstGeom prst="line">
            <a:avLst/>
          </a:prstGeom>
          <a:ln w="19050">
            <a:solidFill>
              <a:srgbClr val="4A5A7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949543" y="3246120"/>
            <a:ext cx="320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4A5A70"/>
                </a:solidFill>
                <a:latin typeface="DejaVu Sans"/>
              </a:rPr>
              <a:t>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Мугалим үчүн: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576072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7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24418C"/>
                </a:solidFill>
                <a:latin typeface="Golos Text"/>
              </a:rPr>
              <a:t>Эсептеңиз: жооптор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4206240" cy="9601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10 − 2 × 4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2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54679"/>
            <a:ext cx="384048" cy="384048"/>
          </a:xfrm>
          <a:prstGeom prst="ellipse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60"/>
            <a:ext cx="4206240" cy="9601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12 : 2 + 4 × 3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18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59"/>
            <a:ext cx="384048" cy="38404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77639"/>
            <a:ext cx="4206240" cy="9601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12 + 8 : (12 − 4 × 2)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14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49240"/>
            <a:ext cx="384048" cy="384048"/>
          </a:xfrm>
          <a:prstGeom prst="ellipse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60" b="1">
                <a:solidFill>
                  <a:srgbClr val="FFFFFF"/>
                </a:solidFill>
                <a:latin typeface="Golos Tex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5239" y="5186680"/>
            <a:ext cx="1320800" cy="355600"/>
          </a:xfrm>
          <a:prstGeom prst="rect">
            <a:avLst/>
          </a:prstGeom>
          <a:noFill/>
        </p:spPr>
        <p:txBody>
          <a:bodyPr wrap="none" anchor="b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3 + 3 × 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0959" y="5554980"/>
            <a:ext cx="1229361" cy="0"/>
          </a:xfrm>
          <a:prstGeom prst="line">
            <a:avLst/>
          </a:prstGeom>
          <a:ln w="18142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85239" y="5567680"/>
            <a:ext cx="1320800" cy="38100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ctr"/>
            <a:r>
              <a:rPr sz="2000" b="0" i="1">
                <a:solidFill>
                  <a:srgbClr val="1D3557"/>
                </a:solidFill>
                <a:latin typeface="Golos Tex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5364480"/>
            <a:ext cx="2692400" cy="3810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000" b="0" i="1">
                <a:solidFill>
                  <a:srgbClr val="1D3557"/>
                </a:solidFill>
                <a:latin typeface="Golos Text"/>
              </a:rPr>
              <a:t> − 2 × 4 − 3</a:t>
            </a:r>
            <a:r>
              <a:rPr sz="2000" b="1" i="0">
                <a:solidFill>
                  <a:srgbClr val="24418C"/>
                </a:solidFill>
                <a:latin typeface="Golos Text"/>
              </a:rPr>
              <a:t> = −3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143000"/>
            <a:ext cx="5193792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23444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007A5A"/>
                </a:solidFill>
                <a:latin typeface="Golos Text"/>
              </a:rPr>
              <a:t>⑤ Өзүң түз: үлгү чечимдер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4 × 2 + 6 : 3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33172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3 × 6 − 4 × 2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8036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2 + 4 × 6 : 3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2900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4 + 3 + 6 : 2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77639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6 + 4 × (3 − 2)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2628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(6 − 3) × 2 + 4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07492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6 : (3 − 2) + 4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62356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1">
                <a:solidFill>
                  <a:srgbClr val="1D3557"/>
                </a:solidFill>
                <a:latin typeface="Golos Text"/>
              </a:rPr>
              <a:t>2 × (6 + 3 − 4)</a:t>
            </a:r>
            <a:r>
              <a:rPr sz="1900" b="1" i="0">
                <a:solidFill>
                  <a:srgbClr val="24418C"/>
                </a:solidFill>
                <a:latin typeface="Golos Text"/>
              </a:rPr>
              <a:t> =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60175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7784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560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337" y="369417"/>
            <a:ext cx="70408" cy="358444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30" y="228600"/>
            <a:ext cx="6303096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Golos Text"/>
              </a:rPr>
              <a:t>Пикир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8600"/>
            <a:ext cx="5538063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4A5A70"/>
                </a:solidFill>
                <a:latin typeface="Golos Text"/>
              </a:rPr>
              <a:t>Арифметика › Төрт амал › Амалдар тартиби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92240"/>
            <a:ext cx="5730087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8D99AA"/>
                </a:solidFill>
                <a:latin typeface="Golos Text"/>
              </a:rPr>
              <a:t>Амалдар тартиби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234440"/>
            <a:ext cx="9235440" cy="4983480"/>
          </a:xfrm>
          <a:prstGeom prst="roundRect">
            <a:avLst>
              <a:gd name="adj" fmla="val 6000"/>
            </a:avLst>
          </a:prstGeom>
          <a:solidFill>
            <a:srgbClr val="F3F5FB"/>
          </a:solidFill>
          <a:ln w="19050">
            <a:solidFill>
              <a:srgbClr val="E7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417320"/>
            <a:ext cx="8686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Суроолор барбы?</a:t>
            </a:r>
          </a:p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Комментарийлер?</a:t>
            </a:r>
          </a:p>
          <a:p>
            <a:pPr algn="ctr"/>
            <a:r>
              <a:rPr sz="2600" b="1" i="0">
                <a:solidFill>
                  <a:srgbClr val="1D3557"/>
                </a:solidFill>
                <a:latin typeface="Golos Text"/>
              </a:rPr>
              <a:t>Сунуштар?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 i="0">
                <a:solidFill>
                  <a:srgbClr val="A84400"/>
                </a:solidFill>
                <a:latin typeface="Golos Text"/>
              </a:rPr>
              <a:t>…же ката таптыңызбы?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661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007A5A"/>
                </a:solidFill>
                <a:latin typeface="Golos Text"/>
              </a:rPr>
              <a:t>Баарыңызга ырахмат!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0624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 i="0">
                <a:solidFill>
                  <a:srgbClr val="4A5A70"/>
                </a:solidFill>
                <a:latin typeface="Golos Text"/>
              </a:rPr>
              <a:t>Сураныч, электрондук кат жөнөтүңүз: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846320"/>
            <a:ext cx="466344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4846320"/>
            <a:ext cx="46634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 i="0">
                <a:solidFill>
                  <a:srgbClr val="24418C"/>
                </a:solidFill>
                <a:latin typeface="Golos Text"/>
              </a:rPr>
              <a:t>mathematicskgz@gmail.com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