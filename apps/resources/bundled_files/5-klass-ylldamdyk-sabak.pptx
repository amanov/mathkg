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Асан ата бекетке түшкө чейин келиши керекпи же кечкиге чейинби? Жоопту сабактын аягында (22-слайд) текшеребиз. Проектор жок болсо, Бишкек – Токмок – Балыкчы жол сызыгын доскага чийем.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Нуриза: 2 саатта 80 км болсо, 1 саатта 40 км (Эмир – М1).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топко (3–4 окуучу): 10 м жип (ар 1 метрде түйүн), бор, 3–4 бөтөлкө капкагы. Мугалимде саат же телефондун секундомери. Бир окуучу кадимкидей басат, ар бир мүнөттө (мен кол чабам) экинчиси ал турган жерге капкак коёт. Анан жип менен ченешет. Окуучулар өздөрү табышат: 1 мүнөттөгү жол = ылдамдык (м/мин). Короого чыгуу мүмкүн болбосо, коридордо 1 мүнөт басып, аралыкты жип менен ченейбиз. Сүрөттөгү сандар – мисал: 3 мүнөттө 210 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Жол сызыгын доскага чийем, окуучулар чакмак дептерге (1 чакмак = 10 км). Үстүнкү шкала – аралык (км), астынкы – убакыт (саат). Ар бир секирик 1 саат: Токмокко чейин 30 км, андан ары 40 км. Секириктерди санасак – убакыт (5 саат), секириктин узундугу – ылдамдык, бардык жол – аралык. Ушундан s = v · t формуласы өзү чыгат.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Үч формула – бир үй-бүлө: s = v · t болсо, v = s : t жана t = s : v. Бирдиктерди дайыма жазабыз: км/саат менен саат, м/мин менен мүнөт (М2). Саатта 60 мүнөт, 100 эмес (М3).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«20 мүнөт – сааттын үчтөн бири, 60тын үчтөн бири 20».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М3; Б = ✓; В = М2; Г = М1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аралык → эки этап → каршы кыймыл. Жооптор: 135 км; 160 км; 2 саат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бөлүк – 1 саат: Токмокко чейин эки бөлүк 30 км (60 : 30 = 2 саат), Балыкчыга чейин үч бөлүк 40 км (120 : 40 = 3 саат). Бардыгы 5 саат: саат 7 + 5 = саат 12. Текшерүү: 2 · 30 + 3 · 40 = 180 км. Кошумча суроо: атасы машине менен саат 9да чыгып, 60 км/саат ылдамдык менен 180 км жүрсө, поездден мурун жетеби? (3 саат: саат 12де, бирге жетишет.)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15 км/саат; 960 м; 20 км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5-класс · Математика</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Ылдамдык, убакыт жана аралык</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Балыкчыга жайкы поезд</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Эмир менен Нуриза Бишкектен Балыкчыга поезд менен барышат жана жолдо ылдамдыкты, убакытты, аралыкты эсептешет.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кыймылга карата маселелер (4.3.9) жана 5-класстын формулалары.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Балыкчыга жайкы поезд</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Жайкы каникулда Эмир менен Нуриза апасы Айнура менен Бишкектен Балыкчыга поезд менен жөнөштү.</a:t>
            </a:r>
          </a:p>
          <a:p>
            <a:pPr algn="l">
              <a:lnSpc>
                <a:spcPct val="105000"/>
              </a:lnSpc>
              <a:spcBef>
                <a:spcPts val="800"/>
              </a:spcBef>
            </a:pPr>
            <a:r>
              <a:rPr sz="2100" b="0" i="0">
                <a:solidFill>
                  <a:srgbClr val="1F2430"/>
                </a:solidFill>
                <a:latin typeface="PT Sans"/>
              </a:rPr>
              <a:t>Поезд саат 7де чыкты. Токмокко чейинки 60 км жолдо бекеттер көп: поезд 30 км/саат ылдамдык менен жүрдү.</a:t>
            </a:r>
          </a:p>
          <a:p>
            <a:pPr algn="l">
              <a:lnSpc>
                <a:spcPct val="105000"/>
              </a:lnSpc>
              <a:spcBef>
                <a:spcPts val="800"/>
              </a:spcBef>
            </a:pPr>
            <a:r>
              <a:rPr sz="2100" b="0" i="0">
                <a:solidFill>
                  <a:srgbClr val="1F2430"/>
                </a:solidFill>
                <a:latin typeface="PT Sans"/>
              </a:rPr>
              <a:t>Токмоктон Балыкчыга чейинки 120 км жолду Боом капчыгайы аркылуу 40 км/саат ылдамдык менен өттү.</a:t>
            </a:r>
          </a:p>
          <a:p>
            <a:pPr algn="l">
              <a:lnSpc>
                <a:spcPct val="105000"/>
              </a:lnSpc>
              <a:spcBef>
                <a:spcPts val="800"/>
              </a:spcBef>
            </a:pPr>
            <a:r>
              <a:rPr sz="2100" b="0" i="0">
                <a:solidFill>
                  <a:srgbClr val="1F2430"/>
                </a:solidFill>
                <a:latin typeface="PT Sans"/>
              </a:rPr>
              <a:t>Балыкчыда Асан ата неберелерин тосуп алат. Ал бекетке саат канчада келиши керек?</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Бишкек – Токмок 60 км, 30 км/саат; Токмок – Балыкчы 120 км, 40 км/саат. Поезд саат 7де чыкты. Бүт жолго канча убакыт кетет? Саат канчада жетет?</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Ылдамдык – 1 саатта (же 1 мүнөттө) басылган жол экенин түшүндүрөм, бирдиктерин (км/саат, м/мин) жазам.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s = v · t формуласы менен аралыкты, ылдамдыкты же убакытты табам; мүнөттү саатка котором.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Эки этаптуу жол, каршы кыймыл жана кууп жетүү маселелерин жол сызыгы же тилке менен чыгарам.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Бир чоңдукту табуу</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Мүнөт ↔ саат, эки этап</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Жакындашуу, кууп жетүү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Бирдиктерди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короодо басып ченөө</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Балыкчыга поезд</a:t>
            </a:r>
          </a:p>
          <a:p>
            <a:pPr algn="l">
              <a:lnSpc>
                <a:spcPct val="105000"/>
              </a:lnSpc>
            </a:pPr>
            <a:r>
              <a:rPr sz="1800" b="0" i="0">
                <a:solidFill>
                  <a:srgbClr val="1F2430"/>
                </a:solidFill>
                <a:latin typeface="PT Sans"/>
              </a:rPr>
              <a:t>• Жол сызыгы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4-класс</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Кыймыл маселелери</a:t>
            </a:r>
          </a:p>
          <a:p>
            <a:pPr algn="l">
              <a:lnSpc>
                <a:spcPct val="105000"/>
              </a:lnSpc>
              <a:spcBef>
                <a:spcPts val="400"/>
              </a:spcBef>
            </a:pPr>
            <a:r>
              <a:rPr sz="1500" b="0" i="0">
                <a:solidFill>
                  <a:srgbClr val="1F2430"/>
                </a:solidFill>
                <a:latin typeface="PT Sans"/>
              </a:rPr>
              <a:t>• Көбөйтүү, бөлүү</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5-класс</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s = v · t</a:t>
            </a:r>
          </a:p>
          <a:p>
            <a:pPr algn="l">
              <a:lnSpc>
                <a:spcPct val="105000"/>
              </a:lnSpc>
              <a:spcBef>
                <a:spcPts val="400"/>
              </a:spcBef>
            </a:pPr>
            <a:r>
              <a:rPr sz="1500" b="0" i="0">
                <a:solidFill>
                  <a:srgbClr val="1F2430"/>
                </a:solidFill>
                <a:latin typeface="PT Sans"/>
              </a:rPr>
              <a:t>• км/саат, м/мин</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6-класс</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Пропорция</a:t>
            </a:r>
          </a:p>
          <a:p>
            <a:pPr algn="l">
              <a:lnSpc>
                <a:spcPct val="105000"/>
              </a:lnSpc>
              <a:spcBef>
                <a:spcPts val="400"/>
              </a:spcBef>
            </a:pPr>
            <a:r>
              <a:rPr sz="1500" b="0" i="0">
                <a:solidFill>
                  <a:srgbClr val="6B7280"/>
                </a:solidFill>
                <a:latin typeface="PT Sans"/>
              </a:rPr>
              <a:t>• Орточо ылдамдык</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7-класс</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Сызыктуу функция</a:t>
            </a:r>
          </a:p>
          <a:p>
            <a:pPr algn="l">
              <a:lnSpc>
                <a:spcPct val="105000"/>
              </a:lnSpc>
              <a:spcBef>
                <a:spcPts val="400"/>
              </a:spcBef>
            </a:pPr>
            <a:r>
              <a:rPr sz="1500" b="0" i="0">
                <a:solidFill>
                  <a:srgbClr val="6B7280"/>
                </a:solidFill>
                <a:latin typeface="PT Sans"/>
              </a:rPr>
              <a:t>• Кыймыл графиги</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саат = ? мүнөт</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240 : 4</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35 · 6</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Саат 9:00дөн саат 11:30га чейин канча убакыт?</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саат = ? мүнөт</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мүнөт</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240 : 4</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35 · 6</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210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9:00дөн саат 11:30га чейин канча убакыт?</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 саат 30 мүн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Айнура апа: «Поезд 2 саатта 80 км жүрдү. Анын ылдамдыгы канча?»</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Эмир</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v = s · t</a:t>
            </a:r>
          </a:p>
          <a:p>
            <a:pPr algn="l">
              <a:lnSpc>
                <a:spcPct val="105000"/>
              </a:lnSpc>
            </a:pPr>
            <a:r>
              <a:rPr sz="2600" b="0" i="0">
                <a:solidFill>
                  <a:srgbClr val="1F2430"/>
                </a:solidFill>
                <a:latin typeface="PT Sans"/>
              </a:rPr>
              <a:t>80 · 2 = 160</a:t>
            </a:r>
          </a:p>
          <a:p>
            <a:pPr algn="l">
              <a:lnSpc>
                <a:spcPct val="105000"/>
              </a:lnSpc>
            </a:pPr>
            <a:r>
              <a:rPr sz="2600" b="0" i="0">
                <a:solidFill>
                  <a:srgbClr val="1F2430"/>
                </a:solidFill>
                <a:latin typeface="PT Sans"/>
              </a:rPr>
              <a:t>160 км/саат</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Нуриза</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 саатта канча км?</a:t>
            </a:r>
          </a:p>
          <a:p>
            <a:pPr algn="l">
              <a:lnSpc>
                <a:spcPct val="105000"/>
              </a:lnSpc>
            </a:pPr>
            <a:r>
              <a:rPr sz="2600" b="0" i="0">
                <a:solidFill>
                  <a:srgbClr val="1F2430"/>
                </a:solidFill>
                <a:latin typeface="PT Sans"/>
              </a:rPr>
              <a:t>80 : 2 = 40</a:t>
            </a:r>
          </a:p>
          <a:p>
            <a:pPr algn="l">
              <a:lnSpc>
                <a:spcPct val="105000"/>
              </a:lnSpc>
            </a:pPr>
            <a:r>
              <a:rPr sz="2600" b="0" i="0">
                <a:solidFill>
                  <a:srgbClr val="1F2430"/>
                </a:solidFill>
                <a:latin typeface="PT Sans"/>
              </a:rPr>
              <a:t>40 км/саат</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Жол сызыгы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короодо 3 мүнөт басабыз, жолду 10 м жип менен ченейбиз. 1 мүнөттө канча метр?</a:t>
            </a:r>
          </a:p>
        </p:txBody>
      </p:sp>
      <p:cxnSp>
        <p:nvCxnSpPr>
          <p:cNvPr id="12" name="Connector 11"/>
          <p:cNvCxnSpPr/>
          <p:nvPr/>
        </p:nvCxnSpPr>
        <p:spPr>
          <a:xfrm>
            <a:off x="731520" y="3840480"/>
            <a:ext cx="6949440"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2296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1148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0 м</a:t>
            </a:r>
          </a:p>
        </p:txBody>
      </p:sp>
      <p:cxnSp>
        <p:nvCxnSpPr>
          <p:cNvPr id="15" name="Connector 14"/>
          <p:cNvCxnSpPr/>
          <p:nvPr/>
        </p:nvCxnSpPr>
        <p:spPr>
          <a:xfrm>
            <a:off x="114517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46739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78961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11182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3404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75626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07848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66700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70 м</a:t>
            </a:r>
          </a:p>
        </p:txBody>
      </p:sp>
      <p:cxnSp>
        <p:nvCxnSpPr>
          <p:cNvPr id="23" name="Connector 22"/>
          <p:cNvCxnSpPr/>
          <p:nvPr/>
        </p:nvCxnSpPr>
        <p:spPr>
          <a:xfrm>
            <a:off x="340069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2291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4513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36734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68956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01178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33400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92252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140 м</a:t>
            </a:r>
          </a:p>
        </p:txBody>
      </p:sp>
      <p:cxnSp>
        <p:nvCxnSpPr>
          <p:cNvPr id="31" name="Connector 30"/>
          <p:cNvCxnSpPr/>
          <p:nvPr/>
        </p:nvCxnSpPr>
        <p:spPr>
          <a:xfrm>
            <a:off x="5656217"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78434"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300651"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22868"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945085"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67302" y="3776472"/>
            <a:ext cx="0" cy="128016"/>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589520" y="3712464"/>
            <a:ext cx="0" cy="256032"/>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178040" y="4005072"/>
            <a:ext cx="822960" cy="32004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210 м</a:t>
            </a:r>
          </a:p>
        </p:txBody>
      </p:sp>
      <p:sp>
        <p:nvSpPr>
          <p:cNvPr id="39" name="Freeform 38"/>
          <p:cNvSpPr/>
          <p:nvPr/>
        </p:nvSpPr>
        <p:spPr>
          <a:xfrm>
            <a:off x="822960" y="3063240"/>
            <a:ext cx="2258568" cy="731520"/>
          </a:xfrm>
          <a:custGeom>
            <a:avLst/>
            <a:gdLst/>
            <a:ahLst/>
            <a:cxnLst/>
            <a:rect l="l" t="t" r="r" b="b"/>
            <a:pathLst>
              <a:path w="247" h="80">
                <a:moveTo>
                  <a:pt x="0" y="80"/>
                </a:moveTo>
                <a:lnTo>
                  <a:pt x="1" y="71"/>
                </a:lnTo>
                <a:lnTo>
                  <a:pt x="3" y="62"/>
                </a:lnTo>
                <a:lnTo>
                  <a:pt x="7" y="54"/>
                </a:lnTo>
                <a:lnTo>
                  <a:pt x="12" y="45"/>
                </a:lnTo>
                <a:lnTo>
                  <a:pt x="19" y="37"/>
                </a:lnTo>
                <a:lnTo>
                  <a:pt x="27" y="30"/>
                </a:lnTo>
                <a:lnTo>
                  <a:pt x="36" y="23"/>
                </a:lnTo>
                <a:lnTo>
                  <a:pt x="46" y="17"/>
                </a:lnTo>
                <a:lnTo>
                  <a:pt x="58" y="12"/>
                </a:lnTo>
                <a:lnTo>
                  <a:pt x="70" y="8"/>
                </a:lnTo>
                <a:lnTo>
                  <a:pt x="83" y="4"/>
                </a:lnTo>
                <a:lnTo>
                  <a:pt x="96" y="2"/>
                </a:lnTo>
                <a:lnTo>
                  <a:pt x="110" y="1"/>
                </a:lnTo>
                <a:lnTo>
                  <a:pt x="123" y="0"/>
                </a:lnTo>
                <a:lnTo>
                  <a:pt x="137" y="1"/>
                </a:lnTo>
                <a:lnTo>
                  <a:pt x="151" y="2"/>
                </a:lnTo>
                <a:lnTo>
                  <a:pt x="164" y="4"/>
                </a:lnTo>
                <a:lnTo>
                  <a:pt x="177" y="8"/>
                </a:lnTo>
                <a:lnTo>
                  <a:pt x="189" y="12"/>
                </a:lnTo>
                <a:lnTo>
                  <a:pt x="200" y="17"/>
                </a:lnTo>
                <a:lnTo>
                  <a:pt x="211" y="23"/>
                </a:lnTo>
                <a:lnTo>
                  <a:pt x="220" y="30"/>
                </a:lnTo>
                <a:lnTo>
                  <a:pt x="228" y="37"/>
                </a:lnTo>
                <a:lnTo>
                  <a:pt x="234" y="45"/>
                </a:lnTo>
                <a:lnTo>
                  <a:pt x="240" y="54"/>
                </a:lnTo>
                <a:lnTo>
                  <a:pt x="244" y="62"/>
                </a:lnTo>
                <a:lnTo>
                  <a:pt x="246" y="71"/>
                </a:lnTo>
                <a:lnTo>
                  <a:pt x="247"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999232"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1064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2" name="Freeform 41"/>
          <p:cNvSpPr/>
          <p:nvPr/>
        </p:nvSpPr>
        <p:spPr>
          <a:xfrm>
            <a:off x="3081528" y="3063240"/>
            <a:ext cx="2249424" cy="731520"/>
          </a:xfrm>
          <a:custGeom>
            <a:avLst/>
            <a:gdLst/>
            <a:ahLst/>
            <a:cxnLst/>
            <a:rect l="l" t="t" r="r" b="b"/>
            <a:pathLst>
              <a:path w="246" h="80">
                <a:moveTo>
                  <a:pt x="0" y="80"/>
                </a:moveTo>
                <a:lnTo>
                  <a:pt x="0" y="71"/>
                </a:lnTo>
                <a:lnTo>
                  <a:pt x="3" y="62"/>
                </a:lnTo>
                <a:lnTo>
                  <a:pt x="7" y="54"/>
                </a:lnTo>
                <a:lnTo>
                  <a:pt x="12" y="45"/>
                </a:lnTo>
                <a:lnTo>
                  <a:pt x="19" y="37"/>
                </a:lnTo>
                <a:lnTo>
                  <a:pt x="27" y="30"/>
                </a:lnTo>
                <a:lnTo>
                  <a:pt x="36" y="23"/>
                </a:lnTo>
                <a:lnTo>
                  <a:pt x="46" y="17"/>
                </a:lnTo>
                <a:lnTo>
                  <a:pt x="57" y="12"/>
                </a:lnTo>
                <a:lnTo>
                  <a:pt x="69" y="8"/>
                </a:lnTo>
                <a:lnTo>
                  <a:pt x="82" y="4"/>
                </a:lnTo>
                <a:lnTo>
                  <a:pt x="96" y="2"/>
                </a:lnTo>
                <a:lnTo>
                  <a:pt x="109" y="1"/>
                </a:lnTo>
                <a:lnTo>
                  <a:pt x="123" y="0"/>
                </a:lnTo>
                <a:lnTo>
                  <a:pt x="137" y="1"/>
                </a:lnTo>
                <a:lnTo>
                  <a:pt x="150" y="2"/>
                </a:lnTo>
                <a:lnTo>
                  <a:pt x="164" y="4"/>
                </a:lnTo>
                <a:lnTo>
                  <a:pt x="177" y="8"/>
                </a:lnTo>
                <a:lnTo>
                  <a:pt x="189" y="12"/>
                </a:lnTo>
                <a:lnTo>
                  <a:pt x="200" y="17"/>
                </a:lnTo>
                <a:lnTo>
                  <a:pt x="210" y="23"/>
                </a:lnTo>
                <a:lnTo>
                  <a:pt x="219" y="30"/>
                </a:lnTo>
                <a:lnTo>
                  <a:pt x="227" y="37"/>
                </a:lnTo>
                <a:lnTo>
                  <a:pt x="234" y="45"/>
                </a:lnTo>
                <a:lnTo>
                  <a:pt x="239" y="54"/>
                </a:lnTo>
                <a:lnTo>
                  <a:pt x="243" y="62"/>
                </a:lnTo>
                <a:lnTo>
                  <a:pt x="246" y="71"/>
                </a:lnTo>
                <a:lnTo>
                  <a:pt x="246"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5248656"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6616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5" name="Freeform 44"/>
          <p:cNvSpPr/>
          <p:nvPr/>
        </p:nvSpPr>
        <p:spPr>
          <a:xfrm>
            <a:off x="5330952" y="3063240"/>
            <a:ext cx="2258568" cy="731520"/>
          </a:xfrm>
          <a:custGeom>
            <a:avLst/>
            <a:gdLst/>
            <a:ahLst/>
            <a:cxnLst/>
            <a:rect l="l" t="t" r="r" b="b"/>
            <a:pathLst>
              <a:path w="247" h="80">
                <a:moveTo>
                  <a:pt x="0" y="80"/>
                </a:moveTo>
                <a:lnTo>
                  <a:pt x="1" y="71"/>
                </a:lnTo>
                <a:lnTo>
                  <a:pt x="3" y="62"/>
                </a:lnTo>
                <a:lnTo>
                  <a:pt x="7" y="54"/>
                </a:lnTo>
                <a:lnTo>
                  <a:pt x="13" y="45"/>
                </a:lnTo>
                <a:lnTo>
                  <a:pt x="19" y="37"/>
                </a:lnTo>
                <a:lnTo>
                  <a:pt x="27" y="30"/>
                </a:lnTo>
                <a:lnTo>
                  <a:pt x="36" y="23"/>
                </a:lnTo>
                <a:lnTo>
                  <a:pt x="47" y="17"/>
                </a:lnTo>
                <a:lnTo>
                  <a:pt x="58" y="12"/>
                </a:lnTo>
                <a:lnTo>
                  <a:pt x="70" y="8"/>
                </a:lnTo>
                <a:lnTo>
                  <a:pt x="83" y="4"/>
                </a:lnTo>
                <a:lnTo>
                  <a:pt x="96" y="2"/>
                </a:lnTo>
                <a:lnTo>
                  <a:pt x="110" y="1"/>
                </a:lnTo>
                <a:lnTo>
                  <a:pt x="124" y="0"/>
                </a:lnTo>
                <a:lnTo>
                  <a:pt x="137" y="1"/>
                </a:lnTo>
                <a:lnTo>
                  <a:pt x="151" y="2"/>
                </a:lnTo>
                <a:lnTo>
                  <a:pt x="164" y="4"/>
                </a:lnTo>
                <a:lnTo>
                  <a:pt x="177" y="8"/>
                </a:lnTo>
                <a:lnTo>
                  <a:pt x="189" y="12"/>
                </a:lnTo>
                <a:lnTo>
                  <a:pt x="201" y="17"/>
                </a:lnTo>
                <a:lnTo>
                  <a:pt x="211" y="23"/>
                </a:lnTo>
                <a:lnTo>
                  <a:pt x="220" y="30"/>
                </a:lnTo>
                <a:lnTo>
                  <a:pt x="228" y="37"/>
                </a:lnTo>
                <a:lnTo>
                  <a:pt x="235" y="45"/>
                </a:lnTo>
                <a:lnTo>
                  <a:pt x="240" y="54"/>
                </a:lnTo>
                <a:lnTo>
                  <a:pt x="244" y="62"/>
                </a:lnTo>
                <a:lnTo>
                  <a:pt x="246" y="71"/>
                </a:lnTo>
                <a:lnTo>
                  <a:pt x="247" y="8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7507224" y="363931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21680" y="2651760"/>
            <a:ext cx="1280160" cy="365760"/>
          </a:xfrm>
          <a:prstGeom prst="rect">
            <a:avLst/>
          </a:prstGeom>
          <a:noFill/>
        </p:spPr>
        <p:txBody>
          <a:bodyPr wrap="square" anchor="t" lIns="45720" rIns="45720" tIns="27432" bIns="27432">
            <a:spAutoFit/>
          </a:bodyPr>
          <a:lstStyle/>
          <a:p>
            <a:pPr algn="ctr">
              <a:lnSpc>
                <a:spcPct val="105000"/>
              </a:lnSpc>
            </a:pPr>
            <a:r>
              <a:rPr sz="1500" b="1" i="0">
                <a:solidFill>
                  <a:srgbClr val="007A5A"/>
                </a:solidFill>
                <a:latin typeface="PT Sans"/>
              </a:rPr>
              <a:t>1 мүн: 70 м</a:t>
            </a:r>
          </a:p>
        </p:txBody>
      </p:sp>
      <p:sp>
        <p:nvSpPr>
          <p:cNvPr id="48" name="Oval 47"/>
          <p:cNvSpPr/>
          <p:nvPr/>
        </p:nvSpPr>
        <p:spPr>
          <a:xfrm>
            <a:off x="71323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96875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22427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79792" y="3511296"/>
            <a:ext cx="219456" cy="219456"/>
          </a:xfrm>
          <a:prstGeom prst="ellipse">
            <a:avLst/>
          </a:prstGeom>
          <a:solidFill>
            <a:srgbClr val="2E86C1"/>
          </a:solidFill>
          <a:ln w="6350">
            <a:solidFill>
              <a:srgbClr val="2E86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343400"/>
            <a:ext cx="1097280" cy="274320"/>
          </a:xfrm>
          <a:prstGeom prst="rect">
            <a:avLst/>
          </a:prstGeom>
          <a:noFill/>
        </p:spPr>
        <p:txBody>
          <a:bodyPr wrap="square" anchor="t" lIns="45720" rIns="45720" tIns="27432" bIns="27432">
            <a:spAutoFit/>
          </a:bodyPr>
          <a:lstStyle/>
          <a:p>
            <a:pPr algn="l">
              <a:lnSpc>
                <a:spcPct val="105000"/>
              </a:lnSpc>
            </a:pPr>
            <a:r>
              <a:rPr sz="1200" b="0" i="1">
                <a:solidFill>
                  <a:srgbClr val="4A5A70"/>
                </a:solidFill>
                <a:latin typeface="PT Sans"/>
              </a:rPr>
              <a:t>башта</a:t>
            </a:r>
          </a:p>
        </p:txBody>
      </p:sp>
      <p:sp>
        <p:nvSpPr>
          <p:cNvPr id="53" name="TextBox 52"/>
          <p:cNvSpPr txBox="1"/>
          <p:nvPr/>
        </p:nvSpPr>
        <p:spPr>
          <a:xfrm>
            <a:off x="822960" y="4754880"/>
            <a:ext cx="6949440" cy="822960"/>
          </a:xfrm>
          <a:prstGeom prst="rect">
            <a:avLst/>
          </a:prstGeom>
          <a:noFill/>
        </p:spPr>
        <p:txBody>
          <a:bodyPr wrap="square" anchor="t" lIns="45720" rIns="45720" tIns="27432" bIns="27432">
            <a:spAutoFit/>
          </a:bodyPr>
          <a:lstStyle/>
          <a:p>
            <a:pPr algn="l">
              <a:lnSpc>
                <a:spcPct val="105000"/>
              </a:lnSpc>
            </a:pPr>
            <a:r>
              <a:rPr sz="2000" b="1" i="0">
                <a:solidFill>
                  <a:srgbClr val="24418C"/>
                </a:solidFill>
                <a:latin typeface="PT Sans"/>
              </a:rPr>
              <a:t>3 мүнөттө 210 м  →  1 мүнөттө 210 : 3 = 70 м</a:t>
            </a:r>
          </a:p>
          <a:p>
            <a:pPr algn="l">
              <a:lnSpc>
                <a:spcPct val="105000"/>
              </a:lnSpc>
            </a:pPr>
            <a:r>
              <a:rPr sz="1700" b="0" i="0">
                <a:solidFill>
                  <a:srgbClr val="1F2430"/>
                </a:solidFill>
                <a:latin typeface="PT Sans"/>
              </a:rPr>
              <a:t>Ылдамдык = 1 мүнөттө басылган жол = 70 м/мин</a:t>
            </a:r>
          </a:p>
        </p:txBody>
      </p:sp>
      <p:sp>
        <p:nvSpPr>
          <p:cNvPr id="54" name="TextBox 53"/>
          <p:cNvSpPr txBox="1"/>
          <p:nvPr/>
        </p:nvSpPr>
        <p:spPr>
          <a:xfrm>
            <a:off x="822960" y="2148840"/>
            <a:ext cx="676656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Капкак = ар бир мүнөттүн аягында турган жер. Жип = 10 м.</a:t>
            </a:r>
          </a:p>
        </p:txBody>
      </p:sp>
      <p:sp>
        <p:nvSpPr>
          <p:cNvPr id="55" name="Rounded Rectangle 54"/>
          <p:cNvSpPr/>
          <p:nvPr/>
        </p:nvSpPr>
        <p:spPr>
          <a:xfrm>
            <a:off x="8229600" y="2148840"/>
            <a:ext cx="3520440" cy="35661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66760" y="2212848"/>
            <a:ext cx="3291840" cy="347472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топто:</a:t>
            </a:r>
          </a:p>
          <a:p>
            <a:pPr algn="l">
              <a:lnSpc>
                <a:spcPct val="110000"/>
              </a:lnSpc>
            </a:pPr>
            <a:r>
              <a:rPr sz="1500" b="0" i="0">
                <a:solidFill>
                  <a:srgbClr val="1F2430"/>
                </a:solidFill>
                <a:latin typeface="PT Sans"/>
              </a:rPr>
              <a:t>• 10 м жип (ар 1 м – түйүн)</a:t>
            </a:r>
          </a:p>
          <a:p>
            <a:pPr algn="l">
              <a:lnSpc>
                <a:spcPct val="110000"/>
              </a:lnSpc>
            </a:pPr>
            <a:r>
              <a:rPr sz="1500" b="0" i="0">
                <a:solidFill>
                  <a:srgbClr val="1F2430"/>
                </a:solidFill>
                <a:latin typeface="PT Sans"/>
              </a:rPr>
              <a:t>• 3–4 бөтөлкө капкагы</a:t>
            </a:r>
          </a:p>
          <a:p>
            <a:pPr algn="l">
              <a:lnSpc>
                <a:spcPct val="110000"/>
              </a:lnSpc>
            </a:pPr>
            <a:r>
              <a:rPr sz="1500" b="0" i="0">
                <a:solidFill>
                  <a:srgbClr val="1F2430"/>
                </a:solidFill>
                <a:latin typeface="PT Sans"/>
              </a:rPr>
              <a:t>• бор, чакмак дептер</a:t>
            </a:r>
          </a:p>
          <a:p>
            <a:pPr algn="l">
              <a:lnSpc>
                <a:spcPct val="110000"/>
              </a:lnSpc>
            </a:pPr>
            <a:r>
              <a:rPr sz="1500" b="0" i="0">
                <a:solidFill>
                  <a:srgbClr val="1F2430"/>
                </a:solidFill>
                <a:latin typeface="PT Sans"/>
              </a:rPr>
              <a:t>• мугалимде: саат же секундомер</a:t>
            </a:r>
          </a:p>
          <a:p>
            <a:pPr algn="l">
              <a:lnSpc>
                <a:spcPct val="110000"/>
              </a:lnSpc>
            </a:pPr>
            <a:r>
              <a:rPr sz="1600" b="1" i="0">
                <a:solidFill>
                  <a:srgbClr val="24418C"/>
                </a:solidFill>
                <a:latin typeface="PT Sans"/>
              </a:rPr>
              <a:t>Сенин ылдамдыгың: ? м/мин</a:t>
            </a:r>
          </a:p>
        </p:txBody>
      </p:sp>
      <p:sp>
        <p:nvSpPr>
          <p:cNvPr id="57" name="Rounded Rectangle 56"/>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8" name="Rounded Rectangle 57"/>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9" name="Rounded Rectangle 58"/>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эки шкалалуу жол сызыгы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Үстүндө – километр, астында – саат. Ар бир секирик = 1 саат = ылдамдык.</a:t>
            </a:r>
          </a:p>
        </p:txBody>
      </p:sp>
      <p:cxnSp>
        <p:nvCxnSpPr>
          <p:cNvPr id="12" name="Connector 11"/>
          <p:cNvCxnSpPr/>
          <p:nvPr/>
        </p:nvCxnSpPr>
        <p:spPr>
          <a:xfrm>
            <a:off x="822960" y="3703320"/>
            <a:ext cx="10378440" cy="0"/>
          </a:xfrm>
          <a:prstGeom prst="line">
            <a:avLst/>
          </a:prstGeom>
          <a:ln w="2857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1147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0 км</a:t>
            </a:r>
          </a:p>
        </p:txBody>
      </p:sp>
      <p:sp>
        <p:nvSpPr>
          <p:cNvPr id="15" name="TextBox 14"/>
          <p:cNvSpPr txBox="1"/>
          <p:nvPr/>
        </p:nvSpPr>
        <p:spPr>
          <a:xfrm>
            <a:off x="41147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0 саат</a:t>
            </a:r>
          </a:p>
        </p:txBody>
      </p:sp>
      <p:sp>
        <p:nvSpPr>
          <p:cNvPr id="16" name="TextBox 15"/>
          <p:cNvSpPr txBox="1"/>
          <p:nvPr/>
        </p:nvSpPr>
        <p:spPr>
          <a:xfrm>
            <a:off x="36576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7</a:t>
            </a:r>
          </a:p>
        </p:txBody>
      </p:sp>
      <p:sp>
        <p:nvSpPr>
          <p:cNvPr id="17" name="Rounded Rectangle 16"/>
          <p:cNvSpPr/>
          <p:nvPr/>
        </p:nvSpPr>
        <p:spPr>
          <a:xfrm>
            <a:off x="27432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Бишкек</a:t>
            </a:r>
          </a:p>
        </p:txBody>
      </p:sp>
      <p:cxnSp>
        <p:nvCxnSpPr>
          <p:cNvPr id="18" name="Connector 17"/>
          <p:cNvCxnSpPr/>
          <p:nvPr/>
        </p:nvCxnSpPr>
        <p:spPr>
          <a:xfrm>
            <a:off x="260604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0312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30 км</a:t>
            </a:r>
          </a:p>
        </p:txBody>
      </p:sp>
      <p:sp>
        <p:nvSpPr>
          <p:cNvPr id="20" name="TextBox 19"/>
          <p:cNvSpPr txBox="1"/>
          <p:nvPr/>
        </p:nvSpPr>
        <p:spPr>
          <a:xfrm>
            <a:off x="210312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1 саат</a:t>
            </a:r>
          </a:p>
        </p:txBody>
      </p:sp>
      <p:sp>
        <p:nvSpPr>
          <p:cNvPr id="21" name="TextBox 20"/>
          <p:cNvSpPr txBox="1"/>
          <p:nvPr/>
        </p:nvSpPr>
        <p:spPr>
          <a:xfrm>
            <a:off x="205740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8</a:t>
            </a:r>
          </a:p>
        </p:txBody>
      </p:sp>
      <p:cxnSp>
        <p:nvCxnSpPr>
          <p:cNvPr id="22" name="Connector 21"/>
          <p:cNvCxnSpPr/>
          <p:nvPr/>
        </p:nvCxnSpPr>
        <p:spPr>
          <a:xfrm>
            <a:off x="429768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9476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60 км</a:t>
            </a:r>
          </a:p>
        </p:txBody>
      </p:sp>
      <p:sp>
        <p:nvSpPr>
          <p:cNvPr id="24" name="TextBox 23"/>
          <p:cNvSpPr txBox="1"/>
          <p:nvPr/>
        </p:nvSpPr>
        <p:spPr>
          <a:xfrm>
            <a:off x="379476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2 саат</a:t>
            </a:r>
          </a:p>
        </p:txBody>
      </p:sp>
      <p:sp>
        <p:nvSpPr>
          <p:cNvPr id="25" name="TextBox 24"/>
          <p:cNvSpPr txBox="1"/>
          <p:nvPr/>
        </p:nvSpPr>
        <p:spPr>
          <a:xfrm>
            <a:off x="374904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9</a:t>
            </a:r>
          </a:p>
        </p:txBody>
      </p:sp>
      <p:sp>
        <p:nvSpPr>
          <p:cNvPr id="26" name="Rounded Rectangle 25"/>
          <p:cNvSpPr/>
          <p:nvPr/>
        </p:nvSpPr>
        <p:spPr>
          <a:xfrm>
            <a:off x="365760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Токмок</a:t>
            </a:r>
          </a:p>
        </p:txBody>
      </p:sp>
      <p:cxnSp>
        <p:nvCxnSpPr>
          <p:cNvPr id="27" name="Connector 26"/>
          <p:cNvCxnSpPr/>
          <p:nvPr/>
        </p:nvCxnSpPr>
        <p:spPr>
          <a:xfrm>
            <a:off x="655320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50280"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100 км</a:t>
            </a:r>
          </a:p>
        </p:txBody>
      </p:sp>
      <p:sp>
        <p:nvSpPr>
          <p:cNvPr id="29" name="TextBox 28"/>
          <p:cNvSpPr txBox="1"/>
          <p:nvPr/>
        </p:nvSpPr>
        <p:spPr>
          <a:xfrm>
            <a:off x="6050280"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3 саат</a:t>
            </a:r>
          </a:p>
        </p:txBody>
      </p:sp>
      <p:sp>
        <p:nvSpPr>
          <p:cNvPr id="30" name="TextBox 29"/>
          <p:cNvSpPr txBox="1"/>
          <p:nvPr/>
        </p:nvSpPr>
        <p:spPr>
          <a:xfrm>
            <a:off x="600456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10</a:t>
            </a:r>
          </a:p>
        </p:txBody>
      </p:sp>
      <p:cxnSp>
        <p:nvCxnSpPr>
          <p:cNvPr id="31" name="Connector 30"/>
          <p:cNvCxnSpPr/>
          <p:nvPr/>
        </p:nvCxnSpPr>
        <p:spPr>
          <a:xfrm>
            <a:off x="880872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0579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140 км</a:t>
            </a:r>
          </a:p>
        </p:txBody>
      </p:sp>
      <p:sp>
        <p:nvSpPr>
          <p:cNvPr id="33" name="TextBox 32"/>
          <p:cNvSpPr txBox="1"/>
          <p:nvPr/>
        </p:nvSpPr>
        <p:spPr>
          <a:xfrm>
            <a:off x="830579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4 саат</a:t>
            </a:r>
          </a:p>
        </p:txBody>
      </p:sp>
      <p:sp>
        <p:nvSpPr>
          <p:cNvPr id="34" name="TextBox 33"/>
          <p:cNvSpPr txBox="1"/>
          <p:nvPr/>
        </p:nvSpPr>
        <p:spPr>
          <a:xfrm>
            <a:off x="826008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11</a:t>
            </a:r>
          </a:p>
        </p:txBody>
      </p:sp>
      <p:cxnSp>
        <p:nvCxnSpPr>
          <p:cNvPr id="35" name="Connector 34"/>
          <p:cNvCxnSpPr/>
          <p:nvPr/>
        </p:nvCxnSpPr>
        <p:spPr>
          <a:xfrm>
            <a:off x="11064240" y="3566160"/>
            <a:ext cx="0" cy="274320"/>
          </a:xfrm>
          <a:prstGeom prst="line">
            <a:avLst/>
          </a:prstGeom>
          <a:ln w="25400">
            <a:solidFill>
              <a:srgbClr val="1D3557"/>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561319" y="3246120"/>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180 км</a:t>
            </a:r>
          </a:p>
        </p:txBody>
      </p:sp>
      <p:sp>
        <p:nvSpPr>
          <p:cNvPr id="37" name="TextBox 36"/>
          <p:cNvSpPr txBox="1"/>
          <p:nvPr/>
        </p:nvSpPr>
        <p:spPr>
          <a:xfrm>
            <a:off x="10561319" y="3858768"/>
            <a:ext cx="1005840" cy="292608"/>
          </a:xfrm>
          <a:prstGeom prst="rect">
            <a:avLst/>
          </a:prstGeom>
          <a:noFill/>
        </p:spPr>
        <p:txBody>
          <a:bodyPr wrap="square" anchor="t" lIns="45720" rIns="45720" tIns="27432" bIns="27432">
            <a:spAutoFit/>
          </a:bodyPr>
          <a:lstStyle/>
          <a:p>
            <a:pPr algn="ctr">
              <a:lnSpc>
                <a:spcPct val="105000"/>
              </a:lnSpc>
            </a:pPr>
            <a:r>
              <a:rPr sz="1400" b="1" i="0">
                <a:solidFill>
                  <a:srgbClr val="24418C"/>
                </a:solidFill>
                <a:latin typeface="PT Sans"/>
              </a:rPr>
              <a:t>5 саат</a:t>
            </a:r>
          </a:p>
        </p:txBody>
      </p:sp>
      <p:sp>
        <p:nvSpPr>
          <p:cNvPr id="38" name="TextBox 37"/>
          <p:cNvSpPr txBox="1"/>
          <p:nvPr/>
        </p:nvSpPr>
        <p:spPr>
          <a:xfrm>
            <a:off x="10515600" y="4133087"/>
            <a:ext cx="1097280" cy="27432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саат 12</a:t>
            </a:r>
          </a:p>
        </p:txBody>
      </p:sp>
      <p:sp>
        <p:nvSpPr>
          <p:cNvPr id="39" name="Rounded Rectangle 38"/>
          <p:cNvSpPr/>
          <p:nvPr/>
        </p:nvSpPr>
        <p:spPr>
          <a:xfrm>
            <a:off x="10424160" y="4480559"/>
            <a:ext cx="1280160" cy="365760"/>
          </a:xfrm>
          <a:prstGeom prst="roundRect">
            <a:avLst>
              <a:gd name="adj" fmla="val 50000"/>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300" b="1">
                <a:solidFill>
                  <a:srgbClr val="A84400"/>
                </a:solidFill>
                <a:latin typeface="PT Sans"/>
              </a:rPr>
              <a:t>Балыкчы</a:t>
            </a:r>
          </a:p>
        </p:txBody>
      </p:sp>
      <p:sp>
        <p:nvSpPr>
          <p:cNvPr id="40" name="Freeform 39"/>
          <p:cNvSpPr/>
          <p:nvPr/>
        </p:nvSpPr>
        <p:spPr>
          <a:xfrm>
            <a:off x="914400" y="2651760"/>
            <a:ext cx="1691640" cy="548640"/>
          </a:xfrm>
          <a:custGeom>
            <a:avLst/>
            <a:gdLst/>
            <a:ahLst/>
            <a:cxnLst/>
            <a:rect l="l" t="t" r="r" b="b"/>
            <a:pathLst>
              <a:path w="185" h="60">
                <a:moveTo>
                  <a:pt x="0" y="60"/>
                </a:moveTo>
                <a:lnTo>
                  <a:pt x="1" y="53"/>
                </a:lnTo>
                <a:lnTo>
                  <a:pt x="2" y="47"/>
                </a:lnTo>
                <a:lnTo>
                  <a:pt x="5" y="40"/>
                </a:lnTo>
                <a:lnTo>
                  <a:pt x="9" y="34"/>
                </a:lnTo>
                <a:lnTo>
                  <a:pt x="14" y="28"/>
                </a:lnTo>
                <a:lnTo>
                  <a:pt x="20" y="23"/>
                </a:lnTo>
                <a:lnTo>
                  <a:pt x="27" y="18"/>
                </a:lnTo>
                <a:lnTo>
                  <a:pt x="35" y="13"/>
                </a:lnTo>
                <a:lnTo>
                  <a:pt x="43" y="9"/>
                </a:lnTo>
                <a:lnTo>
                  <a:pt x="52" y="6"/>
                </a:lnTo>
                <a:lnTo>
                  <a:pt x="62" y="3"/>
                </a:lnTo>
                <a:lnTo>
                  <a:pt x="72" y="2"/>
                </a:lnTo>
                <a:lnTo>
                  <a:pt x="82" y="0"/>
                </a:lnTo>
                <a:lnTo>
                  <a:pt x="92" y="0"/>
                </a:lnTo>
                <a:lnTo>
                  <a:pt x="103" y="0"/>
                </a:lnTo>
                <a:lnTo>
                  <a:pt x="113" y="2"/>
                </a:lnTo>
                <a:lnTo>
                  <a:pt x="123" y="3"/>
                </a:lnTo>
                <a:lnTo>
                  <a:pt x="133" y="6"/>
                </a:lnTo>
                <a:lnTo>
                  <a:pt x="142" y="9"/>
                </a:lnTo>
                <a:lnTo>
                  <a:pt x="150" y="13"/>
                </a:lnTo>
                <a:lnTo>
                  <a:pt x="158" y="18"/>
                </a:lnTo>
                <a:lnTo>
                  <a:pt x="165" y="23"/>
                </a:lnTo>
                <a:lnTo>
                  <a:pt x="171" y="28"/>
                </a:lnTo>
                <a:lnTo>
                  <a:pt x="176" y="34"/>
                </a:lnTo>
                <a:lnTo>
                  <a:pt x="180" y="40"/>
                </a:lnTo>
                <a:lnTo>
                  <a:pt x="183" y="47"/>
                </a:lnTo>
                <a:lnTo>
                  <a:pt x="184" y="53"/>
                </a:lnTo>
                <a:lnTo>
                  <a:pt x="185" y="6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523744" y="304495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1158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+30</a:t>
            </a:r>
          </a:p>
        </p:txBody>
      </p:sp>
      <p:sp>
        <p:nvSpPr>
          <p:cNvPr id="43" name="Freeform 42"/>
          <p:cNvSpPr/>
          <p:nvPr/>
        </p:nvSpPr>
        <p:spPr>
          <a:xfrm>
            <a:off x="2606040" y="2651760"/>
            <a:ext cx="1691640" cy="548640"/>
          </a:xfrm>
          <a:custGeom>
            <a:avLst/>
            <a:gdLst/>
            <a:ahLst/>
            <a:cxnLst/>
            <a:rect l="l" t="t" r="r" b="b"/>
            <a:pathLst>
              <a:path w="185" h="60">
                <a:moveTo>
                  <a:pt x="0" y="60"/>
                </a:moveTo>
                <a:lnTo>
                  <a:pt x="1" y="53"/>
                </a:lnTo>
                <a:lnTo>
                  <a:pt x="2" y="47"/>
                </a:lnTo>
                <a:lnTo>
                  <a:pt x="5" y="40"/>
                </a:lnTo>
                <a:lnTo>
                  <a:pt x="9" y="34"/>
                </a:lnTo>
                <a:lnTo>
                  <a:pt x="14" y="28"/>
                </a:lnTo>
                <a:lnTo>
                  <a:pt x="20" y="23"/>
                </a:lnTo>
                <a:lnTo>
                  <a:pt x="27" y="18"/>
                </a:lnTo>
                <a:lnTo>
                  <a:pt x="35" y="13"/>
                </a:lnTo>
                <a:lnTo>
                  <a:pt x="43" y="9"/>
                </a:lnTo>
                <a:lnTo>
                  <a:pt x="52" y="6"/>
                </a:lnTo>
                <a:lnTo>
                  <a:pt x="62" y="3"/>
                </a:lnTo>
                <a:lnTo>
                  <a:pt x="72" y="2"/>
                </a:lnTo>
                <a:lnTo>
                  <a:pt x="82" y="0"/>
                </a:lnTo>
                <a:lnTo>
                  <a:pt x="93" y="0"/>
                </a:lnTo>
                <a:lnTo>
                  <a:pt x="103" y="0"/>
                </a:lnTo>
                <a:lnTo>
                  <a:pt x="113" y="2"/>
                </a:lnTo>
                <a:lnTo>
                  <a:pt x="123" y="3"/>
                </a:lnTo>
                <a:lnTo>
                  <a:pt x="133" y="6"/>
                </a:lnTo>
                <a:lnTo>
                  <a:pt x="142" y="9"/>
                </a:lnTo>
                <a:lnTo>
                  <a:pt x="150" y="13"/>
                </a:lnTo>
                <a:lnTo>
                  <a:pt x="158" y="18"/>
                </a:lnTo>
                <a:lnTo>
                  <a:pt x="165" y="23"/>
                </a:lnTo>
                <a:lnTo>
                  <a:pt x="171" y="28"/>
                </a:lnTo>
                <a:lnTo>
                  <a:pt x="176" y="34"/>
                </a:lnTo>
                <a:lnTo>
                  <a:pt x="180" y="40"/>
                </a:lnTo>
                <a:lnTo>
                  <a:pt x="183" y="47"/>
                </a:lnTo>
                <a:lnTo>
                  <a:pt x="184" y="53"/>
                </a:lnTo>
                <a:lnTo>
                  <a:pt x="185" y="60"/>
                </a:lnTo>
              </a:path>
            </a:pathLst>
          </a:custGeom>
          <a:noFill/>
          <a:ln w="285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4215384" y="3044952"/>
            <a:ext cx="164592" cy="137160"/>
          </a:xfrm>
          <a:custGeom>
            <a:avLst/>
            <a:gdLst/>
            <a:ahLst/>
            <a:cxnLst/>
            <a:rect l="l" t="t" r="r" b="b"/>
            <a:pathLst>
              <a:path w="18" h="15">
                <a:moveTo>
                  <a:pt x="0" y="0"/>
                </a:moveTo>
                <a:lnTo>
                  <a:pt x="18" y="0"/>
                </a:lnTo>
                <a:lnTo>
                  <a:pt x="9" y="15"/>
                </a:lnTo>
                <a:close/>
              </a:path>
            </a:pathLst>
          </a:custGeom>
          <a:solidFill>
            <a:srgbClr val="007A5A"/>
          </a:solidFill>
          <a:ln>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0322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+30</a:t>
            </a:r>
          </a:p>
        </p:txBody>
      </p:sp>
      <p:sp>
        <p:nvSpPr>
          <p:cNvPr id="46" name="Freeform 45"/>
          <p:cNvSpPr/>
          <p:nvPr/>
        </p:nvSpPr>
        <p:spPr>
          <a:xfrm>
            <a:off x="4297680" y="2651760"/>
            <a:ext cx="2258568" cy="548640"/>
          </a:xfrm>
          <a:custGeom>
            <a:avLst/>
            <a:gdLst/>
            <a:ahLst/>
            <a:cxnLst/>
            <a:rect l="l" t="t" r="r" b="b"/>
            <a:pathLst>
              <a:path w="247" h="60">
                <a:moveTo>
                  <a:pt x="0" y="60"/>
                </a:moveTo>
                <a:lnTo>
                  <a:pt x="1" y="53"/>
                </a:lnTo>
                <a:lnTo>
                  <a:pt x="3" y="47"/>
                </a:lnTo>
                <a:lnTo>
                  <a:pt x="7" y="40"/>
                </a:lnTo>
                <a:lnTo>
                  <a:pt x="12" y="34"/>
                </a:lnTo>
                <a:lnTo>
                  <a:pt x="19" y="28"/>
                </a:lnTo>
                <a:lnTo>
                  <a:pt x="27" y="23"/>
                </a:lnTo>
                <a:lnTo>
                  <a:pt x="36" y="18"/>
                </a:lnTo>
                <a:lnTo>
                  <a:pt x="46" y="13"/>
                </a:lnTo>
                <a:lnTo>
                  <a:pt x="58" y="9"/>
                </a:lnTo>
                <a:lnTo>
                  <a:pt x="70" y="6"/>
                </a:lnTo>
                <a:lnTo>
                  <a:pt x="83" y="3"/>
                </a:lnTo>
                <a:lnTo>
                  <a:pt x="96" y="2"/>
                </a:lnTo>
                <a:lnTo>
                  <a:pt x="110" y="0"/>
                </a:lnTo>
                <a:lnTo>
                  <a:pt x="123" y="0"/>
                </a:lnTo>
                <a:lnTo>
                  <a:pt x="137" y="0"/>
                </a:lnTo>
                <a:lnTo>
                  <a:pt x="151" y="2"/>
                </a:lnTo>
                <a:lnTo>
                  <a:pt x="164" y="3"/>
                </a:lnTo>
                <a:lnTo>
                  <a:pt x="177" y="6"/>
                </a:lnTo>
                <a:lnTo>
                  <a:pt x="189" y="9"/>
                </a:lnTo>
                <a:lnTo>
                  <a:pt x="200" y="13"/>
                </a:lnTo>
                <a:lnTo>
                  <a:pt x="211" y="18"/>
                </a:lnTo>
                <a:lnTo>
                  <a:pt x="220" y="23"/>
                </a:lnTo>
                <a:lnTo>
                  <a:pt x="228" y="28"/>
                </a:lnTo>
                <a:lnTo>
                  <a:pt x="234" y="34"/>
                </a:lnTo>
                <a:lnTo>
                  <a:pt x="240" y="40"/>
                </a:lnTo>
                <a:lnTo>
                  <a:pt x="244" y="47"/>
                </a:lnTo>
                <a:lnTo>
                  <a:pt x="246" y="53"/>
                </a:lnTo>
                <a:lnTo>
                  <a:pt x="247"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6473952"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7680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49" name="Freeform 48"/>
          <p:cNvSpPr/>
          <p:nvPr/>
        </p:nvSpPr>
        <p:spPr>
          <a:xfrm>
            <a:off x="6556248" y="2651760"/>
            <a:ext cx="2249424" cy="548640"/>
          </a:xfrm>
          <a:custGeom>
            <a:avLst/>
            <a:gdLst/>
            <a:ahLst/>
            <a:cxnLst/>
            <a:rect l="l" t="t" r="r" b="b"/>
            <a:pathLst>
              <a:path w="246" h="60">
                <a:moveTo>
                  <a:pt x="0" y="60"/>
                </a:moveTo>
                <a:lnTo>
                  <a:pt x="0" y="53"/>
                </a:lnTo>
                <a:lnTo>
                  <a:pt x="3" y="47"/>
                </a:lnTo>
                <a:lnTo>
                  <a:pt x="7" y="40"/>
                </a:lnTo>
                <a:lnTo>
                  <a:pt x="12" y="34"/>
                </a:lnTo>
                <a:lnTo>
                  <a:pt x="19" y="28"/>
                </a:lnTo>
                <a:lnTo>
                  <a:pt x="27" y="23"/>
                </a:lnTo>
                <a:lnTo>
                  <a:pt x="36" y="18"/>
                </a:lnTo>
                <a:lnTo>
                  <a:pt x="46" y="13"/>
                </a:lnTo>
                <a:lnTo>
                  <a:pt x="57" y="9"/>
                </a:lnTo>
                <a:lnTo>
                  <a:pt x="69" y="6"/>
                </a:lnTo>
                <a:lnTo>
                  <a:pt x="82" y="3"/>
                </a:lnTo>
                <a:lnTo>
                  <a:pt x="96" y="2"/>
                </a:lnTo>
                <a:lnTo>
                  <a:pt x="109" y="0"/>
                </a:lnTo>
                <a:lnTo>
                  <a:pt x="123" y="0"/>
                </a:lnTo>
                <a:lnTo>
                  <a:pt x="137" y="0"/>
                </a:lnTo>
                <a:lnTo>
                  <a:pt x="150" y="2"/>
                </a:lnTo>
                <a:lnTo>
                  <a:pt x="164" y="3"/>
                </a:lnTo>
                <a:lnTo>
                  <a:pt x="177" y="6"/>
                </a:lnTo>
                <a:lnTo>
                  <a:pt x="189" y="9"/>
                </a:lnTo>
                <a:lnTo>
                  <a:pt x="200" y="13"/>
                </a:lnTo>
                <a:lnTo>
                  <a:pt x="210" y="18"/>
                </a:lnTo>
                <a:lnTo>
                  <a:pt x="219" y="23"/>
                </a:lnTo>
                <a:lnTo>
                  <a:pt x="227" y="28"/>
                </a:lnTo>
                <a:lnTo>
                  <a:pt x="234" y="34"/>
                </a:lnTo>
                <a:lnTo>
                  <a:pt x="239" y="40"/>
                </a:lnTo>
                <a:lnTo>
                  <a:pt x="243" y="47"/>
                </a:lnTo>
                <a:lnTo>
                  <a:pt x="246" y="53"/>
                </a:lnTo>
                <a:lnTo>
                  <a:pt x="246"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8723376"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3232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52" name="Freeform 51"/>
          <p:cNvSpPr/>
          <p:nvPr/>
        </p:nvSpPr>
        <p:spPr>
          <a:xfrm>
            <a:off x="8805672" y="2651760"/>
            <a:ext cx="2258568" cy="548640"/>
          </a:xfrm>
          <a:custGeom>
            <a:avLst/>
            <a:gdLst/>
            <a:ahLst/>
            <a:cxnLst/>
            <a:rect l="l" t="t" r="r" b="b"/>
            <a:pathLst>
              <a:path w="247" h="60">
                <a:moveTo>
                  <a:pt x="0" y="60"/>
                </a:moveTo>
                <a:lnTo>
                  <a:pt x="1" y="53"/>
                </a:lnTo>
                <a:lnTo>
                  <a:pt x="3" y="47"/>
                </a:lnTo>
                <a:lnTo>
                  <a:pt x="7" y="40"/>
                </a:lnTo>
                <a:lnTo>
                  <a:pt x="13" y="34"/>
                </a:lnTo>
                <a:lnTo>
                  <a:pt x="19" y="28"/>
                </a:lnTo>
                <a:lnTo>
                  <a:pt x="27" y="23"/>
                </a:lnTo>
                <a:lnTo>
                  <a:pt x="36" y="18"/>
                </a:lnTo>
                <a:lnTo>
                  <a:pt x="47" y="13"/>
                </a:lnTo>
                <a:lnTo>
                  <a:pt x="58" y="9"/>
                </a:lnTo>
                <a:lnTo>
                  <a:pt x="70" y="6"/>
                </a:lnTo>
                <a:lnTo>
                  <a:pt x="83" y="3"/>
                </a:lnTo>
                <a:lnTo>
                  <a:pt x="96" y="2"/>
                </a:lnTo>
                <a:lnTo>
                  <a:pt x="110" y="0"/>
                </a:lnTo>
                <a:lnTo>
                  <a:pt x="124" y="0"/>
                </a:lnTo>
                <a:lnTo>
                  <a:pt x="137" y="0"/>
                </a:lnTo>
                <a:lnTo>
                  <a:pt x="151" y="2"/>
                </a:lnTo>
                <a:lnTo>
                  <a:pt x="164" y="3"/>
                </a:lnTo>
                <a:lnTo>
                  <a:pt x="177" y="6"/>
                </a:lnTo>
                <a:lnTo>
                  <a:pt x="189" y="9"/>
                </a:lnTo>
                <a:lnTo>
                  <a:pt x="201" y="13"/>
                </a:lnTo>
                <a:lnTo>
                  <a:pt x="211" y="18"/>
                </a:lnTo>
                <a:lnTo>
                  <a:pt x="220" y="23"/>
                </a:lnTo>
                <a:lnTo>
                  <a:pt x="228" y="28"/>
                </a:lnTo>
                <a:lnTo>
                  <a:pt x="235" y="34"/>
                </a:lnTo>
                <a:lnTo>
                  <a:pt x="240" y="40"/>
                </a:lnTo>
                <a:lnTo>
                  <a:pt x="244" y="47"/>
                </a:lnTo>
                <a:lnTo>
                  <a:pt x="246" y="53"/>
                </a:lnTo>
                <a:lnTo>
                  <a:pt x="247" y="60"/>
                </a:lnTo>
              </a:path>
            </a:pathLst>
          </a:custGeom>
          <a:no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10981944" y="3044952"/>
            <a:ext cx="164592" cy="137160"/>
          </a:xfrm>
          <a:custGeom>
            <a:avLst/>
            <a:gdLst/>
            <a:ahLst/>
            <a:cxnLst/>
            <a:rect l="l" t="t" r="r" b="b"/>
            <a:pathLst>
              <a:path w="18" h="15">
                <a:moveTo>
                  <a:pt x="0" y="0"/>
                </a:moveTo>
                <a:lnTo>
                  <a:pt x="18" y="0"/>
                </a:lnTo>
                <a:lnTo>
                  <a:pt x="9" y="15"/>
                </a:lnTo>
                <a:close/>
              </a:path>
            </a:pathLst>
          </a:custGeom>
          <a:solidFill>
            <a:srgbClr val="A84400"/>
          </a:solidFill>
          <a:ln>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87840" y="2331720"/>
            <a:ext cx="1097280" cy="320040"/>
          </a:xfrm>
          <a:prstGeom prst="rect">
            <a:avLst/>
          </a:prstGeom>
          <a:noFill/>
        </p:spPr>
        <p:txBody>
          <a:bodyPr wrap="square" anchor="t" lIns="45720" rIns="45720" tIns="27432" bIns="27432">
            <a:spAutoFit/>
          </a:bodyPr>
          <a:lstStyle/>
          <a:p>
            <a:pPr algn="ctr">
              <a:lnSpc>
                <a:spcPct val="105000"/>
              </a:lnSpc>
            </a:pPr>
            <a:r>
              <a:rPr sz="1700" b="1" i="0">
                <a:solidFill>
                  <a:srgbClr val="A84400"/>
                </a:solidFill>
                <a:latin typeface="PT Sans"/>
              </a:rPr>
              <a:t>+40</a:t>
            </a:r>
          </a:p>
        </p:txBody>
      </p:sp>
      <p:sp>
        <p:nvSpPr>
          <p:cNvPr id="55" name="TextBox 54"/>
          <p:cNvSpPr txBox="1"/>
          <p:nvPr/>
        </p:nvSpPr>
        <p:spPr>
          <a:xfrm>
            <a:off x="548640" y="4983480"/>
            <a:ext cx="5486400" cy="365760"/>
          </a:xfrm>
          <a:prstGeom prst="rect">
            <a:avLst/>
          </a:prstGeom>
          <a:noFill/>
        </p:spPr>
        <p:txBody>
          <a:bodyPr wrap="square" anchor="t" lIns="45720" rIns="45720" tIns="27432" bIns="27432">
            <a:spAutoFit/>
          </a:bodyPr>
          <a:lstStyle/>
          <a:p>
            <a:pPr algn="l">
              <a:lnSpc>
                <a:spcPct val="105000"/>
              </a:lnSpc>
            </a:pPr>
            <a:r>
              <a:rPr sz="1600" b="1" i="0">
                <a:solidFill>
                  <a:srgbClr val="007A5A"/>
                </a:solidFill>
                <a:latin typeface="PT Sans"/>
              </a:rPr>
              <a:t>30 км/саат: 2 секирик</a:t>
            </a:r>
          </a:p>
        </p:txBody>
      </p:sp>
      <p:sp>
        <p:nvSpPr>
          <p:cNvPr id="56" name="TextBox 55"/>
          <p:cNvSpPr txBox="1"/>
          <p:nvPr/>
        </p:nvSpPr>
        <p:spPr>
          <a:xfrm>
            <a:off x="6309360" y="4983480"/>
            <a:ext cx="5303520" cy="365760"/>
          </a:xfrm>
          <a:prstGeom prst="rect">
            <a:avLst/>
          </a:prstGeom>
          <a:noFill/>
        </p:spPr>
        <p:txBody>
          <a:bodyPr wrap="square" anchor="t" lIns="45720" rIns="45720" tIns="27432" bIns="27432">
            <a:spAutoFit/>
          </a:bodyPr>
          <a:lstStyle/>
          <a:p>
            <a:pPr algn="r">
              <a:lnSpc>
                <a:spcPct val="105000"/>
              </a:lnSpc>
            </a:pPr>
            <a:r>
              <a:rPr sz="1600" b="1" i="0">
                <a:solidFill>
                  <a:srgbClr val="A84400"/>
                </a:solidFill>
                <a:latin typeface="PT Sans"/>
              </a:rPr>
              <a:t>40 км/саат: 3 секирик</a:t>
            </a:r>
          </a:p>
        </p:txBody>
      </p:sp>
      <p:sp>
        <p:nvSpPr>
          <p:cNvPr id="57" name="TextBox 56"/>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30 · 2 = 60 км;    40 · 3 = 120 км;    2 + 3 = 5 саат;    саат 7 + 5 = саат 12</a:t>
            </a:r>
          </a:p>
        </p:txBody>
      </p:sp>
      <p:sp>
        <p:nvSpPr>
          <p:cNvPr id="58" name="Rounded Rectangle 5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59" name="Rounded Rectangle 58"/>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60" name="Rounded Rectangle 59"/>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61" name="Rounded Rectangle 60"/>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s = v · t</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Аралык</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ылдамдык × убакыт</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v = s : t</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Ылдамдык</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аралык : убакыт</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t = s : v</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Убакыт</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аралык : ылдамдык</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60 мүн</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саат</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30 мүн = ½ саат, 15 мүн = ¼ саат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v = 120 : 3 = 40 км/саат.   Текшер: 40 · 3 = 120 ✓</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Поезд Бишкектен Токмокко чейинки 60 км жолду 30 км/саат ылдамдык менен жүрдү. Канча убакыт кетти?</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t = s : v</a:t>
            </a:r>
          </a:p>
        </p:txBody>
      </p:sp>
      <p:sp>
        <p:nvSpPr>
          <p:cNvPr id="13" name="TextBox 12"/>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60 : 30</a:t>
            </a:r>
          </a:p>
        </p:txBody>
      </p:sp>
      <p:sp>
        <p:nvSpPr>
          <p:cNvPr id="14" name="TextBox 13"/>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 : км/саат</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2</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саат</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Убакыт = </a:t>
            </a:r>
            <a:r>
              <a:rPr sz="3400" b="1">
                <a:solidFill>
                  <a:srgbClr val="24418C"/>
                </a:solidFill>
                <a:latin typeface="PT Sans"/>
              </a:rPr>
              <a:t>2 саат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машине менен 60 км/саат ылдамдык менен 1 саат 20 мүнөт жүрдү. Канча км жол басты?</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саат 20 мүн = 1⅓ саат</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20 мүн = ⅓ саат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s = 60 · 1⅓</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s = v · t</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60 + 20 = 80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Аралык = </a:t>
            </a:r>
            <a:r>
              <a:rPr sz="3400" b="1">
                <a:solidFill>
                  <a:srgbClr val="24418C"/>
                </a:solidFill>
                <a:latin typeface="PT Sans"/>
              </a:rPr>
              <a:t>80 км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Сааттын бөлүгү</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60 км/саат · 20 мүн</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60 : 3</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20 км</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20 мүн = ⅓ саат: саатта 60 км болсо, ⅓ саатта 20 км.</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Жарымы жана чейреги</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 км/саат · 1½ саат</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40 + 20</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60 км</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½ саат – жарымы, ¼ саат – чейреги.</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Жакындашуу ылдамдыгы</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 жана 50 км/саат</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90 км ар саатта</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270 : 90 = 3 саат</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Каршы кыймылда – кошобуз, бир багытта – кемитебиз.</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Атасы машине менен 60 км/саат ылдамдык менен 1 саат 30 мүнөт жүрдү. Канча км жол басты?</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78 км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90 км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5400 км</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40 км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Автобус 45 км/саат ылдамдык менен 3 саат жүрдү. Канча км жол басты? Ар бир саат = бир бөлүк.</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Поезд 2 саат 35 км/саат, анан 2 саат 45 км/саат ылдамдык менен жүрдү. Бардык жол канча км?</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Бишкектен жана Балыкчыдан бир убакта эки поезд чыкты: 40 жана 50 км/саат. Ара 180 км. Канча саатта жолугушат?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Автобус 45 км/саат ылдамдык менен 3 саат жүрдү. Канча км жол басты? Ар бир саат = бир бөлүк.</a:t>
            </a:r>
          </a:p>
        </p:txBody>
      </p:sp>
      <p:sp>
        <p:nvSpPr>
          <p:cNvPr id="13" name="Rectangle 12"/>
          <p:cNvSpPr/>
          <p:nvPr/>
        </p:nvSpPr>
        <p:spPr>
          <a:xfrm>
            <a:off x="566928"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14" name="Rectangle 13"/>
          <p:cNvSpPr/>
          <p:nvPr/>
        </p:nvSpPr>
        <p:spPr>
          <a:xfrm>
            <a:off x="1348232"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15" name="Rectangle 14"/>
          <p:cNvSpPr/>
          <p:nvPr/>
        </p:nvSpPr>
        <p:spPr>
          <a:xfrm>
            <a:off x="2129536"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135 км</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135 км</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Поезд 2 саат 35 км/саат, анан 2 саат 45 км/саат ылдамдык менен жүрдү. Бардык жол канча км?</a:t>
            </a:r>
          </a:p>
        </p:txBody>
      </p:sp>
      <p:sp>
        <p:nvSpPr>
          <p:cNvPr id="24" name="Rectangle 23"/>
          <p:cNvSpPr/>
          <p:nvPr/>
        </p:nvSpPr>
        <p:spPr>
          <a:xfrm>
            <a:off x="4419600" y="3017520"/>
            <a:ext cx="51273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25" name="Rectangle 24"/>
          <p:cNvSpPr/>
          <p:nvPr/>
        </p:nvSpPr>
        <p:spPr>
          <a:xfrm>
            <a:off x="4932330" y="3017520"/>
            <a:ext cx="51273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26" name="Rectangle 25"/>
          <p:cNvSpPr/>
          <p:nvPr/>
        </p:nvSpPr>
        <p:spPr>
          <a:xfrm>
            <a:off x="5445061" y="3017520"/>
            <a:ext cx="65922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sp>
        <p:nvSpPr>
          <p:cNvPr id="27" name="Rectangle 26"/>
          <p:cNvSpPr/>
          <p:nvPr/>
        </p:nvSpPr>
        <p:spPr>
          <a:xfrm>
            <a:off x="6104286" y="3017520"/>
            <a:ext cx="65922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45</a:t>
            </a:r>
          </a:p>
        </p:txBody>
      </p:sp>
      <p:cxnSp>
        <p:nvCxnSpPr>
          <p:cNvPr id="28" name="Connector 27"/>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160 км</a:t>
            </a:r>
          </a:p>
        </p:txBody>
      </p:sp>
      <p:sp>
        <p:nvSpPr>
          <p:cNvPr id="32" name="TextBox 31"/>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160 км</a:t>
            </a:r>
          </a:p>
        </p:txBody>
      </p:sp>
      <p:sp>
        <p:nvSpPr>
          <p:cNvPr id="33" name="Rounded Rectangle 32"/>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5" name="TextBox 34"/>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Бишкектен жана Балыкчыдан бир убакта эки поезд чыкты: 40 жана 50 км/саат. Ара 180 км. Канча саатта жолугушат?</a:t>
            </a:r>
          </a:p>
        </p:txBody>
      </p:sp>
      <p:sp>
        <p:nvSpPr>
          <p:cNvPr id="36" name="Rectangle 35"/>
          <p:cNvSpPr/>
          <p:nvPr/>
        </p:nvSpPr>
        <p:spPr>
          <a:xfrm>
            <a:off x="8272272" y="3017520"/>
            <a:ext cx="5208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40</a:t>
            </a:r>
          </a:p>
        </p:txBody>
      </p:sp>
      <p:sp>
        <p:nvSpPr>
          <p:cNvPr id="37" name="Rectangle 36"/>
          <p:cNvSpPr/>
          <p:nvPr/>
        </p:nvSpPr>
        <p:spPr>
          <a:xfrm>
            <a:off x="8793141" y="3017520"/>
            <a:ext cx="52086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40</a:t>
            </a:r>
          </a:p>
        </p:txBody>
      </p:sp>
      <p:sp>
        <p:nvSpPr>
          <p:cNvPr id="38" name="Rectangle 37"/>
          <p:cNvSpPr/>
          <p:nvPr/>
        </p:nvSpPr>
        <p:spPr>
          <a:xfrm>
            <a:off x="9314010" y="3017520"/>
            <a:ext cx="65108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50</a:t>
            </a:r>
          </a:p>
        </p:txBody>
      </p:sp>
      <p:sp>
        <p:nvSpPr>
          <p:cNvPr id="39" name="Rectangle 38"/>
          <p:cNvSpPr/>
          <p:nvPr/>
        </p:nvSpPr>
        <p:spPr>
          <a:xfrm>
            <a:off x="9965097" y="3017520"/>
            <a:ext cx="65108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50</a:t>
            </a:r>
          </a:p>
        </p:txBody>
      </p:sp>
      <p:cxnSp>
        <p:nvCxnSpPr>
          <p:cNvPr id="40" name="Connector 39"/>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180 км</a:t>
            </a:r>
          </a:p>
        </p:txBody>
      </p:sp>
      <p:sp>
        <p:nvSpPr>
          <p:cNvPr id="44" name="TextBox 43"/>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 саат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 км/саат · 4 саат</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360 км : 6 саат</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490 м : 70 м/мин</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 саат 45 мүн = ? мүн</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Машине 80 км/саат ылдамдык менен 45 мүнөт жүрдү. Канча км?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Каршы: 35 жана 45 км/саат, ара 240 км. Канча саатта жолугушат?</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 км/саат · 4 саат</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200 км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360 км : 6 саат</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км/саат</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490 м : 70 м/мин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 мүн</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саат 45 мүн = ? мүн</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105 мүн</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Машине 80 км/саат ылдамдык менен 45 мүнөт жүрдү. Канча км?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км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400" b="0" i="0">
                <a:solidFill>
                  <a:srgbClr val="1F2430"/>
                </a:solidFill>
                <a:latin typeface="PT Sans"/>
              </a:rPr>
              <a:t>Каршы: 35 жана 45 км/саат, ара 240 км. Канча саатта жолугушат?</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 саат</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Бишкек – Токмок 60 км, 30 км/саат; Токмок – Балыкчы 120 км, 40 км/саат. Поезд саат 7де чыкты. Бүт жолго канча убакыт кетет? Саат канчада жетет?</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126491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30 км</a:t>
            </a:r>
          </a:p>
        </p:txBody>
      </p:sp>
      <p:sp>
        <p:nvSpPr>
          <p:cNvPr id="14" name="Rectangle 13"/>
          <p:cNvSpPr/>
          <p:nvPr/>
        </p:nvSpPr>
        <p:spPr>
          <a:xfrm>
            <a:off x="3642360" y="2240280"/>
            <a:ext cx="126491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30 км</a:t>
            </a:r>
          </a:p>
        </p:txBody>
      </p:sp>
      <p:sp>
        <p:nvSpPr>
          <p:cNvPr id="15" name="Rectangle 14"/>
          <p:cNvSpPr/>
          <p:nvPr/>
        </p:nvSpPr>
        <p:spPr>
          <a:xfrm>
            <a:off x="4907280"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sp>
        <p:nvSpPr>
          <p:cNvPr id="16" name="Rectangle 15"/>
          <p:cNvSpPr/>
          <p:nvPr/>
        </p:nvSpPr>
        <p:spPr>
          <a:xfrm>
            <a:off x="6593839"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sp>
        <p:nvSpPr>
          <p:cNvPr id="17" name="Rectangle 16"/>
          <p:cNvSpPr/>
          <p:nvPr/>
        </p:nvSpPr>
        <p:spPr>
          <a:xfrm>
            <a:off x="8280399" y="2240280"/>
            <a:ext cx="1686559"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40 км</a:t>
            </a:r>
          </a:p>
        </p:txBody>
      </p:sp>
      <p:cxnSp>
        <p:nvCxnSpPr>
          <p:cNvPr id="18" name="Connector 17"/>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180</a:t>
            </a:r>
          </a:p>
        </p:txBody>
      </p:sp>
      <p:sp>
        <p:nvSpPr>
          <p:cNvPr id="22" name="TextBox 21"/>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60 : 30 = 2</a:t>
            </a:r>
          </a:p>
        </p:txBody>
      </p:sp>
      <p:sp>
        <p:nvSpPr>
          <p:cNvPr id="23" name="TextBox 22"/>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Токмокко чейин</a:t>
            </a:r>
          </a:p>
        </p:txBody>
      </p:sp>
      <p:sp>
        <p:nvSpPr>
          <p:cNvPr id="24" name="TextBox 23"/>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120 : 40 = 3</a:t>
            </a:r>
          </a:p>
        </p:txBody>
      </p:sp>
      <p:sp>
        <p:nvSpPr>
          <p:cNvPr id="25" name="TextBox 24"/>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Балыкчыга чейин</a:t>
            </a:r>
          </a:p>
        </p:txBody>
      </p:sp>
      <p:sp>
        <p:nvSpPr>
          <p:cNvPr id="26" name="TextBox 25"/>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 + 3 = 5</a:t>
            </a:r>
          </a:p>
        </p:txBody>
      </p:sp>
      <p:sp>
        <p:nvSpPr>
          <p:cNvPr id="27" name="TextBox 26"/>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саат: саат 7 + 5 = 12</a:t>
            </a:r>
          </a:p>
        </p:txBody>
      </p:sp>
      <p:sp>
        <p:nvSpPr>
          <p:cNvPr id="28" name="Rounded Rectangle 27"/>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Бүт жол 180 км, 5 саат: поезд Балыкчыга саат 12де жетет.</a:t>
            </a:r>
          </a:p>
        </p:txBody>
      </p:sp>
      <p:sp>
        <p:nvSpPr>
          <p:cNvPr id="29" name="Rounded Rectangle 28"/>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Балыкчы сапары жөнүндө маселе түз: эки этаптуу жол же эки поезд, жообу саат менен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Эмир, Нуриза, Айнура апа, Асан ата.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Велосипедчи 3 саатта 45 км жүрдү. Ылдамдыгы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Нуриза 80 м/мин ылдамдык менен 12 мүнөт басты. Канча метр?</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Автобус 40 км/саат ылдамдык менен 30 мүнөт жүрдү. Канча км?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Ылдамдык деген эмне? «1 саатта» деген сөз менен түшүндүр.</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1 саат 30 мүн = 1,3 саат эмес? Кантип эстеп каласың?</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Каршы кыймылда эмне үчүн ылдамдыктарды кошобуз?</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Ылдамдык, убакыт жана аралык</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жол сызыгын же тилкени чийдирүүнү сунуштайм: 1 бөлүк = 1 саат (М1).</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Бирдиктерди ар дайым жаздырам: км/саат · саат = км (М2).</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Мүнөттү саатка которууда кагаз саатты көрсөтөм: 30 мүн = ½, 15 мүн = ¼ (М3, М6).</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Каршы кыймылды полдо эки окуучу менен көрсөтөм: ара эки жактан кыскарат (М5).</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