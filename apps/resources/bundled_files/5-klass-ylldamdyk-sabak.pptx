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Сабактын аталышы жана бүгүнкү окуя.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Сабактын жолу: ар бир бөлүк өз слайды менен ачылат.</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Окуяны окуп бериңиз. Окуучулар болжолдошсун: Асан ата бекетке түшкө чейин келиши керекпи же кечкиге чейинби? Жоопту сабактын аягында (22-слайд) текшеребиз. Проектор жок болсо, Бишкек – Токмок – Балыкчы жол сызыгын доскага чийем.</a:t>
            </a:r>
          </a:p>
          <a:p>
            <a:r>
              <a:t>3C (Байланыштыруу): Окуя турмуштан: бул суроого сабактын аягында кайтабыз.</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Ой жүгүртүү маданияты (Wenxi Lee, 2,6).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Ийгилик критерийлери: сабактын аягында ар бирине ✓ коёбуз.</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Спираль: тема класстан класска тереңдейт.</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Мини-тактага жазышат. Жооптор кийинки слайдда.</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Жоопту дароо айтпайбыз. Жупта талкуулашат. Жооп: Нуриза: 2 саатта 80 км болсо, 1 саатта 40 км (Эмир – М1).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топко (3–4 окуучу): 10 м жип (ар 1 метрде түйүн), бор, 3–4 бөтөлкө капкагы. Мугалимде саат же телефондун секундомери. Бир окуучу кадимкидей басат, ар бир мүнөттө (мен кол чабам) экинчиси ал турган жерге капкак коёт. Анан жип менен ченешет. Окуучулар өздөрү табышат: 1 мүнөттөгү жол = ылдамдык (м/мин). Короого чыгуу мүмкүн болбосо, коридордо 1 мүнөт басып, аралыкты жип менен ченейбиз. Сүрөттөгү сандар – мисал: 3 мүнөттө 210 м.</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Жол сызыгын доскага чийем, окуучулар чакмак дептерге (1 чакмак = 10 км). Үстүнкү шкала – аралык (км), астынкы – убакыт (саат). Ар бир секирик 1 саат: Токмокко чейин 30 км, андан ары 40 км. Секириктерди санасак – убакыт (5 саат), секириктин узундугу – ылдамдык, бардык жол – аралык. Ушундан s = v · t формуласы өзү чыгат.</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Үч формула – бир үй-бүлө: s = v · t болсо, v = s : t жана t = s : v. Бирдиктерди дайыма жазабыз: км/саат менен саат, м/мин менен мүнөт (М2). Саатта 60 мүнөт, 100 эмес (М3).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сап «=» менен башталат. Окуучулар кадамды айтып турат.</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сап «=» менен башталат. Окуучулар кадамды айтып турат.</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ыкманы окуучу үн чыгарып айтат: «20 мүнөт – сааттын үчтөн бири, 60тын үчтөн бири 20». «Оозеки беш мүнөт» (класста колдонуу картасы) эки апта ушул ыкмаларды кайталайт.</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Баары бир убакта манжа менен көрсөтөт (1–4). Туура эмес жооптун коду: А = М3; Б = ✓; В = М2; Г = М1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деңгээл: аралык → эки этап → каршы кыймыл. Жооптор: 135 км; 160 км; 2 саат</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Жеңилден баштап, мүмкүн болушунча алдыга. Жооптор кийинки слайдда.</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бөлүк – 1 саат: Токмокко чейин эки бөлүк 30 км (60 : 30 = 2 саат), Балыкчыга чейин үч бөлүк 40 км (120 : 40 = 3 саат). Бардыгы 5 саат: саат 7 + 5 = саат 12. Текшерүү: 2 · 30 + 3 · 40 = 180 км. Кошумча суроо: атасы машине менен саат 9да чыгып, 60 км/саат ылдамдык менен 180 км жүрсө, поездден мурун жетеби? (3 саат: саат 12де, бирге жетишет.)</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Блум: Түзүү. Жупта алмашып, бири-биринин маселесин чыгарышат.</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Жооптор: 15 км/саат; 960 м; 20 км</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Бул слайд окуучуларга көрсөтүлбөйт.</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3" name="TextBox 2"/>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1/26</a:t>
            </a:r>
          </a:p>
        </p:txBody>
      </p:sp>
      <p:sp>
        <p:nvSpPr>
          <p:cNvPr id="4" name="Rounded Rectangle 3"/>
          <p:cNvSpPr/>
          <p:nvPr/>
        </p:nvSpPr>
        <p:spPr>
          <a:xfrm>
            <a:off x="822960" y="1371600"/>
            <a:ext cx="164592" cy="128016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7280" y="1371600"/>
            <a:ext cx="164592" cy="128016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371600" y="1371600"/>
            <a:ext cx="164592" cy="128016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1188720"/>
            <a:ext cx="9601200" cy="548640"/>
          </a:xfrm>
          <a:prstGeom prst="rect">
            <a:avLst/>
          </a:prstGeom>
          <a:noFill/>
        </p:spPr>
        <p:txBody>
          <a:bodyPr wrap="square" anchor="t" lIns="45720" rIns="45720" tIns="27432" bIns="27432">
            <a:spAutoFit/>
          </a:bodyPr>
          <a:lstStyle/>
          <a:p>
            <a:pPr algn="l">
              <a:lnSpc>
                <a:spcPct val="105000"/>
              </a:lnSpc>
            </a:pPr>
            <a:r>
              <a:rPr sz="2200" b="0" i="0">
                <a:solidFill>
                  <a:srgbClr val="4A5A70"/>
                </a:solidFill>
                <a:latin typeface="PT Sans"/>
              </a:rPr>
              <a:t/>
            </a:r>
          </a:p>
        </p:txBody>
      </p:sp>
      <p:sp>
        <p:nvSpPr>
          <p:cNvPr id="8" name="TextBox 7"/>
          <p:cNvSpPr txBox="1"/>
          <p:nvPr/>
        </p:nvSpPr>
        <p:spPr>
          <a:xfrm>
            <a:off x="1828800" y="1691640"/>
            <a:ext cx="9601200" cy="1737360"/>
          </a:xfrm>
          <a:prstGeom prst="rect">
            <a:avLst/>
          </a:prstGeom>
          <a:noFill/>
        </p:spPr>
        <p:txBody>
          <a:bodyPr wrap="square" anchor="t" lIns="45720" rIns="45720" tIns="27432" bIns="27432">
            <a:spAutoFit/>
          </a:bodyPr>
          <a:lstStyle/>
          <a:p>
            <a:pPr algn="l">
              <a:lnSpc>
                <a:spcPct val="105000"/>
              </a:lnSpc>
            </a:pPr>
            <a:r>
              <a:rPr sz="4000" b="1" i="0">
                <a:solidFill>
                  <a:srgbClr val="1D3557"/>
                </a:solidFill>
                <a:latin typeface="PT Sans"/>
              </a:rPr>
              <a:t>Ылдамдык, убакыт жана аралык</a:t>
            </a:r>
          </a:p>
        </p:txBody>
      </p:sp>
      <p:sp>
        <p:nvSpPr>
          <p:cNvPr id="9" name="Rounded Rectangle 8"/>
          <p:cNvSpPr/>
          <p:nvPr/>
        </p:nvSpPr>
        <p:spPr>
          <a:xfrm>
            <a:off x="1828800" y="3611880"/>
            <a:ext cx="8778240" cy="1463040"/>
          </a:xfrm>
          <a:prstGeom prst="roundRect">
            <a:avLst>
              <a:gd name="adj" fmla="val 12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0"/>
            <a:ext cx="8321040" cy="457200"/>
          </a:xfrm>
          <a:prstGeom prst="rect">
            <a:avLst/>
          </a:prstGeom>
          <a:noFill/>
        </p:spPr>
        <p:txBody>
          <a:bodyPr wrap="square" anchor="t" lIns="45720" rIns="45720" tIns="27432" bIns="27432">
            <a:spAutoFit/>
          </a:bodyPr>
          <a:lstStyle/>
          <a:p>
            <a:pPr algn="l">
              <a:lnSpc>
                <a:spcPct val="105000"/>
              </a:lnSpc>
            </a:pPr>
            <a:r>
              <a:rPr sz="2400" b="1" i="0">
                <a:solidFill>
                  <a:srgbClr val="A84400"/>
                </a:solidFill>
                <a:latin typeface="PT Sans"/>
              </a:rPr>
              <a:t>Бүгүнкү окуя: Балыкчыга жайкы поезд</a:t>
            </a:r>
          </a:p>
        </p:txBody>
      </p:sp>
      <p:sp>
        <p:nvSpPr>
          <p:cNvPr id="11" name="TextBox 10"/>
          <p:cNvSpPr txBox="1"/>
          <p:nvPr/>
        </p:nvSpPr>
        <p:spPr>
          <a:xfrm>
            <a:off x="2057400" y="4160520"/>
            <a:ext cx="8321040" cy="914400"/>
          </a:xfrm>
          <a:prstGeom prst="rect">
            <a:avLst/>
          </a:prstGeom>
          <a:noFill/>
        </p:spPr>
        <p:txBody>
          <a:bodyPr wrap="square" anchor="t" lIns="45720" rIns="45720" tIns="27432" bIns="27432">
            <a:spAutoFit/>
          </a:bodyPr>
          <a:lstStyle/>
          <a:p>
            <a:pPr algn="l">
              <a:lnSpc>
                <a:spcPct val="105000"/>
              </a:lnSpc>
            </a:pPr>
            <a:r>
              <a:rPr sz="1900" b="0" i="0">
                <a:solidFill>
                  <a:srgbClr val="1F2430"/>
                </a:solidFill>
                <a:latin typeface="PT Sans"/>
              </a:rPr>
              <a:t>Эмир менен Нуриза Бишкектен Балыкчыга поезд менен барышат жана жолдо ылдамдыкты, убакытты, аралыкты эсептешет.</a:t>
            </a:r>
          </a:p>
        </p:txBody>
      </p:sp>
      <p:sp>
        <p:nvSpPr>
          <p:cNvPr id="12" name="TextBox 11"/>
          <p:cNvSpPr txBox="1"/>
          <p:nvPr/>
        </p:nvSpPr>
        <p:spPr>
          <a:xfrm>
            <a:off x="1828800" y="5349240"/>
            <a:ext cx="9601200" cy="457200"/>
          </a:xfrm>
          <a:prstGeom prst="rect">
            <a:avLst/>
          </a:prstGeom>
          <a:noFill/>
        </p:spPr>
        <p:txBody>
          <a:bodyPr wrap="square" anchor="t" lIns="45720" rIns="45720" tIns="27432" bIns="27432">
            <a:spAutoFit/>
          </a:bodyPr>
          <a:lstStyle/>
          <a:p>
            <a:pPr algn="l">
              <a:lnSpc>
                <a:spcPct val="105000"/>
              </a:lnSpc>
            </a:pPr>
            <a:r>
              <a:rPr sz="1300" b="0" i="1">
                <a:solidFill>
                  <a:srgbClr val="6B7280"/>
                </a:solidFill>
                <a:latin typeface="PT Sans"/>
              </a:rPr>
              <a:t>Китеп: Математика стандарты: кыймылга карата маселелер (4.3.9) жана 5-класстын формулалары. Кыргызча окуу китеби папкада жок; мазмуну толук жаңы.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Сабактын мазмуну</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Ылдамдык, убакыт жана аралык</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2/26</a:t>
            </a:r>
          </a:p>
        </p:txBody>
      </p:sp>
      <p:sp>
        <p:nvSpPr>
          <p:cNvPr id="10" name="Rounded Rectangle 9"/>
          <p:cNvSpPr/>
          <p:nvPr/>
        </p:nvSpPr>
        <p:spPr>
          <a:xfrm>
            <a:off x="429768" y="1280160"/>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0080" y="1463039"/>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2" name="TextBox 11"/>
          <p:cNvSpPr txBox="1"/>
          <p:nvPr/>
        </p:nvSpPr>
        <p:spPr>
          <a:xfrm>
            <a:off x="1280160" y="1280160"/>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Кириш</a:t>
            </a:r>
          </a:p>
        </p:txBody>
      </p:sp>
      <p:sp>
        <p:nvSpPr>
          <p:cNvPr id="13" name="TextBox 12"/>
          <p:cNvSpPr txBox="1"/>
          <p:nvPr/>
        </p:nvSpPr>
        <p:spPr>
          <a:xfrm>
            <a:off x="4480560" y="1280160"/>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Окуя, эрежелер, максаттар</a:t>
            </a:r>
          </a:p>
        </p:txBody>
      </p:sp>
      <p:sp>
        <p:nvSpPr>
          <p:cNvPr id="14" name="Rounded Rectangle 13"/>
          <p:cNvSpPr/>
          <p:nvPr/>
        </p:nvSpPr>
        <p:spPr>
          <a:xfrm>
            <a:off x="429768" y="2212848"/>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0080" y="2395728"/>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80160" y="2212848"/>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Даярдык</a:t>
            </a:r>
          </a:p>
        </p:txBody>
      </p:sp>
      <p:sp>
        <p:nvSpPr>
          <p:cNvPr id="17" name="TextBox 16"/>
          <p:cNvSpPr txBox="1"/>
          <p:nvPr/>
        </p:nvSpPr>
        <p:spPr>
          <a:xfrm>
            <a:off x="4480560" y="2212848"/>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Эстейбиз, «Ким туура?»</a:t>
            </a:r>
          </a:p>
        </p:txBody>
      </p:sp>
      <p:sp>
        <p:nvSpPr>
          <p:cNvPr id="18" name="Rounded Rectangle 17"/>
          <p:cNvSpPr/>
          <p:nvPr/>
        </p:nvSpPr>
        <p:spPr>
          <a:xfrm>
            <a:off x="429768" y="3145536"/>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0080" y="3328416"/>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20" name="TextBox 19"/>
          <p:cNvSpPr txBox="1"/>
          <p:nvPr/>
        </p:nvSpPr>
        <p:spPr>
          <a:xfrm>
            <a:off x="1280160" y="3145536"/>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Түшүнөбүз</a:t>
            </a:r>
          </a:p>
        </p:txBody>
      </p:sp>
      <p:sp>
        <p:nvSpPr>
          <p:cNvPr id="21" name="TextBox 20"/>
          <p:cNvSpPr txBox="1"/>
          <p:nvPr/>
        </p:nvSpPr>
        <p:spPr>
          <a:xfrm>
            <a:off x="4480560" y="3145536"/>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К → С → А: буюм, тилке, эреже</a:t>
            </a:r>
          </a:p>
        </p:txBody>
      </p:sp>
      <p:sp>
        <p:nvSpPr>
          <p:cNvPr id="22" name="Rounded Rectangle 21"/>
          <p:cNvSpPr/>
          <p:nvPr/>
        </p:nvSpPr>
        <p:spPr>
          <a:xfrm>
            <a:off x="429768" y="4078224"/>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0080" y="426110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4" name="TextBox 23"/>
          <p:cNvSpPr txBox="1"/>
          <p:nvPr/>
        </p:nvSpPr>
        <p:spPr>
          <a:xfrm>
            <a:off x="1280160" y="4078224"/>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Машыгабыз</a:t>
            </a:r>
          </a:p>
        </p:txBody>
      </p:sp>
      <p:sp>
        <p:nvSpPr>
          <p:cNvPr id="25" name="TextBox 24"/>
          <p:cNvSpPr txBox="1"/>
          <p:nvPr/>
        </p:nvSpPr>
        <p:spPr>
          <a:xfrm>
            <a:off x="4480560" y="4078224"/>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Чечүүчү суроо, тилке, өз алдынча иш</a:t>
            </a:r>
          </a:p>
        </p:txBody>
      </p:sp>
      <p:sp>
        <p:nvSpPr>
          <p:cNvPr id="26" name="Rounded Rectangle 25"/>
          <p:cNvSpPr/>
          <p:nvPr/>
        </p:nvSpPr>
        <p:spPr>
          <a:xfrm>
            <a:off x="429768" y="5010912"/>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0080" y="5193792"/>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5</a:t>
            </a:r>
          </a:p>
        </p:txBody>
      </p:sp>
      <p:sp>
        <p:nvSpPr>
          <p:cNvPr id="28" name="TextBox 27"/>
          <p:cNvSpPr txBox="1"/>
          <p:nvPr/>
        </p:nvSpPr>
        <p:spPr>
          <a:xfrm>
            <a:off x="1280160" y="5010912"/>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Жыйынтык</a:t>
            </a:r>
          </a:p>
        </p:txBody>
      </p:sp>
      <p:sp>
        <p:nvSpPr>
          <p:cNvPr id="29" name="TextBox 28"/>
          <p:cNvSpPr txBox="1"/>
          <p:nvPr/>
        </p:nvSpPr>
        <p:spPr>
          <a:xfrm>
            <a:off x="4480560" y="5010912"/>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Окуяга кайтуу, түзүү, чыгуу билети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Окуя: Балыкчыга жайкы поезд</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Ылдамдык, убакыт жана аралык</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3/26</a:t>
            </a:r>
          </a:p>
        </p:txBody>
      </p:sp>
      <p:sp>
        <p:nvSpPr>
          <p:cNvPr id="10" name="Rounded Rectangle 9"/>
          <p:cNvSpPr/>
          <p:nvPr/>
        </p:nvSpPr>
        <p:spPr>
          <a:xfrm>
            <a:off x="429768" y="1225296"/>
            <a:ext cx="6766560" cy="45720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325880"/>
            <a:ext cx="6217920" cy="4389120"/>
          </a:xfrm>
          <a:prstGeom prst="rect">
            <a:avLst/>
          </a:prstGeom>
          <a:noFill/>
        </p:spPr>
        <p:txBody>
          <a:bodyPr wrap="square" anchor="t" lIns="45720" rIns="45720" tIns="27432" bIns="27432">
            <a:spAutoFit/>
          </a:bodyPr>
          <a:lstStyle/>
          <a:p>
            <a:pPr algn="l">
              <a:lnSpc>
                <a:spcPct val="105000"/>
              </a:lnSpc>
            </a:pPr>
            <a:r>
              <a:rPr sz="2100" b="0" i="0">
                <a:solidFill>
                  <a:srgbClr val="1F2430"/>
                </a:solidFill>
                <a:latin typeface="PT Sans"/>
              </a:rPr>
              <a:t>Жайкы каникулда Эмир менен Нуриза апасы Айнура менен Бишкектен Балыкчыга поезд менен жөнөштү.</a:t>
            </a:r>
          </a:p>
          <a:p>
            <a:pPr algn="l">
              <a:lnSpc>
                <a:spcPct val="105000"/>
              </a:lnSpc>
              <a:spcBef>
                <a:spcPts val="800"/>
              </a:spcBef>
            </a:pPr>
            <a:r>
              <a:rPr sz="2100" b="0" i="0">
                <a:solidFill>
                  <a:srgbClr val="1F2430"/>
                </a:solidFill>
                <a:latin typeface="PT Sans"/>
              </a:rPr>
              <a:t>Поезд саат 7де чыкты. Токмокко чейинки 60 км жолдо бекеттер көп: поезд 30 км/саат ылдамдык менен жүрдү.</a:t>
            </a:r>
          </a:p>
          <a:p>
            <a:pPr algn="l">
              <a:lnSpc>
                <a:spcPct val="105000"/>
              </a:lnSpc>
              <a:spcBef>
                <a:spcPts val="800"/>
              </a:spcBef>
            </a:pPr>
            <a:r>
              <a:rPr sz="2100" b="0" i="0">
                <a:solidFill>
                  <a:srgbClr val="1F2430"/>
                </a:solidFill>
                <a:latin typeface="PT Sans"/>
              </a:rPr>
              <a:t>Токмоктон Балыкчыга чейинки 120 км жолду Боом капчыгайы аркылуу 40 км/саат ылдамдык менен өттү.</a:t>
            </a:r>
          </a:p>
          <a:p>
            <a:pPr algn="l">
              <a:lnSpc>
                <a:spcPct val="105000"/>
              </a:lnSpc>
              <a:spcBef>
                <a:spcPts val="800"/>
              </a:spcBef>
            </a:pPr>
            <a:r>
              <a:rPr sz="2100" b="0" i="0">
                <a:solidFill>
                  <a:srgbClr val="1F2430"/>
                </a:solidFill>
                <a:latin typeface="PT Sans"/>
              </a:rPr>
              <a:t>Балыкчыда Асан ата неберелерин тосуп алат. Ал бекетке саат канчада келиши керек?</a:t>
            </a:r>
          </a:p>
        </p:txBody>
      </p:sp>
      <p:sp>
        <p:nvSpPr>
          <p:cNvPr id="12" name="Rounded Rectangle 11"/>
          <p:cNvSpPr/>
          <p:nvPr/>
        </p:nvSpPr>
        <p:spPr>
          <a:xfrm>
            <a:off x="7406640" y="1225296"/>
            <a:ext cx="4352544" cy="4572000"/>
          </a:xfrm>
          <a:prstGeom prst="roundRect">
            <a:avLst>
              <a:gd name="adj" fmla="val 6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1325880"/>
            <a:ext cx="3931920" cy="457200"/>
          </a:xfrm>
          <a:prstGeom prst="rect">
            <a:avLst/>
          </a:prstGeom>
          <a:noFill/>
        </p:spPr>
        <p:txBody>
          <a:bodyPr wrap="square" anchor="t" lIns="45720" rIns="45720" tIns="27432" bIns="27432">
            <a:spAutoFit/>
          </a:bodyPr>
          <a:lstStyle/>
          <a:p>
            <a:pPr algn="l">
              <a:lnSpc>
                <a:spcPct val="105000"/>
              </a:lnSpc>
            </a:pPr>
            <a:r>
              <a:rPr sz="2200" b="1" i="0">
                <a:solidFill>
                  <a:srgbClr val="A84400"/>
                </a:solidFill>
                <a:latin typeface="PT Sans"/>
              </a:rPr>
              <a:t>Суроо</a:t>
            </a:r>
          </a:p>
        </p:txBody>
      </p:sp>
      <p:sp>
        <p:nvSpPr>
          <p:cNvPr id="14" name="TextBox 13"/>
          <p:cNvSpPr txBox="1"/>
          <p:nvPr/>
        </p:nvSpPr>
        <p:spPr>
          <a:xfrm>
            <a:off x="7635240" y="1828800"/>
            <a:ext cx="3931920" cy="2743200"/>
          </a:xfrm>
          <a:prstGeom prst="rect">
            <a:avLst/>
          </a:prstGeom>
          <a:noFill/>
        </p:spPr>
        <p:txBody>
          <a:bodyPr wrap="square" anchor="t" lIns="45720" rIns="45720" tIns="27432" bIns="27432">
            <a:spAutoFit/>
          </a:bodyPr>
          <a:lstStyle/>
          <a:p>
            <a:pPr algn="l">
              <a:lnSpc>
                <a:spcPct val="105000"/>
              </a:lnSpc>
            </a:pPr>
            <a:r>
              <a:rPr sz="2200" b="1" i="0">
                <a:solidFill>
                  <a:srgbClr val="1F2430"/>
                </a:solidFill>
                <a:latin typeface="PT Sans"/>
              </a:rPr>
              <a:t>Бишкек – Токмок 60 км, 30 км/саат; Токмок – Балыкчы 120 км, 40 км/саат. Поезд саат 7де чыкты. Бүт жолго канча убакыт кетет? Саат канчада жетет?</a:t>
            </a:r>
          </a:p>
        </p:txBody>
      </p:sp>
      <p:sp>
        <p:nvSpPr>
          <p:cNvPr id="15" name="TextBox 14"/>
          <p:cNvSpPr txBox="1"/>
          <p:nvPr/>
        </p:nvSpPr>
        <p:spPr>
          <a:xfrm>
            <a:off x="7635240" y="4572000"/>
            <a:ext cx="3931920" cy="1097280"/>
          </a:xfrm>
          <a:prstGeom prst="rect">
            <a:avLst/>
          </a:prstGeom>
          <a:noFill/>
        </p:spPr>
        <p:txBody>
          <a:bodyPr wrap="square" anchor="t" lIns="45720" rIns="45720" tIns="27432" bIns="27432">
            <a:spAutoFit/>
          </a:bodyPr>
          <a:lstStyle/>
          <a:p>
            <a:pPr algn="l">
              <a:lnSpc>
                <a:spcPct val="105000"/>
              </a:lnSpc>
            </a:pPr>
            <a:r>
              <a:rPr sz="1700" b="0" i="1">
                <a:solidFill>
                  <a:srgbClr val="6B7280"/>
                </a:solidFill>
                <a:latin typeface="PT Sans"/>
              </a:rPr>
              <a:t>Азыр жообун айтпайбыз. Ойлон: кантип билебиз?</a:t>
            </a:r>
          </a:p>
        </p:txBody>
      </p:sp>
      <p:sp>
        <p:nvSpPr>
          <p:cNvPr id="16" name="Rounded Rectangle 15"/>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Математикада биз…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Ылдамдык, убакыт жана аралык</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4/26</a:t>
            </a:r>
          </a:p>
        </p:txBody>
      </p:sp>
      <p:sp>
        <p:nvSpPr>
          <p:cNvPr id="10" name="Rounded Rectangle 9"/>
          <p:cNvSpPr/>
          <p:nvPr/>
        </p:nvSpPr>
        <p:spPr>
          <a:xfrm>
            <a:off x="429768"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8368" y="1600200"/>
            <a:ext cx="3166872" cy="1463040"/>
          </a:xfrm>
          <a:prstGeom prst="roundRect">
            <a:avLst>
              <a:gd name="adj" fmla="val 15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007A5A"/>
                </a:solidFill>
                <a:latin typeface="PT Sans"/>
              </a:rPr>
              <a:t>Ката – үйрөнүүнүн бир бөлүгү</a:t>
            </a:r>
          </a:p>
        </p:txBody>
      </p:sp>
      <p:sp>
        <p:nvSpPr>
          <p:cNvPr id="12" name="TextBox 11"/>
          <p:cNvSpPr txBox="1"/>
          <p:nvPr/>
        </p:nvSpPr>
        <p:spPr>
          <a:xfrm>
            <a:off x="658368"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Ката кетсе, эмне үчүн кеткенин издейбиз.</a:t>
            </a:r>
          </a:p>
        </p:txBody>
      </p:sp>
      <p:sp>
        <p:nvSpPr>
          <p:cNvPr id="13" name="Rounded Rectangle 12"/>
          <p:cNvSpPr/>
          <p:nvPr/>
        </p:nvSpPr>
        <p:spPr>
          <a:xfrm>
            <a:off x="4282439"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11039" y="1600200"/>
            <a:ext cx="3166872" cy="1463040"/>
          </a:xfrm>
          <a:prstGeom prst="roundRect">
            <a:avLst>
              <a:gd name="adj" fmla="val 15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A84400"/>
                </a:solidFill>
                <a:latin typeface="PT Sans"/>
              </a:rPr>
              <a:t>«Азырынча билбейм»</a:t>
            </a:r>
          </a:p>
        </p:txBody>
      </p:sp>
      <p:sp>
        <p:nvSpPr>
          <p:cNvPr id="15" name="TextBox 14"/>
          <p:cNvSpPr txBox="1"/>
          <p:nvPr/>
        </p:nvSpPr>
        <p:spPr>
          <a:xfrm>
            <a:off x="4511039"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«Билбейм» эмес, «азырынча». Машыксак, үйрөнөбүз.</a:t>
            </a:r>
          </a:p>
        </p:txBody>
      </p:sp>
      <p:sp>
        <p:nvSpPr>
          <p:cNvPr id="16" name="Rounded Rectangle 15"/>
          <p:cNvSpPr/>
          <p:nvPr/>
        </p:nvSpPr>
        <p:spPr>
          <a:xfrm>
            <a:off x="8135112"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363712" y="1600200"/>
            <a:ext cx="3166872" cy="1463040"/>
          </a:xfrm>
          <a:prstGeom prst="roundRect">
            <a:avLst>
              <a:gd name="adj" fmla="val 15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24418C"/>
                </a:solidFill>
                <a:latin typeface="PT Sans"/>
              </a:rPr>
              <a:t>Адегенде түшүн, анан эсепте</a:t>
            </a:r>
          </a:p>
        </p:txBody>
      </p:sp>
      <p:sp>
        <p:nvSpPr>
          <p:cNvPr id="18" name="TextBox 17"/>
          <p:cNvSpPr txBox="1"/>
          <p:nvPr/>
        </p:nvSpPr>
        <p:spPr>
          <a:xfrm>
            <a:off x="8363712"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Сүрөт же тилке чийип, анан сан менен жазабыз.</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Максаттар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Ылдамдык, убакыт жана аралык</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5/26</a:t>
            </a:r>
          </a:p>
        </p:txBody>
      </p:sp>
      <p:sp>
        <p:nvSpPr>
          <p:cNvPr id="10" name="Rounded Rectangle 9"/>
          <p:cNvSpPr/>
          <p:nvPr/>
        </p:nvSpPr>
        <p:spPr>
          <a:xfrm>
            <a:off x="429768" y="1225296"/>
            <a:ext cx="6409944"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429768" y="1865376"/>
            <a:ext cx="6409944"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12648" y="1225296"/>
            <a:ext cx="6044184" cy="64008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Бүгүн биз үйрөнөбүз</a:t>
            </a:r>
          </a:p>
        </p:txBody>
      </p:sp>
      <p:sp>
        <p:nvSpPr>
          <p:cNvPr id="13" name="Oval 12"/>
          <p:cNvSpPr/>
          <p:nvPr/>
        </p:nvSpPr>
        <p:spPr>
          <a:xfrm>
            <a:off x="722376" y="21488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4" name="TextBox 13"/>
          <p:cNvSpPr txBox="1"/>
          <p:nvPr/>
        </p:nvSpPr>
        <p:spPr>
          <a:xfrm>
            <a:off x="1261872" y="211226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Ылдамдык – 1 саатта (же 1 мүнөттө) басылган жол экенин түшүндүрөм, бирдиктерин (км/саат, м/мин) жазам.</a:t>
            </a:r>
          </a:p>
        </p:txBody>
      </p:sp>
      <p:sp>
        <p:nvSpPr>
          <p:cNvPr id="15" name="Oval 14"/>
          <p:cNvSpPr/>
          <p:nvPr/>
        </p:nvSpPr>
        <p:spPr>
          <a:xfrm>
            <a:off x="722376" y="342900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61872" y="339242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s = v · t формуласы менен аралыкты, ылдамдыкты же убакытты табам; мүнөттү саатка котором.</a:t>
            </a:r>
          </a:p>
        </p:txBody>
      </p:sp>
      <p:sp>
        <p:nvSpPr>
          <p:cNvPr id="17" name="Oval 16"/>
          <p:cNvSpPr/>
          <p:nvPr/>
        </p:nvSpPr>
        <p:spPr>
          <a:xfrm>
            <a:off x="722376" y="470916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8" name="TextBox 17"/>
          <p:cNvSpPr txBox="1"/>
          <p:nvPr/>
        </p:nvSpPr>
        <p:spPr>
          <a:xfrm>
            <a:off x="1261872" y="467258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Эки этаптуу жол, каршы кыймыл жана кууп жетүү маселелерин жол сызыгы же тилке менен чыгарам.</a:t>
            </a:r>
          </a:p>
        </p:txBody>
      </p:sp>
      <p:sp>
        <p:nvSpPr>
          <p:cNvPr id="19" name="Rounded Rectangle 18"/>
          <p:cNvSpPr/>
          <p:nvPr/>
        </p:nvSpPr>
        <p:spPr>
          <a:xfrm>
            <a:off x="7132320" y="1225296"/>
            <a:ext cx="4636008"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7132320" y="1865376"/>
            <a:ext cx="46360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06056" y="1225296"/>
            <a:ext cx="4270248" cy="64008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Деңгээлдер</a:t>
            </a:r>
          </a:p>
        </p:txBody>
      </p:sp>
      <p:sp>
        <p:nvSpPr>
          <p:cNvPr id="22" name="Rounded Rectangle 21"/>
          <p:cNvSpPr/>
          <p:nvPr/>
        </p:nvSpPr>
        <p:spPr>
          <a:xfrm>
            <a:off x="7360920" y="2103120"/>
            <a:ext cx="1143000" cy="731520"/>
          </a:xfrm>
          <a:prstGeom prst="roundRect">
            <a:avLst>
              <a:gd name="adj" fmla="val 20000"/>
            </a:avLst>
          </a:prstGeom>
          <a:solidFill>
            <a:srgbClr val="FFFFFF"/>
          </a:solidFill>
          <a:ln w="1905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007A5A"/>
                </a:solidFill>
                <a:latin typeface="PT Sans"/>
              </a:rPr>
              <a:t>Жеңил</a:t>
            </a:r>
          </a:p>
        </p:txBody>
      </p:sp>
      <p:sp>
        <p:nvSpPr>
          <p:cNvPr id="23" name="TextBox 22"/>
          <p:cNvSpPr txBox="1"/>
          <p:nvPr/>
        </p:nvSpPr>
        <p:spPr>
          <a:xfrm>
            <a:off x="8641080" y="2057400"/>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Бир чоңдукту табуу</a:t>
            </a:r>
          </a:p>
        </p:txBody>
      </p:sp>
      <p:sp>
        <p:nvSpPr>
          <p:cNvPr id="24" name="Rounded Rectangle 23"/>
          <p:cNvSpPr/>
          <p:nvPr/>
        </p:nvSpPr>
        <p:spPr>
          <a:xfrm>
            <a:off x="7360920" y="3127248"/>
            <a:ext cx="1143000" cy="731520"/>
          </a:xfrm>
          <a:prstGeom prst="roundRect">
            <a:avLst>
              <a:gd name="adj" fmla="val 20000"/>
            </a:avLst>
          </a:prstGeom>
          <a:solidFill>
            <a:srgbClr val="FFFFFF"/>
          </a:solid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A84400"/>
                </a:solidFill>
                <a:latin typeface="PT Sans"/>
              </a:rPr>
              <a:t>Орто</a:t>
            </a:r>
          </a:p>
        </p:txBody>
      </p:sp>
      <p:sp>
        <p:nvSpPr>
          <p:cNvPr id="25" name="TextBox 24"/>
          <p:cNvSpPr txBox="1"/>
          <p:nvPr/>
        </p:nvSpPr>
        <p:spPr>
          <a:xfrm>
            <a:off x="8641080" y="3081528"/>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Мүнөт ↔ саат, эки этап</a:t>
            </a:r>
          </a:p>
        </p:txBody>
      </p:sp>
      <p:sp>
        <p:nvSpPr>
          <p:cNvPr id="26" name="Rounded Rectangle 25"/>
          <p:cNvSpPr/>
          <p:nvPr/>
        </p:nvSpPr>
        <p:spPr>
          <a:xfrm>
            <a:off x="7360920" y="4151376"/>
            <a:ext cx="1143000" cy="731520"/>
          </a:xfrm>
          <a:prstGeom prst="roundRect">
            <a:avLst>
              <a:gd name="adj" fmla="val 20000"/>
            </a:avLst>
          </a:prstGeom>
          <a:solidFill>
            <a:srgbClr val="FFFFFF"/>
          </a:solidFill>
          <a:ln w="1905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4A5A70"/>
                </a:solidFill>
                <a:latin typeface="PT Sans"/>
              </a:rPr>
              <a:t>Оор</a:t>
            </a:r>
          </a:p>
        </p:txBody>
      </p:sp>
      <p:sp>
        <p:nvSpPr>
          <p:cNvPr id="27" name="TextBox 26"/>
          <p:cNvSpPr txBox="1"/>
          <p:nvPr/>
        </p:nvSpPr>
        <p:spPr>
          <a:xfrm>
            <a:off x="8641080" y="4105656"/>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6B7280"/>
                </a:solidFill>
                <a:latin typeface="PT Sans"/>
              </a:rPr>
              <a:t>Жакындашуу, кууп жетүү</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3C: бүгүн кантип ойлонобуз?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Ылдамдык, убакыт жана аралык</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6/26</a:t>
            </a:r>
          </a:p>
        </p:txBody>
      </p:sp>
      <p:sp>
        <p:nvSpPr>
          <p:cNvPr id="10" name="Rounded Rectangle 9"/>
          <p:cNvSpPr/>
          <p:nvPr/>
        </p:nvSpPr>
        <p:spPr>
          <a:xfrm>
            <a:off x="429768"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04088" y="1463040"/>
            <a:ext cx="3044952" cy="640080"/>
          </a:xfrm>
          <a:prstGeom prst="roundRect">
            <a:avLst>
              <a:gd name="adj" fmla="val 50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007A5A"/>
                </a:solidFill>
                <a:latin typeface="PT Sans"/>
              </a:rPr>
              <a:t>Сынчыл ой</a:t>
            </a:r>
          </a:p>
        </p:txBody>
      </p:sp>
      <p:sp>
        <p:nvSpPr>
          <p:cNvPr id="12" name="TextBox 11"/>
          <p:cNvSpPr txBox="1"/>
          <p:nvPr/>
        </p:nvSpPr>
        <p:spPr>
          <a:xfrm>
            <a:off x="658368"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Текшеребиз, далилдейбиз, катаны издейбиз.</a:t>
            </a:r>
          </a:p>
        </p:txBody>
      </p:sp>
      <p:cxnSp>
        <p:nvCxnSpPr>
          <p:cNvPr id="13" name="Connector 12"/>
          <p:cNvCxnSpPr/>
          <p:nvPr/>
        </p:nvCxnSpPr>
        <p:spPr>
          <a:xfrm>
            <a:off x="704088"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58368"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15" name="TextBox 14"/>
          <p:cNvSpPr txBox="1"/>
          <p:nvPr/>
        </p:nvSpPr>
        <p:spPr>
          <a:xfrm>
            <a:off x="658368"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«Ким туура?»</a:t>
            </a:r>
          </a:p>
          <a:p>
            <a:pPr algn="l">
              <a:lnSpc>
                <a:spcPct val="105000"/>
              </a:lnSpc>
            </a:pPr>
            <a:r>
              <a:rPr sz="1800" b="0" i="0">
                <a:solidFill>
                  <a:srgbClr val="1F2430"/>
                </a:solidFill>
                <a:latin typeface="PT Sans"/>
              </a:rPr>
              <a:t>• Бирдиктерди текшерүү</a:t>
            </a:r>
          </a:p>
        </p:txBody>
      </p:sp>
      <p:sp>
        <p:nvSpPr>
          <p:cNvPr id="16" name="Rounded Rectangle 15"/>
          <p:cNvSpPr/>
          <p:nvPr/>
        </p:nvSpPr>
        <p:spPr>
          <a:xfrm>
            <a:off x="4297680"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72000" y="1463040"/>
            <a:ext cx="3044952" cy="640080"/>
          </a:xfrm>
          <a:prstGeom prst="roundRect">
            <a:avLst>
              <a:gd name="adj" fmla="val 50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A84400"/>
                </a:solidFill>
                <a:latin typeface="PT Sans"/>
              </a:rPr>
              <a:t>Кызматташуу</a:t>
            </a:r>
          </a:p>
        </p:txBody>
      </p:sp>
      <p:sp>
        <p:nvSpPr>
          <p:cNvPr id="18" name="TextBox 17"/>
          <p:cNvSpPr txBox="1"/>
          <p:nvPr/>
        </p:nvSpPr>
        <p:spPr>
          <a:xfrm>
            <a:off x="4526280"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Жупта жана топто сүйлөшөбүз.</a:t>
            </a:r>
          </a:p>
        </p:txBody>
      </p:sp>
      <p:cxnSp>
        <p:nvCxnSpPr>
          <p:cNvPr id="19" name="Connector 18"/>
          <p:cNvCxnSpPr/>
          <p:nvPr/>
        </p:nvCxnSpPr>
        <p:spPr>
          <a:xfrm>
            <a:off x="4572000"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26280"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21" name="TextBox 20"/>
          <p:cNvSpPr txBox="1"/>
          <p:nvPr/>
        </p:nvSpPr>
        <p:spPr>
          <a:xfrm>
            <a:off x="4526280"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Жупта: короодо басып ченөө</a:t>
            </a:r>
          </a:p>
        </p:txBody>
      </p:sp>
      <p:sp>
        <p:nvSpPr>
          <p:cNvPr id="22" name="Rounded Rectangle 21"/>
          <p:cNvSpPr/>
          <p:nvPr/>
        </p:nvSpPr>
        <p:spPr>
          <a:xfrm>
            <a:off x="8165592"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439912" y="1463040"/>
            <a:ext cx="3044952" cy="640080"/>
          </a:xfrm>
          <a:prstGeom prst="roundRect">
            <a:avLst>
              <a:gd name="adj" fmla="val 50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24418C"/>
                </a:solidFill>
                <a:latin typeface="PT Sans"/>
              </a:rPr>
              <a:t>Байланыштыруу</a:t>
            </a:r>
          </a:p>
        </p:txBody>
      </p:sp>
      <p:sp>
        <p:nvSpPr>
          <p:cNvPr id="24" name="TextBox 23"/>
          <p:cNvSpPr txBox="1"/>
          <p:nvPr/>
        </p:nvSpPr>
        <p:spPr>
          <a:xfrm>
            <a:off x="8394192"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Математиканы турмуш менен байланыштырабыз.</a:t>
            </a:r>
          </a:p>
        </p:txBody>
      </p:sp>
      <p:cxnSp>
        <p:nvCxnSpPr>
          <p:cNvPr id="25" name="Connector 24"/>
          <p:cNvCxnSpPr/>
          <p:nvPr/>
        </p:nvCxnSpPr>
        <p:spPr>
          <a:xfrm>
            <a:off x="8439912"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394192"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27" name="TextBox 26"/>
          <p:cNvSpPr txBox="1"/>
          <p:nvPr/>
        </p:nvSpPr>
        <p:spPr>
          <a:xfrm>
            <a:off x="8394192"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Балыкчыга поезд</a:t>
            </a:r>
          </a:p>
          <a:p>
            <a:pPr algn="l">
              <a:lnSpc>
                <a:spcPct val="105000"/>
              </a:lnSpc>
            </a:pPr>
            <a:r>
              <a:rPr sz="1800" b="0" i="0">
                <a:solidFill>
                  <a:srgbClr val="1F2430"/>
                </a:solidFill>
                <a:latin typeface="PT Sans"/>
              </a:rPr>
              <a:t>• Жол сызыгы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Мурун – бүгүн – кийин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Ылдамдык, убакыт жана аралык</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7/26</a:t>
            </a:r>
          </a:p>
        </p:txBody>
      </p:sp>
      <p:sp>
        <p:nvSpPr>
          <p:cNvPr id="10" name="Rounded Rectangle 9"/>
          <p:cNvSpPr/>
          <p:nvPr/>
        </p:nvSpPr>
        <p:spPr>
          <a:xfrm>
            <a:off x="429768" y="3017520"/>
            <a:ext cx="2660904" cy="2743200"/>
          </a:xfrm>
          <a:prstGeom prst="roundRect">
            <a:avLst>
              <a:gd name="adj" fmla="val 6000"/>
            </a:avLst>
          </a:prstGeom>
          <a:solidFill>
            <a:srgbClr val="FFFFFF"/>
          </a:solidFill>
          <a:ln w="1905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31089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007A5A"/>
                </a:solidFill>
                <a:latin typeface="PT Sans"/>
              </a:rPr>
              <a:t/>
            </a:r>
          </a:p>
        </p:txBody>
      </p:sp>
      <p:cxnSp>
        <p:nvCxnSpPr>
          <p:cNvPr id="12" name="Connector 11"/>
          <p:cNvCxnSpPr/>
          <p:nvPr/>
        </p:nvCxnSpPr>
        <p:spPr>
          <a:xfrm>
            <a:off x="704088" y="3657600"/>
            <a:ext cx="2112264" cy="0"/>
          </a:xfrm>
          <a:prstGeom prst="line">
            <a:avLst/>
          </a:prstGeom>
          <a:ln w="12700">
            <a:solidFill>
              <a:srgbClr val="007A5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2647" y="3749039"/>
            <a:ext cx="2295144" cy="1920240"/>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 Кыймыл маселелери</a:t>
            </a:r>
          </a:p>
          <a:p>
            <a:pPr algn="l">
              <a:lnSpc>
                <a:spcPct val="105000"/>
              </a:lnSpc>
              <a:spcBef>
                <a:spcPts val="400"/>
              </a:spcBef>
            </a:pPr>
            <a:r>
              <a:rPr sz="1500" b="0" i="0">
                <a:solidFill>
                  <a:srgbClr val="1F2430"/>
                </a:solidFill>
                <a:latin typeface="PT Sans"/>
              </a:rPr>
              <a:t>• Көбөйтүү, бөлүү</a:t>
            </a:r>
          </a:p>
        </p:txBody>
      </p:sp>
      <p:sp>
        <p:nvSpPr>
          <p:cNvPr id="14" name="Rounded Rectangle 13"/>
          <p:cNvSpPr/>
          <p:nvPr/>
        </p:nvSpPr>
        <p:spPr>
          <a:xfrm>
            <a:off x="3319272" y="2560320"/>
            <a:ext cx="2660904" cy="3200400"/>
          </a:xfrm>
          <a:prstGeom prst="roundRect">
            <a:avLst>
              <a:gd name="adj" fmla="val 6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56432" y="26517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A84400"/>
                </a:solidFill>
                <a:latin typeface="PT Sans"/>
              </a:rPr>
              <a:t/>
            </a:r>
          </a:p>
        </p:txBody>
      </p:sp>
      <p:cxnSp>
        <p:nvCxnSpPr>
          <p:cNvPr id="16" name="Connector 15"/>
          <p:cNvCxnSpPr/>
          <p:nvPr/>
        </p:nvCxnSpPr>
        <p:spPr>
          <a:xfrm>
            <a:off x="3593591" y="3200400"/>
            <a:ext cx="2112265" cy="0"/>
          </a:xfrm>
          <a:prstGeom prst="line">
            <a:avLst/>
          </a:prstGeom>
          <a:ln w="12700">
            <a:solidFill>
              <a:srgbClr val="A844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502152" y="3291839"/>
            <a:ext cx="2295144" cy="2377440"/>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 s = v · t</a:t>
            </a:r>
          </a:p>
          <a:p>
            <a:pPr algn="l">
              <a:lnSpc>
                <a:spcPct val="105000"/>
              </a:lnSpc>
              <a:spcBef>
                <a:spcPts val="400"/>
              </a:spcBef>
            </a:pPr>
            <a:r>
              <a:rPr sz="1500" b="0" i="0">
                <a:solidFill>
                  <a:srgbClr val="1F2430"/>
                </a:solidFill>
                <a:latin typeface="PT Sans"/>
              </a:rPr>
              <a:t>• км/саат, м/мин</a:t>
            </a:r>
          </a:p>
        </p:txBody>
      </p:sp>
      <p:sp>
        <p:nvSpPr>
          <p:cNvPr id="18" name="Rounded Rectangle 17"/>
          <p:cNvSpPr/>
          <p:nvPr/>
        </p:nvSpPr>
        <p:spPr>
          <a:xfrm>
            <a:off x="3918204" y="2057400"/>
            <a:ext cx="1463040" cy="384048"/>
          </a:xfrm>
          <a:prstGeom prst="roundRect">
            <a:avLst>
              <a:gd name="adj" fmla="val 50000"/>
            </a:avLst>
          </a:prstGeom>
          <a:noFill/>
          <a:ln w="1905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A84400"/>
                </a:solidFill>
                <a:latin typeface="PT Sans"/>
              </a:rPr>
              <a:t>Бүгүн</a:t>
            </a:r>
          </a:p>
        </p:txBody>
      </p:sp>
      <p:sp>
        <p:nvSpPr>
          <p:cNvPr id="19" name="Rounded Rectangle 18"/>
          <p:cNvSpPr/>
          <p:nvPr/>
        </p:nvSpPr>
        <p:spPr>
          <a:xfrm>
            <a:off x="6208776" y="2103120"/>
            <a:ext cx="2660904" cy="3657600"/>
          </a:xfrm>
          <a:prstGeom prst="roundRect">
            <a:avLst>
              <a:gd name="adj" fmla="val 6000"/>
            </a:avLst>
          </a:prstGeom>
          <a:solidFill>
            <a:srgbClr val="FFFFFF"/>
          </a:solidFill>
          <a:ln w="1905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5936" y="21945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4A5A70"/>
                </a:solidFill>
                <a:latin typeface="PT Sans"/>
              </a:rPr>
              <a:t/>
            </a:r>
          </a:p>
        </p:txBody>
      </p:sp>
      <p:cxnSp>
        <p:nvCxnSpPr>
          <p:cNvPr id="21" name="Connector 20"/>
          <p:cNvCxnSpPr/>
          <p:nvPr/>
        </p:nvCxnSpPr>
        <p:spPr>
          <a:xfrm>
            <a:off x="6483096" y="2743200"/>
            <a:ext cx="2112263" cy="0"/>
          </a:xfrm>
          <a:prstGeom prst="line">
            <a:avLst/>
          </a:prstGeom>
          <a:ln w="12700">
            <a:solidFill>
              <a:srgbClr val="4A5A7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1656" y="2834639"/>
            <a:ext cx="2295144" cy="2834640"/>
          </a:xfrm>
          <a:prstGeom prst="rect">
            <a:avLst/>
          </a:prstGeom>
          <a:noFill/>
        </p:spPr>
        <p:txBody>
          <a:bodyPr wrap="square" anchor="t" lIns="45720" rIns="45720" tIns="27432" bIns="27432">
            <a:spAutoFit/>
          </a:bodyPr>
          <a:lstStyle/>
          <a:p>
            <a:pPr algn="l">
              <a:lnSpc>
                <a:spcPct val="105000"/>
              </a:lnSpc>
            </a:pPr>
            <a:r>
              <a:rPr sz="1500" b="0" i="0">
                <a:solidFill>
                  <a:srgbClr val="6B7280"/>
                </a:solidFill>
                <a:latin typeface="PT Sans"/>
              </a:rPr>
              <a:t>• Пропорция</a:t>
            </a:r>
          </a:p>
          <a:p>
            <a:pPr algn="l">
              <a:lnSpc>
                <a:spcPct val="105000"/>
              </a:lnSpc>
              <a:spcBef>
                <a:spcPts val="400"/>
              </a:spcBef>
            </a:pPr>
            <a:r>
              <a:rPr sz="1500" b="0" i="0">
                <a:solidFill>
                  <a:srgbClr val="6B7280"/>
                </a:solidFill>
                <a:latin typeface="PT Sans"/>
              </a:rPr>
              <a:t>• Орточо ылдамдык</a:t>
            </a:r>
          </a:p>
        </p:txBody>
      </p:sp>
      <p:sp>
        <p:nvSpPr>
          <p:cNvPr id="23" name="Rounded Rectangle 22"/>
          <p:cNvSpPr/>
          <p:nvPr/>
        </p:nvSpPr>
        <p:spPr>
          <a:xfrm>
            <a:off x="9098280" y="1645919"/>
            <a:ext cx="2660904" cy="4114800"/>
          </a:xfrm>
          <a:prstGeom prst="roundRect">
            <a:avLst>
              <a:gd name="adj" fmla="val 6000"/>
            </a:avLst>
          </a:prstGeom>
          <a:solidFill>
            <a:srgbClr val="FFFFFF"/>
          </a:solidFill>
          <a:ln w="1905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0" y="17373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4A5A70"/>
                </a:solidFill>
                <a:latin typeface="PT Sans"/>
              </a:rPr>
              <a:t/>
            </a:r>
          </a:p>
        </p:txBody>
      </p:sp>
      <p:cxnSp>
        <p:nvCxnSpPr>
          <p:cNvPr id="25" name="Connector 24"/>
          <p:cNvCxnSpPr/>
          <p:nvPr/>
        </p:nvCxnSpPr>
        <p:spPr>
          <a:xfrm>
            <a:off x="9372600" y="2286000"/>
            <a:ext cx="2112264" cy="0"/>
          </a:xfrm>
          <a:prstGeom prst="line">
            <a:avLst/>
          </a:prstGeom>
          <a:ln w="12700">
            <a:solidFill>
              <a:srgbClr val="4A5A7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281160" y="2377439"/>
            <a:ext cx="2295144" cy="3291840"/>
          </a:xfrm>
          <a:prstGeom prst="rect">
            <a:avLst/>
          </a:prstGeom>
          <a:noFill/>
        </p:spPr>
        <p:txBody>
          <a:bodyPr wrap="square" anchor="t" lIns="45720" rIns="45720" tIns="27432" bIns="27432">
            <a:spAutoFit/>
          </a:bodyPr>
          <a:lstStyle/>
          <a:p>
            <a:pPr algn="l">
              <a:lnSpc>
                <a:spcPct val="105000"/>
              </a:lnSpc>
            </a:pPr>
            <a:r>
              <a:rPr sz="1500" b="0" i="0">
                <a:solidFill>
                  <a:srgbClr val="6B7280"/>
                </a:solidFill>
                <a:latin typeface="PT Sans"/>
              </a:rPr>
              <a:t>• Сызыктуу функция</a:t>
            </a:r>
          </a:p>
          <a:p>
            <a:pPr algn="l">
              <a:lnSpc>
                <a:spcPct val="105000"/>
              </a:lnSpc>
              <a:spcBef>
                <a:spcPts val="400"/>
              </a:spcBef>
            </a:pPr>
            <a:r>
              <a:rPr sz="1500" b="0" i="0">
                <a:solidFill>
                  <a:srgbClr val="6B7280"/>
                </a:solidFill>
                <a:latin typeface="PT Sans"/>
              </a:rPr>
              <a:t>• Кыймыл графиги</a:t>
            </a:r>
          </a:p>
        </p:txBody>
      </p:sp>
      <p:sp>
        <p:nvSpPr>
          <p:cNvPr id="27" name="TextBox 26"/>
          <p:cNvSpPr txBox="1"/>
          <p:nvPr/>
        </p:nvSpPr>
        <p:spPr>
          <a:xfrm>
            <a:off x="429768" y="5806440"/>
            <a:ext cx="11329416" cy="365760"/>
          </a:xfrm>
          <a:prstGeom prst="rect">
            <a:avLst/>
          </a:prstGeom>
          <a:noFill/>
        </p:spPr>
        <p:txBody>
          <a:bodyPr wrap="square" anchor="t" lIns="45720" rIns="45720" tIns="27432" bIns="27432">
            <a:spAutoFit/>
          </a:bodyPr>
          <a:lstStyle/>
          <a:p>
            <a:pPr algn="ctr">
              <a:lnSpc>
                <a:spcPct val="105000"/>
              </a:lnSpc>
            </a:pPr>
            <a:r>
              <a:rPr sz="1800" b="0" i="1">
                <a:solidFill>
                  <a:srgbClr val="6B7280"/>
                </a:solidFill>
                <a:latin typeface="PT Sans"/>
              </a:rPr>
              <a:t>Ар бир класс мурункусунун үстүнө курулат.</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Даярдык: эстейли</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Ылдамдык, убакыт жана аралык</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8/26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Мини-тактага жаз. 2 мүнөт.</a:t>
            </a:r>
          </a:p>
        </p:txBody>
      </p:sp>
      <p:sp>
        <p:nvSpPr>
          <p:cNvPr id="11" name="Rounded Rectangle 10"/>
          <p:cNvSpPr/>
          <p:nvPr/>
        </p:nvSpPr>
        <p:spPr>
          <a:xfrm>
            <a:off x="429768" y="169164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53517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1 саат = ? мүнөт</a:t>
            </a:r>
          </a:p>
        </p:txBody>
      </p:sp>
      <p:sp>
        <p:nvSpPr>
          <p:cNvPr id="14" name="Rounded Rectangle 13"/>
          <p:cNvSpPr/>
          <p:nvPr/>
        </p:nvSpPr>
        <p:spPr>
          <a:xfrm>
            <a:off x="6208776" y="169164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91656" y="253517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6986016" y="169164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240 : 4</a:t>
            </a:r>
          </a:p>
        </p:txBody>
      </p:sp>
      <p:sp>
        <p:nvSpPr>
          <p:cNvPr id="17" name="Rounded Rectangle 16"/>
          <p:cNvSpPr/>
          <p:nvPr/>
        </p:nvSpPr>
        <p:spPr>
          <a:xfrm>
            <a:off x="429768" y="400050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484403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400050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35 · 6</a:t>
            </a:r>
          </a:p>
        </p:txBody>
      </p:sp>
      <p:sp>
        <p:nvSpPr>
          <p:cNvPr id="20" name="Rounded Rectangle 19"/>
          <p:cNvSpPr/>
          <p:nvPr/>
        </p:nvSpPr>
        <p:spPr>
          <a:xfrm>
            <a:off x="6208776" y="400050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91656" y="484403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2" name="TextBox 21"/>
          <p:cNvSpPr txBox="1"/>
          <p:nvPr/>
        </p:nvSpPr>
        <p:spPr>
          <a:xfrm>
            <a:off x="6986016" y="400050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Саат 9:00дөн саат 11:30га чейин канча убакыт?</a:t>
            </a:r>
          </a:p>
        </p:txBody>
      </p:sp>
      <p:sp>
        <p:nvSpPr>
          <p:cNvPr id="23" name="Rounded Rectangle 22"/>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24" name="Rounded Rectangle 23"/>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25" name="Rounded Rectangle 24"/>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Даярдык: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Ылдамдык, убакыт жана аралык</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9/26</a:t>
            </a:r>
          </a:p>
        </p:txBody>
      </p:sp>
      <p:sp>
        <p:nvSpPr>
          <p:cNvPr id="10" name="Rounded Rectangle 9"/>
          <p:cNvSpPr/>
          <p:nvPr/>
        </p:nvSpPr>
        <p:spPr>
          <a:xfrm>
            <a:off x="429768"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115568"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1 саат = ? мүнөт</a:t>
            </a:r>
          </a:p>
        </p:txBody>
      </p:sp>
      <p:sp>
        <p:nvSpPr>
          <p:cNvPr id="13" name="TextBox 12"/>
          <p:cNvSpPr txBox="1"/>
          <p:nvPr/>
        </p:nvSpPr>
        <p:spPr>
          <a:xfrm>
            <a:off x="4334804"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60 мүнөт</a:t>
            </a:r>
          </a:p>
        </p:txBody>
      </p:sp>
      <p:sp>
        <p:nvSpPr>
          <p:cNvPr id="14" name="Rounded Rectangle 13"/>
          <p:cNvSpPr/>
          <p:nvPr/>
        </p:nvSpPr>
        <p:spPr>
          <a:xfrm>
            <a:off x="6208776"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45936"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6" name="TextBox 15"/>
          <p:cNvSpPr txBox="1"/>
          <p:nvPr/>
        </p:nvSpPr>
        <p:spPr>
          <a:xfrm>
            <a:off x="6894576"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240 : 4</a:t>
            </a:r>
          </a:p>
        </p:txBody>
      </p:sp>
      <p:sp>
        <p:nvSpPr>
          <p:cNvPr id="17" name="TextBox 16"/>
          <p:cNvSpPr txBox="1"/>
          <p:nvPr/>
        </p:nvSpPr>
        <p:spPr>
          <a:xfrm>
            <a:off x="10113812"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60</a:t>
            </a:r>
          </a:p>
        </p:txBody>
      </p:sp>
      <p:sp>
        <p:nvSpPr>
          <p:cNvPr id="18" name="Rounded Rectangle 17"/>
          <p:cNvSpPr/>
          <p:nvPr/>
        </p:nvSpPr>
        <p:spPr>
          <a:xfrm>
            <a:off x="429768"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6928"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0" name="TextBox 19"/>
          <p:cNvSpPr txBox="1"/>
          <p:nvPr/>
        </p:nvSpPr>
        <p:spPr>
          <a:xfrm>
            <a:off x="1115568"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35 · 6</a:t>
            </a:r>
          </a:p>
        </p:txBody>
      </p:sp>
      <p:sp>
        <p:nvSpPr>
          <p:cNvPr id="21" name="TextBox 20"/>
          <p:cNvSpPr txBox="1"/>
          <p:nvPr/>
        </p:nvSpPr>
        <p:spPr>
          <a:xfrm>
            <a:off x="4334804"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210</a:t>
            </a:r>
          </a:p>
        </p:txBody>
      </p:sp>
      <p:sp>
        <p:nvSpPr>
          <p:cNvPr id="22" name="Rounded Rectangle 21"/>
          <p:cNvSpPr/>
          <p:nvPr/>
        </p:nvSpPr>
        <p:spPr>
          <a:xfrm>
            <a:off x="6208776"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45936"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24" name="TextBox 23"/>
          <p:cNvSpPr txBox="1"/>
          <p:nvPr/>
        </p:nvSpPr>
        <p:spPr>
          <a:xfrm>
            <a:off x="6894576"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Саат 9:00дөн саат 11:30га чейин канча убакыт?</a:t>
            </a:r>
          </a:p>
        </p:txBody>
      </p:sp>
      <p:sp>
        <p:nvSpPr>
          <p:cNvPr id="25" name="TextBox 24"/>
          <p:cNvSpPr txBox="1"/>
          <p:nvPr/>
        </p:nvSpPr>
        <p:spPr>
          <a:xfrm>
            <a:off x="10113812"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2 саат 30 мүн</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Ким туура?</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Ылдамдык, убакыт жана аралык</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10/26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Айнура апа: «Поезд 2 саатта 80 км жүрдү. Анын ылдамдыгы канча?»</a:t>
            </a:r>
          </a:p>
        </p:txBody>
      </p:sp>
      <p:sp>
        <p:nvSpPr>
          <p:cNvPr id="12" name="Rounded Rectangle 11"/>
          <p:cNvSpPr/>
          <p:nvPr/>
        </p:nvSpPr>
        <p:spPr>
          <a:xfrm>
            <a:off x="429768" y="2103120"/>
            <a:ext cx="5550408" cy="31089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429768" y="2697480"/>
            <a:ext cx="55504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29768" y="2103120"/>
            <a:ext cx="5550408" cy="59436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Эмир</a:t>
            </a:r>
          </a:p>
        </p:txBody>
      </p:sp>
      <p:sp>
        <p:nvSpPr>
          <p:cNvPr id="15" name="TextBox 14"/>
          <p:cNvSpPr txBox="1"/>
          <p:nvPr/>
        </p:nvSpPr>
        <p:spPr>
          <a:xfrm>
            <a:off x="704088" y="2834640"/>
            <a:ext cx="5029200" cy="2286000"/>
          </a:xfrm>
          <a:prstGeom prst="rect">
            <a:avLst/>
          </a:prstGeom>
          <a:noFill/>
        </p:spPr>
        <p:txBody>
          <a:bodyPr wrap="square" anchor="t" lIns="45720" rIns="45720" tIns="27432" bIns="27432">
            <a:spAutoFit/>
          </a:bodyPr>
          <a:lstStyle/>
          <a:p>
            <a:pPr algn="l">
              <a:lnSpc>
                <a:spcPct val="105000"/>
              </a:lnSpc>
            </a:pPr>
            <a:r>
              <a:rPr sz="2600" b="0" i="0">
                <a:solidFill>
                  <a:srgbClr val="1F2430"/>
                </a:solidFill>
                <a:latin typeface="PT Sans"/>
              </a:rPr>
              <a:t>v = s · t</a:t>
            </a:r>
          </a:p>
          <a:p>
            <a:pPr algn="l">
              <a:lnSpc>
                <a:spcPct val="105000"/>
              </a:lnSpc>
            </a:pPr>
            <a:r>
              <a:rPr sz="2600" b="0" i="0">
                <a:solidFill>
                  <a:srgbClr val="1F2430"/>
                </a:solidFill>
                <a:latin typeface="PT Sans"/>
              </a:rPr>
              <a:t>80 · 2 = 160</a:t>
            </a:r>
          </a:p>
          <a:p>
            <a:pPr algn="l">
              <a:lnSpc>
                <a:spcPct val="105000"/>
              </a:lnSpc>
            </a:pPr>
            <a:r>
              <a:rPr sz="2600" b="0" i="0">
                <a:solidFill>
                  <a:srgbClr val="1F2430"/>
                </a:solidFill>
                <a:latin typeface="PT Sans"/>
              </a:rPr>
              <a:t>160 км/саат</a:t>
            </a:r>
          </a:p>
        </p:txBody>
      </p:sp>
      <p:sp>
        <p:nvSpPr>
          <p:cNvPr id="16" name="Rounded Rectangle 15"/>
          <p:cNvSpPr/>
          <p:nvPr/>
        </p:nvSpPr>
        <p:spPr>
          <a:xfrm>
            <a:off x="6208776" y="2103120"/>
            <a:ext cx="5550408" cy="31089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6208776" y="2697480"/>
            <a:ext cx="55504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08776" y="2103120"/>
            <a:ext cx="5550408" cy="59436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Нуриза</a:t>
            </a:r>
          </a:p>
        </p:txBody>
      </p:sp>
      <p:sp>
        <p:nvSpPr>
          <p:cNvPr id="19" name="TextBox 18"/>
          <p:cNvSpPr txBox="1"/>
          <p:nvPr/>
        </p:nvSpPr>
        <p:spPr>
          <a:xfrm>
            <a:off x="6483096" y="2834640"/>
            <a:ext cx="5029200" cy="2286000"/>
          </a:xfrm>
          <a:prstGeom prst="rect">
            <a:avLst/>
          </a:prstGeom>
          <a:noFill/>
        </p:spPr>
        <p:txBody>
          <a:bodyPr wrap="square" anchor="t" lIns="45720" rIns="45720" tIns="27432" bIns="27432">
            <a:spAutoFit/>
          </a:bodyPr>
          <a:lstStyle/>
          <a:p>
            <a:pPr algn="l">
              <a:lnSpc>
                <a:spcPct val="105000"/>
              </a:lnSpc>
            </a:pPr>
            <a:r>
              <a:rPr sz="2600" b="0" i="0">
                <a:solidFill>
                  <a:srgbClr val="1F2430"/>
                </a:solidFill>
                <a:latin typeface="PT Sans"/>
              </a:rPr>
              <a:t>1 саатта канча км?</a:t>
            </a:r>
          </a:p>
          <a:p>
            <a:pPr algn="l">
              <a:lnSpc>
                <a:spcPct val="105000"/>
              </a:lnSpc>
            </a:pPr>
            <a:r>
              <a:rPr sz="2600" b="0" i="0">
                <a:solidFill>
                  <a:srgbClr val="1F2430"/>
                </a:solidFill>
                <a:latin typeface="PT Sans"/>
              </a:rPr>
              <a:t>80 : 2 = 40</a:t>
            </a:r>
          </a:p>
          <a:p>
            <a:pPr algn="l">
              <a:lnSpc>
                <a:spcPct val="105000"/>
              </a:lnSpc>
            </a:pPr>
            <a:r>
              <a:rPr sz="2600" b="0" i="0">
                <a:solidFill>
                  <a:srgbClr val="1F2430"/>
                </a:solidFill>
                <a:latin typeface="PT Sans"/>
              </a:rPr>
              <a:t>40 км/саат</a:t>
            </a:r>
          </a:p>
        </p:txBody>
      </p:sp>
      <p:sp>
        <p:nvSpPr>
          <p:cNvPr id="20" name="TextBox 19"/>
          <p:cNvSpPr txBox="1"/>
          <p:nvPr/>
        </p:nvSpPr>
        <p:spPr>
          <a:xfrm>
            <a:off x="429768" y="5349240"/>
            <a:ext cx="11329416" cy="548640"/>
          </a:xfrm>
          <a:prstGeom prst="rect">
            <a:avLst/>
          </a:prstGeom>
          <a:noFill/>
        </p:spPr>
        <p:txBody>
          <a:bodyPr wrap="square" anchor="t" lIns="45720" rIns="45720" tIns="27432" bIns="27432">
            <a:spAutoFit/>
          </a:bodyPr>
          <a:lstStyle/>
          <a:p>
            <a:pPr algn="ctr">
              <a:lnSpc>
                <a:spcPct val="105000"/>
              </a:lnSpc>
            </a:pPr>
            <a:r>
              <a:rPr sz="2600" b="1" i="0">
                <a:solidFill>
                  <a:srgbClr val="A84400"/>
                </a:solidFill>
                <a:latin typeface="PT Sans"/>
              </a:rPr>
              <a:t>Ким туура? Жол сызыгы менен текшер.</a:t>
            </a:r>
          </a:p>
        </p:txBody>
      </p:sp>
      <p:sp>
        <p:nvSpPr>
          <p:cNvPr id="21" name="Rounded Rectangle 20"/>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К: буюм менен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Ылдамдык, убакыт жана аралык</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11/26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Жупта: короодо 3 мүнөт басабыз, жолду 10 м жип менен ченейбиз. 1 мүнөттө канча метр?</a:t>
            </a:r>
          </a:p>
        </p:txBody>
      </p:sp>
      <p:cxnSp>
        <p:nvCxnSpPr>
          <p:cNvPr id="12" name="Connector 11"/>
          <p:cNvCxnSpPr/>
          <p:nvPr/>
        </p:nvCxnSpPr>
        <p:spPr>
          <a:xfrm>
            <a:off x="731520" y="3840480"/>
            <a:ext cx="6949440" cy="0"/>
          </a:xfrm>
          <a:prstGeom prst="line">
            <a:avLst/>
          </a:prstGeom>
          <a:ln w="38100">
            <a:solidFill>
              <a:srgbClr val="B07A4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22960" y="3712464"/>
            <a:ext cx="0" cy="256032"/>
          </a:xfrm>
          <a:prstGeom prst="line">
            <a:avLst/>
          </a:prstGeom>
          <a:ln w="25400">
            <a:solidFill>
              <a:srgbClr val="1D355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11480" y="4005072"/>
            <a:ext cx="822960" cy="320040"/>
          </a:xfrm>
          <a:prstGeom prst="rect">
            <a:avLst/>
          </a:prstGeom>
          <a:noFill/>
        </p:spPr>
        <p:txBody>
          <a:bodyPr wrap="square" anchor="t" lIns="45720" rIns="45720" tIns="27432" bIns="27432">
            <a:spAutoFit/>
          </a:bodyPr>
          <a:lstStyle/>
          <a:p>
            <a:pPr algn="ctr">
              <a:lnSpc>
                <a:spcPct val="105000"/>
              </a:lnSpc>
            </a:pPr>
            <a:r>
              <a:rPr sz="1400" b="1" i="0">
                <a:solidFill>
                  <a:srgbClr val="1F2430"/>
                </a:solidFill>
                <a:latin typeface="PT Sans"/>
              </a:rPr>
              <a:t>0 м</a:t>
            </a:r>
          </a:p>
        </p:txBody>
      </p:sp>
      <p:cxnSp>
        <p:nvCxnSpPr>
          <p:cNvPr id="15" name="Connector 14"/>
          <p:cNvCxnSpPr/>
          <p:nvPr/>
        </p:nvCxnSpPr>
        <p:spPr>
          <a:xfrm>
            <a:off x="1145177" y="3776472"/>
            <a:ext cx="0" cy="128016"/>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467394" y="3776472"/>
            <a:ext cx="0" cy="128016"/>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789611" y="3776472"/>
            <a:ext cx="0" cy="128016"/>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111828" y="3776472"/>
            <a:ext cx="0" cy="128016"/>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434045" y="3776472"/>
            <a:ext cx="0" cy="128016"/>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756262" y="3776472"/>
            <a:ext cx="0" cy="128016"/>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078480" y="3712464"/>
            <a:ext cx="0" cy="256032"/>
          </a:xfrm>
          <a:prstGeom prst="line">
            <a:avLst/>
          </a:prstGeom>
          <a:ln w="25400">
            <a:solidFill>
              <a:srgbClr val="1D3557"/>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667000" y="4005072"/>
            <a:ext cx="822960" cy="320040"/>
          </a:xfrm>
          <a:prstGeom prst="rect">
            <a:avLst/>
          </a:prstGeom>
          <a:noFill/>
        </p:spPr>
        <p:txBody>
          <a:bodyPr wrap="square" anchor="t" lIns="45720" rIns="45720" tIns="27432" bIns="27432">
            <a:spAutoFit/>
          </a:bodyPr>
          <a:lstStyle/>
          <a:p>
            <a:pPr algn="ctr">
              <a:lnSpc>
                <a:spcPct val="105000"/>
              </a:lnSpc>
            </a:pPr>
            <a:r>
              <a:rPr sz="1400" b="1" i="0">
                <a:solidFill>
                  <a:srgbClr val="1F2430"/>
                </a:solidFill>
                <a:latin typeface="PT Sans"/>
              </a:rPr>
              <a:t>70 м</a:t>
            </a:r>
          </a:p>
        </p:txBody>
      </p:sp>
      <p:cxnSp>
        <p:nvCxnSpPr>
          <p:cNvPr id="23" name="Connector 22"/>
          <p:cNvCxnSpPr/>
          <p:nvPr/>
        </p:nvCxnSpPr>
        <p:spPr>
          <a:xfrm>
            <a:off x="3400697" y="3776472"/>
            <a:ext cx="0" cy="128016"/>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722914" y="3776472"/>
            <a:ext cx="0" cy="128016"/>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045131" y="3776472"/>
            <a:ext cx="0" cy="128016"/>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367348" y="3776472"/>
            <a:ext cx="0" cy="128016"/>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689565" y="3776472"/>
            <a:ext cx="0" cy="128016"/>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011782" y="3776472"/>
            <a:ext cx="0" cy="128016"/>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334000" y="3712464"/>
            <a:ext cx="0" cy="256032"/>
          </a:xfrm>
          <a:prstGeom prst="line">
            <a:avLst/>
          </a:prstGeom>
          <a:ln w="25400">
            <a:solidFill>
              <a:srgbClr val="1D3557"/>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922520" y="4005072"/>
            <a:ext cx="822960" cy="320040"/>
          </a:xfrm>
          <a:prstGeom prst="rect">
            <a:avLst/>
          </a:prstGeom>
          <a:noFill/>
        </p:spPr>
        <p:txBody>
          <a:bodyPr wrap="square" anchor="t" lIns="45720" rIns="45720" tIns="27432" bIns="27432">
            <a:spAutoFit/>
          </a:bodyPr>
          <a:lstStyle/>
          <a:p>
            <a:pPr algn="ctr">
              <a:lnSpc>
                <a:spcPct val="105000"/>
              </a:lnSpc>
            </a:pPr>
            <a:r>
              <a:rPr sz="1400" b="1" i="0">
                <a:solidFill>
                  <a:srgbClr val="1F2430"/>
                </a:solidFill>
                <a:latin typeface="PT Sans"/>
              </a:rPr>
              <a:t>140 м</a:t>
            </a:r>
          </a:p>
        </p:txBody>
      </p:sp>
      <p:cxnSp>
        <p:nvCxnSpPr>
          <p:cNvPr id="31" name="Connector 30"/>
          <p:cNvCxnSpPr/>
          <p:nvPr/>
        </p:nvCxnSpPr>
        <p:spPr>
          <a:xfrm>
            <a:off x="5656217" y="3776472"/>
            <a:ext cx="0" cy="128016"/>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78434" y="3776472"/>
            <a:ext cx="0" cy="128016"/>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300651" y="3776472"/>
            <a:ext cx="0" cy="128016"/>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622868" y="3776472"/>
            <a:ext cx="0" cy="128016"/>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945085" y="3776472"/>
            <a:ext cx="0" cy="128016"/>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267302" y="3776472"/>
            <a:ext cx="0" cy="128016"/>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589520" y="3712464"/>
            <a:ext cx="0" cy="256032"/>
          </a:xfrm>
          <a:prstGeom prst="line">
            <a:avLst/>
          </a:prstGeom>
          <a:ln w="25400">
            <a:solidFill>
              <a:srgbClr val="1D3557"/>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178040" y="4005072"/>
            <a:ext cx="822960" cy="320040"/>
          </a:xfrm>
          <a:prstGeom prst="rect">
            <a:avLst/>
          </a:prstGeom>
          <a:noFill/>
        </p:spPr>
        <p:txBody>
          <a:bodyPr wrap="square" anchor="t" lIns="45720" rIns="45720" tIns="27432" bIns="27432">
            <a:spAutoFit/>
          </a:bodyPr>
          <a:lstStyle/>
          <a:p>
            <a:pPr algn="ctr">
              <a:lnSpc>
                <a:spcPct val="105000"/>
              </a:lnSpc>
            </a:pPr>
            <a:r>
              <a:rPr sz="1400" b="1" i="0">
                <a:solidFill>
                  <a:srgbClr val="1F2430"/>
                </a:solidFill>
                <a:latin typeface="PT Sans"/>
              </a:rPr>
              <a:t>210 м</a:t>
            </a:r>
          </a:p>
        </p:txBody>
      </p:sp>
      <p:sp>
        <p:nvSpPr>
          <p:cNvPr id="39" name="Freeform 38"/>
          <p:cNvSpPr/>
          <p:nvPr/>
        </p:nvSpPr>
        <p:spPr>
          <a:xfrm>
            <a:off x="822960" y="3063240"/>
            <a:ext cx="2258568" cy="731520"/>
          </a:xfrm>
          <a:custGeom>
            <a:avLst/>
            <a:gdLst/>
            <a:ahLst/>
            <a:cxnLst/>
            <a:rect l="l" t="t" r="r" b="b"/>
            <a:pathLst>
              <a:path w="247" h="80">
                <a:moveTo>
                  <a:pt x="0" y="80"/>
                </a:moveTo>
                <a:lnTo>
                  <a:pt x="1" y="71"/>
                </a:lnTo>
                <a:lnTo>
                  <a:pt x="3" y="62"/>
                </a:lnTo>
                <a:lnTo>
                  <a:pt x="7" y="54"/>
                </a:lnTo>
                <a:lnTo>
                  <a:pt x="12" y="45"/>
                </a:lnTo>
                <a:lnTo>
                  <a:pt x="19" y="37"/>
                </a:lnTo>
                <a:lnTo>
                  <a:pt x="27" y="30"/>
                </a:lnTo>
                <a:lnTo>
                  <a:pt x="36" y="23"/>
                </a:lnTo>
                <a:lnTo>
                  <a:pt x="46" y="17"/>
                </a:lnTo>
                <a:lnTo>
                  <a:pt x="58" y="12"/>
                </a:lnTo>
                <a:lnTo>
                  <a:pt x="70" y="8"/>
                </a:lnTo>
                <a:lnTo>
                  <a:pt x="83" y="4"/>
                </a:lnTo>
                <a:lnTo>
                  <a:pt x="96" y="2"/>
                </a:lnTo>
                <a:lnTo>
                  <a:pt x="110" y="1"/>
                </a:lnTo>
                <a:lnTo>
                  <a:pt x="123" y="0"/>
                </a:lnTo>
                <a:lnTo>
                  <a:pt x="137" y="1"/>
                </a:lnTo>
                <a:lnTo>
                  <a:pt x="151" y="2"/>
                </a:lnTo>
                <a:lnTo>
                  <a:pt x="164" y="4"/>
                </a:lnTo>
                <a:lnTo>
                  <a:pt x="177" y="8"/>
                </a:lnTo>
                <a:lnTo>
                  <a:pt x="189" y="12"/>
                </a:lnTo>
                <a:lnTo>
                  <a:pt x="200" y="17"/>
                </a:lnTo>
                <a:lnTo>
                  <a:pt x="211" y="23"/>
                </a:lnTo>
                <a:lnTo>
                  <a:pt x="220" y="30"/>
                </a:lnTo>
                <a:lnTo>
                  <a:pt x="228" y="37"/>
                </a:lnTo>
                <a:lnTo>
                  <a:pt x="234" y="45"/>
                </a:lnTo>
                <a:lnTo>
                  <a:pt x="240" y="54"/>
                </a:lnTo>
                <a:lnTo>
                  <a:pt x="244" y="62"/>
                </a:lnTo>
                <a:lnTo>
                  <a:pt x="246" y="71"/>
                </a:lnTo>
                <a:lnTo>
                  <a:pt x="247" y="80"/>
                </a:lnTo>
              </a:path>
            </a:pathLst>
          </a:custGeom>
          <a:noFill/>
          <a:ln w="285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999232" y="3639312"/>
            <a:ext cx="164592" cy="137160"/>
          </a:xfrm>
          <a:custGeom>
            <a:avLst/>
            <a:gdLst/>
            <a:ahLst/>
            <a:cxnLst/>
            <a:rect l="l" t="t" r="r" b="b"/>
            <a:pathLst>
              <a:path w="18" h="15">
                <a:moveTo>
                  <a:pt x="0" y="0"/>
                </a:moveTo>
                <a:lnTo>
                  <a:pt x="18" y="0"/>
                </a:lnTo>
                <a:lnTo>
                  <a:pt x="9" y="15"/>
                </a:lnTo>
                <a:close/>
              </a:path>
            </a:pathLst>
          </a:custGeom>
          <a:solidFill>
            <a:srgbClr val="007A5A"/>
          </a:solidFill>
          <a:ln>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310640" y="2651760"/>
            <a:ext cx="1280160" cy="365760"/>
          </a:xfrm>
          <a:prstGeom prst="rect">
            <a:avLst/>
          </a:prstGeom>
          <a:noFill/>
        </p:spPr>
        <p:txBody>
          <a:bodyPr wrap="square" anchor="t" lIns="45720" rIns="45720" tIns="27432" bIns="27432">
            <a:spAutoFit/>
          </a:bodyPr>
          <a:lstStyle/>
          <a:p>
            <a:pPr algn="ctr">
              <a:lnSpc>
                <a:spcPct val="105000"/>
              </a:lnSpc>
            </a:pPr>
            <a:r>
              <a:rPr sz="1500" b="1" i="0">
                <a:solidFill>
                  <a:srgbClr val="007A5A"/>
                </a:solidFill>
                <a:latin typeface="PT Sans"/>
              </a:rPr>
              <a:t>1 мүн: 70 м</a:t>
            </a:r>
          </a:p>
        </p:txBody>
      </p:sp>
      <p:sp>
        <p:nvSpPr>
          <p:cNvPr id="42" name="Freeform 41"/>
          <p:cNvSpPr/>
          <p:nvPr/>
        </p:nvSpPr>
        <p:spPr>
          <a:xfrm>
            <a:off x="3081528" y="3063240"/>
            <a:ext cx="2249424" cy="731520"/>
          </a:xfrm>
          <a:custGeom>
            <a:avLst/>
            <a:gdLst/>
            <a:ahLst/>
            <a:cxnLst/>
            <a:rect l="l" t="t" r="r" b="b"/>
            <a:pathLst>
              <a:path w="246" h="80">
                <a:moveTo>
                  <a:pt x="0" y="80"/>
                </a:moveTo>
                <a:lnTo>
                  <a:pt x="0" y="71"/>
                </a:lnTo>
                <a:lnTo>
                  <a:pt x="3" y="62"/>
                </a:lnTo>
                <a:lnTo>
                  <a:pt x="7" y="54"/>
                </a:lnTo>
                <a:lnTo>
                  <a:pt x="12" y="45"/>
                </a:lnTo>
                <a:lnTo>
                  <a:pt x="19" y="37"/>
                </a:lnTo>
                <a:lnTo>
                  <a:pt x="27" y="30"/>
                </a:lnTo>
                <a:lnTo>
                  <a:pt x="36" y="23"/>
                </a:lnTo>
                <a:lnTo>
                  <a:pt x="46" y="17"/>
                </a:lnTo>
                <a:lnTo>
                  <a:pt x="57" y="12"/>
                </a:lnTo>
                <a:lnTo>
                  <a:pt x="69" y="8"/>
                </a:lnTo>
                <a:lnTo>
                  <a:pt x="82" y="4"/>
                </a:lnTo>
                <a:lnTo>
                  <a:pt x="96" y="2"/>
                </a:lnTo>
                <a:lnTo>
                  <a:pt x="109" y="1"/>
                </a:lnTo>
                <a:lnTo>
                  <a:pt x="123" y="0"/>
                </a:lnTo>
                <a:lnTo>
                  <a:pt x="137" y="1"/>
                </a:lnTo>
                <a:lnTo>
                  <a:pt x="150" y="2"/>
                </a:lnTo>
                <a:lnTo>
                  <a:pt x="164" y="4"/>
                </a:lnTo>
                <a:lnTo>
                  <a:pt x="177" y="8"/>
                </a:lnTo>
                <a:lnTo>
                  <a:pt x="189" y="12"/>
                </a:lnTo>
                <a:lnTo>
                  <a:pt x="200" y="17"/>
                </a:lnTo>
                <a:lnTo>
                  <a:pt x="210" y="23"/>
                </a:lnTo>
                <a:lnTo>
                  <a:pt x="219" y="30"/>
                </a:lnTo>
                <a:lnTo>
                  <a:pt x="227" y="37"/>
                </a:lnTo>
                <a:lnTo>
                  <a:pt x="234" y="45"/>
                </a:lnTo>
                <a:lnTo>
                  <a:pt x="239" y="54"/>
                </a:lnTo>
                <a:lnTo>
                  <a:pt x="243" y="62"/>
                </a:lnTo>
                <a:lnTo>
                  <a:pt x="246" y="71"/>
                </a:lnTo>
                <a:lnTo>
                  <a:pt x="246" y="80"/>
                </a:lnTo>
              </a:path>
            </a:pathLst>
          </a:custGeom>
          <a:noFill/>
          <a:ln w="285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5248656" y="3639312"/>
            <a:ext cx="164592" cy="137160"/>
          </a:xfrm>
          <a:custGeom>
            <a:avLst/>
            <a:gdLst/>
            <a:ahLst/>
            <a:cxnLst/>
            <a:rect l="l" t="t" r="r" b="b"/>
            <a:pathLst>
              <a:path w="18" h="15">
                <a:moveTo>
                  <a:pt x="0" y="0"/>
                </a:moveTo>
                <a:lnTo>
                  <a:pt x="18" y="0"/>
                </a:lnTo>
                <a:lnTo>
                  <a:pt x="9" y="15"/>
                </a:lnTo>
                <a:close/>
              </a:path>
            </a:pathLst>
          </a:custGeom>
          <a:solidFill>
            <a:srgbClr val="007A5A"/>
          </a:solidFill>
          <a:ln>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566160" y="2651760"/>
            <a:ext cx="1280160" cy="365760"/>
          </a:xfrm>
          <a:prstGeom prst="rect">
            <a:avLst/>
          </a:prstGeom>
          <a:noFill/>
        </p:spPr>
        <p:txBody>
          <a:bodyPr wrap="square" anchor="t" lIns="45720" rIns="45720" tIns="27432" bIns="27432">
            <a:spAutoFit/>
          </a:bodyPr>
          <a:lstStyle/>
          <a:p>
            <a:pPr algn="ctr">
              <a:lnSpc>
                <a:spcPct val="105000"/>
              </a:lnSpc>
            </a:pPr>
            <a:r>
              <a:rPr sz="1500" b="1" i="0">
                <a:solidFill>
                  <a:srgbClr val="007A5A"/>
                </a:solidFill>
                <a:latin typeface="PT Sans"/>
              </a:rPr>
              <a:t>1 мүн: 70 м</a:t>
            </a:r>
          </a:p>
        </p:txBody>
      </p:sp>
      <p:sp>
        <p:nvSpPr>
          <p:cNvPr id="45" name="Freeform 44"/>
          <p:cNvSpPr/>
          <p:nvPr/>
        </p:nvSpPr>
        <p:spPr>
          <a:xfrm>
            <a:off x="5330952" y="3063240"/>
            <a:ext cx="2258568" cy="731520"/>
          </a:xfrm>
          <a:custGeom>
            <a:avLst/>
            <a:gdLst/>
            <a:ahLst/>
            <a:cxnLst/>
            <a:rect l="l" t="t" r="r" b="b"/>
            <a:pathLst>
              <a:path w="247" h="80">
                <a:moveTo>
                  <a:pt x="0" y="80"/>
                </a:moveTo>
                <a:lnTo>
                  <a:pt x="1" y="71"/>
                </a:lnTo>
                <a:lnTo>
                  <a:pt x="3" y="62"/>
                </a:lnTo>
                <a:lnTo>
                  <a:pt x="7" y="54"/>
                </a:lnTo>
                <a:lnTo>
                  <a:pt x="13" y="45"/>
                </a:lnTo>
                <a:lnTo>
                  <a:pt x="19" y="37"/>
                </a:lnTo>
                <a:lnTo>
                  <a:pt x="27" y="30"/>
                </a:lnTo>
                <a:lnTo>
                  <a:pt x="36" y="23"/>
                </a:lnTo>
                <a:lnTo>
                  <a:pt x="47" y="17"/>
                </a:lnTo>
                <a:lnTo>
                  <a:pt x="58" y="12"/>
                </a:lnTo>
                <a:lnTo>
                  <a:pt x="70" y="8"/>
                </a:lnTo>
                <a:lnTo>
                  <a:pt x="83" y="4"/>
                </a:lnTo>
                <a:lnTo>
                  <a:pt x="96" y="2"/>
                </a:lnTo>
                <a:lnTo>
                  <a:pt x="110" y="1"/>
                </a:lnTo>
                <a:lnTo>
                  <a:pt x="124" y="0"/>
                </a:lnTo>
                <a:lnTo>
                  <a:pt x="137" y="1"/>
                </a:lnTo>
                <a:lnTo>
                  <a:pt x="151" y="2"/>
                </a:lnTo>
                <a:lnTo>
                  <a:pt x="164" y="4"/>
                </a:lnTo>
                <a:lnTo>
                  <a:pt x="177" y="8"/>
                </a:lnTo>
                <a:lnTo>
                  <a:pt x="189" y="12"/>
                </a:lnTo>
                <a:lnTo>
                  <a:pt x="201" y="17"/>
                </a:lnTo>
                <a:lnTo>
                  <a:pt x="211" y="23"/>
                </a:lnTo>
                <a:lnTo>
                  <a:pt x="220" y="30"/>
                </a:lnTo>
                <a:lnTo>
                  <a:pt x="228" y="37"/>
                </a:lnTo>
                <a:lnTo>
                  <a:pt x="235" y="45"/>
                </a:lnTo>
                <a:lnTo>
                  <a:pt x="240" y="54"/>
                </a:lnTo>
                <a:lnTo>
                  <a:pt x="244" y="62"/>
                </a:lnTo>
                <a:lnTo>
                  <a:pt x="246" y="71"/>
                </a:lnTo>
                <a:lnTo>
                  <a:pt x="247" y="80"/>
                </a:lnTo>
              </a:path>
            </a:pathLst>
          </a:custGeom>
          <a:noFill/>
          <a:ln w="285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7507224" y="3639312"/>
            <a:ext cx="164592" cy="137160"/>
          </a:xfrm>
          <a:custGeom>
            <a:avLst/>
            <a:gdLst/>
            <a:ahLst/>
            <a:cxnLst/>
            <a:rect l="l" t="t" r="r" b="b"/>
            <a:pathLst>
              <a:path w="18" h="15">
                <a:moveTo>
                  <a:pt x="0" y="0"/>
                </a:moveTo>
                <a:lnTo>
                  <a:pt x="18" y="0"/>
                </a:lnTo>
                <a:lnTo>
                  <a:pt x="9" y="15"/>
                </a:lnTo>
                <a:close/>
              </a:path>
            </a:pathLst>
          </a:custGeom>
          <a:solidFill>
            <a:srgbClr val="007A5A"/>
          </a:solidFill>
          <a:ln>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821680" y="2651760"/>
            <a:ext cx="1280160" cy="365760"/>
          </a:xfrm>
          <a:prstGeom prst="rect">
            <a:avLst/>
          </a:prstGeom>
          <a:noFill/>
        </p:spPr>
        <p:txBody>
          <a:bodyPr wrap="square" anchor="t" lIns="45720" rIns="45720" tIns="27432" bIns="27432">
            <a:spAutoFit/>
          </a:bodyPr>
          <a:lstStyle/>
          <a:p>
            <a:pPr algn="ctr">
              <a:lnSpc>
                <a:spcPct val="105000"/>
              </a:lnSpc>
            </a:pPr>
            <a:r>
              <a:rPr sz="1500" b="1" i="0">
                <a:solidFill>
                  <a:srgbClr val="007A5A"/>
                </a:solidFill>
                <a:latin typeface="PT Sans"/>
              </a:rPr>
              <a:t>1 мүн: 70 м</a:t>
            </a:r>
          </a:p>
        </p:txBody>
      </p:sp>
      <p:sp>
        <p:nvSpPr>
          <p:cNvPr id="48" name="Oval 47"/>
          <p:cNvSpPr/>
          <p:nvPr/>
        </p:nvSpPr>
        <p:spPr>
          <a:xfrm>
            <a:off x="713232" y="3511296"/>
            <a:ext cx="219456" cy="219456"/>
          </a:xfrm>
          <a:prstGeom prst="ellipse">
            <a:avLst/>
          </a:prstGeom>
          <a:solidFill>
            <a:srgbClr val="2E86C1"/>
          </a:solidFill>
          <a:ln w="6350">
            <a:solidFill>
              <a:srgbClr val="2E86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2968752" y="3511296"/>
            <a:ext cx="219456" cy="219456"/>
          </a:xfrm>
          <a:prstGeom prst="ellipse">
            <a:avLst/>
          </a:prstGeom>
          <a:solidFill>
            <a:srgbClr val="2E86C1"/>
          </a:solidFill>
          <a:ln w="6350">
            <a:solidFill>
              <a:srgbClr val="2E86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5224272" y="3511296"/>
            <a:ext cx="219456" cy="219456"/>
          </a:xfrm>
          <a:prstGeom prst="ellipse">
            <a:avLst/>
          </a:prstGeom>
          <a:solidFill>
            <a:srgbClr val="2E86C1"/>
          </a:solidFill>
          <a:ln w="6350">
            <a:solidFill>
              <a:srgbClr val="2E86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7479792" y="3511296"/>
            <a:ext cx="219456" cy="219456"/>
          </a:xfrm>
          <a:prstGeom prst="ellipse">
            <a:avLst/>
          </a:prstGeom>
          <a:solidFill>
            <a:srgbClr val="2E86C1"/>
          </a:solidFill>
          <a:ln w="6350">
            <a:solidFill>
              <a:srgbClr val="2E86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4343400"/>
            <a:ext cx="1097280" cy="274320"/>
          </a:xfrm>
          <a:prstGeom prst="rect">
            <a:avLst/>
          </a:prstGeom>
          <a:noFill/>
        </p:spPr>
        <p:txBody>
          <a:bodyPr wrap="square" anchor="t" lIns="45720" rIns="45720" tIns="27432" bIns="27432">
            <a:spAutoFit/>
          </a:bodyPr>
          <a:lstStyle/>
          <a:p>
            <a:pPr algn="l">
              <a:lnSpc>
                <a:spcPct val="105000"/>
              </a:lnSpc>
            </a:pPr>
            <a:r>
              <a:rPr sz="1200" b="0" i="1">
                <a:solidFill>
                  <a:srgbClr val="4A5A70"/>
                </a:solidFill>
                <a:latin typeface="PT Sans"/>
              </a:rPr>
              <a:t>башта</a:t>
            </a:r>
          </a:p>
        </p:txBody>
      </p:sp>
      <p:sp>
        <p:nvSpPr>
          <p:cNvPr id="53" name="TextBox 52"/>
          <p:cNvSpPr txBox="1"/>
          <p:nvPr/>
        </p:nvSpPr>
        <p:spPr>
          <a:xfrm>
            <a:off x="822960" y="4754880"/>
            <a:ext cx="6949440" cy="822960"/>
          </a:xfrm>
          <a:prstGeom prst="rect">
            <a:avLst/>
          </a:prstGeom>
          <a:noFill/>
        </p:spPr>
        <p:txBody>
          <a:bodyPr wrap="square" anchor="t" lIns="45720" rIns="45720" tIns="27432" bIns="27432">
            <a:spAutoFit/>
          </a:bodyPr>
          <a:lstStyle/>
          <a:p>
            <a:pPr algn="l">
              <a:lnSpc>
                <a:spcPct val="105000"/>
              </a:lnSpc>
            </a:pPr>
            <a:r>
              <a:rPr sz="2000" b="1" i="0">
                <a:solidFill>
                  <a:srgbClr val="24418C"/>
                </a:solidFill>
                <a:latin typeface="PT Sans"/>
              </a:rPr>
              <a:t>3 мүнөттө 210 м  →  1 мүнөттө 210 : 3 = 70 м</a:t>
            </a:r>
          </a:p>
          <a:p>
            <a:pPr algn="l">
              <a:lnSpc>
                <a:spcPct val="105000"/>
              </a:lnSpc>
            </a:pPr>
            <a:r>
              <a:rPr sz="1700" b="0" i="0">
                <a:solidFill>
                  <a:srgbClr val="1F2430"/>
                </a:solidFill>
                <a:latin typeface="PT Sans"/>
              </a:rPr>
              <a:t>Ылдамдык = 1 мүнөттө басылган жол = 70 м/мин</a:t>
            </a:r>
          </a:p>
        </p:txBody>
      </p:sp>
      <p:sp>
        <p:nvSpPr>
          <p:cNvPr id="54" name="TextBox 53"/>
          <p:cNvSpPr txBox="1"/>
          <p:nvPr/>
        </p:nvSpPr>
        <p:spPr>
          <a:xfrm>
            <a:off x="822960" y="2148840"/>
            <a:ext cx="6766560" cy="365760"/>
          </a:xfrm>
          <a:prstGeom prst="rect">
            <a:avLst/>
          </a:prstGeom>
          <a:noFill/>
        </p:spPr>
        <p:txBody>
          <a:bodyPr wrap="square" anchor="t" lIns="45720" rIns="45720" tIns="27432" bIns="27432">
            <a:spAutoFit/>
          </a:bodyPr>
          <a:lstStyle/>
          <a:p>
            <a:pPr algn="l">
              <a:lnSpc>
                <a:spcPct val="105000"/>
              </a:lnSpc>
            </a:pPr>
            <a:r>
              <a:rPr sz="1600" b="0" i="1">
                <a:solidFill>
                  <a:srgbClr val="4A5A70"/>
                </a:solidFill>
                <a:latin typeface="PT Sans"/>
              </a:rPr>
              <a:t>Капкак = ар бир мүнөттүн аягында турган жер. Жип = 10 м.</a:t>
            </a:r>
          </a:p>
        </p:txBody>
      </p:sp>
      <p:sp>
        <p:nvSpPr>
          <p:cNvPr id="55" name="Rounded Rectangle 54"/>
          <p:cNvSpPr/>
          <p:nvPr/>
        </p:nvSpPr>
        <p:spPr>
          <a:xfrm>
            <a:off x="8229600" y="2148840"/>
            <a:ext cx="3520440" cy="35661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366760" y="2212848"/>
            <a:ext cx="3291840" cy="3474720"/>
          </a:xfrm>
          <a:prstGeom prst="rect">
            <a:avLst/>
          </a:prstGeom>
          <a:noFill/>
        </p:spPr>
        <p:txBody>
          <a:bodyPr wrap="square" anchor="t" lIns="45720" rIns="45720" tIns="27432" bIns="27432">
            <a:spAutoFit/>
          </a:bodyPr>
          <a:lstStyle/>
          <a:p>
            <a:pPr algn="l">
              <a:lnSpc>
                <a:spcPct val="110000"/>
              </a:lnSpc>
            </a:pPr>
            <a:r>
              <a:rPr sz="1800" b="1" i="0">
                <a:solidFill>
                  <a:srgbClr val="1F2430"/>
                </a:solidFill>
                <a:latin typeface="PT Sans"/>
              </a:rPr>
              <a:t>Ар бир топто:</a:t>
            </a:r>
          </a:p>
          <a:p>
            <a:pPr algn="l">
              <a:lnSpc>
                <a:spcPct val="110000"/>
              </a:lnSpc>
            </a:pPr>
            <a:r>
              <a:rPr sz="1500" b="0" i="0">
                <a:solidFill>
                  <a:srgbClr val="1F2430"/>
                </a:solidFill>
                <a:latin typeface="PT Sans"/>
              </a:rPr>
              <a:t>• 10 м жип (ар 1 м – түйүн)</a:t>
            </a:r>
          </a:p>
          <a:p>
            <a:pPr algn="l">
              <a:lnSpc>
                <a:spcPct val="110000"/>
              </a:lnSpc>
            </a:pPr>
            <a:r>
              <a:rPr sz="1500" b="0" i="0">
                <a:solidFill>
                  <a:srgbClr val="1F2430"/>
                </a:solidFill>
                <a:latin typeface="PT Sans"/>
              </a:rPr>
              <a:t>• 3–4 бөтөлкө капкагы</a:t>
            </a:r>
          </a:p>
          <a:p>
            <a:pPr algn="l">
              <a:lnSpc>
                <a:spcPct val="110000"/>
              </a:lnSpc>
            </a:pPr>
            <a:r>
              <a:rPr sz="1500" b="0" i="0">
                <a:solidFill>
                  <a:srgbClr val="1F2430"/>
                </a:solidFill>
                <a:latin typeface="PT Sans"/>
              </a:rPr>
              <a:t>• бор, чакмак дептер</a:t>
            </a:r>
          </a:p>
          <a:p>
            <a:pPr algn="l">
              <a:lnSpc>
                <a:spcPct val="110000"/>
              </a:lnSpc>
            </a:pPr>
            <a:r>
              <a:rPr sz="1500" b="0" i="0">
                <a:solidFill>
                  <a:srgbClr val="1F2430"/>
                </a:solidFill>
                <a:latin typeface="PT Sans"/>
              </a:rPr>
              <a:t>• мугалимде: саат же секундомер</a:t>
            </a:r>
          </a:p>
          <a:p>
            <a:pPr algn="l">
              <a:lnSpc>
                <a:spcPct val="110000"/>
              </a:lnSpc>
            </a:pPr>
            <a:r>
              <a:rPr sz="1600" b="1" i="0">
                <a:solidFill>
                  <a:srgbClr val="24418C"/>
                </a:solidFill>
                <a:latin typeface="PT Sans"/>
              </a:rPr>
              <a:t>Сенин ылдамдыгың: ? м/мин</a:t>
            </a:r>
          </a:p>
        </p:txBody>
      </p:sp>
      <p:sp>
        <p:nvSpPr>
          <p:cNvPr id="57" name="Rounded Rectangle 56"/>
          <p:cNvSpPr/>
          <p:nvPr/>
        </p:nvSpPr>
        <p:spPr>
          <a:xfrm>
            <a:off x="8412480"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К</a:t>
            </a:r>
          </a:p>
        </p:txBody>
      </p:sp>
      <p:sp>
        <p:nvSpPr>
          <p:cNvPr id="58" name="Rounded Rectangle 57"/>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59" name="Rounded Rectangle 58"/>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С: эки шкалалуу жол сызыгы</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Ылдамдык, убакыт жана аралык</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12/26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Үстүндө – километр, астында – саат. Ар бир секирик = 1 саат = ылдамдык.</a:t>
            </a:r>
          </a:p>
        </p:txBody>
      </p:sp>
      <p:cxnSp>
        <p:nvCxnSpPr>
          <p:cNvPr id="12" name="Connector 11"/>
          <p:cNvCxnSpPr/>
          <p:nvPr/>
        </p:nvCxnSpPr>
        <p:spPr>
          <a:xfrm>
            <a:off x="822960" y="3703320"/>
            <a:ext cx="10378440" cy="0"/>
          </a:xfrm>
          <a:prstGeom prst="line">
            <a:avLst/>
          </a:prstGeom>
          <a:ln w="28575">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14400" y="3566160"/>
            <a:ext cx="0" cy="274320"/>
          </a:xfrm>
          <a:prstGeom prst="line">
            <a:avLst/>
          </a:prstGeom>
          <a:ln w="25400">
            <a:solidFill>
              <a:srgbClr val="1D355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11479" y="3246120"/>
            <a:ext cx="1005840" cy="292608"/>
          </a:xfrm>
          <a:prstGeom prst="rect">
            <a:avLst/>
          </a:prstGeom>
          <a:noFill/>
        </p:spPr>
        <p:txBody>
          <a:bodyPr wrap="square" anchor="t" lIns="45720" rIns="45720" tIns="27432" bIns="27432">
            <a:spAutoFit/>
          </a:bodyPr>
          <a:lstStyle/>
          <a:p>
            <a:pPr algn="ctr">
              <a:lnSpc>
                <a:spcPct val="105000"/>
              </a:lnSpc>
            </a:pPr>
            <a:r>
              <a:rPr sz="1400" b="1" i="0">
                <a:solidFill>
                  <a:srgbClr val="1F2430"/>
                </a:solidFill>
                <a:latin typeface="PT Sans"/>
              </a:rPr>
              <a:t>0 км</a:t>
            </a:r>
          </a:p>
        </p:txBody>
      </p:sp>
      <p:sp>
        <p:nvSpPr>
          <p:cNvPr id="15" name="TextBox 14"/>
          <p:cNvSpPr txBox="1"/>
          <p:nvPr/>
        </p:nvSpPr>
        <p:spPr>
          <a:xfrm>
            <a:off x="411479" y="3858768"/>
            <a:ext cx="1005840" cy="292608"/>
          </a:xfrm>
          <a:prstGeom prst="rect">
            <a:avLst/>
          </a:prstGeom>
          <a:noFill/>
        </p:spPr>
        <p:txBody>
          <a:bodyPr wrap="square" anchor="t" lIns="45720" rIns="45720" tIns="27432" bIns="27432">
            <a:spAutoFit/>
          </a:bodyPr>
          <a:lstStyle/>
          <a:p>
            <a:pPr algn="ctr">
              <a:lnSpc>
                <a:spcPct val="105000"/>
              </a:lnSpc>
            </a:pPr>
            <a:r>
              <a:rPr sz="1400" b="1" i="0">
                <a:solidFill>
                  <a:srgbClr val="24418C"/>
                </a:solidFill>
                <a:latin typeface="PT Sans"/>
              </a:rPr>
              <a:t>0 саат</a:t>
            </a:r>
          </a:p>
        </p:txBody>
      </p:sp>
      <p:sp>
        <p:nvSpPr>
          <p:cNvPr id="16" name="TextBox 15"/>
          <p:cNvSpPr txBox="1"/>
          <p:nvPr/>
        </p:nvSpPr>
        <p:spPr>
          <a:xfrm>
            <a:off x="365760" y="4133087"/>
            <a:ext cx="1097280" cy="274320"/>
          </a:xfrm>
          <a:prstGeom prst="rect">
            <a:avLst/>
          </a:prstGeom>
          <a:noFill/>
        </p:spPr>
        <p:txBody>
          <a:bodyPr wrap="square" anchor="t" lIns="45720" rIns="45720" tIns="27432" bIns="27432">
            <a:spAutoFit/>
          </a:bodyPr>
          <a:lstStyle/>
          <a:p>
            <a:pPr algn="ctr">
              <a:lnSpc>
                <a:spcPct val="105000"/>
              </a:lnSpc>
            </a:pPr>
            <a:r>
              <a:rPr sz="1200" b="0" i="1">
                <a:solidFill>
                  <a:srgbClr val="4A5A70"/>
                </a:solidFill>
                <a:latin typeface="PT Sans"/>
              </a:rPr>
              <a:t>саат 7</a:t>
            </a:r>
          </a:p>
        </p:txBody>
      </p:sp>
      <p:sp>
        <p:nvSpPr>
          <p:cNvPr id="17" name="Rounded Rectangle 16"/>
          <p:cNvSpPr/>
          <p:nvPr/>
        </p:nvSpPr>
        <p:spPr>
          <a:xfrm>
            <a:off x="274320" y="4480559"/>
            <a:ext cx="1280160" cy="365760"/>
          </a:xfrm>
          <a:prstGeom prst="roundRect">
            <a:avLst>
              <a:gd name="adj" fmla="val 50000"/>
            </a:avLst>
          </a:prstGeom>
          <a:solidFill>
            <a:srgbClr val="FFFFFF"/>
          </a:solidFill>
          <a:ln w="1905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300" b="1">
                <a:solidFill>
                  <a:srgbClr val="A84400"/>
                </a:solidFill>
                <a:latin typeface="PT Sans"/>
              </a:rPr>
              <a:t>Бишкек</a:t>
            </a:r>
          </a:p>
        </p:txBody>
      </p:sp>
      <p:cxnSp>
        <p:nvCxnSpPr>
          <p:cNvPr id="18" name="Connector 17"/>
          <p:cNvCxnSpPr/>
          <p:nvPr/>
        </p:nvCxnSpPr>
        <p:spPr>
          <a:xfrm>
            <a:off x="2606040" y="3566160"/>
            <a:ext cx="0" cy="274320"/>
          </a:xfrm>
          <a:prstGeom prst="line">
            <a:avLst/>
          </a:prstGeom>
          <a:ln w="25400">
            <a:solidFill>
              <a:srgbClr val="1D355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103120" y="3246120"/>
            <a:ext cx="1005840" cy="292608"/>
          </a:xfrm>
          <a:prstGeom prst="rect">
            <a:avLst/>
          </a:prstGeom>
          <a:noFill/>
        </p:spPr>
        <p:txBody>
          <a:bodyPr wrap="square" anchor="t" lIns="45720" rIns="45720" tIns="27432" bIns="27432">
            <a:spAutoFit/>
          </a:bodyPr>
          <a:lstStyle/>
          <a:p>
            <a:pPr algn="ctr">
              <a:lnSpc>
                <a:spcPct val="105000"/>
              </a:lnSpc>
            </a:pPr>
            <a:r>
              <a:rPr sz="1400" b="1" i="0">
                <a:solidFill>
                  <a:srgbClr val="1F2430"/>
                </a:solidFill>
                <a:latin typeface="PT Sans"/>
              </a:rPr>
              <a:t>30 км</a:t>
            </a:r>
          </a:p>
        </p:txBody>
      </p:sp>
      <p:sp>
        <p:nvSpPr>
          <p:cNvPr id="20" name="TextBox 19"/>
          <p:cNvSpPr txBox="1"/>
          <p:nvPr/>
        </p:nvSpPr>
        <p:spPr>
          <a:xfrm>
            <a:off x="2103120" y="3858768"/>
            <a:ext cx="1005840" cy="292608"/>
          </a:xfrm>
          <a:prstGeom prst="rect">
            <a:avLst/>
          </a:prstGeom>
          <a:noFill/>
        </p:spPr>
        <p:txBody>
          <a:bodyPr wrap="square" anchor="t" lIns="45720" rIns="45720" tIns="27432" bIns="27432">
            <a:spAutoFit/>
          </a:bodyPr>
          <a:lstStyle/>
          <a:p>
            <a:pPr algn="ctr">
              <a:lnSpc>
                <a:spcPct val="105000"/>
              </a:lnSpc>
            </a:pPr>
            <a:r>
              <a:rPr sz="1400" b="1" i="0">
                <a:solidFill>
                  <a:srgbClr val="24418C"/>
                </a:solidFill>
                <a:latin typeface="PT Sans"/>
              </a:rPr>
              <a:t>1 саат</a:t>
            </a:r>
          </a:p>
        </p:txBody>
      </p:sp>
      <p:sp>
        <p:nvSpPr>
          <p:cNvPr id="21" name="TextBox 20"/>
          <p:cNvSpPr txBox="1"/>
          <p:nvPr/>
        </p:nvSpPr>
        <p:spPr>
          <a:xfrm>
            <a:off x="2057400" y="4133087"/>
            <a:ext cx="1097280" cy="274320"/>
          </a:xfrm>
          <a:prstGeom prst="rect">
            <a:avLst/>
          </a:prstGeom>
          <a:noFill/>
        </p:spPr>
        <p:txBody>
          <a:bodyPr wrap="square" anchor="t" lIns="45720" rIns="45720" tIns="27432" bIns="27432">
            <a:spAutoFit/>
          </a:bodyPr>
          <a:lstStyle/>
          <a:p>
            <a:pPr algn="ctr">
              <a:lnSpc>
                <a:spcPct val="105000"/>
              </a:lnSpc>
            </a:pPr>
            <a:r>
              <a:rPr sz="1200" b="0" i="1">
                <a:solidFill>
                  <a:srgbClr val="4A5A70"/>
                </a:solidFill>
                <a:latin typeface="PT Sans"/>
              </a:rPr>
              <a:t>саат 8</a:t>
            </a:r>
          </a:p>
        </p:txBody>
      </p:sp>
      <p:cxnSp>
        <p:nvCxnSpPr>
          <p:cNvPr id="22" name="Connector 21"/>
          <p:cNvCxnSpPr/>
          <p:nvPr/>
        </p:nvCxnSpPr>
        <p:spPr>
          <a:xfrm>
            <a:off x="4297680" y="3566160"/>
            <a:ext cx="0" cy="274320"/>
          </a:xfrm>
          <a:prstGeom prst="line">
            <a:avLst/>
          </a:prstGeom>
          <a:ln w="25400">
            <a:solidFill>
              <a:srgbClr val="1D355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794760" y="3246120"/>
            <a:ext cx="1005840" cy="292608"/>
          </a:xfrm>
          <a:prstGeom prst="rect">
            <a:avLst/>
          </a:prstGeom>
          <a:noFill/>
        </p:spPr>
        <p:txBody>
          <a:bodyPr wrap="square" anchor="t" lIns="45720" rIns="45720" tIns="27432" bIns="27432">
            <a:spAutoFit/>
          </a:bodyPr>
          <a:lstStyle/>
          <a:p>
            <a:pPr algn="ctr">
              <a:lnSpc>
                <a:spcPct val="105000"/>
              </a:lnSpc>
            </a:pPr>
            <a:r>
              <a:rPr sz="1400" b="1" i="0">
                <a:solidFill>
                  <a:srgbClr val="1F2430"/>
                </a:solidFill>
                <a:latin typeface="PT Sans"/>
              </a:rPr>
              <a:t>60 км</a:t>
            </a:r>
          </a:p>
        </p:txBody>
      </p:sp>
      <p:sp>
        <p:nvSpPr>
          <p:cNvPr id="24" name="TextBox 23"/>
          <p:cNvSpPr txBox="1"/>
          <p:nvPr/>
        </p:nvSpPr>
        <p:spPr>
          <a:xfrm>
            <a:off x="3794760" y="3858768"/>
            <a:ext cx="1005840" cy="292608"/>
          </a:xfrm>
          <a:prstGeom prst="rect">
            <a:avLst/>
          </a:prstGeom>
          <a:noFill/>
        </p:spPr>
        <p:txBody>
          <a:bodyPr wrap="square" anchor="t" lIns="45720" rIns="45720" tIns="27432" bIns="27432">
            <a:spAutoFit/>
          </a:bodyPr>
          <a:lstStyle/>
          <a:p>
            <a:pPr algn="ctr">
              <a:lnSpc>
                <a:spcPct val="105000"/>
              </a:lnSpc>
            </a:pPr>
            <a:r>
              <a:rPr sz="1400" b="1" i="0">
                <a:solidFill>
                  <a:srgbClr val="24418C"/>
                </a:solidFill>
                <a:latin typeface="PT Sans"/>
              </a:rPr>
              <a:t>2 саат</a:t>
            </a:r>
          </a:p>
        </p:txBody>
      </p:sp>
      <p:sp>
        <p:nvSpPr>
          <p:cNvPr id="25" name="TextBox 24"/>
          <p:cNvSpPr txBox="1"/>
          <p:nvPr/>
        </p:nvSpPr>
        <p:spPr>
          <a:xfrm>
            <a:off x="3749040" y="4133087"/>
            <a:ext cx="1097280" cy="274320"/>
          </a:xfrm>
          <a:prstGeom prst="rect">
            <a:avLst/>
          </a:prstGeom>
          <a:noFill/>
        </p:spPr>
        <p:txBody>
          <a:bodyPr wrap="square" anchor="t" lIns="45720" rIns="45720" tIns="27432" bIns="27432">
            <a:spAutoFit/>
          </a:bodyPr>
          <a:lstStyle/>
          <a:p>
            <a:pPr algn="ctr">
              <a:lnSpc>
                <a:spcPct val="105000"/>
              </a:lnSpc>
            </a:pPr>
            <a:r>
              <a:rPr sz="1200" b="0" i="1">
                <a:solidFill>
                  <a:srgbClr val="4A5A70"/>
                </a:solidFill>
                <a:latin typeface="PT Sans"/>
              </a:rPr>
              <a:t>саат 9</a:t>
            </a:r>
          </a:p>
        </p:txBody>
      </p:sp>
      <p:sp>
        <p:nvSpPr>
          <p:cNvPr id="26" name="Rounded Rectangle 25"/>
          <p:cNvSpPr/>
          <p:nvPr/>
        </p:nvSpPr>
        <p:spPr>
          <a:xfrm>
            <a:off x="3657600" y="4480559"/>
            <a:ext cx="1280160" cy="365760"/>
          </a:xfrm>
          <a:prstGeom prst="roundRect">
            <a:avLst>
              <a:gd name="adj" fmla="val 50000"/>
            </a:avLst>
          </a:prstGeom>
          <a:solidFill>
            <a:srgbClr val="FFFFFF"/>
          </a:solidFill>
          <a:ln w="1905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300" b="1">
                <a:solidFill>
                  <a:srgbClr val="A84400"/>
                </a:solidFill>
                <a:latin typeface="PT Sans"/>
              </a:rPr>
              <a:t>Токмок</a:t>
            </a:r>
          </a:p>
        </p:txBody>
      </p:sp>
      <p:cxnSp>
        <p:nvCxnSpPr>
          <p:cNvPr id="27" name="Connector 26"/>
          <p:cNvCxnSpPr/>
          <p:nvPr/>
        </p:nvCxnSpPr>
        <p:spPr>
          <a:xfrm>
            <a:off x="6553200" y="3566160"/>
            <a:ext cx="0" cy="274320"/>
          </a:xfrm>
          <a:prstGeom prst="line">
            <a:avLst/>
          </a:prstGeom>
          <a:ln w="25400">
            <a:solidFill>
              <a:srgbClr val="1D3557"/>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050280" y="3246120"/>
            <a:ext cx="1005840" cy="292608"/>
          </a:xfrm>
          <a:prstGeom prst="rect">
            <a:avLst/>
          </a:prstGeom>
          <a:noFill/>
        </p:spPr>
        <p:txBody>
          <a:bodyPr wrap="square" anchor="t" lIns="45720" rIns="45720" tIns="27432" bIns="27432">
            <a:spAutoFit/>
          </a:bodyPr>
          <a:lstStyle/>
          <a:p>
            <a:pPr algn="ctr">
              <a:lnSpc>
                <a:spcPct val="105000"/>
              </a:lnSpc>
            </a:pPr>
            <a:r>
              <a:rPr sz="1400" b="1" i="0">
                <a:solidFill>
                  <a:srgbClr val="1F2430"/>
                </a:solidFill>
                <a:latin typeface="PT Sans"/>
              </a:rPr>
              <a:t>100 км</a:t>
            </a:r>
          </a:p>
        </p:txBody>
      </p:sp>
      <p:sp>
        <p:nvSpPr>
          <p:cNvPr id="29" name="TextBox 28"/>
          <p:cNvSpPr txBox="1"/>
          <p:nvPr/>
        </p:nvSpPr>
        <p:spPr>
          <a:xfrm>
            <a:off x="6050280" y="3858768"/>
            <a:ext cx="1005840" cy="292608"/>
          </a:xfrm>
          <a:prstGeom prst="rect">
            <a:avLst/>
          </a:prstGeom>
          <a:noFill/>
        </p:spPr>
        <p:txBody>
          <a:bodyPr wrap="square" anchor="t" lIns="45720" rIns="45720" tIns="27432" bIns="27432">
            <a:spAutoFit/>
          </a:bodyPr>
          <a:lstStyle/>
          <a:p>
            <a:pPr algn="ctr">
              <a:lnSpc>
                <a:spcPct val="105000"/>
              </a:lnSpc>
            </a:pPr>
            <a:r>
              <a:rPr sz="1400" b="1" i="0">
                <a:solidFill>
                  <a:srgbClr val="24418C"/>
                </a:solidFill>
                <a:latin typeface="PT Sans"/>
              </a:rPr>
              <a:t>3 саат</a:t>
            </a:r>
          </a:p>
        </p:txBody>
      </p:sp>
      <p:sp>
        <p:nvSpPr>
          <p:cNvPr id="30" name="TextBox 29"/>
          <p:cNvSpPr txBox="1"/>
          <p:nvPr/>
        </p:nvSpPr>
        <p:spPr>
          <a:xfrm>
            <a:off x="6004560" y="4133087"/>
            <a:ext cx="1097280" cy="274320"/>
          </a:xfrm>
          <a:prstGeom prst="rect">
            <a:avLst/>
          </a:prstGeom>
          <a:noFill/>
        </p:spPr>
        <p:txBody>
          <a:bodyPr wrap="square" anchor="t" lIns="45720" rIns="45720" tIns="27432" bIns="27432">
            <a:spAutoFit/>
          </a:bodyPr>
          <a:lstStyle/>
          <a:p>
            <a:pPr algn="ctr">
              <a:lnSpc>
                <a:spcPct val="105000"/>
              </a:lnSpc>
            </a:pPr>
            <a:r>
              <a:rPr sz="1200" b="0" i="1">
                <a:solidFill>
                  <a:srgbClr val="4A5A70"/>
                </a:solidFill>
                <a:latin typeface="PT Sans"/>
              </a:rPr>
              <a:t>саат 10</a:t>
            </a:r>
          </a:p>
        </p:txBody>
      </p:sp>
      <p:cxnSp>
        <p:nvCxnSpPr>
          <p:cNvPr id="31" name="Connector 30"/>
          <p:cNvCxnSpPr/>
          <p:nvPr/>
        </p:nvCxnSpPr>
        <p:spPr>
          <a:xfrm>
            <a:off x="8808720" y="3566160"/>
            <a:ext cx="0" cy="274320"/>
          </a:xfrm>
          <a:prstGeom prst="line">
            <a:avLst/>
          </a:prstGeom>
          <a:ln w="25400">
            <a:solidFill>
              <a:srgbClr val="1D3557"/>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305799" y="3246120"/>
            <a:ext cx="1005840" cy="292608"/>
          </a:xfrm>
          <a:prstGeom prst="rect">
            <a:avLst/>
          </a:prstGeom>
          <a:noFill/>
        </p:spPr>
        <p:txBody>
          <a:bodyPr wrap="square" anchor="t" lIns="45720" rIns="45720" tIns="27432" bIns="27432">
            <a:spAutoFit/>
          </a:bodyPr>
          <a:lstStyle/>
          <a:p>
            <a:pPr algn="ctr">
              <a:lnSpc>
                <a:spcPct val="105000"/>
              </a:lnSpc>
            </a:pPr>
            <a:r>
              <a:rPr sz="1400" b="1" i="0">
                <a:solidFill>
                  <a:srgbClr val="1F2430"/>
                </a:solidFill>
                <a:latin typeface="PT Sans"/>
              </a:rPr>
              <a:t>140 км</a:t>
            </a:r>
          </a:p>
        </p:txBody>
      </p:sp>
      <p:sp>
        <p:nvSpPr>
          <p:cNvPr id="33" name="TextBox 32"/>
          <p:cNvSpPr txBox="1"/>
          <p:nvPr/>
        </p:nvSpPr>
        <p:spPr>
          <a:xfrm>
            <a:off x="8305799" y="3858768"/>
            <a:ext cx="1005840" cy="292608"/>
          </a:xfrm>
          <a:prstGeom prst="rect">
            <a:avLst/>
          </a:prstGeom>
          <a:noFill/>
        </p:spPr>
        <p:txBody>
          <a:bodyPr wrap="square" anchor="t" lIns="45720" rIns="45720" tIns="27432" bIns="27432">
            <a:spAutoFit/>
          </a:bodyPr>
          <a:lstStyle/>
          <a:p>
            <a:pPr algn="ctr">
              <a:lnSpc>
                <a:spcPct val="105000"/>
              </a:lnSpc>
            </a:pPr>
            <a:r>
              <a:rPr sz="1400" b="1" i="0">
                <a:solidFill>
                  <a:srgbClr val="24418C"/>
                </a:solidFill>
                <a:latin typeface="PT Sans"/>
              </a:rPr>
              <a:t>4 саат</a:t>
            </a:r>
          </a:p>
        </p:txBody>
      </p:sp>
      <p:sp>
        <p:nvSpPr>
          <p:cNvPr id="34" name="TextBox 33"/>
          <p:cNvSpPr txBox="1"/>
          <p:nvPr/>
        </p:nvSpPr>
        <p:spPr>
          <a:xfrm>
            <a:off x="8260080" y="4133087"/>
            <a:ext cx="1097280" cy="274320"/>
          </a:xfrm>
          <a:prstGeom prst="rect">
            <a:avLst/>
          </a:prstGeom>
          <a:noFill/>
        </p:spPr>
        <p:txBody>
          <a:bodyPr wrap="square" anchor="t" lIns="45720" rIns="45720" tIns="27432" bIns="27432">
            <a:spAutoFit/>
          </a:bodyPr>
          <a:lstStyle/>
          <a:p>
            <a:pPr algn="ctr">
              <a:lnSpc>
                <a:spcPct val="105000"/>
              </a:lnSpc>
            </a:pPr>
            <a:r>
              <a:rPr sz="1200" b="0" i="1">
                <a:solidFill>
                  <a:srgbClr val="4A5A70"/>
                </a:solidFill>
                <a:latin typeface="PT Sans"/>
              </a:rPr>
              <a:t>саат 11</a:t>
            </a:r>
          </a:p>
        </p:txBody>
      </p:sp>
      <p:cxnSp>
        <p:nvCxnSpPr>
          <p:cNvPr id="35" name="Connector 34"/>
          <p:cNvCxnSpPr/>
          <p:nvPr/>
        </p:nvCxnSpPr>
        <p:spPr>
          <a:xfrm>
            <a:off x="11064240" y="3566160"/>
            <a:ext cx="0" cy="274320"/>
          </a:xfrm>
          <a:prstGeom prst="line">
            <a:avLst/>
          </a:prstGeom>
          <a:ln w="25400">
            <a:solidFill>
              <a:srgbClr val="1D3557"/>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0561319" y="3246120"/>
            <a:ext cx="1005840" cy="292608"/>
          </a:xfrm>
          <a:prstGeom prst="rect">
            <a:avLst/>
          </a:prstGeom>
          <a:noFill/>
        </p:spPr>
        <p:txBody>
          <a:bodyPr wrap="square" anchor="t" lIns="45720" rIns="45720" tIns="27432" bIns="27432">
            <a:spAutoFit/>
          </a:bodyPr>
          <a:lstStyle/>
          <a:p>
            <a:pPr algn="ctr">
              <a:lnSpc>
                <a:spcPct val="105000"/>
              </a:lnSpc>
            </a:pPr>
            <a:r>
              <a:rPr sz="1400" b="1" i="0">
                <a:solidFill>
                  <a:srgbClr val="1F2430"/>
                </a:solidFill>
                <a:latin typeface="PT Sans"/>
              </a:rPr>
              <a:t>180 км</a:t>
            </a:r>
          </a:p>
        </p:txBody>
      </p:sp>
      <p:sp>
        <p:nvSpPr>
          <p:cNvPr id="37" name="TextBox 36"/>
          <p:cNvSpPr txBox="1"/>
          <p:nvPr/>
        </p:nvSpPr>
        <p:spPr>
          <a:xfrm>
            <a:off x="10561319" y="3858768"/>
            <a:ext cx="1005840" cy="292608"/>
          </a:xfrm>
          <a:prstGeom prst="rect">
            <a:avLst/>
          </a:prstGeom>
          <a:noFill/>
        </p:spPr>
        <p:txBody>
          <a:bodyPr wrap="square" anchor="t" lIns="45720" rIns="45720" tIns="27432" bIns="27432">
            <a:spAutoFit/>
          </a:bodyPr>
          <a:lstStyle/>
          <a:p>
            <a:pPr algn="ctr">
              <a:lnSpc>
                <a:spcPct val="105000"/>
              </a:lnSpc>
            </a:pPr>
            <a:r>
              <a:rPr sz="1400" b="1" i="0">
                <a:solidFill>
                  <a:srgbClr val="24418C"/>
                </a:solidFill>
                <a:latin typeface="PT Sans"/>
              </a:rPr>
              <a:t>5 саат</a:t>
            </a:r>
          </a:p>
        </p:txBody>
      </p:sp>
      <p:sp>
        <p:nvSpPr>
          <p:cNvPr id="38" name="TextBox 37"/>
          <p:cNvSpPr txBox="1"/>
          <p:nvPr/>
        </p:nvSpPr>
        <p:spPr>
          <a:xfrm>
            <a:off x="10515600" y="4133087"/>
            <a:ext cx="1097280" cy="274320"/>
          </a:xfrm>
          <a:prstGeom prst="rect">
            <a:avLst/>
          </a:prstGeom>
          <a:noFill/>
        </p:spPr>
        <p:txBody>
          <a:bodyPr wrap="square" anchor="t" lIns="45720" rIns="45720" tIns="27432" bIns="27432">
            <a:spAutoFit/>
          </a:bodyPr>
          <a:lstStyle/>
          <a:p>
            <a:pPr algn="ctr">
              <a:lnSpc>
                <a:spcPct val="105000"/>
              </a:lnSpc>
            </a:pPr>
            <a:r>
              <a:rPr sz="1200" b="0" i="1">
                <a:solidFill>
                  <a:srgbClr val="4A5A70"/>
                </a:solidFill>
                <a:latin typeface="PT Sans"/>
              </a:rPr>
              <a:t>саат 12</a:t>
            </a:r>
          </a:p>
        </p:txBody>
      </p:sp>
      <p:sp>
        <p:nvSpPr>
          <p:cNvPr id="39" name="Rounded Rectangle 38"/>
          <p:cNvSpPr/>
          <p:nvPr/>
        </p:nvSpPr>
        <p:spPr>
          <a:xfrm>
            <a:off x="10424160" y="4480559"/>
            <a:ext cx="1280160" cy="365760"/>
          </a:xfrm>
          <a:prstGeom prst="roundRect">
            <a:avLst>
              <a:gd name="adj" fmla="val 50000"/>
            </a:avLst>
          </a:prstGeom>
          <a:solidFill>
            <a:srgbClr val="FFFFFF"/>
          </a:solidFill>
          <a:ln w="1905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300" b="1">
                <a:solidFill>
                  <a:srgbClr val="A84400"/>
                </a:solidFill>
                <a:latin typeface="PT Sans"/>
              </a:rPr>
              <a:t>Балыкчы</a:t>
            </a:r>
          </a:p>
        </p:txBody>
      </p:sp>
      <p:sp>
        <p:nvSpPr>
          <p:cNvPr id="40" name="Freeform 39"/>
          <p:cNvSpPr/>
          <p:nvPr/>
        </p:nvSpPr>
        <p:spPr>
          <a:xfrm>
            <a:off x="914400" y="2651760"/>
            <a:ext cx="1691640" cy="548640"/>
          </a:xfrm>
          <a:custGeom>
            <a:avLst/>
            <a:gdLst/>
            <a:ahLst/>
            <a:cxnLst/>
            <a:rect l="l" t="t" r="r" b="b"/>
            <a:pathLst>
              <a:path w="185" h="60">
                <a:moveTo>
                  <a:pt x="0" y="60"/>
                </a:moveTo>
                <a:lnTo>
                  <a:pt x="1" y="53"/>
                </a:lnTo>
                <a:lnTo>
                  <a:pt x="2" y="47"/>
                </a:lnTo>
                <a:lnTo>
                  <a:pt x="5" y="40"/>
                </a:lnTo>
                <a:lnTo>
                  <a:pt x="9" y="34"/>
                </a:lnTo>
                <a:lnTo>
                  <a:pt x="14" y="28"/>
                </a:lnTo>
                <a:lnTo>
                  <a:pt x="20" y="23"/>
                </a:lnTo>
                <a:lnTo>
                  <a:pt x="27" y="18"/>
                </a:lnTo>
                <a:lnTo>
                  <a:pt x="35" y="13"/>
                </a:lnTo>
                <a:lnTo>
                  <a:pt x="43" y="9"/>
                </a:lnTo>
                <a:lnTo>
                  <a:pt x="52" y="6"/>
                </a:lnTo>
                <a:lnTo>
                  <a:pt x="62" y="3"/>
                </a:lnTo>
                <a:lnTo>
                  <a:pt x="72" y="2"/>
                </a:lnTo>
                <a:lnTo>
                  <a:pt x="82" y="0"/>
                </a:lnTo>
                <a:lnTo>
                  <a:pt x="92" y="0"/>
                </a:lnTo>
                <a:lnTo>
                  <a:pt x="103" y="0"/>
                </a:lnTo>
                <a:lnTo>
                  <a:pt x="113" y="2"/>
                </a:lnTo>
                <a:lnTo>
                  <a:pt x="123" y="3"/>
                </a:lnTo>
                <a:lnTo>
                  <a:pt x="133" y="6"/>
                </a:lnTo>
                <a:lnTo>
                  <a:pt x="142" y="9"/>
                </a:lnTo>
                <a:lnTo>
                  <a:pt x="150" y="13"/>
                </a:lnTo>
                <a:lnTo>
                  <a:pt x="158" y="18"/>
                </a:lnTo>
                <a:lnTo>
                  <a:pt x="165" y="23"/>
                </a:lnTo>
                <a:lnTo>
                  <a:pt x="171" y="28"/>
                </a:lnTo>
                <a:lnTo>
                  <a:pt x="176" y="34"/>
                </a:lnTo>
                <a:lnTo>
                  <a:pt x="180" y="40"/>
                </a:lnTo>
                <a:lnTo>
                  <a:pt x="183" y="47"/>
                </a:lnTo>
                <a:lnTo>
                  <a:pt x="184" y="53"/>
                </a:lnTo>
                <a:lnTo>
                  <a:pt x="185" y="60"/>
                </a:lnTo>
              </a:path>
            </a:pathLst>
          </a:custGeom>
          <a:noFill/>
          <a:ln w="285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523744" y="3044952"/>
            <a:ext cx="164592" cy="137160"/>
          </a:xfrm>
          <a:custGeom>
            <a:avLst/>
            <a:gdLst/>
            <a:ahLst/>
            <a:cxnLst/>
            <a:rect l="l" t="t" r="r" b="b"/>
            <a:pathLst>
              <a:path w="18" h="15">
                <a:moveTo>
                  <a:pt x="0" y="0"/>
                </a:moveTo>
                <a:lnTo>
                  <a:pt x="18" y="0"/>
                </a:lnTo>
                <a:lnTo>
                  <a:pt x="9" y="15"/>
                </a:lnTo>
                <a:close/>
              </a:path>
            </a:pathLst>
          </a:custGeom>
          <a:solidFill>
            <a:srgbClr val="007A5A"/>
          </a:solidFill>
          <a:ln>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11580" y="2331720"/>
            <a:ext cx="1097280" cy="320040"/>
          </a:xfrm>
          <a:prstGeom prst="rect">
            <a:avLst/>
          </a:prstGeom>
          <a:noFill/>
        </p:spPr>
        <p:txBody>
          <a:bodyPr wrap="square" anchor="t" lIns="45720" rIns="45720" tIns="27432" bIns="27432">
            <a:spAutoFit/>
          </a:bodyPr>
          <a:lstStyle/>
          <a:p>
            <a:pPr algn="ctr">
              <a:lnSpc>
                <a:spcPct val="105000"/>
              </a:lnSpc>
            </a:pPr>
            <a:r>
              <a:rPr sz="1700" b="1" i="0">
                <a:solidFill>
                  <a:srgbClr val="007A5A"/>
                </a:solidFill>
                <a:latin typeface="PT Sans"/>
              </a:rPr>
              <a:t>+30</a:t>
            </a:r>
          </a:p>
        </p:txBody>
      </p:sp>
      <p:sp>
        <p:nvSpPr>
          <p:cNvPr id="43" name="Freeform 42"/>
          <p:cNvSpPr/>
          <p:nvPr/>
        </p:nvSpPr>
        <p:spPr>
          <a:xfrm>
            <a:off x="2606040" y="2651760"/>
            <a:ext cx="1691640" cy="548640"/>
          </a:xfrm>
          <a:custGeom>
            <a:avLst/>
            <a:gdLst/>
            <a:ahLst/>
            <a:cxnLst/>
            <a:rect l="l" t="t" r="r" b="b"/>
            <a:pathLst>
              <a:path w="185" h="60">
                <a:moveTo>
                  <a:pt x="0" y="60"/>
                </a:moveTo>
                <a:lnTo>
                  <a:pt x="1" y="53"/>
                </a:lnTo>
                <a:lnTo>
                  <a:pt x="2" y="47"/>
                </a:lnTo>
                <a:lnTo>
                  <a:pt x="5" y="40"/>
                </a:lnTo>
                <a:lnTo>
                  <a:pt x="9" y="34"/>
                </a:lnTo>
                <a:lnTo>
                  <a:pt x="14" y="28"/>
                </a:lnTo>
                <a:lnTo>
                  <a:pt x="20" y="23"/>
                </a:lnTo>
                <a:lnTo>
                  <a:pt x="27" y="18"/>
                </a:lnTo>
                <a:lnTo>
                  <a:pt x="35" y="13"/>
                </a:lnTo>
                <a:lnTo>
                  <a:pt x="43" y="9"/>
                </a:lnTo>
                <a:lnTo>
                  <a:pt x="52" y="6"/>
                </a:lnTo>
                <a:lnTo>
                  <a:pt x="62" y="3"/>
                </a:lnTo>
                <a:lnTo>
                  <a:pt x="72" y="2"/>
                </a:lnTo>
                <a:lnTo>
                  <a:pt x="82" y="0"/>
                </a:lnTo>
                <a:lnTo>
                  <a:pt x="93" y="0"/>
                </a:lnTo>
                <a:lnTo>
                  <a:pt x="103" y="0"/>
                </a:lnTo>
                <a:lnTo>
                  <a:pt x="113" y="2"/>
                </a:lnTo>
                <a:lnTo>
                  <a:pt x="123" y="3"/>
                </a:lnTo>
                <a:lnTo>
                  <a:pt x="133" y="6"/>
                </a:lnTo>
                <a:lnTo>
                  <a:pt x="142" y="9"/>
                </a:lnTo>
                <a:lnTo>
                  <a:pt x="150" y="13"/>
                </a:lnTo>
                <a:lnTo>
                  <a:pt x="158" y="18"/>
                </a:lnTo>
                <a:lnTo>
                  <a:pt x="165" y="23"/>
                </a:lnTo>
                <a:lnTo>
                  <a:pt x="171" y="28"/>
                </a:lnTo>
                <a:lnTo>
                  <a:pt x="176" y="34"/>
                </a:lnTo>
                <a:lnTo>
                  <a:pt x="180" y="40"/>
                </a:lnTo>
                <a:lnTo>
                  <a:pt x="183" y="47"/>
                </a:lnTo>
                <a:lnTo>
                  <a:pt x="184" y="53"/>
                </a:lnTo>
                <a:lnTo>
                  <a:pt x="185" y="60"/>
                </a:lnTo>
              </a:path>
            </a:pathLst>
          </a:custGeom>
          <a:noFill/>
          <a:ln w="285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4215384" y="3044952"/>
            <a:ext cx="164592" cy="137160"/>
          </a:xfrm>
          <a:custGeom>
            <a:avLst/>
            <a:gdLst/>
            <a:ahLst/>
            <a:cxnLst/>
            <a:rect l="l" t="t" r="r" b="b"/>
            <a:pathLst>
              <a:path w="18" h="15">
                <a:moveTo>
                  <a:pt x="0" y="0"/>
                </a:moveTo>
                <a:lnTo>
                  <a:pt x="18" y="0"/>
                </a:lnTo>
                <a:lnTo>
                  <a:pt x="9" y="15"/>
                </a:lnTo>
                <a:close/>
              </a:path>
            </a:pathLst>
          </a:custGeom>
          <a:solidFill>
            <a:srgbClr val="007A5A"/>
          </a:solidFill>
          <a:ln>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903220" y="2331720"/>
            <a:ext cx="1097280" cy="320040"/>
          </a:xfrm>
          <a:prstGeom prst="rect">
            <a:avLst/>
          </a:prstGeom>
          <a:noFill/>
        </p:spPr>
        <p:txBody>
          <a:bodyPr wrap="square" anchor="t" lIns="45720" rIns="45720" tIns="27432" bIns="27432">
            <a:spAutoFit/>
          </a:bodyPr>
          <a:lstStyle/>
          <a:p>
            <a:pPr algn="ctr">
              <a:lnSpc>
                <a:spcPct val="105000"/>
              </a:lnSpc>
            </a:pPr>
            <a:r>
              <a:rPr sz="1700" b="1" i="0">
                <a:solidFill>
                  <a:srgbClr val="007A5A"/>
                </a:solidFill>
                <a:latin typeface="PT Sans"/>
              </a:rPr>
              <a:t>+30</a:t>
            </a:r>
          </a:p>
        </p:txBody>
      </p:sp>
      <p:sp>
        <p:nvSpPr>
          <p:cNvPr id="46" name="Freeform 45"/>
          <p:cNvSpPr/>
          <p:nvPr/>
        </p:nvSpPr>
        <p:spPr>
          <a:xfrm>
            <a:off x="4297680" y="2651760"/>
            <a:ext cx="2258568" cy="548640"/>
          </a:xfrm>
          <a:custGeom>
            <a:avLst/>
            <a:gdLst/>
            <a:ahLst/>
            <a:cxnLst/>
            <a:rect l="l" t="t" r="r" b="b"/>
            <a:pathLst>
              <a:path w="247" h="60">
                <a:moveTo>
                  <a:pt x="0" y="60"/>
                </a:moveTo>
                <a:lnTo>
                  <a:pt x="1" y="53"/>
                </a:lnTo>
                <a:lnTo>
                  <a:pt x="3" y="47"/>
                </a:lnTo>
                <a:lnTo>
                  <a:pt x="7" y="40"/>
                </a:lnTo>
                <a:lnTo>
                  <a:pt x="12" y="34"/>
                </a:lnTo>
                <a:lnTo>
                  <a:pt x="19" y="28"/>
                </a:lnTo>
                <a:lnTo>
                  <a:pt x="27" y="23"/>
                </a:lnTo>
                <a:lnTo>
                  <a:pt x="36" y="18"/>
                </a:lnTo>
                <a:lnTo>
                  <a:pt x="46" y="13"/>
                </a:lnTo>
                <a:lnTo>
                  <a:pt x="58" y="9"/>
                </a:lnTo>
                <a:lnTo>
                  <a:pt x="70" y="6"/>
                </a:lnTo>
                <a:lnTo>
                  <a:pt x="83" y="3"/>
                </a:lnTo>
                <a:lnTo>
                  <a:pt x="96" y="2"/>
                </a:lnTo>
                <a:lnTo>
                  <a:pt x="110" y="0"/>
                </a:lnTo>
                <a:lnTo>
                  <a:pt x="123" y="0"/>
                </a:lnTo>
                <a:lnTo>
                  <a:pt x="137" y="0"/>
                </a:lnTo>
                <a:lnTo>
                  <a:pt x="151" y="2"/>
                </a:lnTo>
                <a:lnTo>
                  <a:pt x="164" y="3"/>
                </a:lnTo>
                <a:lnTo>
                  <a:pt x="177" y="6"/>
                </a:lnTo>
                <a:lnTo>
                  <a:pt x="189" y="9"/>
                </a:lnTo>
                <a:lnTo>
                  <a:pt x="200" y="13"/>
                </a:lnTo>
                <a:lnTo>
                  <a:pt x="211" y="18"/>
                </a:lnTo>
                <a:lnTo>
                  <a:pt x="220" y="23"/>
                </a:lnTo>
                <a:lnTo>
                  <a:pt x="228" y="28"/>
                </a:lnTo>
                <a:lnTo>
                  <a:pt x="234" y="34"/>
                </a:lnTo>
                <a:lnTo>
                  <a:pt x="240" y="40"/>
                </a:lnTo>
                <a:lnTo>
                  <a:pt x="244" y="47"/>
                </a:lnTo>
                <a:lnTo>
                  <a:pt x="246" y="53"/>
                </a:lnTo>
                <a:lnTo>
                  <a:pt x="247" y="60"/>
                </a:lnTo>
              </a:path>
            </a:pathLst>
          </a:custGeom>
          <a:no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6473952" y="3044952"/>
            <a:ext cx="164592" cy="137160"/>
          </a:xfrm>
          <a:custGeom>
            <a:avLst/>
            <a:gdLst/>
            <a:ahLst/>
            <a:cxnLst/>
            <a:rect l="l" t="t" r="r" b="b"/>
            <a:pathLst>
              <a:path w="18" h="15">
                <a:moveTo>
                  <a:pt x="0" y="0"/>
                </a:moveTo>
                <a:lnTo>
                  <a:pt x="18" y="0"/>
                </a:lnTo>
                <a:lnTo>
                  <a:pt x="9" y="15"/>
                </a:lnTo>
                <a:close/>
              </a:path>
            </a:pathLst>
          </a:custGeom>
          <a:solidFill>
            <a:srgbClr val="A84400"/>
          </a:solidFill>
          <a:ln>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876800" y="2331720"/>
            <a:ext cx="1097280" cy="320040"/>
          </a:xfrm>
          <a:prstGeom prst="rect">
            <a:avLst/>
          </a:prstGeom>
          <a:noFill/>
        </p:spPr>
        <p:txBody>
          <a:bodyPr wrap="square" anchor="t" lIns="45720" rIns="45720" tIns="27432" bIns="27432">
            <a:spAutoFit/>
          </a:bodyPr>
          <a:lstStyle/>
          <a:p>
            <a:pPr algn="ctr">
              <a:lnSpc>
                <a:spcPct val="105000"/>
              </a:lnSpc>
            </a:pPr>
            <a:r>
              <a:rPr sz="1700" b="1" i="0">
                <a:solidFill>
                  <a:srgbClr val="A84400"/>
                </a:solidFill>
                <a:latin typeface="PT Sans"/>
              </a:rPr>
              <a:t>+40</a:t>
            </a:r>
          </a:p>
        </p:txBody>
      </p:sp>
      <p:sp>
        <p:nvSpPr>
          <p:cNvPr id="49" name="Freeform 48"/>
          <p:cNvSpPr/>
          <p:nvPr/>
        </p:nvSpPr>
        <p:spPr>
          <a:xfrm>
            <a:off x="6556248" y="2651760"/>
            <a:ext cx="2249424" cy="548640"/>
          </a:xfrm>
          <a:custGeom>
            <a:avLst/>
            <a:gdLst/>
            <a:ahLst/>
            <a:cxnLst/>
            <a:rect l="l" t="t" r="r" b="b"/>
            <a:pathLst>
              <a:path w="246" h="60">
                <a:moveTo>
                  <a:pt x="0" y="60"/>
                </a:moveTo>
                <a:lnTo>
                  <a:pt x="0" y="53"/>
                </a:lnTo>
                <a:lnTo>
                  <a:pt x="3" y="47"/>
                </a:lnTo>
                <a:lnTo>
                  <a:pt x="7" y="40"/>
                </a:lnTo>
                <a:lnTo>
                  <a:pt x="12" y="34"/>
                </a:lnTo>
                <a:lnTo>
                  <a:pt x="19" y="28"/>
                </a:lnTo>
                <a:lnTo>
                  <a:pt x="27" y="23"/>
                </a:lnTo>
                <a:lnTo>
                  <a:pt x="36" y="18"/>
                </a:lnTo>
                <a:lnTo>
                  <a:pt x="46" y="13"/>
                </a:lnTo>
                <a:lnTo>
                  <a:pt x="57" y="9"/>
                </a:lnTo>
                <a:lnTo>
                  <a:pt x="69" y="6"/>
                </a:lnTo>
                <a:lnTo>
                  <a:pt x="82" y="3"/>
                </a:lnTo>
                <a:lnTo>
                  <a:pt x="96" y="2"/>
                </a:lnTo>
                <a:lnTo>
                  <a:pt x="109" y="0"/>
                </a:lnTo>
                <a:lnTo>
                  <a:pt x="123" y="0"/>
                </a:lnTo>
                <a:lnTo>
                  <a:pt x="137" y="0"/>
                </a:lnTo>
                <a:lnTo>
                  <a:pt x="150" y="2"/>
                </a:lnTo>
                <a:lnTo>
                  <a:pt x="164" y="3"/>
                </a:lnTo>
                <a:lnTo>
                  <a:pt x="177" y="6"/>
                </a:lnTo>
                <a:lnTo>
                  <a:pt x="189" y="9"/>
                </a:lnTo>
                <a:lnTo>
                  <a:pt x="200" y="13"/>
                </a:lnTo>
                <a:lnTo>
                  <a:pt x="210" y="18"/>
                </a:lnTo>
                <a:lnTo>
                  <a:pt x="219" y="23"/>
                </a:lnTo>
                <a:lnTo>
                  <a:pt x="227" y="28"/>
                </a:lnTo>
                <a:lnTo>
                  <a:pt x="234" y="34"/>
                </a:lnTo>
                <a:lnTo>
                  <a:pt x="239" y="40"/>
                </a:lnTo>
                <a:lnTo>
                  <a:pt x="243" y="47"/>
                </a:lnTo>
                <a:lnTo>
                  <a:pt x="246" y="53"/>
                </a:lnTo>
                <a:lnTo>
                  <a:pt x="246" y="60"/>
                </a:lnTo>
              </a:path>
            </a:pathLst>
          </a:custGeom>
          <a:no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8723376" y="3044952"/>
            <a:ext cx="164592" cy="137160"/>
          </a:xfrm>
          <a:custGeom>
            <a:avLst/>
            <a:gdLst/>
            <a:ahLst/>
            <a:cxnLst/>
            <a:rect l="l" t="t" r="r" b="b"/>
            <a:pathLst>
              <a:path w="18" h="15">
                <a:moveTo>
                  <a:pt x="0" y="0"/>
                </a:moveTo>
                <a:lnTo>
                  <a:pt x="18" y="0"/>
                </a:lnTo>
                <a:lnTo>
                  <a:pt x="9" y="15"/>
                </a:lnTo>
                <a:close/>
              </a:path>
            </a:pathLst>
          </a:custGeom>
          <a:solidFill>
            <a:srgbClr val="A84400"/>
          </a:solidFill>
          <a:ln>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32320" y="2331720"/>
            <a:ext cx="1097280" cy="320040"/>
          </a:xfrm>
          <a:prstGeom prst="rect">
            <a:avLst/>
          </a:prstGeom>
          <a:noFill/>
        </p:spPr>
        <p:txBody>
          <a:bodyPr wrap="square" anchor="t" lIns="45720" rIns="45720" tIns="27432" bIns="27432">
            <a:spAutoFit/>
          </a:bodyPr>
          <a:lstStyle/>
          <a:p>
            <a:pPr algn="ctr">
              <a:lnSpc>
                <a:spcPct val="105000"/>
              </a:lnSpc>
            </a:pPr>
            <a:r>
              <a:rPr sz="1700" b="1" i="0">
                <a:solidFill>
                  <a:srgbClr val="A84400"/>
                </a:solidFill>
                <a:latin typeface="PT Sans"/>
              </a:rPr>
              <a:t>+40</a:t>
            </a:r>
          </a:p>
        </p:txBody>
      </p:sp>
      <p:sp>
        <p:nvSpPr>
          <p:cNvPr id="52" name="Freeform 51"/>
          <p:cNvSpPr/>
          <p:nvPr/>
        </p:nvSpPr>
        <p:spPr>
          <a:xfrm>
            <a:off x="8805672" y="2651760"/>
            <a:ext cx="2258568" cy="548640"/>
          </a:xfrm>
          <a:custGeom>
            <a:avLst/>
            <a:gdLst/>
            <a:ahLst/>
            <a:cxnLst/>
            <a:rect l="l" t="t" r="r" b="b"/>
            <a:pathLst>
              <a:path w="247" h="60">
                <a:moveTo>
                  <a:pt x="0" y="60"/>
                </a:moveTo>
                <a:lnTo>
                  <a:pt x="1" y="53"/>
                </a:lnTo>
                <a:lnTo>
                  <a:pt x="3" y="47"/>
                </a:lnTo>
                <a:lnTo>
                  <a:pt x="7" y="40"/>
                </a:lnTo>
                <a:lnTo>
                  <a:pt x="13" y="34"/>
                </a:lnTo>
                <a:lnTo>
                  <a:pt x="19" y="28"/>
                </a:lnTo>
                <a:lnTo>
                  <a:pt x="27" y="23"/>
                </a:lnTo>
                <a:lnTo>
                  <a:pt x="36" y="18"/>
                </a:lnTo>
                <a:lnTo>
                  <a:pt x="47" y="13"/>
                </a:lnTo>
                <a:lnTo>
                  <a:pt x="58" y="9"/>
                </a:lnTo>
                <a:lnTo>
                  <a:pt x="70" y="6"/>
                </a:lnTo>
                <a:lnTo>
                  <a:pt x="83" y="3"/>
                </a:lnTo>
                <a:lnTo>
                  <a:pt x="96" y="2"/>
                </a:lnTo>
                <a:lnTo>
                  <a:pt x="110" y="0"/>
                </a:lnTo>
                <a:lnTo>
                  <a:pt x="124" y="0"/>
                </a:lnTo>
                <a:lnTo>
                  <a:pt x="137" y="0"/>
                </a:lnTo>
                <a:lnTo>
                  <a:pt x="151" y="2"/>
                </a:lnTo>
                <a:lnTo>
                  <a:pt x="164" y="3"/>
                </a:lnTo>
                <a:lnTo>
                  <a:pt x="177" y="6"/>
                </a:lnTo>
                <a:lnTo>
                  <a:pt x="189" y="9"/>
                </a:lnTo>
                <a:lnTo>
                  <a:pt x="201" y="13"/>
                </a:lnTo>
                <a:lnTo>
                  <a:pt x="211" y="18"/>
                </a:lnTo>
                <a:lnTo>
                  <a:pt x="220" y="23"/>
                </a:lnTo>
                <a:lnTo>
                  <a:pt x="228" y="28"/>
                </a:lnTo>
                <a:lnTo>
                  <a:pt x="235" y="34"/>
                </a:lnTo>
                <a:lnTo>
                  <a:pt x="240" y="40"/>
                </a:lnTo>
                <a:lnTo>
                  <a:pt x="244" y="47"/>
                </a:lnTo>
                <a:lnTo>
                  <a:pt x="246" y="53"/>
                </a:lnTo>
                <a:lnTo>
                  <a:pt x="247" y="60"/>
                </a:lnTo>
              </a:path>
            </a:pathLst>
          </a:custGeom>
          <a:no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10981944" y="3044952"/>
            <a:ext cx="164592" cy="137160"/>
          </a:xfrm>
          <a:custGeom>
            <a:avLst/>
            <a:gdLst/>
            <a:ahLst/>
            <a:cxnLst/>
            <a:rect l="l" t="t" r="r" b="b"/>
            <a:pathLst>
              <a:path w="18" h="15">
                <a:moveTo>
                  <a:pt x="0" y="0"/>
                </a:moveTo>
                <a:lnTo>
                  <a:pt x="18" y="0"/>
                </a:lnTo>
                <a:lnTo>
                  <a:pt x="9" y="15"/>
                </a:lnTo>
                <a:close/>
              </a:path>
            </a:pathLst>
          </a:custGeom>
          <a:solidFill>
            <a:srgbClr val="A84400"/>
          </a:solidFill>
          <a:ln>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387840" y="2331720"/>
            <a:ext cx="1097280" cy="320040"/>
          </a:xfrm>
          <a:prstGeom prst="rect">
            <a:avLst/>
          </a:prstGeom>
          <a:noFill/>
        </p:spPr>
        <p:txBody>
          <a:bodyPr wrap="square" anchor="t" lIns="45720" rIns="45720" tIns="27432" bIns="27432">
            <a:spAutoFit/>
          </a:bodyPr>
          <a:lstStyle/>
          <a:p>
            <a:pPr algn="ctr">
              <a:lnSpc>
                <a:spcPct val="105000"/>
              </a:lnSpc>
            </a:pPr>
            <a:r>
              <a:rPr sz="1700" b="1" i="0">
                <a:solidFill>
                  <a:srgbClr val="A84400"/>
                </a:solidFill>
                <a:latin typeface="PT Sans"/>
              </a:rPr>
              <a:t>+40</a:t>
            </a:r>
          </a:p>
        </p:txBody>
      </p:sp>
      <p:sp>
        <p:nvSpPr>
          <p:cNvPr id="55" name="TextBox 54"/>
          <p:cNvSpPr txBox="1"/>
          <p:nvPr/>
        </p:nvSpPr>
        <p:spPr>
          <a:xfrm>
            <a:off x="548640" y="4983480"/>
            <a:ext cx="5486400" cy="365760"/>
          </a:xfrm>
          <a:prstGeom prst="rect">
            <a:avLst/>
          </a:prstGeom>
          <a:noFill/>
        </p:spPr>
        <p:txBody>
          <a:bodyPr wrap="square" anchor="t" lIns="45720" rIns="45720" tIns="27432" bIns="27432">
            <a:spAutoFit/>
          </a:bodyPr>
          <a:lstStyle/>
          <a:p>
            <a:pPr algn="l">
              <a:lnSpc>
                <a:spcPct val="105000"/>
              </a:lnSpc>
            </a:pPr>
            <a:r>
              <a:rPr sz="1600" b="1" i="0">
                <a:solidFill>
                  <a:srgbClr val="007A5A"/>
                </a:solidFill>
                <a:latin typeface="PT Sans"/>
              </a:rPr>
              <a:t>30 км/саат: 2 секирик</a:t>
            </a:r>
          </a:p>
        </p:txBody>
      </p:sp>
      <p:sp>
        <p:nvSpPr>
          <p:cNvPr id="56" name="TextBox 55"/>
          <p:cNvSpPr txBox="1"/>
          <p:nvPr/>
        </p:nvSpPr>
        <p:spPr>
          <a:xfrm>
            <a:off x="6309360" y="4983480"/>
            <a:ext cx="5303520" cy="365760"/>
          </a:xfrm>
          <a:prstGeom prst="rect">
            <a:avLst/>
          </a:prstGeom>
          <a:noFill/>
        </p:spPr>
        <p:txBody>
          <a:bodyPr wrap="square" anchor="t" lIns="45720" rIns="45720" tIns="27432" bIns="27432">
            <a:spAutoFit/>
          </a:bodyPr>
          <a:lstStyle/>
          <a:p>
            <a:pPr algn="r">
              <a:lnSpc>
                <a:spcPct val="105000"/>
              </a:lnSpc>
            </a:pPr>
            <a:r>
              <a:rPr sz="1600" b="1" i="0">
                <a:solidFill>
                  <a:srgbClr val="A84400"/>
                </a:solidFill>
                <a:latin typeface="PT Sans"/>
              </a:rPr>
              <a:t>40 км/саат: 3 секирик</a:t>
            </a:r>
          </a:p>
        </p:txBody>
      </p:sp>
      <p:sp>
        <p:nvSpPr>
          <p:cNvPr id="57" name="TextBox 56"/>
          <p:cNvSpPr txBox="1"/>
          <p:nvPr/>
        </p:nvSpPr>
        <p:spPr>
          <a:xfrm>
            <a:off x="429768" y="5623560"/>
            <a:ext cx="11329416" cy="457200"/>
          </a:xfrm>
          <a:prstGeom prst="rect">
            <a:avLst/>
          </a:prstGeom>
          <a:noFill/>
        </p:spPr>
        <p:txBody>
          <a:bodyPr wrap="square" anchor="t" lIns="45720" rIns="45720" tIns="27432" bIns="27432">
            <a:spAutoFit/>
          </a:bodyPr>
          <a:lstStyle/>
          <a:p>
            <a:pPr algn="ctr">
              <a:lnSpc>
                <a:spcPct val="105000"/>
              </a:lnSpc>
            </a:pPr>
            <a:r>
              <a:rPr sz="2200" b="1" i="0">
                <a:solidFill>
                  <a:srgbClr val="24418C"/>
                </a:solidFill>
                <a:latin typeface="PT Sans"/>
              </a:rPr>
              <a:t>30 · 2 = 60 км;    40 · 3 = 120 км;    2 + 3 = 5 саат;    саат 7 + 5 = саат 12</a:t>
            </a:r>
          </a:p>
        </p:txBody>
      </p:sp>
      <p:sp>
        <p:nvSpPr>
          <p:cNvPr id="58" name="Rounded Rectangle 57"/>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59" name="Rounded Rectangle 58"/>
          <p:cNvSpPr/>
          <p:nvPr/>
        </p:nvSpPr>
        <p:spPr>
          <a:xfrm>
            <a:off x="896111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С</a:t>
            </a:r>
          </a:p>
        </p:txBody>
      </p:sp>
      <p:sp>
        <p:nvSpPr>
          <p:cNvPr id="60" name="Rounded Rectangle 59"/>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
        <p:nvSpPr>
          <p:cNvPr id="61" name="Rounded Rectangle 60"/>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А: эреже</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Ылдамдык, убакыт жана аралык</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13/26</a:t>
            </a:r>
          </a:p>
        </p:txBody>
      </p:sp>
      <p:sp>
        <p:nvSpPr>
          <p:cNvPr id="10" name="Rounded Rectangle 9"/>
          <p:cNvSpPr/>
          <p:nvPr/>
        </p:nvSpPr>
        <p:spPr>
          <a:xfrm>
            <a:off x="429768"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23035"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1</a:t>
            </a:r>
          </a:p>
        </p:txBody>
      </p:sp>
      <p:sp>
        <p:nvSpPr>
          <p:cNvPr id="12" name="TextBox 11"/>
          <p:cNvSpPr txBox="1"/>
          <p:nvPr/>
        </p:nvSpPr>
        <p:spPr>
          <a:xfrm>
            <a:off x="521207"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s = v · t</a:t>
            </a:r>
          </a:p>
        </p:txBody>
      </p:sp>
      <p:sp>
        <p:nvSpPr>
          <p:cNvPr id="13" name="TextBox 12"/>
          <p:cNvSpPr txBox="1"/>
          <p:nvPr/>
        </p:nvSpPr>
        <p:spPr>
          <a:xfrm>
            <a:off x="521207"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Аралык</a:t>
            </a:r>
          </a:p>
        </p:txBody>
      </p:sp>
      <p:sp>
        <p:nvSpPr>
          <p:cNvPr id="14" name="TextBox 13"/>
          <p:cNvSpPr txBox="1"/>
          <p:nvPr/>
        </p:nvSpPr>
        <p:spPr>
          <a:xfrm>
            <a:off x="566928"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ылдамдык × убакыт</a:t>
            </a:r>
          </a:p>
        </p:txBody>
      </p:sp>
      <p:cxnSp>
        <p:nvCxnSpPr>
          <p:cNvPr id="15" name="Connector 14"/>
          <p:cNvCxnSpPr/>
          <p:nvPr/>
        </p:nvCxnSpPr>
        <p:spPr>
          <a:xfrm>
            <a:off x="3056382"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330702"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323969"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2</a:t>
            </a:r>
          </a:p>
        </p:txBody>
      </p:sp>
      <p:sp>
        <p:nvSpPr>
          <p:cNvPr id="18" name="TextBox 17"/>
          <p:cNvSpPr txBox="1"/>
          <p:nvPr/>
        </p:nvSpPr>
        <p:spPr>
          <a:xfrm>
            <a:off x="3422142"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v = s : t</a:t>
            </a:r>
          </a:p>
        </p:txBody>
      </p:sp>
      <p:sp>
        <p:nvSpPr>
          <p:cNvPr id="19" name="TextBox 18"/>
          <p:cNvSpPr txBox="1"/>
          <p:nvPr/>
        </p:nvSpPr>
        <p:spPr>
          <a:xfrm>
            <a:off x="3422142"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Ылдамдык</a:t>
            </a:r>
          </a:p>
        </p:txBody>
      </p:sp>
      <p:sp>
        <p:nvSpPr>
          <p:cNvPr id="20" name="TextBox 19"/>
          <p:cNvSpPr txBox="1"/>
          <p:nvPr/>
        </p:nvSpPr>
        <p:spPr>
          <a:xfrm>
            <a:off x="3467862"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аралык : убакыт</a:t>
            </a:r>
          </a:p>
        </p:txBody>
      </p:sp>
      <p:cxnSp>
        <p:nvCxnSpPr>
          <p:cNvPr id="21" name="Connector 20"/>
          <p:cNvCxnSpPr/>
          <p:nvPr/>
        </p:nvCxnSpPr>
        <p:spPr>
          <a:xfrm>
            <a:off x="5957316"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31636"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224902"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3</a:t>
            </a:r>
          </a:p>
        </p:txBody>
      </p:sp>
      <p:sp>
        <p:nvSpPr>
          <p:cNvPr id="24" name="TextBox 23"/>
          <p:cNvSpPr txBox="1"/>
          <p:nvPr/>
        </p:nvSpPr>
        <p:spPr>
          <a:xfrm>
            <a:off x="6323075"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t = s : v</a:t>
            </a:r>
          </a:p>
        </p:txBody>
      </p:sp>
      <p:sp>
        <p:nvSpPr>
          <p:cNvPr id="25" name="TextBox 24"/>
          <p:cNvSpPr txBox="1"/>
          <p:nvPr/>
        </p:nvSpPr>
        <p:spPr>
          <a:xfrm>
            <a:off x="6323075"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Убакыт</a:t>
            </a:r>
          </a:p>
        </p:txBody>
      </p:sp>
      <p:sp>
        <p:nvSpPr>
          <p:cNvPr id="26" name="TextBox 25"/>
          <p:cNvSpPr txBox="1"/>
          <p:nvPr/>
        </p:nvSpPr>
        <p:spPr>
          <a:xfrm>
            <a:off x="6368796"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аралык : ылдамдык</a:t>
            </a:r>
          </a:p>
        </p:txBody>
      </p:sp>
      <p:cxnSp>
        <p:nvCxnSpPr>
          <p:cNvPr id="27" name="Connector 26"/>
          <p:cNvCxnSpPr/>
          <p:nvPr/>
        </p:nvCxnSpPr>
        <p:spPr>
          <a:xfrm>
            <a:off x="8858250"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132570"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25837"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4</a:t>
            </a:r>
          </a:p>
        </p:txBody>
      </p:sp>
      <p:sp>
        <p:nvSpPr>
          <p:cNvPr id="30" name="TextBox 29"/>
          <p:cNvSpPr txBox="1"/>
          <p:nvPr/>
        </p:nvSpPr>
        <p:spPr>
          <a:xfrm>
            <a:off x="9224010"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60 мүн</a:t>
            </a:r>
          </a:p>
        </p:txBody>
      </p:sp>
      <p:sp>
        <p:nvSpPr>
          <p:cNvPr id="31" name="TextBox 30"/>
          <p:cNvSpPr txBox="1"/>
          <p:nvPr/>
        </p:nvSpPr>
        <p:spPr>
          <a:xfrm>
            <a:off x="9224010"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1 саат</a:t>
            </a:r>
          </a:p>
        </p:txBody>
      </p:sp>
      <p:sp>
        <p:nvSpPr>
          <p:cNvPr id="32" name="TextBox 31"/>
          <p:cNvSpPr txBox="1"/>
          <p:nvPr/>
        </p:nvSpPr>
        <p:spPr>
          <a:xfrm>
            <a:off x="9269730"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30 мүн = ½ саат, 15 мүн = ¼ саат</a:t>
            </a:r>
          </a:p>
        </p:txBody>
      </p:sp>
      <p:sp>
        <p:nvSpPr>
          <p:cNvPr id="33" name="Rounded Rectangle 32"/>
          <p:cNvSpPr/>
          <p:nvPr/>
        </p:nvSpPr>
        <p:spPr>
          <a:xfrm>
            <a:off x="1874519" y="4709160"/>
            <a:ext cx="8449056" cy="758952"/>
          </a:xfrm>
          <a:prstGeom prst="roundRect">
            <a:avLst>
              <a:gd name="adj" fmla="val 244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600" b="1">
                <a:solidFill>
                  <a:srgbClr val="A84400"/>
                </a:solidFill>
                <a:latin typeface="PT Sans"/>
              </a:rPr>
              <a:t>v = 120 : 3 = 40 км/саат.   Текшер: 40 · 3 = 120 ✓</a:t>
            </a:r>
          </a:p>
        </p:txBody>
      </p:sp>
      <p:sp>
        <p:nvSpPr>
          <p:cNvPr id="34" name="Rounded Rectangle 33"/>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5" name="Rounded Rectangle 34"/>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6" name="Rounded Rectangle 35"/>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Мисал 1: мен көрсөтөм</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Ылдамдык, убакыт жана аралык</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14/26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Поезд Бишкектен Токмокко чейинки 60 км жолду 30 км/саат ылдамдык менен жүрдү. Канча убакыт кетти?</a:t>
            </a:r>
          </a:p>
        </p:txBody>
      </p:sp>
      <p:sp>
        <p:nvSpPr>
          <p:cNvPr id="12" name="TextBox 11"/>
          <p:cNvSpPr txBox="1"/>
          <p:nvPr/>
        </p:nvSpPr>
        <p:spPr>
          <a:xfrm>
            <a:off x="731520" y="2240280"/>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t = s : v</a:t>
            </a:r>
          </a:p>
        </p:txBody>
      </p:sp>
      <p:sp>
        <p:nvSpPr>
          <p:cNvPr id="13" name="TextBox 12"/>
          <p:cNvSpPr txBox="1"/>
          <p:nvPr/>
        </p:nvSpPr>
        <p:spPr>
          <a:xfrm>
            <a:off x="731520" y="2898648"/>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 60 : 30</a:t>
            </a:r>
          </a:p>
        </p:txBody>
      </p:sp>
      <p:sp>
        <p:nvSpPr>
          <p:cNvPr id="14" name="TextBox 13"/>
          <p:cNvSpPr txBox="1"/>
          <p:nvPr/>
        </p:nvSpPr>
        <p:spPr>
          <a:xfrm>
            <a:off x="8366760" y="2898648"/>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км : км/саат</a:t>
            </a:r>
          </a:p>
        </p:txBody>
      </p:sp>
      <p:sp>
        <p:nvSpPr>
          <p:cNvPr id="15" name="TextBox 14"/>
          <p:cNvSpPr txBox="1"/>
          <p:nvPr/>
        </p:nvSpPr>
        <p:spPr>
          <a:xfrm>
            <a:off x="731520" y="3557016"/>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24418C"/>
                </a:solidFill>
                <a:latin typeface="PT Sans"/>
              </a:rPr>
              <a:t>= 2</a:t>
            </a:r>
          </a:p>
        </p:txBody>
      </p:sp>
      <p:sp>
        <p:nvSpPr>
          <p:cNvPr id="16" name="TextBox 15"/>
          <p:cNvSpPr txBox="1"/>
          <p:nvPr/>
        </p:nvSpPr>
        <p:spPr>
          <a:xfrm>
            <a:off x="8366760" y="3557016"/>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саат</a:t>
            </a:r>
          </a:p>
        </p:txBody>
      </p:sp>
      <p:sp>
        <p:nvSpPr>
          <p:cNvPr id="17" name="TextBox 16"/>
          <p:cNvSpPr txBox="1"/>
          <p:nvPr/>
        </p:nvSpPr>
        <p:spPr>
          <a:xfrm>
            <a:off x="429768" y="5596128"/>
            <a:ext cx="11329416" cy="640080"/>
          </a:xfrm>
          <a:prstGeom prst="rect">
            <a:avLst/>
          </a:prstGeom>
          <a:noFill/>
        </p:spPr>
        <p:txBody>
          <a:bodyPr wrap="square" anchor="t" lIns="45720" rIns="45720" tIns="27432" bIns="27432">
            <a:spAutoFit/>
          </a:bodyPr>
          <a:lstStyle/>
          <a:p>
            <a:pPr algn="ctr">
              <a:lnSpc>
                <a:spcPct val="105000"/>
              </a:lnSpc>
            </a:pPr>
            <a:r>
              <a:rPr sz="3400" b="1" i="0">
                <a:solidFill>
                  <a:srgbClr val="1F2430"/>
                </a:solidFill>
                <a:latin typeface="PT Sans"/>
              </a:rPr>
              <a:t>Убакыт = </a:t>
            </a:r>
            <a:r>
              <a:rPr sz="3400" b="1">
                <a:solidFill>
                  <a:srgbClr val="24418C"/>
                </a:solidFill>
                <a:latin typeface="PT Sans"/>
              </a:rPr>
              <a:t>2 саат</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Мисал 2: мен көрсөтөм</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Ылдамдык, убакыт жана аралык</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15/26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Асан ата машине менен 60 км/саат ылдамдык менен 1 саат 20 мүнөт жүрдү. Канча км жол басты?</a:t>
            </a:r>
          </a:p>
        </p:txBody>
      </p:sp>
      <p:sp>
        <p:nvSpPr>
          <p:cNvPr id="12" name="TextBox 11"/>
          <p:cNvSpPr txBox="1"/>
          <p:nvPr/>
        </p:nvSpPr>
        <p:spPr>
          <a:xfrm>
            <a:off x="731520" y="2240280"/>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1 саат 20 мүн = 1⅓ саат</a:t>
            </a:r>
          </a:p>
        </p:txBody>
      </p:sp>
      <p:sp>
        <p:nvSpPr>
          <p:cNvPr id="13" name="TextBox 12"/>
          <p:cNvSpPr txBox="1"/>
          <p:nvPr/>
        </p:nvSpPr>
        <p:spPr>
          <a:xfrm>
            <a:off x="8366760" y="2240280"/>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20 мүн = ⅓ саат</a:t>
            </a:r>
          </a:p>
        </p:txBody>
      </p:sp>
      <p:sp>
        <p:nvSpPr>
          <p:cNvPr id="14" name="TextBox 13"/>
          <p:cNvSpPr txBox="1"/>
          <p:nvPr/>
        </p:nvSpPr>
        <p:spPr>
          <a:xfrm>
            <a:off x="731520" y="2898648"/>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s = 60 · 1⅓</a:t>
            </a:r>
          </a:p>
        </p:txBody>
      </p:sp>
      <p:sp>
        <p:nvSpPr>
          <p:cNvPr id="15" name="TextBox 14"/>
          <p:cNvSpPr txBox="1"/>
          <p:nvPr/>
        </p:nvSpPr>
        <p:spPr>
          <a:xfrm>
            <a:off x="8366760" y="2898648"/>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s = v · t</a:t>
            </a:r>
          </a:p>
        </p:txBody>
      </p:sp>
      <p:sp>
        <p:nvSpPr>
          <p:cNvPr id="16" name="TextBox 15"/>
          <p:cNvSpPr txBox="1"/>
          <p:nvPr/>
        </p:nvSpPr>
        <p:spPr>
          <a:xfrm>
            <a:off x="731520" y="3557016"/>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24418C"/>
                </a:solidFill>
                <a:latin typeface="PT Sans"/>
              </a:rPr>
              <a:t>= 60 + 20 = 80</a:t>
            </a:r>
          </a:p>
        </p:txBody>
      </p:sp>
      <p:sp>
        <p:nvSpPr>
          <p:cNvPr id="17" name="TextBox 16"/>
          <p:cNvSpPr txBox="1"/>
          <p:nvPr/>
        </p:nvSpPr>
        <p:spPr>
          <a:xfrm>
            <a:off x="8366760" y="3557016"/>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км</a:t>
            </a:r>
          </a:p>
        </p:txBody>
      </p:sp>
      <p:sp>
        <p:nvSpPr>
          <p:cNvPr id="18" name="TextBox 17"/>
          <p:cNvSpPr txBox="1"/>
          <p:nvPr/>
        </p:nvSpPr>
        <p:spPr>
          <a:xfrm>
            <a:off x="429768" y="5596128"/>
            <a:ext cx="11329416" cy="640080"/>
          </a:xfrm>
          <a:prstGeom prst="rect">
            <a:avLst/>
          </a:prstGeom>
          <a:noFill/>
        </p:spPr>
        <p:txBody>
          <a:bodyPr wrap="square" anchor="t" lIns="45720" rIns="45720" tIns="27432" bIns="27432">
            <a:spAutoFit/>
          </a:bodyPr>
          <a:lstStyle/>
          <a:p>
            <a:pPr algn="ctr">
              <a:lnSpc>
                <a:spcPct val="105000"/>
              </a:lnSpc>
            </a:pPr>
            <a:r>
              <a:rPr sz="3400" b="1" i="0">
                <a:solidFill>
                  <a:srgbClr val="1F2430"/>
                </a:solidFill>
                <a:latin typeface="PT Sans"/>
              </a:rPr>
              <a:t>Аралык = </a:t>
            </a:r>
            <a:r>
              <a:rPr sz="3400" b="1">
                <a:solidFill>
                  <a:srgbClr val="24418C"/>
                </a:solidFill>
                <a:latin typeface="PT Sans"/>
              </a:rPr>
              <a:t>80 км</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Оозеки ыкма: үч жол</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Ылдамдык, убакыт жана аралык</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16/26</a:t>
            </a:r>
          </a:p>
        </p:txBody>
      </p:sp>
      <p:sp>
        <p:nvSpPr>
          <p:cNvPr id="10" name="Rounded Rectangle 9"/>
          <p:cNvSpPr/>
          <p:nvPr/>
        </p:nvSpPr>
        <p:spPr>
          <a:xfrm>
            <a:off x="429768"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12647"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2" name="TextBox 11"/>
          <p:cNvSpPr txBox="1"/>
          <p:nvPr/>
        </p:nvSpPr>
        <p:spPr>
          <a:xfrm>
            <a:off x="1207007"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Сааттын бөлүгү</a:t>
            </a:r>
          </a:p>
        </p:txBody>
      </p:sp>
      <p:sp>
        <p:nvSpPr>
          <p:cNvPr id="13" name="TextBox 12"/>
          <p:cNvSpPr txBox="1"/>
          <p:nvPr/>
        </p:nvSpPr>
        <p:spPr>
          <a:xfrm>
            <a:off x="658368" y="2194560"/>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60 км/саат · 20 мүн</a:t>
            </a:r>
          </a:p>
        </p:txBody>
      </p:sp>
      <p:sp>
        <p:nvSpPr>
          <p:cNvPr id="14" name="TextBox 13"/>
          <p:cNvSpPr txBox="1"/>
          <p:nvPr/>
        </p:nvSpPr>
        <p:spPr>
          <a:xfrm>
            <a:off x="658368" y="2761488"/>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 60 : 3</a:t>
            </a:r>
          </a:p>
        </p:txBody>
      </p:sp>
      <p:sp>
        <p:nvSpPr>
          <p:cNvPr id="15" name="TextBox 14"/>
          <p:cNvSpPr txBox="1"/>
          <p:nvPr/>
        </p:nvSpPr>
        <p:spPr>
          <a:xfrm>
            <a:off x="658368" y="3328415"/>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 20 км</a:t>
            </a:r>
          </a:p>
        </p:txBody>
      </p:sp>
      <p:sp>
        <p:nvSpPr>
          <p:cNvPr id="16" name="TextBox 15"/>
          <p:cNvSpPr txBox="1"/>
          <p:nvPr/>
        </p:nvSpPr>
        <p:spPr>
          <a:xfrm>
            <a:off x="658368"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20 мүн = ⅓ саат: саатта 60 км болсо, ⅓ саатта 20 км.</a:t>
            </a:r>
          </a:p>
        </p:txBody>
      </p:sp>
      <p:sp>
        <p:nvSpPr>
          <p:cNvPr id="17" name="Rounded Rectangle 16"/>
          <p:cNvSpPr/>
          <p:nvPr/>
        </p:nvSpPr>
        <p:spPr>
          <a:xfrm>
            <a:off x="4297680"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480560"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9" name="TextBox 18"/>
          <p:cNvSpPr txBox="1"/>
          <p:nvPr/>
        </p:nvSpPr>
        <p:spPr>
          <a:xfrm>
            <a:off x="5074920"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Жарымы жана чейреги</a:t>
            </a:r>
          </a:p>
        </p:txBody>
      </p:sp>
      <p:sp>
        <p:nvSpPr>
          <p:cNvPr id="20" name="TextBox 19"/>
          <p:cNvSpPr txBox="1"/>
          <p:nvPr/>
        </p:nvSpPr>
        <p:spPr>
          <a:xfrm>
            <a:off x="4526280" y="2194560"/>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40 км/саат · 1½ саат</a:t>
            </a:r>
          </a:p>
        </p:txBody>
      </p:sp>
      <p:sp>
        <p:nvSpPr>
          <p:cNvPr id="21" name="TextBox 20"/>
          <p:cNvSpPr txBox="1"/>
          <p:nvPr/>
        </p:nvSpPr>
        <p:spPr>
          <a:xfrm>
            <a:off x="4526280" y="2761488"/>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 40 + 20</a:t>
            </a:r>
          </a:p>
        </p:txBody>
      </p:sp>
      <p:sp>
        <p:nvSpPr>
          <p:cNvPr id="22" name="TextBox 21"/>
          <p:cNvSpPr txBox="1"/>
          <p:nvPr/>
        </p:nvSpPr>
        <p:spPr>
          <a:xfrm>
            <a:off x="4526280" y="3328415"/>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 60 км</a:t>
            </a:r>
          </a:p>
        </p:txBody>
      </p:sp>
      <p:sp>
        <p:nvSpPr>
          <p:cNvPr id="23" name="TextBox 22"/>
          <p:cNvSpPr txBox="1"/>
          <p:nvPr/>
        </p:nvSpPr>
        <p:spPr>
          <a:xfrm>
            <a:off x="4526280"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½ саат – жарымы, ¼ саат – чейреги.</a:t>
            </a:r>
          </a:p>
        </p:txBody>
      </p:sp>
      <p:sp>
        <p:nvSpPr>
          <p:cNvPr id="24" name="Rounded Rectangle 23"/>
          <p:cNvSpPr/>
          <p:nvPr/>
        </p:nvSpPr>
        <p:spPr>
          <a:xfrm>
            <a:off x="8165592"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348472"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26" name="TextBox 25"/>
          <p:cNvSpPr txBox="1"/>
          <p:nvPr/>
        </p:nvSpPr>
        <p:spPr>
          <a:xfrm>
            <a:off x="8942832"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Жакындашуу ылдамдыгы</a:t>
            </a:r>
          </a:p>
        </p:txBody>
      </p:sp>
      <p:sp>
        <p:nvSpPr>
          <p:cNvPr id="27" name="TextBox 26"/>
          <p:cNvSpPr txBox="1"/>
          <p:nvPr/>
        </p:nvSpPr>
        <p:spPr>
          <a:xfrm>
            <a:off x="8394192" y="2194560"/>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40 жана 50 км/саат</a:t>
            </a:r>
          </a:p>
        </p:txBody>
      </p:sp>
      <p:sp>
        <p:nvSpPr>
          <p:cNvPr id="28" name="TextBox 27"/>
          <p:cNvSpPr txBox="1"/>
          <p:nvPr/>
        </p:nvSpPr>
        <p:spPr>
          <a:xfrm>
            <a:off x="8394192" y="2761488"/>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 90 км ар саатта</a:t>
            </a:r>
          </a:p>
        </p:txBody>
      </p:sp>
      <p:sp>
        <p:nvSpPr>
          <p:cNvPr id="29" name="TextBox 28"/>
          <p:cNvSpPr txBox="1"/>
          <p:nvPr/>
        </p:nvSpPr>
        <p:spPr>
          <a:xfrm>
            <a:off x="8394192" y="3328415"/>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270 : 90 = 3 саат</a:t>
            </a:r>
          </a:p>
        </p:txBody>
      </p:sp>
      <p:sp>
        <p:nvSpPr>
          <p:cNvPr id="30" name="TextBox 29"/>
          <p:cNvSpPr txBox="1"/>
          <p:nvPr/>
        </p:nvSpPr>
        <p:spPr>
          <a:xfrm>
            <a:off x="8394192"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Каршы кыймылда – кошобуз, бир багытта – кемитебиз.</a:t>
            </a:r>
          </a:p>
        </p:txBody>
      </p:sp>
      <p:sp>
        <p:nvSpPr>
          <p:cNvPr id="31" name="Rounded Rectangle 30"/>
          <p:cNvSpPr/>
          <p:nvPr/>
        </p:nvSpPr>
        <p:spPr>
          <a:xfrm>
            <a:off x="429768" y="5577840"/>
            <a:ext cx="11329416" cy="502920"/>
          </a:xfrm>
          <a:prstGeom prst="roundRect">
            <a:avLst>
              <a:gd name="adj" fmla="val 40000"/>
            </a:avLst>
          </a:prstGeom>
          <a:solidFill>
            <a:srgbClr val="FFFFFF"/>
          </a:solidFill>
          <a:ln w="2222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700" b="1">
                <a:solidFill>
                  <a:srgbClr val="007A5A"/>
                </a:solidFill>
                <a:latin typeface="PT Sans"/>
              </a:rPr>
              <a:t>Түшүн → ыкма → эркин эсеп. Ыкмаңды үн чыгарып айт: «Мен ... деп ойлодум».</a:t>
            </a:r>
          </a:p>
        </p:txBody>
      </p:sp>
      <p:sp>
        <p:nvSpPr>
          <p:cNvPr id="32" name="Rounded Rectangle 31"/>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
        <p:nvSpPr>
          <p:cNvPr id="33" name="Rounded Rectangle 32"/>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4" name="Rounded Rectangle 33"/>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5" name="Rounded Rectangle 34"/>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Чечүүчү суроо</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Ылдамдык, убакыт жана аралык</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17/26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200" b="0" i="0">
                <a:solidFill>
                  <a:srgbClr val="1F2430"/>
                </a:solidFill>
                <a:latin typeface="PT Sans"/>
              </a:rPr>
              <a:t>Атасы машине менен 60 км/саат ылдамдык менен 1 саат 30 мүнөт жүрдү. Канча км жол басты?</a:t>
            </a:r>
          </a:p>
        </p:txBody>
      </p:sp>
      <p:sp>
        <p:nvSpPr>
          <p:cNvPr id="12" name="Rounded Rectangle 11"/>
          <p:cNvSpPr/>
          <p:nvPr/>
        </p:nvSpPr>
        <p:spPr>
          <a:xfrm>
            <a:off x="429768" y="228600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04088" y="274320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А</a:t>
            </a:r>
          </a:p>
        </p:txBody>
      </p:sp>
      <p:sp>
        <p:nvSpPr>
          <p:cNvPr id="14" name="TextBox 13"/>
          <p:cNvSpPr txBox="1"/>
          <p:nvPr/>
        </p:nvSpPr>
        <p:spPr>
          <a:xfrm>
            <a:off x="1527048" y="228600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78 км</a:t>
            </a:r>
          </a:p>
        </p:txBody>
      </p:sp>
      <p:sp>
        <p:nvSpPr>
          <p:cNvPr id="15" name="Rounded Rectangle 14"/>
          <p:cNvSpPr/>
          <p:nvPr/>
        </p:nvSpPr>
        <p:spPr>
          <a:xfrm>
            <a:off x="6208776" y="228600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83096" y="274320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Б</a:t>
            </a:r>
          </a:p>
        </p:txBody>
      </p:sp>
      <p:sp>
        <p:nvSpPr>
          <p:cNvPr id="17" name="TextBox 16"/>
          <p:cNvSpPr txBox="1"/>
          <p:nvPr/>
        </p:nvSpPr>
        <p:spPr>
          <a:xfrm>
            <a:off x="7306056" y="228600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90 км</a:t>
            </a:r>
          </a:p>
        </p:txBody>
      </p:sp>
      <p:sp>
        <p:nvSpPr>
          <p:cNvPr id="18" name="Rounded Rectangle 17"/>
          <p:cNvSpPr/>
          <p:nvPr/>
        </p:nvSpPr>
        <p:spPr>
          <a:xfrm>
            <a:off x="429768" y="402336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04088" y="448056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В</a:t>
            </a:r>
          </a:p>
        </p:txBody>
      </p:sp>
      <p:sp>
        <p:nvSpPr>
          <p:cNvPr id="20" name="TextBox 19"/>
          <p:cNvSpPr txBox="1"/>
          <p:nvPr/>
        </p:nvSpPr>
        <p:spPr>
          <a:xfrm>
            <a:off x="1527048" y="402336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5400 км</a:t>
            </a:r>
          </a:p>
        </p:txBody>
      </p:sp>
      <p:sp>
        <p:nvSpPr>
          <p:cNvPr id="21" name="Rounded Rectangle 20"/>
          <p:cNvSpPr/>
          <p:nvPr/>
        </p:nvSpPr>
        <p:spPr>
          <a:xfrm>
            <a:off x="6208776" y="402336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83096" y="448056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Г</a:t>
            </a:r>
          </a:p>
        </p:txBody>
      </p:sp>
      <p:sp>
        <p:nvSpPr>
          <p:cNvPr id="23" name="TextBox 22"/>
          <p:cNvSpPr txBox="1"/>
          <p:nvPr/>
        </p:nvSpPr>
        <p:spPr>
          <a:xfrm>
            <a:off x="7306056" y="402336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40 км</a:t>
            </a:r>
          </a:p>
        </p:txBody>
      </p:sp>
      <p:sp>
        <p:nvSpPr>
          <p:cNvPr id="24" name="Rounded Rectangle 23"/>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Тилке машыгуусу: чий, анан эсепте</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Ылдамдык, убакыт жана аралык</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18/26</a:t>
            </a:r>
          </a:p>
        </p:txBody>
      </p:sp>
      <p:sp>
        <p:nvSpPr>
          <p:cNvPr id="10" name="Rounded Rectangle 9"/>
          <p:cNvSpPr/>
          <p:nvPr/>
        </p:nvSpPr>
        <p:spPr>
          <a:xfrm>
            <a:off x="429768"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024128"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Автобус 45 км/саат ылдамдык менен 3 саат жүрдү. Канча км жол басты? Ар бир саат = бир бөлүк.</a:t>
            </a:r>
          </a:p>
        </p:txBody>
      </p:sp>
      <p:sp>
        <p:nvSpPr>
          <p:cNvPr id="13" name="TextBox 12"/>
          <p:cNvSpPr txBox="1"/>
          <p:nvPr/>
        </p:nvSpPr>
        <p:spPr>
          <a:xfrm>
            <a:off x="704088"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Тилкени бул жерге чий</a:t>
            </a:r>
          </a:p>
        </p:txBody>
      </p:sp>
      <p:sp>
        <p:nvSpPr>
          <p:cNvPr id="14" name="TextBox 13"/>
          <p:cNvSpPr txBox="1"/>
          <p:nvPr/>
        </p:nvSpPr>
        <p:spPr>
          <a:xfrm>
            <a:off x="612647"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15" name="Connector 14"/>
          <p:cNvCxnSpPr/>
          <p:nvPr/>
        </p:nvCxnSpPr>
        <p:spPr>
          <a:xfrm>
            <a:off x="2167128" y="4956048"/>
            <a:ext cx="170383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7"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17" name="Connector 16"/>
          <p:cNvCxnSpPr/>
          <p:nvPr/>
        </p:nvCxnSpPr>
        <p:spPr>
          <a:xfrm>
            <a:off x="1618488" y="5641848"/>
            <a:ext cx="225247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282439"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19600"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20" name="TextBox 19"/>
          <p:cNvSpPr txBox="1"/>
          <p:nvPr/>
        </p:nvSpPr>
        <p:spPr>
          <a:xfrm>
            <a:off x="4876800"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Поезд 2 саат 35 км/саат, анан 2 саат 45 км/саат ылдамдык менен жүрдү. Бардык жол канча км?</a:t>
            </a:r>
          </a:p>
        </p:txBody>
      </p:sp>
      <p:sp>
        <p:nvSpPr>
          <p:cNvPr id="21" name="TextBox 20"/>
          <p:cNvSpPr txBox="1"/>
          <p:nvPr/>
        </p:nvSpPr>
        <p:spPr>
          <a:xfrm>
            <a:off x="4556759"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Тилкени бул жерге чий</a:t>
            </a:r>
          </a:p>
        </p:txBody>
      </p:sp>
      <p:sp>
        <p:nvSpPr>
          <p:cNvPr id="22" name="TextBox 21"/>
          <p:cNvSpPr txBox="1"/>
          <p:nvPr/>
        </p:nvSpPr>
        <p:spPr>
          <a:xfrm>
            <a:off x="4465320"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23" name="Connector 22"/>
          <p:cNvCxnSpPr/>
          <p:nvPr/>
        </p:nvCxnSpPr>
        <p:spPr>
          <a:xfrm>
            <a:off x="6019800" y="4956048"/>
            <a:ext cx="1703831"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65320"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25" name="Connector 24"/>
          <p:cNvCxnSpPr/>
          <p:nvPr/>
        </p:nvCxnSpPr>
        <p:spPr>
          <a:xfrm>
            <a:off x="5471159" y="5641848"/>
            <a:ext cx="225247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135112"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72272"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8" name="TextBox 27"/>
          <p:cNvSpPr txBox="1"/>
          <p:nvPr/>
        </p:nvSpPr>
        <p:spPr>
          <a:xfrm>
            <a:off x="8729472"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Бишкектен жана Балыкчыдан бир убакта эки поезд чыкты: 40 жана 50 км/саат. Ара 180 км. Канча саатта жолугушат?</a:t>
            </a:r>
          </a:p>
        </p:txBody>
      </p:sp>
      <p:sp>
        <p:nvSpPr>
          <p:cNvPr id="29" name="TextBox 28"/>
          <p:cNvSpPr txBox="1"/>
          <p:nvPr/>
        </p:nvSpPr>
        <p:spPr>
          <a:xfrm>
            <a:off x="8409432"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Тилкени бул жерге чий</a:t>
            </a:r>
          </a:p>
        </p:txBody>
      </p:sp>
      <p:sp>
        <p:nvSpPr>
          <p:cNvPr id="30" name="TextBox 29"/>
          <p:cNvSpPr txBox="1"/>
          <p:nvPr/>
        </p:nvSpPr>
        <p:spPr>
          <a:xfrm>
            <a:off x="8317991"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31" name="Connector 30"/>
          <p:cNvCxnSpPr/>
          <p:nvPr/>
        </p:nvCxnSpPr>
        <p:spPr>
          <a:xfrm>
            <a:off x="9872471" y="4956048"/>
            <a:ext cx="1703833"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317991"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33" name="Connector 32"/>
          <p:cNvCxnSpPr/>
          <p:nvPr/>
        </p:nvCxnSpPr>
        <p:spPr>
          <a:xfrm>
            <a:off x="9323831" y="5641848"/>
            <a:ext cx="2252473"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5" name="Rounded Rectangle 34"/>
          <p:cNvSpPr/>
          <p:nvPr/>
        </p:nvSpPr>
        <p:spPr>
          <a:xfrm>
            <a:off x="896111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С</a:t>
            </a:r>
          </a:p>
        </p:txBody>
      </p:sp>
      <p:sp>
        <p:nvSpPr>
          <p:cNvPr id="36" name="Rounded Rectangle 35"/>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Тилке машыгуусу: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Ылдамдык, убакыт жана аралык</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19/26</a:t>
            </a:r>
          </a:p>
        </p:txBody>
      </p:sp>
      <p:sp>
        <p:nvSpPr>
          <p:cNvPr id="10" name="Rounded Rectangle 9"/>
          <p:cNvSpPr/>
          <p:nvPr/>
        </p:nvSpPr>
        <p:spPr>
          <a:xfrm>
            <a:off x="429768"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024128"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Автобус 45 км/саат ылдамдык менен 3 саат жүрдү. Канча км жол басты? Ар бир саат = бир бөлүк.</a:t>
            </a:r>
          </a:p>
        </p:txBody>
      </p:sp>
      <p:sp>
        <p:nvSpPr>
          <p:cNvPr id="13" name="Rectangle 12"/>
          <p:cNvSpPr/>
          <p:nvPr/>
        </p:nvSpPr>
        <p:spPr>
          <a:xfrm>
            <a:off x="566928" y="3017520"/>
            <a:ext cx="781304"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45</a:t>
            </a:r>
          </a:p>
        </p:txBody>
      </p:sp>
      <p:sp>
        <p:nvSpPr>
          <p:cNvPr id="14" name="Rectangle 13"/>
          <p:cNvSpPr/>
          <p:nvPr/>
        </p:nvSpPr>
        <p:spPr>
          <a:xfrm>
            <a:off x="1348232" y="3017520"/>
            <a:ext cx="781304"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45</a:t>
            </a:r>
          </a:p>
        </p:txBody>
      </p:sp>
      <p:sp>
        <p:nvSpPr>
          <p:cNvPr id="15" name="Rectangle 14"/>
          <p:cNvSpPr/>
          <p:nvPr/>
        </p:nvSpPr>
        <p:spPr>
          <a:xfrm>
            <a:off x="2129536" y="3017520"/>
            <a:ext cx="781304"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45</a:t>
            </a:r>
          </a:p>
        </p:txBody>
      </p:sp>
      <p:cxnSp>
        <p:nvCxnSpPr>
          <p:cNvPr id="16" name="Connector 15"/>
          <p:cNvCxnSpPr/>
          <p:nvPr/>
        </p:nvCxnSpPr>
        <p:spPr>
          <a:xfrm>
            <a:off x="3002280" y="301752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139440" y="3017520"/>
            <a:ext cx="0" cy="384048"/>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002280" y="3401568"/>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185160" y="2935224"/>
            <a:ext cx="1005840" cy="548640"/>
          </a:xfrm>
          <a:prstGeom prst="rect">
            <a:avLst/>
          </a:prstGeom>
          <a:noFill/>
        </p:spPr>
        <p:txBody>
          <a:bodyPr wrap="square" anchor="ctr" lIns="45720" rIns="45720" tIns="27432" bIns="27432">
            <a:spAutoFit/>
          </a:bodyPr>
          <a:lstStyle/>
          <a:p>
            <a:pPr algn="l">
              <a:lnSpc>
                <a:spcPct val="105000"/>
              </a:lnSpc>
            </a:pPr>
            <a:r>
              <a:rPr sz="1500" b="1" i="0">
                <a:solidFill>
                  <a:srgbClr val="A84400"/>
                </a:solidFill>
                <a:latin typeface="PT Sans"/>
              </a:rPr>
              <a:t>135 км</a:t>
            </a:r>
          </a:p>
        </p:txBody>
      </p:sp>
      <p:sp>
        <p:nvSpPr>
          <p:cNvPr id="20" name="TextBox 19"/>
          <p:cNvSpPr txBox="1"/>
          <p:nvPr/>
        </p:nvSpPr>
        <p:spPr>
          <a:xfrm>
            <a:off x="612647"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135 км</a:t>
            </a:r>
          </a:p>
        </p:txBody>
      </p:sp>
      <p:sp>
        <p:nvSpPr>
          <p:cNvPr id="21" name="Rounded Rectangle 20"/>
          <p:cNvSpPr/>
          <p:nvPr/>
        </p:nvSpPr>
        <p:spPr>
          <a:xfrm>
            <a:off x="4282439"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419600"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23" name="TextBox 22"/>
          <p:cNvSpPr txBox="1"/>
          <p:nvPr/>
        </p:nvSpPr>
        <p:spPr>
          <a:xfrm>
            <a:off x="4876800"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Поезд 2 саат 35 км/саат, анан 2 саат 45 км/саат ылдамдык менен жүрдү. Бардык жол канча км?</a:t>
            </a:r>
          </a:p>
        </p:txBody>
      </p:sp>
      <p:sp>
        <p:nvSpPr>
          <p:cNvPr id="24" name="Rectangle 23"/>
          <p:cNvSpPr/>
          <p:nvPr/>
        </p:nvSpPr>
        <p:spPr>
          <a:xfrm>
            <a:off x="4419600" y="3017520"/>
            <a:ext cx="512730"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35</a:t>
            </a:r>
          </a:p>
        </p:txBody>
      </p:sp>
      <p:sp>
        <p:nvSpPr>
          <p:cNvPr id="25" name="Rectangle 24"/>
          <p:cNvSpPr/>
          <p:nvPr/>
        </p:nvSpPr>
        <p:spPr>
          <a:xfrm>
            <a:off x="4932330" y="3017520"/>
            <a:ext cx="512730"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35</a:t>
            </a:r>
          </a:p>
        </p:txBody>
      </p:sp>
      <p:sp>
        <p:nvSpPr>
          <p:cNvPr id="26" name="Rectangle 25"/>
          <p:cNvSpPr/>
          <p:nvPr/>
        </p:nvSpPr>
        <p:spPr>
          <a:xfrm>
            <a:off x="5445061" y="3017520"/>
            <a:ext cx="659225" cy="384048"/>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45</a:t>
            </a:r>
          </a:p>
        </p:txBody>
      </p:sp>
      <p:sp>
        <p:nvSpPr>
          <p:cNvPr id="27" name="Rectangle 26"/>
          <p:cNvSpPr/>
          <p:nvPr/>
        </p:nvSpPr>
        <p:spPr>
          <a:xfrm>
            <a:off x="6104286" y="3017520"/>
            <a:ext cx="659225" cy="384048"/>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45</a:t>
            </a:r>
          </a:p>
        </p:txBody>
      </p:sp>
      <p:cxnSp>
        <p:nvCxnSpPr>
          <p:cNvPr id="28" name="Connector 27"/>
          <p:cNvCxnSpPr/>
          <p:nvPr/>
        </p:nvCxnSpPr>
        <p:spPr>
          <a:xfrm>
            <a:off x="6854951" y="3017520"/>
            <a:ext cx="137161"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992112" y="3017520"/>
            <a:ext cx="0" cy="384048"/>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854951" y="3401568"/>
            <a:ext cx="137161"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037832" y="2935224"/>
            <a:ext cx="1005840" cy="548640"/>
          </a:xfrm>
          <a:prstGeom prst="rect">
            <a:avLst/>
          </a:prstGeom>
          <a:noFill/>
        </p:spPr>
        <p:txBody>
          <a:bodyPr wrap="square" anchor="ctr" lIns="45720" rIns="45720" tIns="27432" bIns="27432">
            <a:spAutoFit/>
          </a:bodyPr>
          <a:lstStyle/>
          <a:p>
            <a:pPr algn="l">
              <a:lnSpc>
                <a:spcPct val="105000"/>
              </a:lnSpc>
            </a:pPr>
            <a:r>
              <a:rPr sz="1500" b="1" i="0">
                <a:solidFill>
                  <a:srgbClr val="A84400"/>
                </a:solidFill>
                <a:latin typeface="PT Sans"/>
              </a:rPr>
              <a:t>160 км</a:t>
            </a:r>
          </a:p>
        </p:txBody>
      </p:sp>
      <p:sp>
        <p:nvSpPr>
          <p:cNvPr id="32" name="TextBox 31"/>
          <p:cNvSpPr txBox="1"/>
          <p:nvPr/>
        </p:nvSpPr>
        <p:spPr>
          <a:xfrm>
            <a:off x="4465320"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160 км</a:t>
            </a:r>
          </a:p>
        </p:txBody>
      </p:sp>
      <p:sp>
        <p:nvSpPr>
          <p:cNvPr id="33" name="Rounded Rectangle 32"/>
          <p:cNvSpPr/>
          <p:nvPr/>
        </p:nvSpPr>
        <p:spPr>
          <a:xfrm>
            <a:off x="8135112"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272272"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35" name="TextBox 34"/>
          <p:cNvSpPr txBox="1"/>
          <p:nvPr/>
        </p:nvSpPr>
        <p:spPr>
          <a:xfrm>
            <a:off x="8729472"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Бишкектен жана Балыкчыдан бир убакта эки поезд чыкты: 40 жана 50 км/саат. Ара 180 км. Канча саатта жолугушат?</a:t>
            </a:r>
          </a:p>
        </p:txBody>
      </p:sp>
      <p:sp>
        <p:nvSpPr>
          <p:cNvPr id="36" name="Rectangle 35"/>
          <p:cNvSpPr/>
          <p:nvPr/>
        </p:nvSpPr>
        <p:spPr>
          <a:xfrm>
            <a:off x="8272272" y="3017520"/>
            <a:ext cx="520869"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40</a:t>
            </a:r>
          </a:p>
        </p:txBody>
      </p:sp>
      <p:sp>
        <p:nvSpPr>
          <p:cNvPr id="37" name="Rectangle 36"/>
          <p:cNvSpPr/>
          <p:nvPr/>
        </p:nvSpPr>
        <p:spPr>
          <a:xfrm>
            <a:off x="8793141" y="3017520"/>
            <a:ext cx="520869"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40</a:t>
            </a:r>
          </a:p>
        </p:txBody>
      </p:sp>
      <p:sp>
        <p:nvSpPr>
          <p:cNvPr id="38" name="Rectangle 37"/>
          <p:cNvSpPr/>
          <p:nvPr/>
        </p:nvSpPr>
        <p:spPr>
          <a:xfrm>
            <a:off x="9314010" y="3017520"/>
            <a:ext cx="651086" cy="384048"/>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50</a:t>
            </a:r>
          </a:p>
        </p:txBody>
      </p:sp>
      <p:sp>
        <p:nvSpPr>
          <p:cNvPr id="39" name="Rectangle 38"/>
          <p:cNvSpPr/>
          <p:nvPr/>
        </p:nvSpPr>
        <p:spPr>
          <a:xfrm>
            <a:off x="9965097" y="3017520"/>
            <a:ext cx="651086" cy="384048"/>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50</a:t>
            </a:r>
          </a:p>
        </p:txBody>
      </p:sp>
      <p:cxnSp>
        <p:nvCxnSpPr>
          <p:cNvPr id="40" name="Connector 39"/>
          <p:cNvCxnSpPr/>
          <p:nvPr/>
        </p:nvCxnSpPr>
        <p:spPr>
          <a:xfrm>
            <a:off x="10707624" y="301752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844784" y="3017520"/>
            <a:ext cx="0" cy="384048"/>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707624" y="3401568"/>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890503" y="2935224"/>
            <a:ext cx="1005840" cy="548640"/>
          </a:xfrm>
          <a:prstGeom prst="rect">
            <a:avLst/>
          </a:prstGeom>
          <a:noFill/>
        </p:spPr>
        <p:txBody>
          <a:bodyPr wrap="square" anchor="ctr" lIns="45720" rIns="45720" tIns="27432" bIns="27432">
            <a:spAutoFit/>
          </a:bodyPr>
          <a:lstStyle/>
          <a:p>
            <a:pPr algn="l">
              <a:lnSpc>
                <a:spcPct val="105000"/>
              </a:lnSpc>
            </a:pPr>
            <a:r>
              <a:rPr sz="1500" b="1" i="0">
                <a:solidFill>
                  <a:srgbClr val="A84400"/>
                </a:solidFill>
                <a:latin typeface="PT Sans"/>
              </a:rPr>
              <a:t>180 км</a:t>
            </a:r>
          </a:p>
        </p:txBody>
      </p:sp>
      <p:sp>
        <p:nvSpPr>
          <p:cNvPr id="44" name="TextBox 43"/>
          <p:cNvSpPr txBox="1"/>
          <p:nvPr/>
        </p:nvSpPr>
        <p:spPr>
          <a:xfrm>
            <a:off x="8317991"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2 саат</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Өз алдынча иш</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Ылдамдык, убакыт жана аралык</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20/26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Дептериңе чыгар. Кыйын болсо – жакшы! Мээң өсүп жатат.</a:t>
            </a:r>
          </a:p>
        </p:txBody>
      </p:sp>
      <p:sp>
        <p:nvSpPr>
          <p:cNvPr id="11" name="Rounded Rectangle 10"/>
          <p:cNvSpPr/>
          <p:nvPr/>
        </p:nvSpPr>
        <p:spPr>
          <a:xfrm>
            <a:off x="429768" y="169164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50 км/саат · 4 саат</a:t>
            </a:r>
          </a:p>
        </p:txBody>
      </p:sp>
      <p:sp>
        <p:nvSpPr>
          <p:cNvPr id="14" name="Rounded Rectangle 13"/>
          <p:cNvSpPr/>
          <p:nvPr/>
        </p:nvSpPr>
        <p:spPr>
          <a:xfrm>
            <a:off x="6208776" y="169164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91656"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6986016" y="169164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360 км : 6 саат</a:t>
            </a:r>
          </a:p>
        </p:txBody>
      </p:sp>
      <p:sp>
        <p:nvSpPr>
          <p:cNvPr id="17" name="Rounded Rectangle 16"/>
          <p:cNvSpPr/>
          <p:nvPr/>
        </p:nvSpPr>
        <p:spPr>
          <a:xfrm>
            <a:off x="429768" y="323088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323088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490 м : 70 м/мин</a:t>
            </a:r>
          </a:p>
        </p:txBody>
      </p:sp>
      <p:sp>
        <p:nvSpPr>
          <p:cNvPr id="20" name="Rounded Rectangle 19"/>
          <p:cNvSpPr/>
          <p:nvPr/>
        </p:nvSpPr>
        <p:spPr>
          <a:xfrm>
            <a:off x="6208776" y="323088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91656"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2" name="TextBox 21"/>
          <p:cNvSpPr txBox="1"/>
          <p:nvPr/>
        </p:nvSpPr>
        <p:spPr>
          <a:xfrm>
            <a:off x="6986016" y="323088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1 саат 45 мүн = ? мүн</a:t>
            </a:r>
          </a:p>
        </p:txBody>
      </p:sp>
      <p:sp>
        <p:nvSpPr>
          <p:cNvPr id="23" name="Rounded Rectangle 22"/>
          <p:cNvSpPr/>
          <p:nvPr/>
        </p:nvSpPr>
        <p:spPr>
          <a:xfrm>
            <a:off x="429768" y="477012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12647"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5</a:t>
            </a:r>
          </a:p>
        </p:txBody>
      </p:sp>
      <p:sp>
        <p:nvSpPr>
          <p:cNvPr id="25" name="TextBox 24"/>
          <p:cNvSpPr txBox="1"/>
          <p:nvPr/>
        </p:nvSpPr>
        <p:spPr>
          <a:xfrm>
            <a:off x="1207007" y="477012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Машине 80 км/саат ылдамдык менен 45 мүнөт жүрдү. Канча км?</a:t>
            </a:r>
          </a:p>
        </p:txBody>
      </p:sp>
      <p:sp>
        <p:nvSpPr>
          <p:cNvPr id="26" name="Rounded Rectangle 25"/>
          <p:cNvSpPr/>
          <p:nvPr/>
        </p:nvSpPr>
        <p:spPr>
          <a:xfrm>
            <a:off x="6208776" y="477012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91656"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6</a:t>
            </a:r>
          </a:p>
        </p:txBody>
      </p:sp>
      <p:sp>
        <p:nvSpPr>
          <p:cNvPr id="28" name="TextBox 27"/>
          <p:cNvSpPr txBox="1"/>
          <p:nvPr/>
        </p:nvSpPr>
        <p:spPr>
          <a:xfrm>
            <a:off x="6986016" y="477012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Каршы: 35 жана 45 км/саат, ара 240 км. Канча саатта жолугушат?</a:t>
            </a:r>
          </a:p>
        </p:txBody>
      </p:sp>
      <p:sp>
        <p:nvSpPr>
          <p:cNvPr id="29" name="Rounded Rectangle 28"/>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0" name="Rounded Rectangle 29"/>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1" name="Rounded Rectangle 30"/>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Өз алдынча иш: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Ылдамдык, убакыт жана аралык</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21/26</a:t>
            </a:r>
          </a:p>
        </p:txBody>
      </p:sp>
      <p:sp>
        <p:nvSpPr>
          <p:cNvPr id="10" name="Rounded Rectangle 9"/>
          <p:cNvSpPr/>
          <p:nvPr/>
        </p:nvSpPr>
        <p:spPr>
          <a:xfrm>
            <a:off x="429768"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115568"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50 км/саат · 4 саат</a:t>
            </a:r>
          </a:p>
        </p:txBody>
      </p:sp>
      <p:sp>
        <p:nvSpPr>
          <p:cNvPr id="13" name="TextBox 12"/>
          <p:cNvSpPr txBox="1"/>
          <p:nvPr/>
        </p:nvSpPr>
        <p:spPr>
          <a:xfrm>
            <a:off x="4334804"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200 км</a:t>
            </a:r>
          </a:p>
        </p:txBody>
      </p:sp>
      <p:sp>
        <p:nvSpPr>
          <p:cNvPr id="14" name="Rounded Rectangle 13"/>
          <p:cNvSpPr/>
          <p:nvPr/>
        </p:nvSpPr>
        <p:spPr>
          <a:xfrm>
            <a:off x="6208776"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45936"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6" name="TextBox 15"/>
          <p:cNvSpPr txBox="1"/>
          <p:nvPr/>
        </p:nvSpPr>
        <p:spPr>
          <a:xfrm>
            <a:off x="6894576"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360 км : 6 саат</a:t>
            </a:r>
          </a:p>
        </p:txBody>
      </p:sp>
      <p:sp>
        <p:nvSpPr>
          <p:cNvPr id="17" name="TextBox 16"/>
          <p:cNvSpPr txBox="1"/>
          <p:nvPr/>
        </p:nvSpPr>
        <p:spPr>
          <a:xfrm>
            <a:off x="10113812"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60 км/саат</a:t>
            </a:r>
          </a:p>
        </p:txBody>
      </p:sp>
      <p:sp>
        <p:nvSpPr>
          <p:cNvPr id="18" name="Rounded Rectangle 17"/>
          <p:cNvSpPr/>
          <p:nvPr/>
        </p:nvSpPr>
        <p:spPr>
          <a:xfrm>
            <a:off x="429768"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6928"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0" name="TextBox 19"/>
          <p:cNvSpPr txBox="1"/>
          <p:nvPr/>
        </p:nvSpPr>
        <p:spPr>
          <a:xfrm>
            <a:off x="1115568"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490 м : 70 м/мин</a:t>
            </a:r>
          </a:p>
        </p:txBody>
      </p:sp>
      <p:sp>
        <p:nvSpPr>
          <p:cNvPr id="21" name="TextBox 20"/>
          <p:cNvSpPr txBox="1"/>
          <p:nvPr/>
        </p:nvSpPr>
        <p:spPr>
          <a:xfrm>
            <a:off x="4334804"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7 мүн</a:t>
            </a:r>
          </a:p>
        </p:txBody>
      </p:sp>
      <p:sp>
        <p:nvSpPr>
          <p:cNvPr id="22" name="Rounded Rectangle 21"/>
          <p:cNvSpPr/>
          <p:nvPr/>
        </p:nvSpPr>
        <p:spPr>
          <a:xfrm>
            <a:off x="6208776"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45936"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24" name="TextBox 23"/>
          <p:cNvSpPr txBox="1"/>
          <p:nvPr/>
        </p:nvSpPr>
        <p:spPr>
          <a:xfrm>
            <a:off x="6894576"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1 саат 45 мүн = ? мүн</a:t>
            </a:r>
          </a:p>
        </p:txBody>
      </p:sp>
      <p:sp>
        <p:nvSpPr>
          <p:cNvPr id="25" name="TextBox 24"/>
          <p:cNvSpPr txBox="1"/>
          <p:nvPr/>
        </p:nvSpPr>
        <p:spPr>
          <a:xfrm>
            <a:off x="10113812"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105 мүн</a:t>
            </a:r>
          </a:p>
        </p:txBody>
      </p:sp>
      <p:sp>
        <p:nvSpPr>
          <p:cNvPr id="26" name="Rounded Rectangle 25"/>
          <p:cNvSpPr/>
          <p:nvPr/>
        </p:nvSpPr>
        <p:spPr>
          <a:xfrm>
            <a:off x="429768" y="3374136"/>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66928" y="3630168"/>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5</a:t>
            </a:r>
          </a:p>
        </p:txBody>
      </p:sp>
      <p:sp>
        <p:nvSpPr>
          <p:cNvPr id="28" name="TextBox 27"/>
          <p:cNvSpPr txBox="1"/>
          <p:nvPr/>
        </p:nvSpPr>
        <p:spPr>
          <a:xfrm>
            <a:off x="1115568" y="3374136"/>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Машине 80 км/саат ылдамдык менен 45 мүнөт жүрдү. Канча км?</a:t>
            </a:r>
          </a:p>
        </p:txBody>
      </p:sp>
      <p:sp>
        <p:nvSpPr>
          <p:cNvPr id="29" name="TextBox 28"/>
          <p:cNvSpPr txBox="1"/>
          <p:nvPr/>
        </p:nvSpPr>
        <p:spPr>
          <a:xfrm>
            <a:off x="4334804" y="3374136"/>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60 км</a:t>
            </a:r>
          </a:p>
        </p:txBody>
      </p:sp>
      <p:sp>
        <p:nvSpPr>
          <p:cNvPr id="30" name="Rounded Rectangle 29"/>
          <p:cNvSpPr/>
          <p:nvPr/>
        </p:nvSpPr>
        <p:spPr>
          <a:xfrm>
            <a:off x="6208776" y="3374136"/>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345936" y="3630168"/>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6</a:t>
            </a:r>
          </a:p>
        </p:txBody>
      </p:sp>
      <p:sp>
        <p:nvSpPr>
          <p:cNvPr id="32" name="TextBox 31"/>
          <p:cNvSpPr txBox="1"/>
          <p:nvPr/>
        </p:nvSpPr>
        <p:spPr>
          <a:xfrm>
            <a:off x="6894576" y="3374136"/>
            <a:ext cx="3219236" cy="914400"/>
          </a:xfrm>
          <a:prstGeom prst="rect">
            <a:avLst/>
          </a:prstGeom>
          <a:noFill/>
        </p:spPr>
        <p:txBody>
          <a:bodyPr wrap="square" anchor="ctr" lIns="45720" rIns="45720" tIns="27432" bIns="27432">
            <a:spAutoFit/>
          </a:bodyPr>
          <a:lstStyle/>
          <a:p>
            <a:pPr algn="l">
              <a:lnSpc>
                <a:spcPct val="105000"/>
              </a:lnSpc>
            </a:pPr>
            <a:r>
              <a:rPr sz="1400" b="0" i="0">
                <a:solidFill>
                  <a:srgbClr val="1F2430"/>
                </a:solidFill>
                <a:latin typeface="PT Sans"/>
              </a:rPr>
              <a:t>Каршы: 35 жана 45 км/саат, ара 240 км. Канча саатта жолугушат?</a:t>
            </a:r>
          </a:p>
        </p:txBody>
      </p:sp>
      <p:sp>
        <p:nvSpPr>
          <p:cNvPr id="33" name="TextBox 32"/>
          <p:cNvSpPr txBox="1"/>
          <p:nvPr/>
        </p:nvSpPr>
        <p:spPr>
          <a:xfrm>
            <a:off x="10113812" y="3374136"/>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3 саат</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Окуяга кайтабыз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Ылдамдык, убакыт жана аралык</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22/26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Бишкек – Токмок 60 км, 30 км/саат; Токмок – Балыкчы 120 км, 40 км/саат. Поезд саат 7де чыкты. Бүт жолго канча убакыт кетет? Саат канчада жетет?</a:t>
            </a:r>
          </a:p>
        </p:txBody>
      </p:sp>
      <p:sp>
        <p:nvSpPr>
          <p:cNvPr id="12" name="TextBox 11"/>
          <p:cNvSpPr txBox="1"/>
          <p:nvPr/>
        </p:nvSpPr>
        <p:spPr>
          <a:xfrm>
            <a:off x="914400" y="2240280"/>
            <a:ext cx="1371600" cy="548640"/>
          </a:xfrm>
          <a:prstGeom prst="rect">
            <a:avLst/>
          </a:prstGeom>
          <a:noFill/>
        </p:spPr>
        <p:txBody>
          <a:bodyPr wrap="square" anchor="ctr" lIns="45720" rIns="45720" tIns="27432" bIns="27432">
            <a:spAutoFit/>
          </a:bodyPr>
          <a:lstStyle/>
          <a:p>
            <a:pPr algn="r">
              <a:lnSpc>
                <a:spcPct val="105000"/>
              </a:lnSpc>
            </a:pPr>
            <a:r>
              <a:rPr sz="1800" b="1" i="0">
                <a:solidFill>
                  <a:srgbClr val="1F2430"/>
                </a:solidFill>
                <a:latin typeface="PT Sans"/>
              </a:rPr>
              <a:t>Жол</a:t>
            </a:r>
          </a:p>
        </p:txBody>
      </p:sp>
      <p:sp>
        <p:nvSpPr>
          <p:cNvPr id="13" name="Rectangle 12"/>
          <p:cNvSpPr/>
          <p:nvPr/>
        </p:nvSpPr>
        <p:spPr>
          <a:xfrm>
            <a:off x="2377440" y="2240280"/>
            <a:ext cx="1264919" cy="54864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F2430"/>
                </a:solidFill>
                <a:latin typeface="PT Sans"/>
              </a:rPr>
              <a:t>30 км</a:t>
            </a:r>
          </a:p>
        </p:txBody>
      </p:sp>
      <p:sp>
        <p:nvSpPr>
          <p:cNvPr id="14" name="Rectangle 13"/>
          <p:cNvSpPr/>
          <p:nvPr/>
        </p:nvSpPr>
        <p:spPr>
          <a:xfrm>
            <a:off x="3642360" y="2240280"/>
            <a:ext cx="1264919" cy="54864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F2430"/>
                </a:solidFill>
                <a:latin typeface="PT Sans"/>
              </a:rPr>
              <a:t>30 км</a:t>
            </a:r>
          </a:p>
        </p:txBody>
      </p:sp>
      <p:sp>
        <p:nvSpPr>
          <p:cNvPr id="15" name="Rectangle 14"/>
          <p:cNvSpPr/>
          <p:nvPr/>
        </p:nvSpPr>
        <p:spPr>
          <a:xfrm>
            <a:off x="4907280" y="2240280"/>
            <a:ext cx="1686559" cy="548640"/>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F2430"/>
                </a:solidFill>
                <a:latin typeface="PT Sans"/>
              </a:rPr>
              <a:t>40 км</a:t>
            </a:r>
          </a:p>
        </p:txBody>
      </p:sp>
      <p:sp>
        <p:nvSpPr>
          <p:cNvPr id="16" name="Rectangle 15"/>
          <p:cNvSpPr/>
          <p:nvPr/>
        </p:nvSpPr>
        <p:spPr>
          <a:xfrm>
            <a:off x="6593839" y="2240280"/>
            <a:ext cx="1686559" cy="548640"/>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F2430"/>
                </a:solidFill>
                <a:latin typeface="PT Sans"/>
              </a:rPr>
              <a:t>40 км</a:t>
            </a:r>
          </a:p>
        </p:txBody>
      </p:sp>
      <p:sp>
        <p:nvSpPr>
          <p:cNvPr id="17" name="Rectangle 16"/>
          <p:cNvSpPr/>
          <p:nvPr/>
        </p:nvSpPr>
        <p:spPr>
          <a:xfrm>
            <a:off x="8280399" y="2240280"/>
            <a:ext cx="1686559" cy="548640"/>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F2430"/>
                </a:solidFill>
                <a:latin typeface="PT Sans"/>
              </a:rPr>
              <a:t>40 км</a:t>
            </a:r>
          </a:p>
        </p:txBody>
      </p:sp>
      <p:cxnSp>
        <p:nvCxnSpPr>
          <p:cNvPr id="18" name="Connector 17"/>
          <p:cNvCxnSpPr/>
          <p:nvPr/>
        </p:nvCxnSpPr>
        <p:spPr>
          <a:xfrm>
            <a:off x="10058399" y="224028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195559" y="2240280"/>
            <a:ext cx="0" cy="54864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058399" y="278892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241279" y="2240280"/>
            <a:ext cx="1005840" cy="548640"/>
          </a:xfrm>
          <a:prstGeom prst="rect">
            <a:avLst/>
          </a:prstGeom>
          <a:noFill/>
        </p:spPr>
        <p:txBody>
          <a:bodyPr wrap="square" anchor="ctr" lIns="45720" rIns="45720" tIns="27432" bIns="27432">
            <a:spAutoFit/>
          </a:bodyPr>
          <a:lstStyle/>
          <a:p>
            <a:pPr algn="l">
              <a:lnSpc>
                <a:spcPct val="105000"/>
              </a:lnSpc>
            </a:pPr>
            <a:r>
              <a:rPr sz="2200" b="1" i="0">
                <a:solidFill>
                  <a:srgbClr val="A84400"/>
                </a:solidFill>
                <a:latin typeface="PT Sans"/>
              </a:rPr>
              <a:t>180</a:t>
            </a:r>
          </a:p>
        </p:txBody>
      </p:sp>
      <p:sp>
        <p:nvSpPr>
          <p:cNvPr id="22" name="TextBox 21"/>
          <p:cNvSpPr txBox="1"/>
          <p:nvPr/>
        </p:nvSpPr>
        <p:spPr>
          <a:xfrm>
            <a:off x="731520" y="3127248"/>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1F2430"/>
                </a:solidFill>
                <a:latin typeface="PT Sans"/>
              </a:rPr>
              <a:t>60 : 30 = 2</a:t>
            </a:r>
          </a:p>
        </p:txBody>
      </p:sp>
      <p:sp>
        <p:nvSpPr>
          <p:cNvPr id="23" name="TextBox 22"/>
          <p:cNvSpPr txBox="1"/>
          <p:nvPr/>
        </p:nvSpPr>
        <p:spPr>
          <a:xfrm>
            <a:off x="8366760" y="3127248"/>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саат: Токмокко чейин</a:t>
            </a:r>
          </a:p>
        </p:txBody>
      </p:sp>
      <p:sp>
        <p:nvSpPr>
          <p:cNvPr id="24" name="TextBox 23"/>
          <p:cNvSpPr txBox="1"/>
          <p:nvPr/>
        </p:nvSpPr>
        <p:spPr>
          <a:xfrm>
            <a:off x="731520" y="3694176"/>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1F2430"/>
                </a:solidFill>
                <a:latin typeface="PT Sans"/>
              </a:rPr>
              <a:t>120 : 40 = 3</a:t>
            </a:r>
          </a:p>
        </p:txBody>
      </p:sp>
      <p:sp>
        <p:nvSpPr>
          <p:cNvPr id="25" name="TextBox 24"/>
          <p:cNvSpPr txBox="1"/>
          <p:nvPr/>
        </p:nvSpPr>
        <p:spPr>
          <a:xfrm>
            <a:off x="8366760" y="3694176"/>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саат: Балыкчыга чейин</a:t>
            </a:r>
          </a:p>
        </p:txBody>
      </p:sp>
      <p:sp>
        <p:nvSpPr>
          <p:cNvPr id="26" name="TextBox 25"/>
          <p:cNvSpPr txBox="1"/>
          <p:nvPr/>
        </p:nvSpPr>
        <p:spPr>
          <a:xfrm>
            <a:off x="731520" y="4261104"/>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24418C"/>
                </a:solidFill>
                <a:latin typeface="PT Sans"/>
              </a:rPr>
              <a:t>2 + 3 = 5</a:t>
            </a:r>
          </a:p>
        </p:txBody>
      </p:sp>
      <p:sp>
        <p:nvSpPr>
          <p:cNvPr id="27" name="TextBox 26"/>
          <p:cNvSpPr txBox="1"/>
          <p:nvPr/>
        </p:nvSpPr>
        <p:spPr>
          <a:xfrm>
            <a:off x="8366760" y="4261104"/>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саат: саат 7 + 5 = 12</a:t>
            </a:r>
          </a:p>
        </p:txBody>
      </p:sp>
      <p:sp>
        <p:nvSpPr>
          <p:cNvPr id="28" name="Rounded Rectangle 27"/>
          <p:cNvSpPr/>
          <p:nvPr/>
        </p:nvSpPr>
        <p:spPr>
          <a:xfrm>
            <a:off x="1874519" y="5486400"/>
            <a:ext cx="8449056" cy="640080"/>
          </a:xfrm>
          <a:prstGeom prst="roundRect">
            <a:avLst>
              <a:gd name="adj" fmla="val 244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A84400"/>
                </a:solidFill>
                <a:latin typeface="PT Sans"/>
              </a:rPr>
              <a:t>Бүт жол 180 км, 5 саат: поезд Балыкчыга саат 12де жетет.</a:t>
            </a:r>
          </a:p>
        </p:txBody>
      </p:sp>
      <p:sp>
        <p:nvSpPr>
          <p:cNvPr id="29" name="Rounded Rectangle 28"/>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Түз: өзүң маселе түз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Ылдамдык, убакыт жана аралык</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23/26</a:t>
            </a:r>
          </a:p>
        </p:txBody>
      </p:sp>
      <p:sp>
        <p:nvSpPr>
          <p:cNvPr id="10" name="Rounded Rectangle 9"/>
          <p:cNvSpPr/>
          <p:nvPr/>
        </p:nvSpPr>
        <p:spPr>
          <a:xfrm>
            <a:off x="429768" y="1225296"/>
            <a:ext cx="11329416" cy="48920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371600"/>
            <a:ext cx="10780776" cy="914400"/>
          </a:xfrm>
          <a:prstGeom prst="rect">
            <a:avLst/>
          </a:prstGeom>
          <a:noFill/>
        </p:spPr>
        <p:txBody>
          <a:bodyPr wrap="square" anchor="t" lIns="45720" rIns="45720" tIns="27432" bIns="27432">
            <a:spAutoFit/>
          </a:bodyPr>
          <a:lstStyle/>
          <a:p>
            <a:pPr algn="l">
              <a:lnSpc>
                <a:spcPct val="105000"/>
              </a:lnSpc>
            </a:pPr>
            <a:r>
              <a:rPr sz="2400" b="1" i="0">
                <a:solidFill>
                  <a:srgbClr val="1F2430"/>
                </a:solidFill>
                <a:latin typeface="PT Sans"/>
              </a:rPr>
              <a:t>Балыкчы сапары жөнүндө маселе түз: эки этаптуу жол же эки поезд, жообу саат менен болсун.</a:t>
            </a:r>
          </a:p>
        </p:txBody>
      </p:sp>
      <p:sp>
        <p:nvSpPr>
          <p:cNvPr id="12" name="Oval 11"/>
          <p:cNvSpPr/>
          <p:nvPr/>
        </p:nvSpPr>
        <p:spPr>
          <a:xfrm>
            <a:off x="704088" y="256032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234440" y="2542032"/>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Окуядагы каармандарды колдон: Эмир, Нуриза, Айнура апа, Асан ата.</a:t>
            </a:r>
          </a:p>
        </p:txBody>
      </p:sp>
      <p:sp>
        <p:nvSpPr>
          <p:cNvPr id="14" name="Oval 13"/>
          <p:cNvSpPr/>
          <p:nvPr/>
        </p:nvSpPr>
        <p:spPr>
          <a:xfrm>
            <a:off x="704088" y="3383279"/>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234440" y="3364991"/>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Тилкесин чий жана туюнтмасын жаз.</a:t>
            </a:r>
          </a:p>
        </p:txBody>
      </p:sp>
      <p:sp>
        <p:nvSpPr>
          <p:cNvPr id="16" name="Oval 15"/>
          <p:cNvSpPr/>
          <p:nvPr/>
        </p:nvSpPr>
        <p:spPr>
          <a:xfrm>
            <a:off x="704088" y="42062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234440" y="4187952"/>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Жупуңа бер: ал чыгарсын, сен текшер.</a:t>
            </a:r>
          </a:p>
        </p:txBody>
      </p:sp>
      <p:sp>
        <p:nvSpPr>
          <p:cNvPr id="18" name="Rounded Rectangle 17"/>
          <p:cNvSpPr/>
          <p:nvPr/>
        </p:nvSpPr>
        <p:spPr>
          <a:xfrm>
            <a:off x="4449927" y="6327648"/>
            <a:ext cx="3291840" cy="411480"/>
          </a:xfrm>
          <a:prstGeom prst="roundRect">
            <a:avLst>
              <a:gd name="adj" fmla="val 50000"/>
            </a:avLst>
          </a:prstGeom>
          <a:no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A84400"/>
                </a:solidFill>
                <a:latin typeface="PT Sans"/>
              </a:rPr>
              <a:t>3C · Кызматташуу</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Чыгуу билети</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Ылдамдык, убакыт жана аралык</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24/26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Өз алдынча, 3 мүнөт. Кагазыңа жазып бер.</a:t>
            </a:r>
          </a:p>
        </p:txBody>
      </p:sp>
      <p:sp>
        <p:nvSpPr>
          <p:cNvPr id="11" name="Rounded Rectangle 10"/>
          <p:cNvSpPr/>
          <p:nvPr/>
        </p:nvSpPr>
        <p:spPr>
          <a:xfrm>
            <a:off x="429768" y="169164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Велосипедчи 3 саатта 45 км жүрдү. Ылдамдыгы канча?</a:t>
            </a:r>
          </a:p>
        </p:txBody>
      </p:sp>
      <p:sp>
        <p:nvSpPr>
          <p:cNvPr id="14" name="Rounded Rectangle 13"/>
          <p:cNvSpPr/>
          <p:nvPr/>
        </p:nvSpPr>
        <p:spPr>
          <a:xfrm>
            <a:off x="429768" y="323088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12647"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07007" y="323088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Нуриза 80 м/мин ылдамдык менен 12 мүнөт басты. Канча метр?</a:t>
            </a:r>
          </a:p>
        </p:txBody>
      </p:sp>
      <p:sp>
        <p:nvSpPr>
          <p:cNvPr id="17" name="Rounded Rectangle 16"/>
          <p:cNvSpPr/>
          <p:nvPr/>
        </p:nvSpPr>
        <p:spPr>
          <a:xfrm>
            <a:off x="429768" y="477012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477012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Автобус 40 км/саат ылдамдык менен 30 мүнөт жүрдү. Канча км?</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Оозеки талкуу</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Ылдамдык, убакыт жана аралык</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25/26</a:t>
            </a:r>
          </a:p>
        </p:txBody>
      </p:sp>
      <p:sp>
        <p:nvSpPr>
          <p:cNvPr id="10" name="Rounded Rectangle 9"/>
          <p:cNvSpPr/>
          <p:nvPr/>
        </p:nvSpPr>
        <p:spPr>
          <a:xfrm>
            <a:off x="429768" y="1225296"/>
            <a:ext cx="11329416" cy="32461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80160"/>
            <a:ext cx="10780776" cy="548640"/>
          </a:xfrm>
          <a:prstGeom prst="rect">
            <a:avLst/>
          </a:prstGeom>
          <a:noFill/>
        </p:spPr>
        <p:txBody>
          <a:bodyPr wrap="square" anchor="t" lIns="45720" rIns="45720" tIns="27432" bIns="27432">
            <a:spAutoFit/>
          </a:bodyPr>
          <a:lstStyle/>
          <a:p>
            <a:pPr algn="l">
              <a:lnSpc>
                <a:spcPct val="105000"/>
              </a:lnSpc>
            </a:pPr>
            <a:r>
              <a:rPr sz="2400" b="1" i="0">
                <a:solidFill>
                  <a:srgbClr val="1D3557"/>
                </a:solidFill>
                <a:latin typeface="PT Sans"/>
              </a:rPr>
              <a:t>Оозеки талкуу</a:t>
            </a:r>
          </a:p>
        </p:txBody>
      </p:sp>
      <p:sp>
        <p:nvSpPr>
          <p:cNvPr id="12" name="Oval 11"/>
          <p:cNvSpPr/>
          <p:nvPr/>
        </p:nvSpPr>
        <p:spPr>
          <a:xfrm>
            <a:off x="704088" y="19202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234440" y="1901952"/>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Ылдамдык деген эмне? «1 саатта» деген сөз менен түшүндүр.</a:t>
            </a:r>
          </a:p>
        </p:txBody>
      </p:sp>
      <p:sp>
        <p:nvSpPr>
          <p:cNvPr id="14" name="Oval 13"/>
          <p:cNvSpPr/>
          <p:nvPr/>
        </p:nvSpPr>
        <p:spPr>
          <a:xfrm>
            <a:off x="704088" y="2542032"/>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234440" y="2523744"/>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Эмне үчүн 1 саат 30 мүн = 1,3 саат эмес? Кантип эстеп каласың?</a:t>
            </a:r>
          </a:p>
        </p:txBody>
      </p:sp>
      <p:sp>
        <p:nvSpPr>
          <p:cNvPr id="16" name="Oval 15"/>
          <p:cNvSpPr/>
          <p:nvPr/>
        </p:nvSpPr>
        <p:spPr>
          <a:xfrm>
            <a:off x="704088" y="3163824"/>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234440" y="3145536"/>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Каршы кыймылда эмне үчүн ылдамдыктарды кошобуз?</a:t>
            </a:r>
          </a:p>
        </p:txBody>
      </p:sp>
      <p:sp>
        <p:nvSpPr>
          <p:cNvPr id="18" name="TextBox 17"/>
          <p:cNvSpPr txBox="1"/>
          <p:nvPr/>
        </p:nvSpPr>
        <p:spPr>
          <a:xfrm>
            <a:off x="429768" y="4617720"/>
            <a:ext cx="11329416" cy="457200"/>
          </a:xfrm>
          <a:prstGeom prst="rect">
            <a:avLst/>
          </a:prstGeom>
          <a:noFill/>
        </p:spPr>
        <p:txBody>
          <a:bodyPr wrap="square" anchor="t" lIns="45720" rIns="45720" tIns="27432" bIns="27432">
            <a:spAutoFit/>
          </a:bodyPr>
          <a:lstStyle/>
          <a:p>
            <a:pPr algn="ctr">
              <a:lnSpc>
                <a:spcPct val="105000"/>
              </a:lnSpc>
            </a:pPr>
            <a:r>
              <a:rPr sz="2000" b="0" i="1">
                <a:solidFill>
                  <a:srgbClr val="6B7280"/>
                </a:solidFill>
                <a:latin typeface="PT Sans"/>
              </a:rPr>
              <a:t>Өзүңдү баала: колуңду көтөр.</a:t>
            </a:r>
          </a:p>
        </p:txBody>
      </p:sp>
      <p:sp>
        <p:nvSpPr>
          <p:cNvPr id="19" name="Rounded Rectangle 18"/>
          <p:cNvSpPr/>
          <p:nvPr/>
        </p:nvSpPr>
        <p:spPr>
          <a:xfrm>
            <a:off x="978407" y="5120640"/>
            <a:ext cx="3291840" cy="731520"/>
          </a:xfrm>
          <a:prstGeom prst="roundRect">
            <a:avLst>
              <a:gd name="adj" fmla="val 50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007A5A"/>
                </a:solidFill>
                <a:latin typeface="PT Sans"/>
              </a:rPr>
              <a:t>Түшүндүм</a:t>
            </a:r>
          </a:p>
        </p:txBody>
      </p:sp>
      <p:sp>
        <p:nvSpPr>
          <p:cNvPr id="20" name="Rounded Rectangle 19"/>
          <p:cNvSpPr/>
          <p:nvPr/>
        </p:nvSpPr>
        <p:spPr>
          <a:xfrm>
            <a:off x="4636008" y="5120640"/>
            <a:ext cx="3291840" cy="731520"/>
          </a:xfrm>
          <a:prstGeom prst="roundRect">
            <a:avLst>
              <a:gd name="adj" fmla="val 50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A84400"/>
                </a:solidFill>
                <a:latin typeface="PT Sans"/>
              </a:rPr>
              <a:t>Дагы машыгам</a:t>
            </a:r>
          </a:p>
        </p:txBody>
      </p:sp>
      <p:sp>
        <p:nvSpPr>
          <p:cNvPr id="21" name="Rounded Rectangle 20"/>
          <p:cNvSpPr/>
          <p:nvPr/>
        </p:nvSpPr>
        <p:spPr>
          <a:xfrm>
            <a:off x="8293608" y="5120640"/>
            <a:ext cx="3291840" cy="731520"/>
          </a:xfrm>
          <a:prstGeom prst="roundRect">
            <a:avLst>
              <a:gd name="adj" fmla="val 50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24418C"/>
                </a:solidFill>
                <a:latin typeface="PT Sans"/>
              </a:rPr>
              <a:t>Жардам керек</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Мугалим үчүн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Ылдамдык, убакыт жана аралык</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26/26</a:t>
            </a:r>
          </a:p>
        </p:txBody>
      </p:sp>
      <p:sp>
        <p:nvSpPr>
          <p:cNvPr id="10" name="Rounded Rectangle 9"/>
          <p:cNvSpPr/>
          <p:nvPr/>
        </p:nvSpPr>
        <p:spPr>
          <a:xfrm>
            <a:off x="429768" y="1225296"/>
            <a:ext cx="5120640"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4663440" cy="502920"/>
          </a:xfrm>
          <a:prstGeom prst="rect">
            <a:avLst/>
          </a:prstGeom>
          <a:noFill/>
        </p:spPr>
        <p:txBody>
          <a:bodyPr wrap="square" anchor="t" lIns="45720" rIns="45720" tIns="27432" bIns="27432">
            <a:spAutoFit/>
          </a:bodyPr>
          <a:lstStyle/>
          <a:p>
            <a:pPr algn="l">
              <a:lnSpc>
                <a:spcPct val="105000"/>
              </a:lnSpc>
            </a:pPr>
            <a:r>
              <a:rPr sz="2000" b="1" i="0">
                <a:solidFill>
                  <a:srgbClr val="1D3557"/>
                </a:solidFill>
                <a:latin typeface="PT Sans"/>
              </a:rPr>
              <a:t>Тилке моделин кантип үйрөтөбүз</a:t>
            </a:r>
          </a:p>
        </p:txBody>
      </p:sp>
      <p:sp>
        <p:nvSpPr>
          <p:cNvPr id="12" name="Oval 11"/>
          <p:cNvSpPr/>
          <p:nvPr/>
        </p:nvSpPr>
        <p:spPr>
          <a:xfrm>
            <a:off x="658368" y="1874519"/>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188719" y="1856231"/>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Ар бир маселеде жол сызыгын же тилкени чийдирүүнү сунуштайм: 1 бөлүк = 1 саат (М1).</a:t>
            </a:r>
          </a:p>
        </p:txBody>
      </p:sp>
      <p:sp>
        <p:nvSpPr>
          <p:cNvPr id="14" name="Oval 13"/>
          <p:cNvSpPr/>
          <p:nvPr/>
        </p:nvSpPr>
        <p:spPr>
          <a:xfrm>
            <a:off x="658368" y="2898648"/>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188719" y="2880360"/>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Бирдиктерди ар дайым жаздырам: км/саат · саат = км (М2).</a:t>
            </a:r>
          </a:p>
        </p:txBody>
      </p:sp>
      <p:sp>
        <p:nvSpPr>
          <p:cNvPr id="16" name="Oval 15"/>
          <p:cNvSpPr/>
          <p:nvPr/>
        </p:nvSpPr>
        <p:spPr>
          <a:xfrm>
            <a:off x="658368" y="3922776"/>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188719" y="3904488"/>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Мүнөттү саатка которууда кагаз саатты көрсөтөм: 30 мүн = ½, 15 мүн = ¼ (М3, М6).</a:t>
            </a:r>
          </a:p>
        </p:txBody>
      </p:sp>
      <p:sp>
        <p:nvSpPr>
          <p:cNvPr id="18" name="Oval 17"/>
          <p:cNvSpPr/>
          <p:nvPr/>
        </p:nvSpPr>
        <p:spPr>
          <a:xfrm>
            <a:off x="658368" y="4946904"/>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19" name="TextBox 18"/>
          <p:cNvSpPr txBox="1"/>
          <p:nvPr/>
        </p:nvSpPr>
        <p:spPr>
          <a:xfrm>
            <a:off x="1188719" y="4928616"/>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Каршы кыймылды полдо эки окуучу менен көрсөтөм: ара эки жактан кыскарат (М5).</a:t>
            </a:r>
          </a:p>
        </p:txBody>
      </p:sp>
      <p:sp>
        <p:nvSpPr>
          <p:cNvPr id="20" name="Rounded Rectangle 19"/>
          <p:cNvSpPr/>
          <p:nvPr/>
        </p:nvSpPr>
        <p:spPr>
          <a:xfrm>
            <a:off x="5779007" y="1225296"/>
            <a:ext cx="5980176"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07607" y="1280160"/>
            <a:ext cx="5486400" cy="502920"/>
          </a:xfrm>
          <a:prstGeom prst="rect">
            <a:avLst/>
          </a:prstGeom>
          <a:noFill/>
        </p:spPr>
        <p:txBody>
          <a:bodyPr wrap="square" anchor="t" lIns="45720" rIns="45720" tIns="27432" bIns="27432">
            <a:spAutoFit/>
          </a:bodyPr>
          <a:lstStyle/>
          <a:p>
            <a:pPr algn="l">
              <a:lnSpc>
                <a:spcPct val="105000"/>
              </a:lnSpc>
            </a:pPr>
            <a:r>
              <a:rPr sz="2000" b="1" i="0">
                <a:solidFill>
                  <a:srgbClr val="1D3557"/>
                </a:solidFill>
                <a:latin typeface="PT Sans"/>
              </a:rPr>
              <a:t>Ой жүгүртүү: эмне деп айтабыз?</a:t>
            </a:r>
          </a:p>
        </p:txBody>
      </p:sp>
      <p:sp>
        <p:nvSpPr>
          <p:cNvPr id="22" name="TextBox 21"/>
          <p:cNvSpPr txBox="1"/>
          <p:nvPr/>
        </p:nvSpPr>
        <p:spPr>
          <a:xfrm>
            <a:off x="6007607" y="1783080"/>
            <a:ext cx="2651760" cy="365760"/>
          </a:xfrm>
          <a:prstGeom prst="rect">
            <a:avLst/>
          </a:prstGeom>
          <a:noFill/>
        </p:spPr>
        <p:txBody>
          <a:bodyPr wrap="square" anchor="t" lIns="45720" rIns="45720" tIns="27432" bIns="27432">
            <a:spAutoFit/>
          </a:bodyPr>
          <a:lstStyle/>
          <a:p>
            <a:pPr algn="l">
              <a:lnSpc>
                <a:spcPct val="105000"/>
              </a:lnSpc>
            </a:pPr>
            <a:r>
              <a:rPr sz="1500" b="1" i="0">
                <a:solidFill>
                  <a:srgbClr val="6B7280"/>
                </a:solidFill>
                <a:latin typeface="PT Sans"/>
              </a:rPr>
              <a:t>Айтпайбыз</a:t>
            </a:r>
          </a:p>
        </p:txBody>
      </p:sp>
      <p:sp>
        <p:nvSpPr>
          <p:cNvPr id="23" name="TextBox 22"/>
          <p:cNvSpPr txBox="1"/>
          <p:nvPr/>
        </p:nvSpPr>
        <p:spPr>
          <a:xfrm>
            <a:off x="8796528" y="1783080"/>
            <a:ext cx="2926080" cy="365760"/>
          </a:xfrm>
          <a:prstGeom prst="rect">
            <a:avLst/>
          </a:prstGeom>
          <a:noFill/>
        </p:spPr>
        <p:txBody>
          <a:bodyPr wrap="square" anchor="t" lIns="45720" rIns="45720" tIns="27432" bIns="27432">
            <a:spAutoFit/>
          </a:bodyPr>
          <a:lstStyle/>
          <a:p>
            <a:pPr algn="l">
              <a:lnSpc>
                <a:spcPct val="105000"/>
              </a:lnSpc>
            </a:pPr>
            <a:r>
              <a:rPr sz="1500" b="1" i="0">
                <a:solidFill>
                  <a:srgbClr val="007A5A"/>
                </a:solidFill>
                <a:latin typeface="PT Sans"/>
              </a:rPr>
              <a:t>Айтабыз</a:t>
            </a:r>
          </a:p>
        </p:txBody>
      </p:sp>
      <p:sp>
        <p:nvSpPr>
          <p:cNvPr id="24" name="TextBox 23"/>
          <p:cNvSpPr txBox="1"/>
          <p:nvPr/>
        </p:nvSpPr>
        <p:spPr>
          <a:xfrm>
            <a:off x="6007607" y="219456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«Бул оңой эмеспи?»</a:t>
            </a:r>
          </a:p>
        </p:txBody>
      </p:sp>
      <p:cxnSp>
        <p:nvCxnSpPr>
          <p:cNvPr id="25" name="Connector 24"/>
          <p:cNvCxnSpPr/>
          <p:nvPr/>
        </p:nvCxnSpPr>
        <p:spPr>
          <a:xfrm>
            <a:off x="8567928" y="2468879"/>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796528" y="219456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«Кадамдарды бирге карайлы.»</a:t>
            </a:r>
          </a:p>
        </p:txBody>
      </p:sp>
      <p:sp>
        <p:nvSpPr>
          <p:cNvPr id="27" name="TextBox 26"/>
          <p:cNvSpPr txBox="1"/>
          <p:nvPr/>
        </p:nvSpPr>
        <p:spPr>
          <a:xfrm>
            <a:off x="6007607" y="315468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«Туура эмес!»</a:t>
            </a:r>
          </a:p>
        </p:txBody>
      </p:sp>
      <p:cxnSp>
        <p:nvCxnSpPr>
          <p:cNvPr id="28" name="Connector 27"/>
          <p:cNvCxnSpPr/>
          <p:nvPr/>
        </p:nvCxnSpPr>
        <p:spPr>
          <a:xfrm>
            <a:off x="8567928" y="342900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796528" y="315468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«Кантип таптың? Текшерип көрөлүчү.»</a:t>
            </a:r>
          </a:p>
        </p:txBody>
      </p:sp>
      <p:sp>
        <p:nvSpPr>
          <p:cNvPr id="30" name="TextBox 29"/>
          <p:cNvSpPr txBox="1"/>
          <p:nvPr/>
        </p:nvSpPr>
        <p:spPr>
          <a:xfrm>
            <a:off x="6007607" y="411480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«Сен математикага жөндөмсүзсүң»</a:t>
            </a:r>
          </a:p>
        </p:txBody>
      </p:sp>
      <p:cxnSp>
        <p:nvCxnSpPr>
          <p:cNvPr id="31" name="Connector 30"/>
          <p:cNvCxnSpPr/>
          <p:nvPr/>
        </p:nvCxnSpPr>
        <p:spPr>
          <a:xfrm>
            <a:off x="8567928" y="438912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796528" y="411480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«Азырынча. Машыксаң, үйрөнөсүң.»</a:t>
            </a:r>
          </a:p>
        </p:txBody>
      </p:sp>
      <p:sp>
        <p:nvSpPr>
          <p:cNvPr id="33" name="TextBox 32"/>
          <p:cNvSpPr txBox="1"/>
          <p:nvPr/>
        </p:nvSpPr>
        <p:spPr>
          <a:xfrm>
            <a:off x="6007607" y="507492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«Тез чыгар»</a:t>
            </a:r>
          </a:p>
        </p:txBody>
      </p:sp>
      <p:cxnSp>
        <p:nvCxnSpPr>
          <p:cNvPr id="34" name="Connector 33"/>
          <p:cNvCxnSpPr/>
          <p:nvPr/>
        </p:nvCxnSpPr>
        <p:spPr>
          <a:xfrm>
            <a:off x="8567928" y="534924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796528" y="507492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«Шашпа, адегенде тилке чий.»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