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Окуучулар болжолдошсун: кайсы оюн жеңет? Жоопту сабактын аягында (22-слайд) текшеребиз. Мен ушул суроону өз классыма да берүүнү сунуштайм: 11-слайдда капкак менен чыныгы сурамжылоо жүргүзөбүз.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Тынара: кыйгач чийик да бир окуучу, толук топ = 5. Эмир кыйгач чийикти санаган жок (М1).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 30 бөтөлкө капкагы (же төө буурчак, таштар) жана 4 кагаз тилке (оюндардын аттары). Адегенде мен суроону айтам: «Бул төрт оюндун кайсынысын ойногуң келет? Бирөөнү гана танда». Ар бир окуучу бир гана капкак коёт (М8). Анан капкактарды бештен топтоп, ар бир беш капкакты бир толук топ (4 тик + 1 кыйгач) деп доскага чийебиз (М1). Капкак жок болсо, окуучулар доскага чыгып өздөрү бир чийик чийишет. Проектор жок болсо, ушул сүрөттү доскага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Таблицаны доскага чийем: «Оюн», «Чийиктер», «Саны». Окуучулар чийиктерди бештен санашат (5, 10, …). Пиктограмма: 9 окуучу = 4 жарым ●, анткени 4 × 2 = 8 жана дагы 1. Адегенде белгини окуйбуз: «1 ● канча окуучу?» (М4, М5). Суммасы 28 = класстагы окуучулар (М8).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Төрт кадам: суроо → чийик → таблица → пиктограмма. Жакшы суроо: так, жооп варианттары бар, ар ким бир гана жооп берет. Ката коддору: М1–М3 (чийик), М4–М5 (пиктограмма), М6–М8 (таблица окуу).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ыкманы окуучу үн чыгарып айтат: «5, 10, 15… анан 16, 17, 18, 19». «Оозеки беш мүнөт» (класста колдонуу картасы, 3-бет) эки апта ушул ыкмаларды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М1; Б = ✓; В = М3; Г = М2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канча көп → баары канча → белгисиз бөлүк. Жооптор: 7 − 4 = 3 окуучу; 6 + 5 + 9 = 20 окуучу; 30 − 23 = 7 окуучу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Таблицадан: ордо 9, тогуз коргоол 7, ак терек 8, жоолук 4. Эң көбү ордо (9 &gt; 8 &gt; 7 &gt; 4). Айырма: 9 − 4 = 5 (тилкеде шабдалы түстүү бөлүк). Суммасы 28 = катышкандардын саны: эч ким эки жолу жооп берген жок жана эч ким калган жок (М8).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22; 7;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>3-класс · Математика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Маалымат чогултуу: суроо, чийиктер жана жыштык таблицасы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Ат-Башыдагы оюндар күнү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Эмир менен Тынара 3-«Б» класстан кайсы улуттук оюнду ойногусу келерин сурап, чийик менен белгилешет.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Математика стандарты, 3-класс; Cambridge Primary 3 (маалымат чогултуу: суроо, чийиктер, жыштык таблицасы, пиктограмма). Мазмуну оригиналдуу.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Ат-Башыдагы оюндар күнү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Ат-Башыдагы мектепте жума күнү «Улуттук оюндар күнү» болот.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Мээрим эже: «Ар бир класс бир оюнду тандайт. Кайсынысын тандайбыз?»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Эмир менен Тынара 28 окуучудан сурашты: ордо, тогуз коргоол, ак терек – көк терек же жоолук таштамай?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Тынара ар бир жоопко доскага бир чийик чийип турду.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Кайсы оюнду эң көп окуучу тандады? Ал эң аз тандалган оюндан канча көп? Баары 28 окуучу болдубу?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Сурамжылоо үчүн так суроо жана 3–4 жооп вариантын түзөм.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Жоопторду чийик менен бештен топтоп белгилейм, санайм жана жыштык таблицасына жазам.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Таблицаны жана пиктограмманы (● = 2) окуп, «канча?», «канча көп?», «баары канча?» деген суроолорго жооп берем.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Чийик, таблица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Пиктограмма, канча көп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Белгисиз бөлүк, суроо түзүү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Катаны тап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сурамжылоо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Капкактар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Улуттук оюндар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Ат-Башы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2-класс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Таблица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Пиктограмма (● = 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3-класс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Чийиктер, жыштык таблицасы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Пиктограмма (● = 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18204" y="2057400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>4-класс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Мамычалуу диаграмма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Шкала 2, 5, 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>6-класс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Орточо маани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Диаграммалар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5 + 5 + 5 + 3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Бештен сана: 5, 10, □, □, 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 × 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12 − 7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5 + 5 + 5 + 3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Бештен сана: 5, 10, □, □, 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15, 20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 ×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12 − 7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Мээрим эже: «Ордонун сабында 1 толук топ жана 4 чийик. Ордону канча окуучу тандады?»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Эмир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Топто 4 тик чийик бар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4 + 4 = 8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8 окуучу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Тынара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Топто 5 чийик: 4 тик + 1 кыйгач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5 + 4 = 9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9 окуучу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Чийиктерди бирден санап текшер.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ар бир окуучу тандаган оюнунун катарына бир капкак коёт. Капкактарды бештен топтоп, чийик менен жазгыла.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29968"/>
            <a:ext cx="78638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Капкак = 1 окуучу. Бештен топтойбуз → чийик менен жазабыз.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432304"/>
            <a:ext cx="3108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Капкактар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432304"/>
            <a:ext cx="14630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Чийиктер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43230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Саны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43200"/>
            <a:ext cx="19202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Ордо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80" y="2788920"/>
            <a:ext cx="2971800" cy="475488"/>
          </a:xfrm>
          <a:prstGeom prst="roundRect">
            <a:avLst>
              <a:gd name="adj" fmla="val 10000"/>
            </a:avLst>
          </a:prstGeom>
          <a:solidFill>
            <a:srgbClr val="F7EBC4"/>
          </a:solidFill>
          <a:ln w="9525">
            <a:solidFill>
              <a:srgbClr val="C9A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560320" y="2898648"/>
            <a:ext cx="256032" cy="256032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43784" y="2898648"/>
            <a:ext cx="256032" cy="256032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27248" y="2898648"/>
            <a:ext cx="256032" cy="256032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0712" y="2898648"/>
            <a:ext cx="256032" cy="256032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694176" y="2898648"/>
            <a:ext cx="256032" cy="256032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42231" y="2898648"/>
            <a:ext cx="256032" cy="256032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25696" y="2898648"/>
            <a:ext cx="256032" cy="256032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09160" y="2898648"/>
            <a:ext cx="256032" cy="256032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992624" y="2898648"/>
            <a:ext cx="256032" cy="256032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68112" y="2788920"/>
            <a:ext cx="365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→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96051" y="2843784"/>
            <a:ext cx="0" cy="36576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83833" y="2843784"/>
            <a:ext cx="0" cy="36576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71616" y="2843784"/>
            <a:ext cx="0" cy="36576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159398" y="2843784"/>
            <a:ext cx="0" cy="36576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843381" y="2909620"/>
            <a:ext cx="368686" cy="23408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400800" y="2843784"/>
            <a:ext cx="0" cy="36576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488582" y="2843784"/>
            <a:ext cx="0" cy="36576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576364" y="2843784"/>
            <a:ext cx="0" cy="36576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664147" y="2843784"/>
            <a:ext cx="0" cy="36576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589520" y="2770632"/>
            <a:ext cx="822960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456432"/>
            <a:ext cx="19202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Тогуз коргоол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468880" y="3502152"/>
            <a:ext cx="2971800" cy="475488"/>
          </a:xfrm>
          <a:prstGeom prst="roundRect">
            <a:avLst>
              <a:gd name="adj" fmla="val 10000"/>
            </a:avLst>
          </a:prstGeom>
          <a:solidFill>
            <a:srgbClr val="F7EBC4"/>
          </a:solidFill>
          <a:ln w="9525">
            <a:solidFill>
              <a:srgbClr val="C9A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60320" y="3611880"/>
            <a:ext cx="256032" cy="256032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843784" y="3611880"/>
            <a:ext cx="256032" cy="256032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127248" y="3611880"/>
            <a:ext cx="256032" cy="256032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0712" y="3611880"/>
            <a:ext cx="256032" cy="256032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694176" y="3611880"/>
            <a:ext cx="256032" cy="256032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142231" y="3611880"/>
            <a:ext cx="256032" cy="256032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425696" y="3611880"/>
            <a:ext cx="256032" cy="256032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68112" y="3502152"/>
            <a:ext cx="365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→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896051" y="3557016"/>
            <a:ext cx="0" cy="36576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983833" y="3557016"/>
            <a:ext cx="0" cy="36576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071616" y="3557016"/>
            <a:ext cx="0" cy="36576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159398" y="3557016"/>
            <a:ext cx="0" cy="36576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843381" y="3622852"/>
            <a:ext cx="368686" cy="23408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400800" y="3557016"/>
            <a:ext cx="0" cy="36576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488582" y="3557016"/>
            <a:ext cx="0" cy="36576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589520" y="3483864"/>
            <a:ext cx="822960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4169663"/>
            <a:ext cx="19202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Ак терек – көк терек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468880" y="4215383"/>
            <a:ext cx="2971800" cy="475488"/>
          </a:xfrm>
          <a:prstGeom prst="roundRect">
            <a:avLst>
              <a:gd name="adj" fmla="val 10000"/>
            </a:avLst>
          </a:prstGeom>
          <a:solidFill>
            <a:srgbClr val="F7EBC4"/>
          </a:solidFill>
          <a:ln w="9525">
            <a:solidFill>
              <a:srgbClr val="C9A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560320" y="4325112"/>
            <a:ext cx="256032" cy="256032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43784" y="4325112"/>
            <a:ext cx="256032" cy="256032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127248" y="4325112"/>
            <a:ext cx="256032" cy="256032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410712" y="4325112"/>
            <a:ext cx="256032" cy="256032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694176" y="4325112"/>
            <a:ext cx="256032" cy="256032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142231" y="4325112"/>
            <a:ext cx="256032" cy="256032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425696" y="4325112"/>
            <a:ext cx="256032" cy="256032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709160" y="4325112"/>
            <a:ext cx="256032" cy="256032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68112" y="4215383"/>
            <a:ext cx="365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→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896051" y="4270247"/>
            <a:ext cx="0" cy="36576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983833" y="4270247"/>
            <a:ext cx="0" cy="36576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6071616" y="4270247"/>
            <a:ext cx="0" cy="36576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159398" y="4270247"/>
            <a:ext cx="0" cy="36576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5843381" y="4336084"/>
            <a:ext cx="368686" cy="234087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400800" y="4270247"/>
            <a:ext cx="0" cy="36576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488582" y="4270247"/>
            <a:ext cx="0" cy="36576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576364" y="4270247"/>
            <a:ext cx="0" cy="36576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589520" y="4197096"/>
            <a:ext cx="822960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4882896"/>
            <a:ext cx="192024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Жоолук таштамай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468880" y="4928616"/>
            <a:ext cx="2971800" cy="475488"/>
          </a:xfrm>
          <a:prstGeom prst="roundRect">
            <a:avLst>
              <a:gd name="adj" fmla="val 10000"/>
            </a:avLst>
          </a:prstGeom>
          <a:solidFill>
            <a:srgbClr val="F7EBC4"/>
          </a:solidFill>
          <a:ln w="9525">
            <a:solidFill>
              <a:srgbClr val="C9A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560320" y="5038344"/>
            <a:ext cx="256032" cy="256032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843784" y="5038344"/>
            <a:ext cx="256032" cy="256032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127248" y="5038344"/>
            <a:ext cx="256032" cy="256032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410712" y="5038344"/>
            <a:ext cx="256032" cy="256032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68112" y="4928616"/>
            <a:ext cx="365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→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5896051" y="4983479"/>
            <a:ext cx="0" cy="365761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5983833" y="4983479"/>
            <a:ext cx="0" cy="365761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6071616" y="4983479"/>
            <a:ext cx="0" cy="365761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159398" y="4983479"/>
            <a:ext cx="0" cy="365761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7589520" y="4910328"/>
            <a:ext cx="822960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5623560"/>
            <a:ext cx="795527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4A5A70"/>
                </a:solidFill>
                <a:latin typeface="PT Sans"/>
              </a:rPr>
              <a:t>5 капкак = 1 топ = 4 тик чийик + 1 кыйгач чийик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778240" y="2057400"/>
            <a:ext cx="297180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15400" y="2121408"/>
            <a:ext cx="2743200" cy="37490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Ар бир жупта: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• 30 бөтөлкө капкагы (же төө буурчак, таштар)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• 4 кагаз тилке: оюндардын аттары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• чакмак дептер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500" b="1" i="0">
                <a:solidFill>
                  <a:srgbClr val="24418C"/>
                </a:solidFill>
                <a:latin typeface="PT Sans"/>
              </a:rPr>
              <a:t>Эреже: ар бир окуучу бир гана капкак коёт!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таблица жана пиктограмма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Чийиктерди санап, таблицага жазабыз. Пиктограммада ● = 2 окуучу, жарым ● = 1 окуучу.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5943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Жыштык таблицасы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95728"/>
            <a:ext cx="2651760" cy="457200"/>
          </a:xfrm>
          <a:prstGeom prst="rect">
            <a:avLst/>
          </a:prstGeom>
          <a:solidFill>
            <a:srgbClr val="E8F4E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2395728"/>
            <a:ext cx="2578608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Оюн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395728"/>
            <a:ext cx="2011680" cy="457200"/>
          </a:xfrm>
          <a:prstGeom prst="rect">
            <a:avLst/>
          </a:prstGeom>
          <a:solidFill>
            <a:srgbClr val="E8F4E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36976" y="2395728"/>
            <a:ext cx="1938528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Чийиктер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2395728"/>
            <a:ext cx="914400" cy="457200"/>
          </a:xfrm>
          <a:prstGeom prst="rect">
            <a:avLst/>
          </a:prstGeom>
          <a:solidFill>
            <a:srgbClr val="E8F4E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48656" y="2395728"/>
            <a:ext cx="841248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Саны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852928"/>
            <a:ext cx="265176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2852928"/>
            <a:ext cx="2578608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Ордо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852928"/>
            <a:ext cx="201168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3324758" y="2944368"/>
            <a:ext cx="0" cy="274320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390595" y="2944368"/>
            <a:ext cx="0" cy="274320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56432" y="2944368"/>
            <a:ext cx="0" cy="274320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522268" y="2944368"/>
            <a:ext cx="0" cy="274320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285256" y="2993745"/>
            <a:ext cx="276514" cy="175565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703320" y="2944368"/>
            <a:ext cx="0" cy="274320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769156" y="2944368"/>
            <a:ext cx="0" cy="274320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834993" y="2944368"/>
            <a:ext cx="0" cy="274320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900830" y="2944368"/>
            <a:ext cx="0" cy="274320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212080" y="2852928"/>
            <a:ext cx="9144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48656" y="2852928"/>
            <a:ext cx="841248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310128"/>
            <a:ext cx="265176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" y="3310128"/>
            <a:ext cx="2578608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Тогуз коргоол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3310128"/>
            <a:ext cx="201168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3324758" y="3401568"/>
            <a:ext cx="0" cy="274320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390595" y="3401568"/>
            <a:ext cx="0" cy="274320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456432" y="3401568"/>
            <a:ext cx="0" cy="274320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522268" y="3401568"/>
            <a:ext cx="0" cy="274320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285256" y="3450945"/>
            <a:ext cx="276514" cy="175565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703320" y="3401568"/>
            <a:ext cx="0" cy="274320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769156" y="3401568"/>
            <a:ext cx="0" cy="274320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5212080" y="3310128"/>
            <a:ext cx="9144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48656" y="3310128"/>
            <a:ext cx="841248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767328"/>
            <a:ext cx="265176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5216" y="3767328"/>
            <a:ext cx="2578608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Ак терек – көк терек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0" y="3767328"/>
            <a:ext cx="201168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3324758" y="3858768"/>
            <a:ext cx="0" cy="274319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390595" y="3858768"/>
            <a:ext cx="0" cy="274319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456432" y="3858768"/>
            <a:ext cx="0" cy="274319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522268" y="3858768"/>
            <a:ext cx="0" cy="274319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285256" y="3908145"/>
            <a:ext cx="276514" cy="175565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703320" y="3858768"/>
            <a:ext cx="0" cy="274319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769156" y="3858768"/>
            <a:ext cx="0" cy="274319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834993" y="3858768"/>
            <a:ext cx="0" cy="274319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5212080" y="3767328"/>
            <a:ext cx="9144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48656" y="3767328"/>
            <a:ext cx="841248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4224528"/>
            <a:ext cx="265176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85216" y="4224528"/>
            <a:ext cx="2578608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Жоолук таштамай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0" y="4224528"/>
            <a:ext cx="201168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3324758" y="4315968"/>
            <a:ext cx="0" cy="274320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390595" y="4315968"/>
            <a:ext cx="0" cy="274320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456432" y="4315968"/>
            <a:ext cx="0" cy="274320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522268" y="4315968"/>
            <a:ext cx="0" cy="274320"/>
          </a:xfrm>
          <a:prstGeom prst="line">
            <a:avLst/>
          </a:prstGeom>
          <a:ln w="2286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5212080" y="4224528"/>
            <a:ext cx="9144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48656" y="4224528"/>
            <a:ext cx="841248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4681728"/>
            <a:ext cx="466344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85216" y="4681728"/>
            <a:ext cx="4590288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Баары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12080" y="4681728"/>
            <a:ext cx="9144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48656" y="4681728"/>
            <a:ext cx="841248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28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37960" y="201168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Пиктограмма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37960" y="2450592"/>
            <a:ext cx="233172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Ордо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8833104" y="2450592"/>
            <a:ext cx="0" cy="420624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8906255" y="2487168"/>
            <a:ext cx="347472" cy="347472"/>
          </a:xfrm>
          <a:prstGeom prst="ellipse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17735" y="2487168"/>
            <a:ext cx="347472" cy="347472"/>
          </a:xfrm>
          <a:prstGeom prst="ellipse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729215" y="2487168"/>
            <a:ext cx="347472" cy="347472"/>
          </a:xfrm>
          <a:prstGeom prst="ellipse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140695" y="2487168"/>
            <a:ext cx="347472" cy="347472"/>
          </a:xfrm>
          <a:prstGeom prst="ellipse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Delay 77"/>
          <p:cNvSpPr/>
          <p:nvPr/>
        </p:nvSpPr>
        <p:spPr>
          <a:xfrm rot="10800000">
            <a:off x="10552176" y="2487168"/>
            <a:ext cx="173736" cy="347472"/>
          </a:xfrm>
          <a:prstGeom prst="flowChartDelay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37960" y="2999232"/>
            <a:ext cx="233172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Тогуз коргоол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8833104" y="2999232"/>
            <a:ext cx="0" cy="420624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8906255" y="3035808"/>
            <a:ext cx="347472" cy="347472"/>
          </a:xfrm>
          <a:prstGeom prst="ellipse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317735" y="3035808"/>
            <a:ext cx="347472" cy="347472"/>
          </a:xfrm>
          <a:prstGeom prst="ellipse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729215" y="3035808"/>
            <a:ext cx="347472" cy="347472"/>
          </a:xfrm>
          <a:prstGeom prst="ellipse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Delay 83"/>
          <p:cNvSpPr/>
          <p:nvPr/>
        </p:nvSpPr>
        <p:spPr>
          <a:xfrm rot="10800000">
            <a:off x="10140695" y="3035808"/>
            <a:ext cx="173736" cy="347472"/>
          </a:xfrm>
          <a:prstGeom prst="flowChartDelay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537960" y="3547872"/>
            <a:ext cx="233172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Ак терек – көк терек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833104" y="3547872"/>
            <a:ext cx="0" cy="420624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8906255" y="3584448"/>
            <a:ext cx="347472" cy="347472"/>
          </a:xfrm>
          <a:prstGeom prst="ellipse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317735" y="3584448"/>
            <a:ext cx="347472" cy="347472"/>
          </a:xfrm>
          <a:prstGeom prst="ellipse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729215" y="3584448"/>
            <a:ext cx="347472" cy="347472"/>
          </a:xfrm>
          <a:prstGeom prst="ellipse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140695" y="3584448"/>
            <a:ext cx="347472" cy="347472"/>
          </a:xfrm>
          <a:prstGeom prst="ellipse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537960" y="4096511"/>
            <a:ext cx="2331720" cy="4206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Жоолук таштамай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8833104" y="4096511"/>
            <a:ext cx="0" cy="420625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8906255" y="4133087"/>
            <a:ext cx="347472" cy="347472"/>
          </a:xfrm>
          <a:prstGeom prst="ellipse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317735" y="4133087"/>
            <a:ext cx="347472" cy="347472"/>
          </a:xfrm>
          <a:prstGeom prst="ellipse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8906255" y="4700016"/>
            <a:ext cx="347472" cy="347472"/>
          </a:xfrm>
          <a:prstGeom prst="ellipse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326880" y="4654296"/>
            <a:ext cx="2743200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A84400"/>
                </a:solidFill>
                <a:latin typeface="PT Sans"/>
              </a:rPr>
              <a:t>= 2 окуучу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9 + 7 + 8 + 4 = 28 окуучу:  ар ким бир жолу жооп берди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Суроо түз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Так суроо, 3–4 жооп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5, 10…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Чийик чий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4 тик + 1 кыйгач = 1 топ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▢ 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Таблицага жаз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Суммасын текшер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● =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Пиктограмма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Белгини оку; жарым ● = 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1 топ 4 чийик = 9      ● = 2:  4 жарым ● = 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Тогуз коргоолдун сабында 1 толук топ жана 2 чийик, ак теректин сабында 1 толук топ жана 3 чийик. Ар бирин канча окуучу тандады? Кайсынысы канча көп?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 топ 2 чийик = 5 + 2 =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тогуз коргоол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 топ 3 чийик = 5 + 3 =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ак терек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8 − 7 =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ак терек көп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Ак терек = </a:t>
            </a:r>
            <a:r>
              <a:rPr sz="3400" b="1">
                <a:solidFill>
                  <a:srgbClr val="24418C"/>
                </a:solidFill>
                <a:latin typeface="PT Sans"/>
              </a:rPr>
              <a:t>1 окуучу көп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Танаписте тогуз коргоол ойногондор (● = 2): шаршембиде 3 жарым ●, бейшембиде 5 ●. Бейшембиде канча окуучу көп ойноду?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5 ● = 5 × 2 =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бейшемби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 жарым ● = 6 + 1 =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шаршемби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10 − 7 =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бейшембиде көп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Бейшембиде = </a:t>
            </a:r>
            <a:r>
              <a:rPr sz="3400" b="1">
                <a:solidFill>
                  <a:srgbClr val="24418C"/>
                </a:solidFill>
                <a:latin typeface="PT Sans"/>
              </a:rPr>
              <a:t>3 окуучу көп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үч жол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Бештен сана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 топ 4 чийик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5, 10, 15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16, 17, 18, 19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Адегенде топтор бештен, анан калганы бирден.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Экиден сана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● = 2: 4 жарым 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2, 4, 6, 8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+ 1 (жарым)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Ар бир ● = 2, жарым ● = 1.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Толуктап кемит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9 − 4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4төн 9га: +5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«Канча көп?» = айырма: кичинесинен чоңуна чейин сана.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Адегенде белгини оку: топ = 5, ● = 2. Ыкмаңды үн чыгарып айт!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Бардык 3-класстар: ак теректин сабында 3 толук топ (бештен) жана 4 чийик. Ак теректи канча окуучу тандады?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Тогуз коргоолду 7 окуучу, жоолук таштамайды 4 окуучу тандады. Тогуз коргоолду канча окуучу көп тандады?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3-«В» класста ордону 6, тогуз коргоолду 5, ак теректи 9 окуучу тандады. Баары канча окуучу?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30 окуучу катышты: ордо 9, тогуз коргоол 8, ак терек 6, калганы жоолук таштамай. Жоолукту канчасы тандады?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Тогуз коргоолду 7 окуучу, жоолук таштамайды 4 окуучу тандады. Тогуз коргоолду канча окуучу көп тандады?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Тогуз к.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29968" y="3017520"/>
            <a:ext cx="88087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Жоолук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29968" y="3574389"/>
            <a:ext cx="503355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33323" y="3574389"/>
            <a:ext cx="377516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7 − 4 = 3 окуучу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3-«В» класста ордону 6, тогуз коргоолду 5, ак теректи 9 окуучу тандады. Баары канча окуучу?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19600" y="3017520"/>
            <a:ext cx="703173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2773" y="3017520"/>
            <a:ext cx="58597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08751" y="3017520"/>
            <a:ext cx="1054760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992112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4951" y="3401568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37832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6 + 5 + 9 = 20 окуучу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30 окуучу катышты: ордо 9, тогуз коргоол 8, ак терек 6, калганы жоолук таштамай. Жоолукту канчасы тандады?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2272" y="3017520"/>
            <a:ext cx="703173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75445" y="3017520"/>
            <a:ext cx="625043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0488" y="3017520"/>
            <a:ext cx="46878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69271" y="3017520"/>
            <a:ext cx="546912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30 − 23 = 7 окуучу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 топ 4 чийик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● = 2: 6 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● = 2: 2 жарым 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Жаз 6, жай 11, күз 4, кыш 8. Баары канча окуучу?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Жайды 11, кышты 8 окуучу тандады. Жайды канча окуучу көп тандады?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22 окуучу: 8и ордо, 9у тогуз коргоол, калганы ак терек. Ак терек?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 топ 4 чийик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● = 2: 6 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● = 2: 2 жарым 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Жаз 6, жай 11, күз 4, кыш 8. Баары канча окуучу?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Жайды 11, кышты 8 окуучу тандады. Жайды канча окуучу көп тандады?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22 окуучу: 8и ордо, 9у тогуз коргоол, калганы ак терек. Ак терек?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Кайсы оюнду эң көп окуучу тандады? Ал эң аз тандалган оюндан канча көп? Баары 28 окуучу болдубу?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Ордо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40280"/>
            <a:ext cx="758951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35808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Жоолук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3035808"/>
            <a:ext cx="337311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50559" y="3035808"/>
            <a:ext cx="4216400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227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9 − 4 =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9227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ордо 5 окуучуга көп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897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9 + 7 + 8 + 4 = 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44897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баары 28: туура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Ордо (9): жоолуктан 5 көп. Баары 28 окуучу.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Улуттук оюндар күнү жөнүндө маселе түз: өз сурамжылоо суроону жаз, чийиктер жана таблица чий, «канча көп?» деп сура.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Эмир, Тынара, Мээрим эже.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Чийиктер: 4 толук топ жана 2 чийик. Канча окуучу?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● = 2 окуучу. 3 жарым ● канча окуучу?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Ордону 11, жоолук таштамайды 6 окуучу тандады. Ордону канча окуучу көп тандады?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чийиктерди бештен топтойбуз?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Пиктограммада жарым ● эмнени билдирет?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Жакшы сурамжылоо суроосу кандай болот?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 чогултуу: чийиктер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сабакта чыныгы сурамжылоо жүргүзүүнү сунуштайм: окуучулар өз маалыматын чогултат.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Капкактарды бештен топтотуп, анан гана чийик чийдирем: топ = 5 (М1–М3).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Пиктограммада ар дайым адегенде белгини окутам: «1 ● = ?» (М4, М5).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«Канча көп?» суроосунда тилке чийдирем: айырма шабдалы түстө (М6).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