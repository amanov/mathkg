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Сабактын аталышы жана бүгүнкү окуя.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Сабактын жолу: ар бир бөлүк өз слайды менен ачылат.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Окуяны окуп бериңиз. Окуучулар болжолдошсун: кайсы оюн жеңет? Жоопту сабактын аягында (22-слайд) текшеребиз. Мен ушул суроону өз классыма да берүүнү сунуштайм: 11-слайдда капкак менен чыныгы сурамжылоо жүргүзөбүз.</a:t>
            </a:r>
          </a:p>
          <a:p>
            <a:r>
              <a:t>3C (Байланыштыруу): Окуя турмуштан: бул суроого сабактын аягында кайтабыз.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Ой жүгүртүү маданияты (Wenxi Lee, 2,6).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Ийгилик критерийлери: сабактын аягында ар бирине ✓ коёбуз.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Спираль: тема класстан класска тереңдейт.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Мини-тактага жазышат. Жооптор кийинки слайдда.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Жоопту дароо айтпайбыз. Жупта талкуулашат. Жооп: Тынара: кыйгач чийик да бир окуучу, толук топ = 5. Эмир кыйгач чийикти санаган жок (М1).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жупка 30 бөтөлкө капкагы (же төө буурчак, таштар) жана 4 кагаз тилке (оюндардын аттары). Адегенде мен суроону айтам: «Бул төрт оюндун кайсынысын ойногуң келет? Бирөөнү гана танда». Ар бир окуучу бир гана капкак коёт (М8). Анан капкактарды бештен топтоп, ар бир беш капкакты бир толук топ (4 тик + 1 кыйгач) деп доскага чийебиз (М1). Капкак жок болсо, окуучулар доскага чыгып өздөрү бир чийик чийишет. Проектор жок болсо, ушул сүрөттү доскага чийем.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Таблицаны доскага чийем: «Оюн», «Чийиктер», «Саны». Окуучулар чийиктерди бештен санашат (5, 10, …). Пиктограмма: 9 окуучу = 4 жарым ●, анткени 4 × 2 = 8 жана дагы 1. Адегенде белгини окуйбуз: «1 ● канча окуучу?» (М4, М5). Суммасы 28 = класстагы окуучулар (М8).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Төрт кадам: суроо → чийик → таблица → пиктограмма. Жакшы суроо: так, жооп варианттары бар, ар ким бир гана жооп берет. Ката коддору: М1–М3 (чийик), М4–М5 (пиктограмма), М6–М8 (таблица окуу).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сап «=» менен башталат. Окуучулар кадамды айтып турат.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сап «=» менен башталат. Окуучулар кадамды айтып турат.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ыкманы окуучу үн чыгарып айтат: «5, 10, 15… анан 16, 17, 18, 19». «Оозеки беш мүнөт» (класста колдонуу картасы, 3-бет) эки апта ушул ыкмаларды кайталайт.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Баары бир убакта манжа менен көрсөтөт (1–4). Туура эмес жооптун коду: А = М1; Б = ✓; В = М3; Г = М2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деңгээл: канча көп → баары канча → белгисиз бөлүк. Жооптор: 7 − 4 = 3 окуучу; 6 + 5 + 9 = 20 окуучу; 30 − 23 = 7 окуучу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Жеңилден баштап, мүмкүн болушунча алдыга. Жооптор кийинки слайдда.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Таблицадан: ордо 9, тогуз коргоол 7, ак терек 8, жоолук 4. Эң көбү ордо (9 &gt; 8 &gt; 7 &gt; 4). Айырма: 9 − 4 = 5 (тилкеде шабдалы түстүү бөлүк). Суммасы 28 = катышкандардын саны: эч ким эки жолу жооп берген жок жана эч ким калган жок (М8).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Блум: Түзүү. Жупта алмашып, бири-биринин маселесин чыгарышат.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Жооптор: 22; 7; 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Бул слайд окуучуларга көрсөтүлбөйт.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1/26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9728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37160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0" y="1188720"/>
            <a:ext cx="96012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4A5A70"/>
                </a:solidFill>
                <a:latin typeface="PT Sans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1691640"/>
            <a:ext cx="9601200" cy="17373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D3557"/>
                </a:solidFill>
                <a:latin typeface="PT Sans"/>
              </a:rPr>
              <a:t>Маалымат чогултуу: суроо, чийиктер жана жыштык таблицасы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828800" y="3611880"/>
            <a:ext cx="8778240" cy="14630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57400" y="3657600"/>
            <a:ext cx="83210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A84400"/>
                </a:solidFill>
                <a:latin typeface="PT Sans"/>
              </a:rPr>
              <a:t>Бүгүнкү окуя: Ат-Башыдагы оюндар күнү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4160520"/>
            <a:ext cx="832104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Эмир менен Тынара 3-«Б» класстан кайсы улуттук оюнду ойногусу келерин сурап, чийик менен белгилешет.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5349240"/>
            <a:ext cx="96012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1">
                <a:solidFill>
                  <a:srgbClr val="6B7280"/>
                </a:solidFill>
                <a:latin typeface="PT Sans"/>
              </a:rPr>
              <a:t>Китеп: Математика стандарты, 3-класс (маалымат чогултуу: суроо, чийиктер, жыштык таблицасы, пиктограмма). Мазмуну оригиналдуу.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Сабактын мазмуну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Маалымат чогултуу: чийиктер жана таблица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0080" y="1463039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1280160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Кириш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1280160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Окуя, эрежелер, максаттар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" y="2212848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0080" y="2395728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2212848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Даярдык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2212848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Эстейбиз, «Ким туура?»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145536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0080" y="3328416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3145536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Түшүнөбүз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3145536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К → С → А: буюм, тилке, эреже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8" y="4078224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0080" y="426110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80160" y="4078224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Машыгабыз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60" y="4078224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Чечүүчү суроо, тилке, өз алдынча иш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" y="5010912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0080" y="5193792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5010912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Жыйынтык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60" y="5010912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Окуяга кайтуу, түзүү, чыгуу билети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Окуя: Ат-Башыдагы оюндар күнү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Маалымат чогултуу: чийиктер жана таблица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6766560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325880"/>
            <a:ext cx="6217920" cy="4389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Ат-Башыдагы мектепте жума күнү «Улуттук оюндар күнү» болот.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Мээрим эже: «Ар бир класс бир оюнду тандайт. Кайсынысын тандайбыз?»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Эмир менен Тынара 28 окуучудан сурашты: ордо, тогуз коргоол, ак терек – көк терек же жоолук таштамай?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Тынара ар бир жоопко доскага бир чийик чийип турду.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06640" y="1225296"/>
            <a:ext cx="4352544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35240" y="1325880"/>
            <a:ext cx="39319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A84400"/>
                </a:solidFill>
                <a:latin typeface="PT Sans"/>
              </a:rPr>
              <a:t>Суроо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35240" y="1828800"/>
            <a:ext cx="393192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Кайсы оюнду эң көп окуучу тандады? Ал эң аз тандалган оюндан канча көп? Баары 28 окуучу болдубу?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35240" y="4572000"/>
            <a:ext cx="39319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1">
                <a:solidFill>
                  <a:srgbClr val="6B7280"/>
                </a:solidFill>
                <a:latin typeface="PT Sans"/>
              </a:rPr>
              <a:t>Азыр жообун айтпайбыз. Ойлон: кантип билебиз?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Математикада биз…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Маалымат чогултуу: чийиктер жана таблица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4/26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58368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007A5A"/>
                </a:solidFill>
                <a:latin typeface="PT Sans"/>
              </a:rPr>
              <a:t>Ката – үйрөнүүнүн бир бөлүгү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Ката кетсе, эмне үчүн кеткенин издейбиз.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82439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11039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A84400"/>
                </a:solidFill>
                <a:latin typeface="PT Sans"/>
              </a:rPr>
              <a:t>«Азырынча билбейм»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11039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«Билбейм» эмес, «азырынча». Машыксак, үйрөнөбүз.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5112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363712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24418C"/>
                </a:solidFill>
                <a:latin typeface="PT Sans"/>
              </a:rPr>
              <a:t>Адегенде түшүн, анан эсепте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3712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Сүрөт же тилке чийип, анан сан менен жазабыз.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Максаттар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Маалымат чогултуу: чийиктер жана таблица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6409944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429768" y="1865376"/>
            <a:ext cx="6409944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12648" y="1225296"/>
            <a:ext cx="6044184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Бүгүн биз үйрөнөбүз</a:t>
            </a:r>
          </a:p>
        </p:txBody>
      </p:sp>
      <p:sp>
        <p:nvSpPr>
          <p:cNvPr id="13" name="Oval 12"/>
          <p:cNvSpPr/>
          <p:nvPr/>
        </p:nvSpPr>
        <p:spPr>
          <a:xfrm>
            <a:off x="722376" y="21488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61872" y="211226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Сурамжылоо үчүн так суроо жана 3–4 жооп вариантын түзөм.</a:t>
            </a:r>
          </a:p>
        </p:txBody>
      </p:sp>
      <p:sp>
        <p:nvSpPr>
          <p:cNvPr id="15" name="Oval 14"/>
          <p:cNvSpPr/>
          <p:nvPr/>
        </p:nvSpPr>
        <p:spPr>
          <a:xfrm>
            <a:off x="722376" y="342900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61872" y="339242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Жоопторду чийик менен бештен топтоп белгилейм, санайм жана жыштык таблицасына жазам.</a:t>
            </a:r>
          </a:p>
        </p:txBody>
      </p:sp>
      <p:sp>
        <p:nvSpPr>
          <p:cNvPr id="17" name="Oval 16"/>
          <p:cNvSpPr/>
          <p:nvPr/>
        </p:nvSpPr>
        <p:spPr>
          <a:xfrm>
            <a:off x="722376" y="470916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61872" y="467258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Таблицаны жана пиктограмманы (● = 2) окуп, «канча?», «канча көп?», «баары канча?» деген суроолорго жооп берем.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32320" y="1225296"/>
            <a:ext cx="4636008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7132320" y="1865376"/>
            <a:ext cx="46360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306056" y="1225296"/>
            <a:ext cx="4270248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Деңгээлдер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60920" y="2103120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007A5A"/>
                </a:solidFill>
                <a:latin typeface="PT Sans"/>
              </a:rPr>
              <a:t>Жеңил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41080" y="2057400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Чийик, таблица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60920" y="3127248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A84400"/>
                </a:solidFill>
                <a:latin typeface="PT Sans"/>
              </a:rPr>
              <a:t>Орто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41080" y="3081528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Пиктограмма, канча көп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60920" y="4151376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4A5A70"/>
                </a:solidFill>
                <a:latin typeface="PT Sans"/>
              </a:rPr>
              <a:t>Оор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41080" y="4105656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6B7280"/>
                </a:solidFill>
                <a:latin typeface="PT Sans"/>
              </a:rPr>
              <a:t>Белгисиз бөлүк, суроо түзүү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3C: бүгүн кантип ойлонобуз?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Маалымат чогултуу: чийиктер жана таблица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04088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007A5A"/>
                </a:solidFill>
                <a:latin typeface="PT Sans"/>
              </a:rPr>
              <a:t>Сынчыл ой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Текшеребиз, далилдейбиз, катаны издейбиз.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04088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58368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«Ким туура?»</a:t>
            </a:r>
          </a:p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Катаны тап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0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572000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A84400"/>
                </a:solidFill>
                <a:latin typeface="PT Sans"/>
              </a:rPr>
              <a:t>Кызматташуу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80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Жупта жана топто сүйлөшөбүз.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572000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526280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6280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Жупта сурамжылоо</a:t>
            </a:r>
          </a:p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Капкактар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65592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439912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24418C"/>
                </a:solidFill>
                <a:latin typeface="PT Sans"/>
              </a:rPr>
              <a:t>Байланыштыруу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94192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Математиканы турмуш менен байланыштырабыз.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439912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394192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94192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Улуттук оюндар</a:t>
            </a:r>
          </a:p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Ат-Башы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Мурун – бүгүн – кийин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Маалымат чогултуу: чийиктер жана таблица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7/26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3017520"/>
            <a:ext cx="2660904" cy="27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31089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007A5A"/>
                </a:solidFill>
                <a:latin typeface="PT Sans"/>
              </a:rPr>
              <a:t/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04088" y="3657600"/>
            <a:ext cx="2112264" cy="0"/>
          </a:xfrm>
          <a:prstGeom prst="line">
            <a:avLst/>
          </a:prstGeom>
          <a:ln w="1270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12647" y="3749039"/>
            <a:ext cx="2295144" cy="1920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Таблица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Пиктограмма (● = 1)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19272" y="2560320"/>
            <a:ext cx="2660904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56432" y="26517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A84400"/>
                </a:solidFill>
                <a:latin typeface="PT Sans"/>
              </a:rPr>
              <a:t/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593591" y="3200400"/>
            <a:ext cx="2112265" cy="0"/>
          </a:xfrm>
          <a:prstGeom prst="line">
            <a:avLst/>
          </a:prstGeom>
          <a:ln w="127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3502152" y="3291839"/>
            <a:ext cx="2295144" cy="2377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Чийиктер, жыштык таблицасы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Пиктограмма (● = 2)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918204" y="2057400"/>
            <a:ext cx="1463040" cy="384048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A84400"/>
                </a:solidFill>
                <a:latin typeface="PT Sans"/>
              </a:rPr>
              <a:t>Бүгүн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08776" y="2103120"/>
            <a:ext cx="2660904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45936" y="21945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4A5A70"/>
                </a:solidFill>
                <a:latin typeface="PT Sans"/>
              </a:rPr>
              <a:t/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483096" y="2743200"/>
            <a:ext cx="2112263" cy="0"/>
          </a:xfrm>
          <a:prstGeom prst="line">
            <a:avLst/>
          </a:prstGeom>
          <a:ln w="12700">
            <a:solidFill>
              <a:srgbClr val="4A5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391656" y="2834639"/>
            <a:ext cx="2295144" cy="2834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6B7280"/>
                </a:solidFill>
                <a:latin typeface="PT Sans"/>
              </a:rPr>
              <a:t>• Мамычалуу диаграмма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6B7280"/>
                </a:solidFill>
                <a:latin typeface="PT Sans"/>
              </a:rPr>
              <a:t>• Шкала 2, 5, 10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98280" y="1645919"/>
            <a:ext cx="2660904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35440" y="17373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4A5A70"/>
                </a:solidFill>
                <a:latin typeface="PT Sans"/>
              </a:rPr>
              <a:t/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372600" y="2286000"/>
            <a:ext cx="2112264" cy="0"/>
          </a:xfrm>
          <a:prstGeom prst="line">
            <a:avLst/>
          </a:prstGeom>
          <a:ln w="12700">
            <a:solidFill>
              <a:srgbClr val="4A5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9281160" y="2377439"/>
            <a:ext cx="2295144" cy="3291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6B7280"/>
                </a:solidFill>
                <a:latin typeface="PT Sans"/>
              </a:rPr>
              <a:t>• Орточо маани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6B7280"/>
                </a:solidFill>
                <a:latin typeface="PT Sans"/>
              </a:rPr>
              <a:t>• Диаграммалар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9768" y="5806440"/>
            <a:ext cx="11329416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1">
                <a:solidFill>
                  <a:srgbClr val="6B7280"/>
                </a:solidFill>
                <a:latin typeface="PT Sans"/>
              </a:rPr>
              <a:t>Ар бир класс мурункусунун үстүнө курулат.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Даярдык: эстейли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Маалымат чогултуу: чийиктер жана таблица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8/26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Мини-тактага жаз. 2 мүнөт.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53517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5 + 5 + 5 + 3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69164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91656" y="253517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86016" y="169164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Бештен сана: 5, 10, □, □, 25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400050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484403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400050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2 × 6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08776" y="400050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91656" y="484403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86016" y="400050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12 − 7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Даярдык: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Маалымат чогултуу: чийиктер жана таблица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9/26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5 + 5 + 5 + 3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34804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18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45936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94576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Бештен сана: 5, 10, □, □, 25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13812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15, 20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2 × 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34804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12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08776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45936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4576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12 − 7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13812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Ким туура?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Маалымат чогултуу: чийиктер жана таблица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10/26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Мээрим эже: «Ордонун сабында 1 толук топ жана 4 чийик. Ордону канча окуучу тандады?»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" y="2103120"/>
            <a:ext cx="5550408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429768" y="2697480"/>
            <a:ext cx="55504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29768" y="2103120"/>
            <a:ext cx="5550408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Эмир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" y="2834640"/>
            <a:ext cx="5029200" cy="2286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Топто 4 тик чийик бар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4 + 4 = 8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8 окуучу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08776" y="2103120"/>
            <a:ext cx="5550408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6208776" y="2697480"/>
            <a:ext cx="55504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208776" y="2103120"/>
            <a:ext cx="5550408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Тынара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3096" y="2834640"/>
            <a:ext cx="5029200" cy="2286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Топто 5 чийик: 4 тик + 1 кыйгач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5 + 4 = 9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9 окуучу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349240"/>
            <a:ext cx="11329416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600" b="1" i="0">
                <a:solidFill>
                  <a:srgbClr val="A84400"/>
                </a:solidFill>
                <a:latin typeface="PT Sans"/>
              </a:rPr>
              <a:t>Ким туура? Чийиктерди бирден санап текшер.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К: буюм менен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Маалымат чогултуу: чийиктер жана таблица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11/26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Жупта: ар бир окуучу тандаган оюнунун катарына бир капкак коёт. Капкактарды бештен топтоп, чийик менен жазгыла.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029968"/>
            <a:ext cx="78638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1D3557"/>
                </a:solidFill>
                <a:latin typeface="PT Sans"/>
              </a:rPr>
              <a:t>Капкак = 1 окуучу. Бештен топтойбуз → чийик менен жазабыз.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14600" y="2432304"/>
            <a:ext cx="3108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1">
                <a:solidFill>
                  <a:srgbClr val="6B7280"/>
                </a:solidFill>
                <a:latin typeface="PT Sans"/>
              </a:rPr>
              <a:t>Капкактар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06440" y="2432304"/>
            <a:ext cx="146304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1">
                <a:solidFill>
                  <a:srgbClr val="6B7280"/>
                </a:solidFill>
                <a:latin typeface="PT Sans"/>
              </a:rPr>
              <a:t>Чийиктер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35240" y="2432304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1">
                <a:solidFill>
                  <a:srgbClr val="6B7280"/>
                </a:solidFill>
                <a:latin typeface="PT Sans"/>
              </a:rPr>
              <a:t>Саны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2743200"/>
            <a:ext cx="192024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Ордо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468880" y="2788920"/>
            <a:ext cx="2971800" cy="475488"/>
          </a:xfrm>
          <a:prstGeom prst="roundRect">
            <a:avLst>
              <a:gd name="adj" fmla="val 10000"/>
            </a:avLst>
          </a:prstGeom>
          <a:solidFill>
            <a:srgbClr val="F7EBC4"/>
          </a:solidFill>
          <a:ln w="9525">
            <a:solidFill>
              <a:srgbClr val="C9A2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560320" y="2898648"/>
            <a:ext cx="256032" cy="256032"/>
          </a:xfrm>
          <a:prstGeom prst="ellipse">
            <a:avLst/>
          </a:prstGeom>
          <a:solidFill>
            <a:srgbClr val="2F6DB5"/>
          </a:solidFill>
          <a:ln w="9525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843784" y="2898648"/>
            <a:ext cx="256032" cy="256032"/>
          </a:xfrm>
          <a:prstGeom prst="ellipse">
            <a:avLst/>
          </a:prstGeom>
          <a:solidFill>
            <a:srgbClr val="2F6DB5"/>
          </a:solidFill>
          <a:ln w="9525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127248" y="2898648"/>
            <a:ext cx="256032" cy="256032"/>
          </a:xfrm>
          <a:prstGeom prst="ellipse">
            <a:avLst/>
          </a:prstGeom>
          <a:solidFill>
            <a:srgbClr val="2F6DB5"/>
          </a:solidFill>
          <a:ln w="9525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410712" y="2898648"/>
            <a:ext cx="256032" cy="256032"/>
          </a:xfrm>
          <a:prstGeom prst="ellipse">
            <a:avLst/>
          </a:prstGeom>
          <a:solidFill>
            <a:srgbClr val="2F6DB5"/>
          </a:solidFill>
          <a:ln w="9525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694176" y="2898648"/>
            <a:ext cx="256032" cy="256032"/>
          </a:xfrm>
          <a:prstGeom prst="ellipse">
            <a:avLst/>
          </a:prstGeom>
          <a:solidFill>
            <a:srgbClr val="2F6DB5"/>
          </a:solidFill>
          <a:ln w="9525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142231" y="2898648"/>
            <a:ext cx="256032" cy="256032"/>
          </a:xfrm>
          <a:prstGeom prst="ellipse">
            <a:avLst/>
          </a:prstGeom>
          <a:solidFill>
            <a:srgbClr val="2F6DB5"/>
          </a:solidFill>
          <a:ln w="9525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425696" y="2898648"/>
            <a:ext cx="256032" cy="256032"/>
          </a:xfrm>
          <a:prstGeom prst="ellipse">
            <a:avLst/>
          </a:prstGeom>
          <a:solidFill>
            <a:srgbClr val="2F6DB5"/>
          </a:solidFill>
          <a:ln w="9525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709160" y="2898648"/>
            <a:ext cx="256032" cy="256032"/>
          </a:xfrm>
          <a:prstGeom prst="ellipse">
            <a:avLst/>
          </a:prstGeom>
          <a:solidFill>
            <a:srgbClr val="2F6DB5"/>
          </a:solidFill>
          <a:ln w="9525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4992624" y="2898648"/>
            <a:ext cx="256032" cy="256032"/>
          </a:xfrm>
          <a:prstGeom prst="ellipse">
            <a:avLst/>
          </a:prstGeom>
          <a:solidFill>
            <a:srgbClr val="2F6DB5"/>
          </a:solidFill>
          <a:ln w="9525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68112" y="2788920"/>
            <a:ext cx="3657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→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896051" y="2843784"/>
            <a:ext cx="0" cy="365760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983833" y="2843784"/>
            <a:ext cx="0" cy="365760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071616" y="2843784"/>
            <a:ext cx="0" cy="365760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6159398" y="2843784"/>
            <a:ext cx="0" cy="365760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5843381" y="2909620"/>
            <a:ext cx="368686" cy="234087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6400800" y="2843784"/>
            <a:ext cx="0" cy="365760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6488582" y="2843784"/>
            <a:ext cx="0" cy="365760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6576364" y="2843784"/>
            <a:ext cx="0" cy="365760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6664147" y="2843784"/>
            <a:ext cx="0" cy="365760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7589520" y="2770632"/>
            <a:ext cx="822960" cy="51206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3456432"/>
            <a:ext cx="192024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Тогуз коргоол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468880" y="3502152"/>
            <a:ext cx="2971800" cy="475488"/>
          </a:xfrm>
          <a:prstGeom prst="roundRect">
            <a:avLst>
              <a:gd name="adj" fmla="val 10000"/>
            </a:avLst>
          </a:prstGeom>
          <a:solidFill>
            <a:srgbClr val="F7EBC4"/>
          </a:solidFill>
          <a:ln w="9525">
            <a:solidFill>
              <a:srgbClr val="C9A2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2560320" y="3611880"/>
            <a:ext cx="256032" cy="256032"/>
          </a:xfrm>
          <a:prstGeom prst="ellipse">
            <a:avLst/>
          </a:prstGeom>
          <a:solidFill>
            <a:srgbClr val="2F6DB5"/>
          </a:solidFill>
          <a:ln w="9525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2843784" y="3611880"/>
            <a:ext cx="256032" cy="256032"/>
          </a:xfrm>
          <a:prstGeom prst="ellipse">
            <a:avLst/>
          </a:prstGeom>
          <a:solidFill>
            <a:srgbClr val="2F6DB5"/>
          </a:solidFill>
          <a:ln w="9525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3127248" y="3611880"/>
            <a:ext cx="256032" cy="256032"/>
          </a:xfrm>
          <a:prstGeom prst="ellipse">
            <a:avLst/>
          </a:prstGeom>
          <a:solidFill>
            <a:srgbClr val="2F6DB5"/>
          </a:solidFill>
          <a:ln w="9525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3410712" y="3611880"/>
            <a:ext cx="256032" cy="256032"/>
          </a:xfrm>
          <a:prstGeom prst="ellipse">
            <a:avLst/>
          </a:prstGeom>
          <a:solidFill>
            <a:srgbClr val="2F6DB5"/>
          </a:solidFill>
          <a:ln w="9525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3694176" y="3611880"/>
            <a:ext cx="256032" cy="256032"/>
          </a:xfrm>
          <a:prstGeom prst="ellipse">
            <a:avLst/>
          </a:prstGeom>
          <a:solidFill>
            <a:srgbClr val="2F6DB5"/>
          </a:solidFill>
          <a:ln w="9525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4142231" y="3611880"/>
            <a:ext cx="256032" cy="256032"/>
          </a:xfrm>
          <a:prstGeom prst="ellipse">
            <a:avLst/>
          </a:prstGeom>
          <a:solidFill>
            <a:srgbClr val="2F6DB5"/>
          </a:solidFill>
          <a:ln w="9525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4425696" y="3611880"/>
            <a:ext cx="256032" cy="256032"/>
          </a:xfrm>
          <a:prstGeom prst="ellipse">
            <a:avLst/>
          </a:prstGeom>
          <a:solidFill>
            <a:srgbClr val="2F6DB5"/>
          </a:solidFill>
          <a:ln w="9525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468112" y="3502152"/>
            <a:ext cx="3657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→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5896051" y="3557016"/>
            <a:ext cx="0" cy="365760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5983833" y="3557016"/>
            <a:ext cx="0" cy="365760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6071616" y="3557016"/>
            <a:ext cx="0" cy="365760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6159398" y="3557016"/>
            <a:ext cx="0" cy="365760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5843381" y="3622852"/>
            <a:ext cx="368686" cy="234087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6400800" y="3557016"/>
            <a:ext cx="0" cy="365760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6488582" y="3557016"/>
            <a:ext cx="0" cy="365760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7589520" y="3483864"/>
            <a:ext cx="822960" cy="51206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48640" y="4169663"/>
            <a:ext cx="192024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Ак терек – көк терек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2468880" y="4215383"/>
            <a:ext cx="2971800" cy="475488"/>
          </a:xfrm>
          <a:prstGeom prst="roundRect">
            <a:avLst>
              <a:gd name="adj" fmla="val 10000"/>
            </a:avLst>
          </a:prstGeom>
          <a:solidFill>
            <a:srgbClr val="F7EBC4"/>
          </a:solidFill>
          <a:ln w="9525">
            <a:solidFill>
              <a:srgbClr val="C9A2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2560320" y="4325112"/>
            <a:ext cx="256032" cy="256032"/>
          </a:xfrm>
          <a:prstGeom prst="ellipse">
            <a:avLst/>
          </a:prstGeom>
          <a:solidFill>
            <a:srgbClr val="2F6DB5"/>
          </a:solidFill>
          <a:ln w="9525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2843784" y="4325112"/>
            <a:ext cx="256032" cy="256032"/>
          </a:xfrm>
          <a:prstGeom prst="ellipse">
            <a:avLst/>
          </a:prstGeom>
          <a:solidFill>
            <a:srgbClr val="2F6DB5"/>
          </a:solidFill>
          <a:ln w="9525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3127248" y="4325112"/>
            <a:ext cx="256032" cy="256032"/>
          </a:xfrm>
          <a:prstGeom prst="ellipse">
            <a:avLst/>
          </a:prstGeom>
          <a:solidFill>
            <a:srgbClr val="2F6DB5"/>
          </a:solidFill>
          <a:ln w="9525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3410712" y="4325112"/>
            <a:ext cx="256032" cy="256032"/>
          </a:xfrm>
          <a:prstGeom prst="ellipse">
            <a:avLst/>
          </a:prstGeom>
          <a:solidFill>
            <a:srgbClr val="2F6DB5"/>
          </a:solidFill>
          <a:ln w="9525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3694176" y="4325112"/>
            <a:ext cx="256032" cy="256032"/>
          </a:xfrm>
          <a:prstGeom prst="ellipse">
            <a:avLst/>
          </a:prstGeom>
          <a:solidFill>
            <a:srgbClr val="2F6DB5"/>
          </a:solidFill>
          <a:ln w="9525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4142231" y="4325112"/>
            <a:ext cx="256032" cy="256032"/>
          </a:xfrm>
          <a:prstGeom prst="ellipse">
            <a:avLst/>
          </a:prstGeom>
          <a:solidFill>
            <a:srgbClr val="2F6DB5"/>
          </a:solidFill>
          <a:ln w="9525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4425696" y="4325112"/>
            <a:ext cx="256032" cy="256032"/>
          </a:xfrm>
          <a:prstGeom prst="ellipse">
            <a:avLst/>
          </a:prstGeom>
          <a:solidFill>
            <a:srgbClr val="2F6DB5"/>
          </a:solidFill>
          <a:ln w="9525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4709160" y="4325112"/>
            <a:ext cx="256032" cy="256032"/>
          </a:xfrm>
          <a:prstGeom prst="ellipse">
            <a:avLst/>
          </a:prstGeom>
          <a:solidFill>
            <a:srgbClr val="2F6DB5"/>
          </a:solidFill>
          <a:ln w="9525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68112" y="4215383"/>
            <a:ext cx="3657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→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5896051" y="4270247"/>
            <a:ext cx="0" cy="365760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5983833" y="4270247"/>
            <a:ext cx="0" cy="365760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6071616" y="4270247"/>
            <a:ext cx="0" cy="365760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6159398" y="4270247"/>
            <a:ext cx="0" cy="365760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5843381" y="4336084"/>
            <a:ext cx="368686" cy="234087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6400800" y="4270247"/>
            <a:ext cx="0" cy="365760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6488582" y="4270247"/>
            <a:ext cx="0" cy="365760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6576364" y="4270247"/>
            <a:ext cx="0" cy="365760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/>
          <p:cNvSpPr txBox="1"/>
          <p:nvPr/>
        </p:nvSpPr>
        <p:spPr>
          <a:xfrm>
            <a:off x="7589520" y="4197096"/>
            <a:ext cx="822960" cy="51206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8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48640" y="4882896"/>
            <a:ext cx="192024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Жоолук таштамай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2468880" y="4928616"/>
            <a:ext cx="2971800" cy="475488"/>
          </a:xfrm>
          <a:prstGeom prst="roundRect">
            <a:avLst>
              <a:gd name="adj" fmla="val 10000"/>
            </a:avLst>
          </a:prstGeom>
          <a:solidFill>
            <a:srgbClr val="F7EBC4"/>
          </a:solidFill>
          <a:ln w="9525">
            <a:solidFill>
              <a:srgbClr val="C9A2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2560320" y="5038344"/>
            <a:ext cx="256032" cy="256032"/>
          </a:xfrm>
          <a:prstGeom prst="ellipse">
            <a:avLst/>
          </a:prstGeom>
          <a:solidFill>
            <a:srgbClr val="2F6DB5"/>
          </a:solidFill>
          <a:ln w="9525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2843784" y="5038344"/>
            <a:ext cx="256032" cy="256032"/>
          </a:xfrm>
          <a:prstGeom prst="ellipse">
            <a:avLst/>
          </a:prstGeom>
          <a:solidFill>
            <a:srgbClr val="2F6DB5"/>
          </a:solidFill>
          <a:ln w="9525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3127248" y="5038344"/>
            <a:ext cx="256032" cy="256032"/>
          </a:xfrm>
          <a:prstGeom prst="ellipse">
            <a:avLst/>
          </a:prstGeom>
          <a:solidFill>
            <a:srgbClr val="2F6DB5"/>
          </a:solidFill>
          <a:ln w="9525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3410712" y="5038344"/>
            <a:ext cx="256032" cy="256032"/>
          </a:xfrm>
          <a:prstGeom prst="ellipse">
            <a:avLst/>
          </a:prstGeom>
          <a:solidFill>
            <a:srgbClr val="2F6DB5"/>
          </a:solidFill>
          <a:ln w="9525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468112" y="4928616"/>
            <a:ext cx="3657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→</a:t>
            </a:r>
          </a:p>
        </p:txBody>
      </p:sp>
      <p:cxnSp>
        <p:nvCxnSpPr>
          <p:cNvPr id="83" name="Connector 82"/>
          <p:cNvCxnSpPr/>
          <p:nvPr/>
        </p:nvCxnSpPr>
        <p:spPr>
          <a:xfrm>
            <a:off x="5896051" y="4983479"/>
            <a:ext cx="0" cy="365761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5983833" y="4983479"/>
            <a:ext cx="0" cy="365761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6071616" y="4983479"/>
            <a:ext cx="0" cy="365761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6159398" y="4983479"/>
            <a:ext cx="0" cy="365761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TextBox 86"/>
          <p:cNvSpPr txBox="1"/>
          <p:nvPr/>
        </p:nvSpPr>
        <p:spPr>
          <a:xfrm>
            <a:off x="7589520" y="4910328"/>
            <a:ext cx="822960" cy="51206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" y="5623560"/>
            <a:ext cx="7955279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4A5A70"/>
                </a:solidFill>
                <a:latin typeface="PT Sans"/>
              </a:rPr>
              <a:t>5 капкак = 1 топ = 4 тик чийик + 1 кыйгач чийик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8778240" y="2057400"/>
            <a:ext cx="2971800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8915400" y="2121408"/>
            <a:ext cx="2743200" cy="3749039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1F2430"/>
                </a:solidFill>
                <a:latin typeface="PT Sans"/>
              </a:rPr>
              <a:t>Ар бир жупта:</a:t>
            </a:r>
          </a:p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• 30 бөтөлкө капкагы (же төө буурчак, таштар)</a:t>
            </a:r>
          </a:p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• 4 кагаз тилке: оюндардын аттары</a:t>
            </a:r>
          </a:p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• чакмак дептер</a:t>
            </a:r>
          </a:p>
          <a:p>
            <a:pPr algn="l">
              <a:lnSpc>
                <a:spcPct val="110000"/>
              </a:lnSpc>
              <a:spcBef>
                <a:spcPts val="600"/>
              </a:spcBef>
            </a:pPr>
            <a:r>
              <a:rPr sz="1500" b="1" i="0">
                <a:solidFill>
                  <a:srgbClr val="24418C"/>
                </a:solidFill>
                <a:latin typeface="PT Sans"/>
              </a:rPr>
              <a:t>Эреже: ар бир окуучу бир гана капкак коёт!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К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С: таблица жана пиктограмма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Маалымат чогултуу: чийиктер жана таблица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Чийиктерди санап, таблицага жазабыз. Пиктограммада ● = 2 окуучу, жарым ● = 1 окуучу.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011680"/>
            <a:ext cx="59436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1D3557"/>
                </a:solidFill>
                <a:latin typeface="PT Sans"/>
              </a:rPr>
              <a:t>Жыштык таблицасы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395728"/>
            <a:ext cx="2651760" cy="457200"/>
          </a:xfrm>
          <a:prstGeom prst="rect">
            <a:avLst/>
          </a:prstGeom>
          <a:solidFill>
            <a:srgbClr val="E8F4EF"/>
          </a:solidFill>
          <a:ln w="1143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5216" y="2395728"/>
            <a:ext cx="2578608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500" b="1" i="0">
                <a:solidFill>
                  <a:srgbClr val="1D3557"/>
                </a:solidFill>
                <a:latin typeface="PT Sans"/>
              </a:rPr>
              <a:t>Оюн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0" y="2395728"/>
            <a:ext cx="2011680" cy="457200"/>
          </a:xfrm>
          <a:prstGeom prst="rect">
            <a:avLst/>
          </a:prstGeom>
          <a:solidFill>
            <a:srgbClr val="E8F4EF"/>
          </a:solidFill>
          <a:ln w="1143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36976" y="2395728"/>
            <a:ext cx="1938528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500" b="1" i="0">
                <a:solidFill>
                  <a:srgbClr val="1D3557"/>
                </a:solidFill>
                <a:latin typeface="PT Sans"/>
              </a:rPr>
              <a:t>Чийиктер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12080" y="2395728"/>
            <a:ext cx="914400" cy="457200"/>
          </a:xfrm>
          <a:prstGeom prst="rect">
            <a:avLst/>
          </a:prstGeom>
          <a:solidFill>
            <a:srgbClr val="E8F4EF"/>
          </a:solidFill>
          <a:ln w="1143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48656" y="2395728"/>
            <a:ext cx="841248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500" b="1" i="0">
                <a:solidFill>
                  <a:srgbClr val="1D3557"/>
                </a:solidFill>
                <a:latin typeface="PT Sans"/>
              </a:rPr>
              <a:t>Саны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2852928"/>
            <a:ext cx="2651760" cy="457200"/>
          </a:xfrm>
          <a:prstGeom prst="rect">
            <a:avLst/>
          </a:prstGeom>
          <a:solidFill>
            <a:srgbClr val="FFFFFF"/>
          </a:solidFill>
          <a:ln w="1143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5216" y="2852928"/>
            <a:ext cx="2578608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Ордо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0" y="2852928"/>
            <a:ext cx="2011680" cy="457200"/>
          </a:xfrm>
          <a:prstGeom prst="rect">
            <a:avLst/>
          </a:prstGeom>
          <a:solidFill>
            <a:srgbClr val="FFFFFF"/>
          </a:solidFill>
          <a:ln w="1143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2" name="Connector 21"/>
          <p:cNvCxnSpPr/>
          <p:nvPr/>
        </p:nvCxnSpPr>
        <p:spPr>
          <a:xfrm>
            <a:off x="3324758" y="2944368"/>
            <a:ext cx="0" cy="274320"/>
          </a:xfrm>
          <a:prstGeom prst="line">
            <a:avLst/>
          </a:prstGeom>
          <a:ln w="2286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3390595" y="2944368"/>
            <a:ext cx="0" cy="274320"/>
          </a:xfrm>
          <a:prstGeom prst="line">
            <a:avLst/>
          </a:prstGeom>
          <a:ln w="2286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3456432" y="2944368"/>
            <a:ext cx="0" cy="274320"/>
          </a:xfrm>
          <a:prstGeom prst="line">
            <a:avLst/>
          </a:prstGeom>
          <a:ln w="2286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3522268" y="2944368"/>
            <a:ext cx="0" cy="274320"/>
          </a:xfrm>
          <a:prstGeom prst="line">
            <a:avLst/>
          </a:prstGeom>
          <a:ln w="2286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3285256" y="2993745"/>
            <a:ext cx="276514" cy="175565"/>
          </a:xfrm>
          <a:prstGeom prst="line">
            <a:avLst/>
          </a:prstGeom>
          <a:ln w="2286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3703320" y="2944368"/>
            <a:ext cx="0" cy="274320"/>
          </a:xfrm>
          <a:prstGeom prst="line">
            <a:avLst/>
          </a:prstGeom>
          <a:ln w="2286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3769156" y="2944368"/>
            <a:ext cx="0" cy="274320"/>
          </a:xfrm>
          <a:prstGeom prst="line">
            <a:avLst/>
          </a:prstGeom>
          <a:ln w="2286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3834993" y="2944368"/>
            <a:ext cx="0" cy="274320"/>
          </a:xfrm>
          <a:prstGeom prst="line">
            <a:avLst/>
          </a:prstGeom>
          <a:ln w="2286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3900830" y="2944368"/>
            <a:ext cx="0" cy="274320"/>
          </a:xfrm>
          <a:prstGeom prst="line">
            <a:avLst/>
          </a:prstGeom>
          <a:ln w="2286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5212080" y="2852928"/>
            <a:ext cx="914400" cy="457200"/>
          </a:xfrm>
          <a:prstGeom prst="rect">
            <a:avLst/>
          </a:prstGeom>
          <a:solidFill>
            <a:srgbClr val="FFFFFF"/>
          </a:solidFill>
          <a:ln w="1143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248656" y="2852928"/>
            <a:ext cx="841248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500" b="1" i="0">
                <a:solidFill>
                  <a:srgbClr val="24418C"/>
                </a:solidFill>
                <a:latin typeface="PT Sans"/>
              </a:rPr>
              <a:t>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3310128"/>
            <a:ext cx="2651760" cy="457200"/>
          </a:xfrm>
          <a:prstGeom prst="rect">
            <a:avLst/>
          </a:prstGeom>
          <a:solidFill>
            <a:srgbClr val="FFFFFF"/>
          </a:solidFill>
          <a:ln w="1143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85216" y="3310128"/>
            <a:ext cx="2578608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Тогуз коргоол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200400" y="3310128"/>
            <a:ext cx="2011680" cy="457200"/>
          </a:xfrm>
          <a:prstGeom prst="rect">
            <a:avLst/>
          </a:prstGeom>
          <a:solidFill>
            <a:srgbClr val="FFFFFF"/>
          </a:solidFill>
          <a:ln w="1143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6" name="Connector 35"/>
          <p:cNvCxnSpPr/>
          <p:nvPr/>
        </p:nvCxnSpPr>
        <p:spPr>
          <a:xfrm>
            <a:off x="3324758" y="3401568"/>
            <a:ext cx="0" cy="274320"/>
          </a:xfrm>
          <a:prstGeom prst="line">
            <a:avLst/>
          </a:prstGeom>
          <a:ln w="2286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3390595" y="3401568"/>
            <a:ext cx="0" cy="274320"/>
          </a:xfrm>
          <a:prstGeom prst="line">
            <a:avLst/>
          </a:prstGeom>
          <a:ln w="2286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3456432" y="3401568"/>
            <a:ext cx="0" cy="274320"/>
          </a:xfrm>
          <a:prstGeom prst="line">
            <a:avLst/>
          </a:prstGeom>
          <a:ln w="2286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3522268" y="3401568"/>
            <a:ext cx="0" cy="274320"/>
          </a:xfrm>
          <a:prstGeom prst="line">
            <a:avLst/>
          </a:prstGeom>
          <a:ln w="2286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3285256" y="3450945"/>
            <a:ext cx="276514" cy="175565"/>
          </a:xfrm>
          <a:prstGeom prst="line">
            <a:avLst/>
          </a:prstGeom>
          <a:ln w="2286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3703320" y="3401568"/>
            <a:ext cx="0" cy="274320"/>
          </a:xfrm>
          <a:prstGeom prst="line">
            <a:avLst/>
          </a:prstGeom>
          <a:ln w="2286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3769156" y="3401568"/>
            <a:ext cx="0" cy="274320"/>
          </a:xfrm>
          <a:prstGeom prst="line">
            <a:avLst/>
          </a:prstGeom>
          <a:ln w="2286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ectangle 42"/>
          <p:cNvSpPr/>
          <p:nvPr/>
        </p:nvSpPr>
        <p:spPr>
          <a:xfrm>
            <a:off x="5212080" y="3310128"/>
            <a:ext cx="914400" cy="457200"/>
          </a:xfrm>
          <a:prstGeom prst="rect">
            <a:avLst/>
          </a:prstGeom>
          <a:solidFill>
            <a:srgbClr val="FFFFFF"/>
          </a:solidFill>
          <a:ln w="1143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248656" y="3310128"/>
            <a:ext cx="841248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500" b="1" i="0">
                <a:solidFill>
                  <a:srgbClr val="24418C"/>
                </a:solidFill>
                <a:latin typeface="PT Sans"/>
              </a:rPr>
              <a:t>7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48640" y="3767328"/>
            <a:ext cx="2651760" cy="457200"/>
          </a:xfrm>
          <a:prstGeom prst="rect">
            <a:avLst/>
          </a:prstGeom>
          <a:solidFill>
            <a:srgbClr val="FFFFFF"/>
          </a:solidFill>
          <a:ln w="1143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85216" y="3767328"/>
            <a:ext cx="2578608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Ак терек – көк терек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200400" y="3767328"/>
            <a:ext cx="2011680" cy="457200"/>
          </a:xfrm>
          <a:prstGeom prst="rect">
            <a:avLst/>
          </a:prstGeom>
          <a:solidFill>
            <a:srgbClr val="FFFFFF"/>
          </a:solidFill>
          <a:ln w="1143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3324758" y="3858768"/>
            <a:ext cx="0" cy="274319"/>
          </a:xfrm>
          <a:prstGeom prst="line">
            <a:avLst/>
          </a:prstGeom>
          <a:ln w="2286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3390595" y="3858768"/>
            <a:ext cx="0" cy="274319"/>
          </a:xfrm>
          <a:prstGeom prst="line">
            <a:avLst/>
          </a:prstGeom>
          <a:ln w="2286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3456432" y="3858768"/>
            <a:ext cx="0" cy="274319"/>
          </a:xfrm>
          <a:prstGeom prst="line">
            <a:avLst/>
          </a:prstGeom>
          <a:ln w="2286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3522268" y="3858768"/>
            <a:ext cx="0" cy="274319"/>
          </a:xfrm>
          <a:prstGeom prst="line">
            <a:avLst/>
          </a:prstGeom>
          <a:ln w="2286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3285256" y="3908145"/>
            <a:ext cx="276514" cy="175565"/>
          </a:xfrm>
          <a:prstGeom prst="line">
            <a:avLst/>
          </a:prstGeom>
          <a:ln w="2286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3703320" y="3858768"/>
            <a:ext cx="0" cy="274319"/>
          </a:xfrm>
          <a:prstGeom prst="line">
            <a:avLst/>
          </a:prstGeom>
          <a:ln w="2286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3769156" y="3858768"/>
            <a:ext cx="0" cy="274319"/>
          </a:xfrm>
          <a:prstGeom prst="line">
            <a:avLst/>
          </a:prstGeom>
          <a:ln w="2286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3834993" y="3858768"/>
            <a:ext cx="0" cy="274319"/>
          </a:xfrm>
          <a:prstGeom prst="line">
            <a:avLst/>
          </a:prstGeom>
          <a:ln w="2286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ectangle 55"/>
          <p:cNvSpPr/>
          <p:nvPr/>
        </p:nvSpPr>
        <p:spPr>
          <a:xfrm>
            <a:off x="5212080" y="3767328"/>
            <a:ext cx="914400" cy="457200"/>
          </a:xfrm>
          <a:prstGeom prst="rect">
            <a:avLst/>
          </a:prstGeom>
          <a:solidFill>
            <a:srgbClr val="FFFFFF"/>
          </a:solidFill>
          <a:ln w="1143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248656" y="3767328"/>
            <a:ext cx="841248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500" b="1" i="0">
                <a:solidFill>
                  <a:srgbClr val="24418C"/>
                </a:solidFill>
                <a:latin typeface="PT Sans"/>
              </a:rPr>
              <a:t>8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48640" y="4224528"/>
            <a:ext cx="2651760" cy="457200"/>
          </a:xfrm>
          <a:prstGeom prst="rect">
            <a:avLst/>
          </a:prstGeom>
          <a:solidFill>
            <a:srgbClr val="FFFFFF"/>
          </a:solidFill>
          <a:ln w="1143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85216" y="4224528"/>
            <a:ext cx="2578608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Жоолук таштамай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200400" y="4224528"/>
            <a:ext cx="2011680" cy="457200"/>
          </a:xfrm>
          <a:prstGeom prst="rect">
            <a:avLst/>
          </a:prstGeom>
          <a:solidFill>
            <a:srgbClr val="FFFFFF"/>
          </a:solidFill>
          <a:ln w="1143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1" name="Connector 60"/>
          <p:cNvCxnSpPr/>
          <p:nvPr/>
        </p:nvCxnSpPr>
        <p:spPr>
          <a:xfrm>
            <a:off x="3324758" y="4315968"/>
            <a:ext cx="0" cy="274320"/>
          </a:xfrm>
          <a:prstGeom prst="line">
            <a:avLst/>
          </a:prstGeom>
          <a:ln w="2286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3390595" y="4315968"/>
            <a:ext cx="0" cy="274320"/>
          </a:xfrm>
          <a:prstGeom prst="line">
            <a:avLst/>
          </a:prstGeom>
          <a:ln w="2286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3456432" y="4315968"/>
            <a:ext cx="0" cy="274320"/>
          </a:xfrm>
          <a:prstGeom prst="line">
            <a:avLst/>
          </a:prstGeom>
          <a:ln w="2286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3522268" y="4315968"/>
            <a:ext cx="0" cy="274320"/>
          </a:xfrm>
          <a:prstGeom prst="line">
            <a:avLst/>
          </a:prstGeom>
          <a:ln w="2286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Rectangle 64"/>
          <p:cNvSpPr/>
          <p:nvPr/>
        </p:nvSpPr>
        <p:spPr>
          <a:xfrm>
            <a:off x="5212080" y="4224528"/>
            <a:ext cx="914400" cy="457200"/>
          </a:xfrm>
          <a:prstGeom prst="rect">
            <a:avLst/>
          </a:prstGeom>
          <a:solidFill>
            <a:srgbClr val="FFFFFF"/>
          </a:solidFill>
          <a:ln w="1143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248656" y="4224528"/>
            <a:ext cx="841248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500" b="1" i="0">
                <a:solidFill>
                  <a:srgbClr val="24418C"/>
                </a:solidFill>
                <a:latin typeface="PT Sans"/>
              </a:rPr>
              <a:t>4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48640" y="4681728"/>
            <a:ext cx="4663440" cy="457200"/>
          </a:xfrm>
          <a:prstGeom prst="rect">
            <a:avLst/>
          </a:prstGeom>
          <a:solidFill>
            <a:srgbClr val="FFFFFF"/>
          </a:solidFill>
          <a:ln w="1143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85216" y="4681728"/>
            <a:ext cx="4590288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500" b="1" i="0">
                <a:solidFill>
                  <a:srgbClr val="1D3557"/>
                </a:solidFill>
                <a:latin typeface="PT Sans"/>
              </a:rPr>
              <a:t>Баары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212080" y="4681728"/>
            <a:ext cx="914400" cy="457200"/>
          </a:xfrm>
          <a:prstGeom prst="rect">
            <a:avLst/>
          </a:prstGeom>
          <a:solidFill>
            <a:srgbClr val="FFFFFF"/>
          </a:solidFill>
          <a:ln w="1143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248656" y="4681728"/>
            <a:ext cx="841248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28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537960" y="2011680"/>
            <a:ext cx="51206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1D3557"/>
                </a:solidFill>
                <a:latin typeface="PT Sans"/>
              </a:rPr>
              <a:t>Пиктограмма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537960" y="2450592"/>
            <a:ext cx="2331720" cy="42062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1F2430"/>
                </a:solidFill>
                <a:latin typeface="PT Sans"/>
              </a:rPr>
              <a:t>Ордо</a:t>
            </a:r>
          </a:p>
        </p:txBody>
      </p:sp>
      <p:cxnSp>
        <p:nvCxnSpPr>
          <p:cNvPr id="73" name="Connector 72"/>
          <p:cNvCxnSpPr/>
          <p:nvPr/>
        </p:nvCxnSpPr>
        <p:spPr>
          <a:xfrm>
            <a:off x="8833104" y="2450592"/>
            <a:ext cx="0" cy="420624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Oval 73"/>
          <p:cNvSpPr/>
          <p:nvPr/>
        </p:nvSpPr>
        <p:spPr>
          <a:xfrm>
            <a:off x="8906255" y="2487168"/>
            <a:ext cx="347472" cy="347472"/>
          </a:xfrm>
          <a:prstGeom prst="ellipse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9317735" y="2487168"/>
            <a:ext cx="347472" cy="347472"/>
          </a:xfrm>
          <a:prstGeom prst="ellipse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9729215" y="2487168"/>
            <a:ext cx="347472" cy="347472"/>
          </a:xfrm>
          <a:prstGeom prst="ellipse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10140695" y="2487168"/>
            <a:ext cx="347472" cy="347472"/>
          </a:xfrm>
          <a:prstGeom prst="ellipse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Delay 77"/>
          <p:cNvSpPr/>
          <p:nvPr/>
        </p:nvSpPr>
        <p:spPr>
          <a:xfrm rot="10800000">
            <a:off x="10552176" y="2487168"/>
            <a:ext cx="173736" cy="347472"/>
          </a:xfrm>
          <a:prstGeom prst="flowChartDelay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537960" y="2999232"/>
            <a:ext cx="2331720" cy="42062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1F2430"/>
                </a:solidFill>
                <a:latin typeface="PT Sans"/>
              </a:rPr>
              <a:t>Тогуз коргоол</a:t>
            </a:r>
          </a:p>
        </p:txBody>
      </p:sp>
      <p:cxnSp>
        <p:nvCxnSpPr>
          <p:cNvPr id="80" name="Connector 79"/>
          <p:cNvCxnSpPr/>
          <p:nvPr/>
        </p:nvCxnSpPr>
        <p:spPr>
          <a:xfrm>
            <a:off x="8833104" y="2999232"/>
            <a:ext cx="0" cy="420624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Oval 80"/>
          <p:cNvSpPr/>
          <p:nvPr/>
        </p:nvSpPr>
        <p:spPr>
          <a:xfrm>
            <a:off x="8906255" y="3035808"/>
            <a:ext cx="347472" cy="347472"/>
          </a:xfrm>
          <a:prstGeom prst="ellipse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9317735" y="3035808"/>
            <a:ext cx="347472" cy="347472"/>
          </a:xfrm>
          <a:prstGeom prst="ellipse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9729215" y="3035808"/>
            <a:ext cx="347472" cy="347472"/>
          </a:xfrm>
          <a:prstGeom prst="ellipse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Delay 83"/>
          <p:cNvSpPr/>
          <p:nvPr/>
        </p:nvSpPr>
        <p:spPr>
          <a:xfrm rot="10800000">
            <a:off x="10140695" y="3035808"/>
            <a:ext cx="173736" cy="347472"/>
          </a:xfrm>
          <a:prstGeom prst="flowChartDelay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537960" y="3547872"/>
            <a:ext cx="2331720" cy="42062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1F2430"/>
                </a:solidFill>
                <a:latin typeface="PT Sans"/>
              </a:rPr>
              <a:t>Ак терек – көк терек</a:t>
            </a:r>
          </a:p>
        </p:txBody>
      </p:sp>
      <p:cxnSp>
        <p:nvCxnSpPr>
          <p:cNvPr id="86" name="Connector 85"/>
          <p:cNvCxnSpPr/>
          <p:nvPr/>
        </p:nvCxnSpPr>
        <p:spPr>
          <a:xfrm>
            <a:off x="8833104" y="3547872"/>
            <a:ext cx="0" cy="420624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Oval 86"/>
          <p:cNvSpPr/>
          <p:nvPr/>
        </p:nvSpPr>
        <p:spPr>
          <a:xfrm>
            <a:off x="8906255" y="3584448"/>
            <a:ext cx="347472" cy="347472"/>
          </a:xfrm>
          <a:prstGeom prst="ellipse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9317735" y="3584448"/>
            <a:ext cx="347472" cy="347472"/>
          </a:xfrm>
          <a:prstGeom prst="ellipse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9729215" y="3584448"/>
            <a:ext cx="347472" cy="347472"/>
          </a:xfrm>
          <a:prstGeom prst="ellipse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10140695" y="3584448"/>
            <a:ext cx="347472" cy="347472"/>
          </a:xfrm>
          <a:prstGeom prst="ellipse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537960" y="4096511"/>
            <a:ext cx="2331720" cy="42062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1F2430"/>
                </a:solidFill>
                <a:latin typeface="PT Sans"/>
              </a:rPr>
              <a:t>Жоолук таштамай</a:t>
            </a:r>
          </a:p>
        </p:txBody>
      </p:sp>
      <p:cxnSp>
        <p:nvCxnSpPr>
          <p:cNvPr id="92" name="Connector 91"/>
          <p:cNvCxnSpPr/>
          <p:nvPr/>
        </p:nvCxnSpPr>
        <p:spPr>
          <a:xfrm>
            <a:off x="8833104" y="4096511"/>
            <a:ext cx="0" cy="420625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Oval 92"/>
          <p:cNvSpPr/>
          <p:nvPr/>
        </p:nvSpPr>
        <p:spPr>
          <a:xfrm>
            <a:off x="8906255" y="4133087"/>
            <a:ext cx="347472" cy="347472"/>
          </a:xfrm>
          <a:prstGeom prst="ellipse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9317735" y="4133087"/>
            <a:ext cx="347472" cy="347472"/>
          </a:xfrm>
          <a:prstGeom prst="ellipse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8906255" y="4700016"/>
            <a:ext cx="347472" cy="347472"/>
          </a:xfrm>
          <a:prstGeom prst="ellipse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9326880" y="4654296"/>
            <a:ext cx="2743200" cy="43891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A84400"/>
                </a:solidFill>
                <a:latin typeface="PT Sans"/>
              </a:rPr>
              <a:t>= 2 окуучу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29768" y="562356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9 + 7 + 8 + 4 = 28 окуучу:  ар ким бир жолу жооп берди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С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А: эреже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Маалымат чогултуу: чийиктер жана таблица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71600"/>
            <a:ext cx="2626614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23035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7" y="2377440"/>
            <a:ext cx="2443734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7" y="3063240"/>
            <a:ext cx="244373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Суроо түз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3566160"/>
            <a:ext cx="2352294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Так суроо, 3–4 жооп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056382" y="2880360"/>
            <a:ext cx="27432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3330702" y="1371600"/>
            <a:ext cx="2626614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323969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22142" y="2377440"/>
            <a:ext cx="2443734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5, 10…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22142" y="3063240"/>
            <a:ext cx="244373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Чийик чий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67862" y="3566160"/>
            <a:ext cx="2352294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4 тик + 1 кыйгач = 1 топ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957316" y="2880360"/>
            <a:ext cx="27432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6231636" y="1371600"/>
            <a:ext cx="2626614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224902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23075" y="2377440"/>
            <a:ext cx="2443734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▢ 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23075" y="3063240"/>
            <a:ext cx="244373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Таблицага жаз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68796" y="3566160"/>
            <a:ext cx="2352294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Суммасын текшер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858250" y="2880360"/>
            <a:ext cx="27432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9132570" y="1371600"/>
            <a:ext cx="2626614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25837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24010" y="2377440"/>
            <a:ext cx="2443734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● = 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24010" y="3063240"/>
            <a:ext cx="244373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Пиктограмма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69730" y="3566160"/>
            <a:ext cx="2352294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Белгини оку; жарым ● = 1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874519" y="4709160"/>
            <a:ext cx="8449056" cy="758952"/>
          </a:xfrm>
          <a:prstGeom prst="roundRect">
            <a:avLst>
              <a:gd name="adj" fmla="val 244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600" b="1">
                <a:solidFill>
                  <a:srgbClr val="A84400"/>
                </a:solidFill>
                <a:latin typeface="PT Sans"/>
              </a:rPr>
              <a:t>1 топ 4 чийик = 9      ● = 2:  4 жарым ● = 9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Мисал 1: мен көрсөтөм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Маалымат чогултуу: чийиктер жана таблица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14/26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Тогуз коргоолдун сабында 1 толук топ жана 2 чийик, ак теректин сабында 1 толук топ жана 3 чийик. Ар бирин канча окуучу тандады? Кайсынысы канча көп?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240280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1 топ 2 чийик = 5 + 2 = 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60" y="2240280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тогуз коргоол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898648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1 топ 3 чийик = 5 + 3 = 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6760" y="2898648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ак терек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557016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24418C"/>
                </a:solidFill>
                <a:latin typeface="PT Sans"/>
              </a:rPr>
              <a:t>8 − 7 = 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3557016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ак терек көп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" y="5596128"/>
            <a:ext cx="11329416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1" i="0">
                <a:solidFill>
                  <a:srgbClr val="1F2430"/>
                </a:solidFill>
                <a:latin typeface="PT Sans"/>
              </a:rPr>
              <a:t>Ак терек = </a:t>
            </a:r>
            <a:r>
              <a:rPr sz="3400" b="1">
                <a:solidFill>
                  <a:srgbClr val="24418C"/>
                </a:solidFill>
                <a:latin typeface="PT Sans"/>
              </a:rPr>
              <a:t>1 окуучу көп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Мисал 2: мен көрсөтөм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Маалымат чогултуу: чийиктер жана таблица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Танаписте тогуз коргоол ойногондор (● = 2): шаршембиде 3 жарым ●, бейшембиде 5 ●. Бейшембиде канча окуучу көп ойноду?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240280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5 ● = 5 × 2 = 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60" y="2240280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бейшемби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898648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3 жарым ● = 6 + 1 = 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6760" y="2898648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шаршемби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557016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24418C"/>
                </a:solidFill>
                <a:latin typeface="PT Sans"/>
              </a:rPr>
              <a:t>10 − 7 =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3557016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бейшембиде көп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" y="5596128"/>
            <a:ext cx="11329416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1" i="0">
                <a:solidFill>
                  <a:srgbClr val="1F2430"/>
                </a:solidFill>
                <a:latin typeface="PT Sans"/>
              </a:rPr>
              <a:t>Бейшембиде = </a:t>
            </a:r>
            <a:r>
              <a:rPr sz="3400" b="1">
                <a:solidFill>
                  <a:srgbClr val="24418C"/>
                </a:solidFill>
                <a:latin typeface="PT Sans"/>
              </a:rPr>
              <a:t>3 окуучу көп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Оозеки ыкма: үч жол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Маалымат чогултуу: чийиктер жана таблица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12647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Бештен сана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3 топ 4 чийик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5, 10, 15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16, 17, 18, 19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3895344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= 19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Адегенде топтор бештен, анан калганы бирден.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0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480560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74920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Экиден сана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6280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● = 2: 4 жарым 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6280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2, 4, 6, 8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26280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+ 1 (жарым)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6280" y="3895344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= 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26280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Ар бир ● = 2, жарым ● = 1.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65592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348472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42832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Толуктап кемит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94192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9 − 4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94192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4төн 9га: +5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94192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= 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94192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«Канча көп?» = айырма: кичинесинен чоңуна чейин сана.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29768" y="5577840"/>
            <a:ext cx="11329416" cy="502920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222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700" b="1">
                <a:solidFill>
                  <a:srgbClr val="007A5A"/>
                </a:solidFill>
                <a:latin typeface="PT Sans"/>
              </a:rPr>
              <a:t>Адегенде белгини оку: топ = 5, ● = 2. Ыкмаңды үн чыгарып айт!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Чечүүчү 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Маалымат чогултуу: чийиктер жана таблица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17/26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Бардык 3-класстар: ак теректин сабында 3 толук топ (бештен) жана 4 чийик. Ак теректи канча окуучу тандады?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" y="228600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04088" y="274320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27048" y="228600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16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08776" y="228600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83096" y="274320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06056" y="228600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19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402336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04088" y="448056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27048" y="402336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34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08776" y="402336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83096" y="448056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06056" y="402336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7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Тилке машыгуусу: чий, анан эсепте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Маалымат чогултуу: чийиктер жана таблица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18/26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Тогуз коргоолду 7 окуучу, жоолук таштамайды 4 окуучу тандады. Тогуз коргоолду канча окуучу көп тандады?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7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167128" y="4956048"/>
            <a:ext cx="170383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12647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618488" y="5641848"/>
            <a:ext cx="225247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4282439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419600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76800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3-«В» класста ордону 6, тогуз коргоолду 5, ак теректи 9 окуучу тандады. Баары канча окуучу?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56759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65320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019800" y="4956048"/>
            <a:ext cx="1703831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465320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471159" y="5641848"/>
            <a:ext cx="225247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8135112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272272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29472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30 окуучу катышты: ордо 9, тогуз коргоол 8, ак терек 6, калганы жоолук таштамай. Жоолукту канчасы тандады?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09432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17991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9872471" y="4956048"/>
            <a:ext cx="1703833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8317991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323831" y="5641848"/>
            <a:ext cx="2252473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С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Тилке машыгуусу: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Маалымат чогултуу: чийиктер жана таблица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19/26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Тогуз коргоолду 7 окуучу, жоолук таштамайды 4 окуучу тандады. Тогуз коргоолду канча окуучу көп тандады?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3017520"/>
            <a:ext cx="1371600" cy="38404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100" b="1" i="0">
                <a:solidFill>
                  <a:srgbClr val="1F2430"/>
                </a:solidFill>
                <a:latin typeface="PT Sans"/>
              </a:rPr>
              <a:t>Тогуз к.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029968" y="3017520"/>
            <a:ext cx="880871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3574389"/>
            <a:ext cx="1371600" cy="38404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100" b="1" i="0">
                <a:solidFill>
                  <a:srgbClr val="1F2430"/>
                </a:solidFill>
                <a:latin typeface="PT Sans"/>
              </a:rPr>
              <a:t>Жоолук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029968" y="3574389"/>
            <a:ext cx="503355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4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533323" y="3574389"/>
            <a:ext cx="377516" cy="384048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7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7 − 4 = 3 окуучу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82439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419600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76800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3-«В» класста ордону 6, тогуз коргоолду 5, ак теректи 9 окуучу тандады. Баары канча окуучу?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19600" y="3017520"/>
            <a:ext cx="703173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6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122773" y="3017520"/>
            <a:ext cx="585978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708751" y="3017520"/>
            <a:ext cx="1054760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9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854951" y="3017520"/>
            <a:ext cx="137161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6992112" y="3017520"/>
            <a:ext cx="0" cy="384048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854951" y="3401568"/>
            <a:ext cx="137161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7037832" y="2935224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20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65320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6 + 5 + 9 = 20 окуучу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135112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8272272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29472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30 окуучу катышты: ордо 9, тогуз коргоол 8, ак терек 6, калганы жоолук таштамай. Жоолукту канчасы тандады?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72272" y="3017520"/>
            <a:ext cx="703173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9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975445" y="3017520"/>
            <a:ext cx="625043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8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600488" y="3017520"/>
            <a:ext cx="468782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6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069271" y="3017520"/>
            <a:ext cx="546912" cy="384048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6B7280"/>
                </a:solidFill>
                <a:latin typeface="PT Sans"/>
              </a:rPr>
              <a:t>?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10707624" y="301752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10844784" y="3017520"/>
            <a:ext cx="0" cy="384048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10707624" y="3401568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10890503" y="2935224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30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17991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30 − 23 = 7 окуучу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Өз алдынча иш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Маалымат чогултуу: чийиктер жана таблица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20/26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Дептериңе чыгар. Кыйын болсо – жакшы! Мээң өсүп жатат.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2 топ 4 чийик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69164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91656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86016" y="169164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● = 2: 6 ●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323088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323088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● = 2: 2 жарым ●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08776" y="323088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91656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86016" y="323088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Жаз 6, жай 11, күз 4, кыш 8. Баары канча окуучу?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9768" y="477012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12647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07007" y="477012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Жайды 11, кышты 8 окуучу тандады. Жайды канча окуучу көп тандады?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08776" y="477012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91656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86016" y="477012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22 окуучу: 8и ордо, 9у тогуз коргоол, калганы ак терек. Ак терек?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Өз алдынча иш: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Маалымат чогултуу: чийиктер жана таблица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21/26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2 топ 4 чийик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34804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14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45936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94576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● = 2: 6 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13812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12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● = 2: 2 жарым 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34804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5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08776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45936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4576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Жаз 6, жай 11, күз 4, кыш 8. Баары канча окуучу?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13812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29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" y="3374136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66928" y="3630168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" y="3374136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Жайды 11, кышты 8 окуучу тандады. Жайды канча окуучу көп тандады?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34804" y="3374136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3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08776" y="3374136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345936" y="3630168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94576" y="3374136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22 окуучу: 8и ордо, 9у тогуз коргоол, калганы ак терек. Ак терек?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13812" y="3374136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Окуяга кайтабыз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Маалымат чогултуу: чийиктер жана таблица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Кайсы оюнду эң көп окуучу тандады? Ал эң аз тандалган оюндан канча көп? Баары 28 окуучу болдубу?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240280"/>
            <a:ext cx="137160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1F2430"/>
                </a:solidFill>
                <a:latin typeface="PT Sans"/>
              </a:rPr>
              <a:t>Ордо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377440" y="2240280"/>
            <a:ext cx="7589519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035808"/>
            <a:ext cx="137160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1F2430"/>
                </a:solidFill>
                <a:latin typeface="PT Sans"/>
              </a:rPr>
              <a:t>Жоолук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377440" y="3035808"/>
            <a:ext cx="3373119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750559" y="3035808"/>
            <a:ext cx="4216400" cy="548640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3922776"/>
            <a:ext cx="7498079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600" b="1" i="0">
                <a:solidFill>
                  <a:srgbClr val="1F2430"/>
                </a:solidFill>
                <a:latin typeface="PT Sans"/>
              </a:rPr>
              <a:t>9 − 4 = 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3922776"/>
            <a:ext cx="31089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ордо 5 окуучуга көп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489704"/>
            <a:ext cx="7498079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600" b="1" i="0">
                <a:solidFill>
                  <a:srgbClr val="24418C"/>
                </a:solidFill>
                <a:latin typeface="PT Sans"/>
              </a:rPr>
              <a:t>9 + 7 + 8 + 4 = 28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66760" y="4489704"/>
            <a:ext cx="31089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баары 28: туура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874519" y="5486400"/>
            <a:ext cx="8449056" cy="640080"/>
          </a:xfrm>
          <a:prstGeom prst="roundRect">
            <a:avLst>
              <a:gd name="adj" fmla="val 244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A84400"/>
                </a:solidFill>
                <a:latin typeface="PT Sans"/>
              </a:rPr>
              <a:t>Ордо (9): жоолуктан 5 көп. Баары 28 окуучу.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Түз: өзүң маселе түз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Маалымат чогултуу: чийиктер жана таблица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4892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371600"/>
            <a:ext cx="10780776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Улуттук оюндар күнү жөнүндө маселе түз: өз сурамжылоо суроону жаз, чийиктер жана таблица чий, «канча көп?» деп сура.</a:t>
            </a:r>
          </a:p>
        </p:txBody>
      </p:sp>
      <p:sp>
        <p:nvSpPr>
          <p:cNvPr id="12" name="Oval 11"/>
          <p:cNvSpPr/>
          <p:nvPr/>
        </p:nvSpPr>
        <p:spPr>
          <a:xfrm>
            <a:off x="704088" y="256032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542032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Окуядагы каармандарды колдон: Эмир, Тынара, Мээрим эже.</a:t>
            </a:r>
          </a:p>
        </p:txBody>
      </p:sp>
      <p:sp>
        <p:nvSpPr>
          <p:cNvPr id="14" name="Oval 13"/>
          <p:cNvSpPr/>
          <p:nvPr/>
        </p:nvSpPr>
        <p:spPr>
          <a:xfrm>
            <a:off x="704088" y="3383279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364991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Тилкесин чий жана туюнтмасын жаз.</a:t>
            </a:r>
          </a:p>
        </p:txBody>
      </p:sp>
      <p:sp>
        <p:nvSpPr>
          <p:cNvPr id="16" name="Oval 15"/>
          <p:cNvSpPr/>
          <p:nvPr/>
        </p:nvSpPr>
        <p:spPr>
          <a:xfrm>
            <a:off x="704088" y="42062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4187952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Жупуңа бер: ал чыгарсын, сен текшер.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3C · Кызматташуу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Чыгуу билети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Маалымат чогултуу: чийиктер жана таблица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24/26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Өз алдынча, 3 мүнөт. Кагазыңа жазып бер.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Чийиктер: 4 толук топ жана 2 чийик. Канча окуучу?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" y="323088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12647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07007" y="323088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● = 2 окуучу. 3 жарым ● канча окуучу?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477012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477012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Ордону 11, жоолук таштамайды 6 окуучу тандады. Ордону канча окуучу көп тандады?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Оозеки талкуу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Маалымат чогултуу: чийиктер жана таблица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3246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80160"/>
            <a:ext cx="10780776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Оозеки талкуу</a:t>
            </a:r>
          </a:p>
        </p:txBody>
      </p:sp>
      <p:sp>
        <p:nvSpPr>
          <p:cNvPr id="12" name="Oval 11"/>
          <p:cNvSpPr/>
          <p:nvPr/>
        </p:nvSpPr>
        <p:spPr>
          <a:xfrm>
            <a:off x="704088" y="19202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1901952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Эмне үчүн чийиктерди бештен топтойбуз?</a:t>
            </a:r>
          </a:p>
        </p:txBody>
      </p:sp>
      <p:sp>
        <p:nvSpPr>
          <p:cNvPr id="14" name="Oval 13"/>
          <p:cNvSpPr/>
          <p:nvPr/>
        </p:nvSpPr>
        <p:spPr>
          <a:xfrm>
            <a:off x="704088" y="2542032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2523744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Пиктограммада жарым ● эмнени билдирет?</a:t>
            </a:r>
          </a:p>
        </p:txBody>
      </p:sp>
      <p:sp>
        <p:nvSpPr>
          <p:cNvPr id="16" name="Oval 15"/>
          <p:cNvSpPr/>
          <p:nvPr/>
        </p:nvSpPr>
        <p:spPr>
          <a:xfrm>
            <a:off x="704088" y="3163824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3145536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Жакшы сурамжылоо суроосу кандай болот?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" y="461772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1">
                <a:solidFill>
                  <a:srgbClr val="6B7280"/>
                </a:solidFill>
                <a:latin typeface="PT Sans"/>
              </a:rPr>
              <a:t>Өзүңдү баала: колуңду көтөр.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8407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007A5A"/>
                </a:solidFill>
                <a:latin typeface="PT Sans"/>
              </a:rPr>
              <a:t>Түшүндүм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636008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A84400"/>
                </a:solidFill>
                <a:latin typeface="PT Sans"/>
              </a:rPr>
              <a:t>Дагы машыгам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93608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Жардам керек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Мугалим үчүн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Маалымат чогултуу: чийиктер жана таблица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5120640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280160"/>
            <a:ext cx="466344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Тилке моделин кантип үйрөтөбүз</a:t>
            </a:r>
          </a:p>
        </p:txBody>
      </p:sp>
      <p:sp>
        <p:nvSpPr>
          <p:cNvPr id="12" name="Oval 11"/>
          <p:cNvSpPr/>
          <p:nvPr/>
        </p:nvSpPr>
        <p:spPr>
          <a:xfrm>
            <a:off x="658368" y="1874519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19" y="1856231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Ар бир сабакта чыныгы сурамжылоо жүргүзүүнү сунуштайм: окуучулар өз маалыматын чогултат.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898648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19" y="2880360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Капкактарды бештен топтотуп, анан гана чийик чийдирем: топ = 5 (М1–М3).</a:t>
            </a:r>
          </a:p>
        </p:txBody>
      </p:sp>
      <p:sp>
        <p:nvSpPr>
          <p:cNvPr id="16" name="Oval 15"/>
          <p:cNvSpPr/>
          <p:nvPr/>
        </p:nvSpPr>
        <p:spPr>
          <a:xfrm>
            <a:off x="658368" y="3922776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19" y="3904488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Пиктограммада ар дайым адегенде белгини окутам: «1 ● = ?» (М4, М5).</a:t>
            </a:r>
          </a:p>
        </p:txBody>
      </p:sp>
      <p:sp>
        <p:nvSpPr>
          <p:cNvPr id="18" name="Oval 17"/>
          <p:cNvSpPr/>
          <p:nvPr/>
        </p:nvSpPr>
        <p:spPr>
          <a:xfrm>
            <a:off x="658368" y="4946904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19" y="4928616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«Канча көп?» суроосунда тилке чийдирем: айырма шабдалы түстө (М6).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779007" y="1225296"/>
            <a:ext cx="5980176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07607" y="1280160"/>
            <a:ext cx="54864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Ой жүгүртүү: эмне деп айтабыз?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07607" y="1783080"/>
            <a:ext cx="2651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6B7280"/>
                </a:solidFill>
                <a:latin typeface="PT Sans"/>
              </a:rPr>
              <a:t>Айтпайбыз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96528" y="1783080"/>
            <a:ext cx="29260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007A5A"/>
                </a:solidFill>
                <a:latin typeface="PT Sans"/>
              </a:rPr>
              <a:t>Айтабыз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07607" y="219456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«Бул оңой эмеспи?»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567928" y="2468879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796528" y="219456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«Кадамдарды бирге карайлы.»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07607" y="315468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«Туура эмес!»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567928" y="342900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8796528" y="315468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«Кантип таптың? Текшерип көрөлүчү.»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07607" y="411480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«Сен математикага жөндөмсүзсүң»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567928" y="438912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8796528" y="411480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«Азырынча. Машыксаң, үйрөнөсүң.»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07607" y="507492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«Тез чыгар»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8567928" y="534924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8796528" y="507492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«Шашпа, адегенде тилке чий.»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