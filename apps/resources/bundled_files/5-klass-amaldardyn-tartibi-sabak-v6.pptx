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Суроону тактага жазыңыз. Окуучулар мини-тактага жооп жазышат. 25 жана 11 деген жооптор чыгат. Ким туура экенин азыр айтпаңыз.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 жана 2-деңгээлди кыскача кайталайбыз, анан 3-деңгээлге (даража) өтөбүз.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критерийлери. Сабактын башында окуп бериңиз, аягында окуучулар ар бирине ✓ коюшат. Ар бир критерийдин далили: чечүүчү суроо (Ч, «baaloo-kuraldary/1-chechuuchu-suroolor») жана чыгуу билетинин суроосу (Б, «baaloo-kuraldary/3b-chyguu-biletteri-A6.pdf»).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Сингапурдагыдай спираль: 5-класс 4-класстын үстүнө курулат. Окуучулар 4-класста өткөн 1- жана 2-деңгээлди эстешет; бүгүн 3-деңгээл (даража). Кашаа ичинде кашаа жана бөлчөк менен татаал туюнтмалар 6-класста.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Сингапур ыкмасы: түшүнүк адегенде буюм менен (бөтөлкө капкактарынан же таштардан квадрат курабыз), анан сүрөт менен (чакмак дептерде квадрат чийебиз: 1 чакмак = 1 бирдик), акырында сан менен (3²) берилет. Ар бир слайддын оң жак ылдыйында К, С же А белгиси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3C: сынчыл ой, кызматташуу, байланыштыруу. Ар бир слайддын ылдыйында кайсы C колдонулуп жатканы белгиленет.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Мугалимге: окуучулардын алдында «математика кыйын» же «мен да билчү эмесмин» дебеңиз. Ката кетирген окуучуну мактаңыз: «Кызыктуу ката! Кайсы кадамды текшеребиз?» Бул үч сөздү сабак бою колдонуңуз.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20  2) 12  3) 28  4) 8. Ката кетирген окуучулар менен эрежени дагы бир жолу айтыңыз: × ÷ биринчи, солдон оңго, кашаа андан да мурун.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Тез оозеки суроолор, даражага даярдык. Жооптору: 1) 16  2) 36  3) 8  4) 100. Эгер 3-суроодо кыйналышса, 2 × 2 = 4, 4 × 2 = 8 деп кадам менен көрсөтүңүз.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Сүрөттүү кадамды узартабыз. Окуучулар азыр эсептебейт: сүрөттү сөз менен айтып беришет. Күтүлгөн жооптор: 3 катар, ар катарда 3; бул квадрат, аны 3² деп жазабыз; 2 гүл өзүнчө; адегенде квадратты табабыз.</a:t>
            </a:r>
          </a:p>
          <a:p>
            <a:r>
              <a:t>3C (Сынчыл ой): Окуучулар сүрөттү талдап, эмнени адегенде табуу керектигин өздөрү айтышат.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3² – бул 3 катар, ар катарда 3 чарчы, б.а. 3 × 3 = 9. Көп окуучу 3² = 6 деп ойлойт: бул ката. 2 + 3² = 2 + 9 = 11.</a:t>
            </a:r>
          </a:p>
          <a:p>
            <a:r>
              <a:t>3C (Байланыштыруу): Бакчанын формасы аркылуу даражаны сүрөт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20дай бөтөлкө капкагын (же таш, бурчак) жана 2 кагаз табак бериңиз. 2² – 2 катар, 2ден (4 капкак). 3² – 3 катар, 3төн (9 капкак). 2³ – ар бир табакта 2 × 2 квадрат, эки табак = эки кабат (8 капкак). Сураңыз: 3² эмне үчүн 6 эмес? Анан окуучулар ошол эле квадраттарды чакмак дептерге боёп чийишет. Буюм аз болсо, жуптар кезек менен иштешет.</a:t>
            </a:r>
          </a:p>
          <a:p>
            <a:r>
              <a:t>3C (Кызматташуу): Жуптар капкактан квадрат жана куб курушат, бири курат, экинчиси санайт.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Негиз жана көрсөткүч деген сөздөрдү көрсөтүңүз. 2³ = 2 × 2 × 2 = 8. Чарчылар 2², 3², 4² квадраттын аянтын көрсөтөт. Окуучулар 2², 3², 4² квадраттарын чакмак дептерге боёп чийишет (1 чакмак = 1 бирдик) жана чакмактарды санап текшеришет.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36  2) 4³  3) 81  4) 8²  5) 1 + 4 = 5  6) 3² = 9 чоң, 2³ = 8.</a:t>
            </a:r>
          </a:p>
          <a:p>
            <a:r>
              <a:t>3C (Кызматташуу): Жуптар жоопторун салыштырып, айырма болсо талкуулашат.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Квадраттарды жаттоо эмес, ыкма менен табабыз. Ыкма 1: белгилүү квадраттан: 6² = 5² + 5 + 6 = 36 (чакмак дептерде 5 × 5 квадратка бир катар жана бир тилке кошулат). Ыкма 2: 10² = 100ден: 9² = 100 − 10 − 9 = 81. Оозеки беш мүнөт: ар күнү 5 квадрат, окуучу өз трекерине ✓ (эстен) же ↻ (ыкма менен) коёт. Класс алдында ылдамдык тизмеси жок.</a:t>
            </a:r>
          </a:p>
          <a:p>
            <a:r>
              <a:t>3C (Байланыштыруу): Жаңы квадратты белгилүү квадрат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Толук эреже: Кашаа, Даража, Бөлүү-Көбөйтүү (солдон оңго), Кошуу-Кемитүү (солдон оңго).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Эсептебей туруп, жооптун чоңдугун болжолдойбуз: «10го жакынбы, 50гө жакынбы, 100гө жакынбы?» Жооптору: 1) 5 + 2 × 3² = 23 → 10–50; 2) (5 + 2) × 3² = 63 → 50дөн көп; 3) 2 × 5² = 50 → 50; 4) (2 × 5)² = 100 → 50дөн көп; 5) 50 − 3² × 2 = 32 → 10–50; 6) 4² ÷ 2 = 8 → 10дон аз. Сураңыз: 3 жана 4 эмне үчүн ар башка? Болжол М9 катасын кармайт: 2 × 3² = 36 чыкса, «2 × 9 болжол менен 20» деп текшерет.</a:t>
            </a:r>
          </a:p>
          <a:p>
            <a:r>
              <a:t>3C (Сынчыл ой): Окуучулар жооп акылга сыярлык экенин эсептөөдөн мурун текшеришет.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Адегенде болжолдойбуз: 2 × 9 болжол менен 20, жооп 20дан бир аз көп; (5 + 2) × 9 = 7 × 9, 60тан бир аз көп. Биринчи мисалда кашаа жок: даража, анан көбөйтүү, анан кошуу. Экинчи мисалда кашаа бар, жооп таптакыр башка.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 – үйрөнүлүүчү көндүм. 4 кадам ар бир маселеде бирдей; окуучулар кадамдарды үн чыгарып айтышат. Салыштыруу модели: Асандын тилкеси Бакыттыкынан 5ке кыска. Жооп: 3 × 8 − 5 = 19 карандаш.</a:t>
            </a:r>
          </a:p>
          <a:p>
            <a:r>
              <a:t>3C (Байланыштыруу): Маселенин сөздөрүн тилкедеги бөлүктөр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Кыска машыгуу (5 мүнөт). Окуучулар тилкени бүтүрүп, «?» коюшат жана туюнтма жазышат. Жооптору: 1) 48 ÷ 3 = 16  2) 100 ÷ 5 × 2 = 40 сом  3) 5 × 12 + 45 = 105 сом.</a:t>
            </a:r>
          </a:p>
          <a:p>
            <a:r>
              <a:t>3C (Кызматташуу): Жуптар тилкелерин салыштырышат: бирдей чийдикпи?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Салыштыруу жана катыш модели. Жооптору: 1) 25 ÷ (2 + 3) × 2 = 10  2) 36 ÷ (4 − 1) = 12 см  3) 36 ÷ (1 + 2) × 2 = 24. Кашаа кайдан чыкканын талкуулаңыз: бирдиктердин санын адегенде табабыз.</a:t>
            </a:r>
          </a:p>
          <a:p>
            <a:r>
              <a:t>3C (Сынчыл ой): Окуучулар бирдиктерди санап, кашаа эмне үчүн керек экенин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4² + 5 = 21  2) 2 × 3² = 18  3) 5² − 2² = 25 − 4 = 21. Сураңыз: кайсы сүрөттө даража бар, кайсы жерде көбөйтүү?</a:t>
            </a:r>
          </a:p>
          <a:p>
            <a:r>
              <a:t>3C (Байланыштыруу): Чарчылардын сүрөтүн даражасы бар туюнтма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Туурасы: Нурай, 18. Даража 3кө гана тиешелүү: 3² = 9, анан 2 × 9 = 18. Айбектин жообу (2 × 3)² туюнтмасынын жообу.</a:t>
            </a:r>
          </a:p>
          <a:p>
            <a:r>
              <a:t>3C (Сынчыл ой): Окуучулар эки чыгарылышты салыштырып, катаны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Жооптору: 1) 26  2) 9  3) 32  4) 13  5) 18  6) 9.</a:t>
            </a:r>
          </a:p>
          <a:p>
            <a:r>
              <a:t>3C (Кызматташуу): Жуптар бири-биринин мини-тактасын текшерет.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Ката: 4² = 4 × 4 = 16, 4 × 2 эмес.  2) Туура: 10 − 4 = 6.  3) Ката: кашаа биринчи: (1 + 2)² = 3² = 9.</a:t>
            </a:r>
          </a:p>
          <a:p>
            <a:r>
              <a:t>3C (Сынчыл ой): Окуучулар ар бир чыгарылышты текшерип, катаны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Эвристика: тандап текшер. Жооптору: 1) (1 + 2)² = 9  2) (3 × 2)² = 36  3) (20 − 2) × 3² = 18 × 9 = 162  4) (2 × 5 + 1)² = 11² = 121.</a:t>
            </a:r>
          </a:p>
          <a:p>
            <a:r>
              <a:t>3C (Сынчыл ой): Окуучулар кашааны ар кайсы жерге коюп текшерип көрүшөт.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Эвристика: чийме чий. 4 катар, 4төн: 4². 3 катар, 5тен: 3 × 5. Туюнтма: 4² + 3 × 5 = 16 + 15 = 31 көчөт.</a:t>
            </a:r>
          </a:p>
          <a:p>
            <a:r>
              <a:t>3C (Байланыштыруу): Бакчанын планын даражасы бар туюнтма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 моделинен туюнтмага: адегенде айырманын бирдиктерин табабыз (кашаа), анан бир бирдикти, анан Тилектин жаңгагын. 5 × (12 ÷ (5 − 3)) = 30.</a:t>
            </a:r>
          </a:p>
          <a:p>
            <a:r>
              <a:t>3C (Байланыштыруу): Катыш маселесин тилке модели жана туюнтма менен байланыштырабыз.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Эвристика: үлгү изде. Ар бир «бурч» кийинки так санды кошот: 1, 3, 5, 7. Жооптору: 1 + 3 + 5 + 7 = 16 = 4²; 1 + 3 + 5 + 7 + 9 = 25 = 5². Ким 10 так санды кошо алат? (10² = 100)</a:t>
            </a:r>
          </a:p>
          <a:p>
            <a:r>
              <a:t>3C (Сынчыл ой): Окуучулар үлгүнү таап, аны далилдешет.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Басма нускасы (A6) жана ийгилик критерийлеринин далили: baaloo-kuraldary/3b-chyguu-biletteri-A6.pdf (Б4, Б5, Б6). Жооптор: 1) 14  2) 17  3) (2 + 3)² = 25 чоң, 2² + 3² = 13  4) Даража көбөйтүүдөн мурун: 2 × 9 = 18, 36 эмес.  5) Эки 3 × 3 квадрат чийилет: 18 чарчы.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 оозеки талкуу менен бүтөт. 2–3 окуучу жооп берет. Өзүн баалоо: окуучулар бир картаны тандап колун көтөрөт; «Жардам керек» дегендер менен кийинки сабакта капкактан квадрат куруп, чакмак дептерге чийип кайра иштеңиз.</a:t>
            </a:r>
          </a:p>
          <a:p>
            <a:r>
              <a:t>3C (Сынчыл ой): Окуучулар өз ой жүгүртүүсүн байкашат: «мен муну кантип чыгардым?»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эрежени өз сөзү менен айтып беришет.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 «Бүттү» деген эреже: чыгуу билети жана чечүүчү суроо боюнча чечим. Класс трекериндеги «Өтөбүзбү» барагы ушуну өзү эсептейт (baaloo-kuraldary/6-klass-trekeri.xlsx).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 Сингапур тажрыйбасы: тилке модели – программанын «таажысы», аны кадам-кадам менен жана көп кыска машыгуу менен үйрөтөбүз; мугалимдин сөзү окуучунун математикага мамилесин түзөт.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Амалдардын тартиби: даража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Киришүү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2941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1" i="0">
                <a:solidFill>
                  <a:srgbClr val="1D3557"/>
                </a:solidFill>
                <a:latin typeface="PT Sans"/>
              </a:rPr>
              <a:t>2 + 3²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51460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4A5A70"/>
                </a:solidFill>
                <a:latin typeface="PT Sans"/>
              </a:rPr>
              <a:t>Бирөө 25 дейт, экинчиси 11 дейт. Ким туура?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342900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429000"/>
            <a:ext cx="33832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 + 3 = 5, 5² =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42900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338328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3² = 9, 2 + 9 =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92727" y="5257800"/>
            <a:ext cx="42062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Мини-тактага жообуңду жаз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максаты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Максат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4 амал менен кашааны кайталайбыз (1- жана 2-деңгээл).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Даража эмне экенин түшүнөбүз: 3² = 3 × 3.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Даражасы бар туюнтманы КаДа – БөКө – КоКе менен эсептейбиз.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+ − × 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кашаа ( 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даража 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Мен ийгиликке жеттимби?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Ийгилик критерийлери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52754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783080"/>
            <a:ext cx="552754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" y="1225296"/>
            <a:ext cx="5527548" cy="5577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1-сабак: даража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9933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9202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даражаны көбөйтүү менен түшүндүрө алам: 3² = 3 ×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4871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Ч7 · Б4 №1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28346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ка → Да → БөКө → КоКе тартибинде эсептейм.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4015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Ч8 · Б4 №2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22191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749039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даража бир гана санга тиерин билем: 2 × 3² ≠ 6².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3159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Ч8 · Б4 №2–3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225296"/>
            <a:ext cx="552754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231636" y="1783080"/>
            <a:ext cx="552754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31636" y="1225296"/>
            <a:ext cx="5527548" cy="5577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2-сабак: катыш маселелери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0236" y="19933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7436" y="19202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салыштыруу тилкесин чийип, айырманы белгилейм.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7436" y="24871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Ч9 · Б6 №1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0236" y="2907792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17436" y="2834640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1 бирдикти таап, керектүү бөлүктү эсептейм.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7436" y="34015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Б6 №2–3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0236" y="3822191"/>
            <a:ext cx="292608" cy="292608"/>
          </a:xfrm>
          <a:prstGeom prst="rect">
            <a:avLst/>
          </a:prstGeom>
          <a:noFill/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7436" y="3749039"/>
            <a:ext cx="4613148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Мен маселе үчүн кашаа менен бир туюнтма жазам.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7436" y="4315968"/>
            <a:ext cx="461314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Ч9 · Б6 №3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779008"/>
            <a:ext cx="11329416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Сабактын аягында ар бир критерийге ✓ кой. Далил: чечүүчү суроо (Ч) жана чыгуу билети (Б).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Биз кайдабыз?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Спираль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 жадыбалы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Тилке: бөлүк – бүтүн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1-деңгээл: + − × 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2-деңгээл: кашаа ( )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Тилке: салыштыруу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3-деңгээл: даража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Катыш маселелери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Тилке: көп кадам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Кашаа ичинде кашаа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Бөлчөк менен амалдар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Биз кантип үйрөнөбүз: К → С →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Ыкма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" y="1325880"/>
            <a:ext cx="322783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 · Конкреттүү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" y="182880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капкак же таш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237744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338328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1225296"/>
            <a:ext cx="35935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325880"/>
            <a:ext cx="322783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 · Сүрөттүү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2880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чакмак дептер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237744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91272" y="338328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65592" y="1225296"/>
            <a:ext cx="359359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1325880"/>
            <a:ext cx="322783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 · Абстракттуу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828800"/>
            <a:ext cx="322783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0" i="0">
                <a:solidFill>
                  <a:srgbClr val="6B7280"/>
                </a:solidFill>
                <a:latin typeface="PT Sans"/>
              </a:rPr>
              <a:t>сандар жана белгилер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9912" y="237744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572768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80301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29967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37501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87168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94701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72768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680301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29967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37501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87168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94701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72768" y="36118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80301" y="37194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29967" y="36118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37501" y="37194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87168" y="36118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94701" y="37194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7" y="4206240"/>
            <a:ext cx="3227832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9 капкактан
квадрат курабыз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13832" y="26974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97880" y="26974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1928" y="26974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13832" y="30815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7880" y="30815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81928" y="30815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13832" y="34655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97880" y="34655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8" y="34655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5513832" y="393192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665976" y="393192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513832" y="4069080"/>
            <a:ext cx="1152144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718304" y="4114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3 ×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4343400"/>
            <a:ext cx="322783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3 катар, ар биринде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8472" y="2606040"/>
            <a:ext cx="3227832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3²</a:t>
            </a:r>
          </a:p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× 3</a:t>
            </a:r>
          </a:p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48472" y="4343400"/>
            <a:ext cx="322783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сан менен жазабыз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74519" y="5669280"/>
            <a:ext cx="8449056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Буюм → сүрөт → сан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кантип иштейбиз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Эки чыгарылышты салыштырып, катаны таап, эмне үчүн экенин далилдейбиз.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туура?», «Катаны тап»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«Үлгү изде»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 менен иштейбиз: бирөө эсептейт, экинчиси текшерет.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Капкактан квадрат куруу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Мини-тактадагы текшерүү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Даражаны сүрөт жана маселе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Бакча, көчөттөр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 менен маселе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Биздин класстагы ой жүгүртүү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Ой жүгүртүү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дебейбиз. «Азырынча билбейм, бирок үйрөнөм» 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«Ката – үйрөнүү»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мээни өстүрөт. Катаны таап, оңдогон адам көп үйрөнөт.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«Адегенде чий»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Кыйын болсо, тилке же сүрөт чий. Түшүн, анан эсепте.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Кел, эске салабыз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Кайталоо · 1–2-деңгээл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эсептеп жаз.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1460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011680"/>
            <a:ext cx="457200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8 + 6 × 2 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1460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2011680"/>
            <a:ext cx="457200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36 ÷ 6 × 2 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93192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75488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251960"/>
            <a:ext cx="457200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(8 + 6) × 2 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931920"/>
            <a:ext cx="555040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754880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251960"/>
            <a:ext cx="457200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40 − (5 + 3) × 4 =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эсеп: даярданабыз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Даярдык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жообун гана жаз.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4 ×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6 ×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2 × 2 ×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10 ×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Сүрөт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Бакчада 3 катар гүл, ар катарда 3 гүл. Дагы 2 гүл отургузулду. Баары канча?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37744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237744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39" y="237744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01752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7360" y="301752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39" y="301752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65760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37360" y="365760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77439" y="3657600"/>
            <a:ext cx="640080" cy="6400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657600"/>
            <a:ext cx="640080" cy="6400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31920" y="3657600"/>
            <a:ext cx="640080" cy="6400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0" y="246888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2450592"/>
            <a:ext cx="603504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Канча катар? Ар катарда канча?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0" y="327355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3255264"/>
            <a:ext cx="603504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Кандай форма? Кыска кантип жазабыз?</a:t>
            </a:r>
          </a:p>
        </p:txBody>
      </p:sp>
      <p:sp>
        <p:nvSpPr>
          <p:cNvPr id="28" name="Oval 27"/>
          <p:cNvSpPr/>
          <p:nvPr/>
        </p:nvSpPr>
        <p:spPr>
          <a:xfrm>
            <a:off x="5120640" y="40782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4059936"/>
            <a:ext cx="603504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Кошумча 2 гүл кайда?</a:t>
            </a:r>
          </a:p>
        </p:txBody>
      </p:sp>
      <p:sp>
        <p:nvSpPr>
          <p:cNvPr id="30" name="Oval 29"/>
          <p:cNvSpPr/>
          <p:nvPr/>
        </p:nvSpPr>
        <p:spPr>
          <a:xfrm>
            <a:off x="5120640" y="48828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0992" y="4864608"/>
            <a:ext cx="603504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Адегенде эмнени эсептейбиз?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Даража деген эмне?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Кызыктыруу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Бакчада 3 катар гүл, ар катарда 3 гүл. Дагы 2 гүл отургузулду. Баары канча?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2860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83080" y="22860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80" y="22860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9718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83080" y="29718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29718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6576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3080" y="36576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657600"/>
            <a:ext cx="685800" cy="6858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3657600"/>
            <a:ext cx="685800" cy="6858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657600"/>
            <a:ext cx="685800" cy="6858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097280" y="44348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154680" y="443484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97280" y="4572000"/>
            <a:ext cx="205740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4380" y="46177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3 × 3 = 3²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194560"/>
            <a:ext cx="621792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3 кыскача 3² деп жазылат.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3200" b="1" i="0">
                <a:solidFill>
                  <a:srgbClr val="24418C"/>
                </a:solidFill>
                <a:latin typeface="PT Sans"/>
              </a:rPr>
              <a:t>3² = 3 × 3 = 9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2400" b="1" i="0">
                <a:solidFill>
                  <a:srgbClr val="A84400"/>
                </a:solidFill>
                <a:latin typeface="PT Sans"/>
              </a:rPr>
              <a:t>3² ≠ 3 ×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2 + 3² = </a:t>
            </a:r>
            <a:r>
              <a:rPr sz="3400" b="1">
                <a:solidFill>
                  <a:srgbClr val="24418C"/>
                </a:solidFill>
                <a:latin typeface="PT Sans"/>
              </a:rPr>
              <a:t>11 гүл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Капкактан квадрат жана куб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Изилдөө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Капкактан кур: 2², 3² жана 2³. Ар биринде канча капкак бар?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362407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4160520"/>
            <a:ext cx="3624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2² = 2 ×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663440"/>
            <a:ext cx="3624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4 капкак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39" y="2103120"/>
            <a:ext cx="362407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2439" y="4160520"/>
            <a:ext cx="3624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3² = 3 ×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2439" y="4663440"/>
            <a:ext cx="3624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9 капкак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5112" y="2103120"/>
            <a:ext cx="362407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5112" y="4160520"/>
            <a:ext cx="3624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2³ = 2 × 2 ×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5112" y="4663440"/>
            <a:ext cx="362407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8 капкак</a:t>
            </a:r>
          </a:p>
        </p:txBody>
      </p:sp>
      <p:sp>
        <p:nvSpPr>
          <p:cNvPr id="22" name="Oval 21"/>
          <p:cNvSpPr/>
          <p:nvPr/>
        </p:nvSpPr>
        <p:spPr>
          <a:xfrm>
            <a:off x="1812036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19569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69236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76769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12036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19569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69236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76769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45252" y="25146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52785" y="26221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02452" y="25146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09985" y="26221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59652" y="25146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67185" y="26221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45252" y="29718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552785" y="30793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02452" y="29718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09985" y="30793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59652" y="29718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67185" y="30793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45252" y="34290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552785" y="35365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02452" y="34290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09985" y="35365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59652" y="342900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67185" y="353653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912352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019885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69552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77085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12352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19885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69552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77085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75192" y="2560320"/>
            <a:ext cx="1115568" cy="1115568"/>
          </a:xfrm>
          <a:prstGeom prst="ellipse">
            <a:avLst/>
          </a:prstGeom>
          <a:noFill/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29472" y="365760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1-табак</a:t>
            </a:r>
          </a:p>
        </p:txBody>
      </p:sp>
      <p:sp>
        <p:nvSpPr>
          <p:cNvPr id="58" name="Oval 57"/>
          <p:cNvSpPr/>
          <p:nvPr/>
        </p:nvSpPr>
        <p:spPr>
          <a:xfrm>
            <a:off x="10146792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254325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603992" y="26974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11525" y="28050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146792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254325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03992" y="3154680"/>
            <a:ext cx="384048" cy="384048"/>
          </a:xfrm>
          <a:prstGeom prst="ellipse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711525" y="3262213"/>
            <a:ext cx="168981" cy="168981"/>
          </a:xfrm>
          <a:prstGeom prst="ellipse">
            <a:avLst/>
          </a:prstGeom>
          <a:noFill/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09631" y="2560320"/>
            <a:ext cx="1115568" cy="1115568"/>
          </a:xfrm>
          <a:prstGeom prst="ellipse">
            <a:avLst/>
          </a:prstGeom>
          <a:noFill/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3912" y="3657600"/>
            <a:ext cx="120700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2-табак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" y="553212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Даража: бир эле санды өзүнө көбөйтөбүз.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Даража: бир санды өзүнө көбөйтүү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Түшүндүрүү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7008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7008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2² = 2 × 2 =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50208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50208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223113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50208" y="223113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6" y="223113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79" y="315468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3² = 3 × 3 =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93408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77456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61504" y="146304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93408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77456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61504" y="184708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223113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93408" y="223113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77456" y="223113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61504" y="223113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261518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93408" y="261518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77456" y="261518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61504" y="261518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315468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4² = 4 × 4 = 16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1280160"/>
            <a:ext cx="298094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1371600"/>
            <a:ext cx="27432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D3557"/>
                </a:solidFill>
                <a:latin typeface="PT Sans"/>
              </a:rPr>
              <a:t>3²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3 – негиз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² – көрсөткүч: канча жолу көбөйтөбүз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" y="402336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7" y="4023360"/>
            <a:ext cx="256032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2³ = 2 × 2 ×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81528" y="4023360"/>
            <a:ext cx="868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59" y="402336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4023360"/>
            <a:ext cx="256032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5² = 5 ×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19" y="4023360"/>
            <a:ext cx="868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74152" y="4023360"/>
            <a:ext cx="36576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57031" y="4023360"/>
            <a:ext cx="256032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10² = 10 × 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25912" y="4023360"/>
            <a:ext cx="8686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100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74519" y="5394960"/>
            <a:ext cx="8449056" cy="68580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Даража көбөйтүүдөн мурун аткарылат!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0" y="3611880"/>
            <a:ext cx="2980944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Чакмак дептерге чий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Даражаны оку жана жаз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Машыгуу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6²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Даража менен жаз: 4 × 4 ×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9² 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Даража менен жаз: 8 × 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1² + 2² 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Кайсынысы чоң: 3² же 2³?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1–10дун квадраттары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 · Квадраттар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801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2801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1² =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2227" y="12801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2227" y="12801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2² =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4686" y="12801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4686" y="12801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3² =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7145" y="12801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7145" y="12801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4² = 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39604" y="12801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9604" y="12801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5² = 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21945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21945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6² = 36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2227" y="21945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32227" y="21945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7² = 49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4686" y="21945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4686" y="21945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8² = 64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37145" y="21945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7145" y="21945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9² = 81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9604" y="2194560"/>
            <a:ext cx="2119579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39604" y="2194560"/>
            <a:ext cx="2119579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10² = 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3200400"/>
            <a:ext cx="55504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2461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Белгилүү квадраттан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37947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127" y="37947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98448" y="37947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72767" y="37947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47088" y="379476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40690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4127" y="40690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98448" y="40690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72767" y="40690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47088" y="406908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8" y="434340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4127" y="434340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98448" y="434340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72767" y="434340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47088" y="434340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8" y="46177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4127" y="46177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98448" y="46177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72767" y="46177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47088" y="461772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9808" y="48920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24127" y="48920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98448" y="48920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72767" y="48920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47088" y="4892040"/>
            <a:ext cx="274320" cy="274320"/>
          </a:xfrm>
          <a:prstGeom prst="rect">
            <a:avLst/>
          </a:prstGeom>
          <a:solidFill>
            <a:srgbClr val="B5E2D3"/>
          </a:solidFill>
          <a:ln w="127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121408" y="379476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21408" y="406908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21408" y="434340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121408" y="461772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121408" y="489204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9808" y="516636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4127" y="516636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98448" y="516636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572767" y="516636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47088" y="516636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21408" y="5166360"/>
            <a:ext cx="274320" cy="274320"/>
          </a:xfrm>
          <a:prstGeom prst="rect">
            <a:avLst/>
          </a:prstGeom>
          <a:solidFill>
            <a:srgbClr val="F5E9E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07208" y="3840480"/>
            <a:ext cx="31089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6² = 5² + 5 + 6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= 25 + 11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= 36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08776" y="3200400"/>
            <a:ext cx="5550408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37376" y="32461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10² = 100дөн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7376" y="3794760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9² = 100 − 10 − 9</a:t>
            </a:r>
          </a:p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90 − 9 = 81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Сен: 4², 7², 8² кантип табасың?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768" y="5650992"/>
            <a:ext cx="11329416" cy="4572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007A5A"/>
                </a:solidFill>
                <a:latin typeface="PT Sans"/>
              </a:rPr>
              <a:t>Оозеки беш мүнөт: күн сайын 5 квадрат · ✓ эстен · ↻ ыкма менен · өзүң менен гана салыштыр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КаДа – БөКө – КоКе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Эреже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Кашаа (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адегенде кашаанын ичи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Даража 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3² = 3 × 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БөКө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Бөлүү · Көбөйтүү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КоКе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Кошуу · Кемитүү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солдон оңго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Ка → Да → БөКө → КоКе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Адегенде болжолдо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ыкма · Болжолдоо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Эсептебе! Жооп кайсы кутуга түшөт? Мини-тактага А, Б же В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3624072" cy="64008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А: 10дон аз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691640"/>
            <a:ext cx="3624072" cy="64008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Б: 10 –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5112" y="1691640"/>
            <a:ext cx="3624072" cy="64008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В: 50дөн көп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2560320"/>
            <a:ext cx="36240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7" y="295351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560320"/>
            <a:ext cx="2709672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 + 2 × 3²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39" y="2560320"/>
            <a:ext cx="36240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5320" y="295351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9679" y="2560320"/>
            <a:ext cx="2709672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(5 + 2) × 3²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5112" y="2560320"/>
            <a:ext cx="36240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7991" y="295351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2352" y="2560320"/>
            <a:ext cx="2709672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 × 5²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3977639"/>
            <a:ext cx="36240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7" y="4370831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3977639"/>
            <a:ext cx="2709672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(2 × 5)²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2439" y="3977639"/>
            <a:ext cx="36240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65320" y="4370831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9679" y="3977639"/>
            <a:ext cx="2709672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50 − 3² × 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3977639"/>
            <a:ext cx="36240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17991" y="4370831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2352" y="3977639"/>
            <a:ext cx="2709672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4² ÷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59552"/>
            <a:ext cx="11329416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900" b="1">
                <a:solidFill>
                  <a:srgbClr val="A84400"/>
                </a:solidFill>
                <a:latin typeface="PT Sans"/>
              </a:rPr>
              <a:t>2 × 5² = 50 чек арада: Б же В – түшүндүрсөң, экөө тең туура.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Кадам-кадам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Мисал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Эсепте: 5 + 2 × 3²   жана   (5 + 2) × 3²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3774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 + 2 × 3²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= 5 + 2 ×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337560"/>
            <a:ext cx="914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= 5 + 18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023360"/>
            <a:ext cx="914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= 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709160"/>
            <a:ext cx="914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+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2651760"/>
            <a:ext cx="0" cy="265176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0" y="26517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(5 + 2) × 3²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375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= 7 × 3²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3337560"/>
            <a:ext cx="914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( 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233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= 7 ×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4023360"/>
            <a:ext cx="914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709160"/>
            <a:ext cx="45720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= 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4709160"/>
            <a:ext cx="9144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553212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Кашаа жоопту 23төн 63кө өзгөрттү!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модели: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модели · Көндүм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Бакытта 3 кутуча бар, ар биринде 8 карандаш. Асанда Бакыттан 5 карандаш аз. Асанда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Ким? Бакыт, Асан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Эмне? карандаш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Ким көп? Бакыт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700" b="1" i="0">
                <a:solidFill>
                  <a:srgbClr val="A84400"/>
                </a:solidFill>
                <a:latin typeface="PT Sans"/>
              </a:rPr>
              <a:t>Белгисиз? Асандыкы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0722" y="3108960"/>
            <a:ext cx="59435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Бакыт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0802" y="3108960"/>
            <a:ext cx="45720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88002" y="3108960"/>
            <a:ext cx="45720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45202" y="3108960"/>
            <a:ext cx="45720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0722" y="3611880"/>
            <a:ext cx="59435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Асан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0802" y="3611880"/>
            <a:ext cx="100584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0722" y="4160520"/>
            <a:ext cx="232943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Эки тилке бири-биринин астында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Белгиле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8796" y="3108960"/>
            <a:ext cx="59435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Бакыт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08876" y="3108960"/>
            <a:ext cx="45720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66076" y="3108960"/>
            <a:ext cx="45720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3276" y="3108960"/>
            <a:ext cx="457200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8796" y="3611880"/>
            <a:ext cx="594359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Асан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08876" y="3611880"/>
            <a:ext cx="1005840" cy="36576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14716" y="3611880"/>
            <a:ext cx="365760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8796" y="4160520"/>
            <a:ext cx="2329434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Айырма 5: шабдалы түс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Жаз, эсепте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6870" y="2834640"/>
            <a:ext cx="2329434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 × 8 − 5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= 24 − 5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= 19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74519" y="5596128"/>
            <a:ext cx="8449056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Оку → Чий → Белгиле → Жаз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Бөлүк – бүтүн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Кутуда 48 алма. Аларды 3 бирдей пакетке салышты. Бир пакетте канча?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3429000"/>
            <a:ext cx="822960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7048" y="3429000"/>
            <a:ext cx="822960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008" y="3429000"/>
            <a:ext cx="822960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04088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172968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4088" y="3246120"/>
            <a:ext cx="246888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2834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Нурай 100 сомдун 2/5 бөлүгүн жумшады. Канча сом жумшады?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6759" y="3429000"/>
            <a:ext cx="50292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59679" y="3429000"/>
            <a:ext cx="50292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62599" y="342900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65519" y="342900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68439" y="342900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4556759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71359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556759" y="3246120"/>
            <a:ext cx="251460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442459" y="2834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100 сом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556759" y="388620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62599" y="3886200"/>
            <a:ext cx="0" cy="13716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56759" y="4023360"/>
            <a:ext cx="100584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88079" y="406908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2/5 = 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дептер (12 сомдон) жана 1 китеп (45 сом) алды. Баары канча?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09432" y="3429000"/>
            <a:ext cx="34747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56904" y="3429000"/>
            <a:ext cx="34747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04376" y="3429000"/>
            <a:ext cx="34747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51848" y="3429000"/>
            <a:ext cx="34747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99320" y="3429000"/>
            <a:ext cx="34747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6792" y="3429000"/>
            <a:ext cx="100584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8409432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1152632" y="3246120"/>
            <a:ext cx="0" cy="13716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409432" y="3246120"/>
            <a:ext cx="2743200" cy="0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409432" y="283464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Салыштыруу жана катыш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Асан : Бакыт = 2 : 3. Экөөндө 25 марка. Асанда канча?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01752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Асан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1328" y="301752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4248" y="301752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52044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Бакыт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352044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84248" y="352044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7168" y="352044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81528" y="3063240"/>
            <a:ext cx="731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25
баары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017520"/>
            <a:ext cx="3657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лента көктөн 4 эсе узун жана 36 см узун. Көк канча?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6759" y="301752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Көк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3999" y="3017520"/>
            <a:ext cx="502920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6759" y="352044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33999" y="3520440"/>
            <a:ext cx="50292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36919" y="3520440"/>
            <a:ext cx="50292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39839" y="3520440"/>
            <a:ext cx="50292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42759" y="3520440"/>
            <a:ext cx="502920" cy="41148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836919" y="3977639"/>
            <a:ext cx="0" cy="137161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45679" y="3977639"/>
            <a:ext cx="0" cy="137161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836919" y="4114800"/>
            <a:ext cx="150876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19699" y="41605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36 см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Айымда Нурдан 2 эсе көп алма бар. Экөөндө 36. Айымда канча?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9432" y="301752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Нур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6672" y="301752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09432" y="3520440"/>
            <a:ext cx="731519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 i="0">
                <a:solidFill>
                  <a:srgbClr val="1F2430"/>
                </a:solidFill>
                <a:latin typeface="PT Sans"/>
              </a:rPr>
              <a:t>Айым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6672" y="352044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35312" y="3520440"/>
            <a:ext cx="548640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5432" y="306324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D3557"/>
                </a:solidFill>
                <a:latin typeface="PT Sans"/>
              </a:rPr>
              <a:t>36
баары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29672" y="3520440"/>
            <a:ext cx="3657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Сүрөттү туюнтма менен жаз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Сүрөттөн санга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Канча чарчы бар? Даражасы бар туюнтма жаз жана эсепте.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252728" y="22402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36776" y="22402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20824" y="22402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04872" y="22402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52728" y="26243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36776" y="26243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20824" y="26243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04872" y="26243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52728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36776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20824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04872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52728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36776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20824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404872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52728" y="3886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36776" y="3886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20824" y="3886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04872" y="3886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88920" y="3886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85360" y="25146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69408" y="25146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53456" y="25146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85360" y="28986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69408" y="28986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53456" y="28986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85360" y="32826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69408" y="32826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53456" y="32826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94120" y="25146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678168" y="25146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062216" y="25146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94120" y="28986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78168" y="28986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62216" y="28986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94120" y="32826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678168" y="32826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62216" y="32826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82440" y="3794760"/>
            <a:ext cx="36240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эки бирдей квадрат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58072" y="22402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42120" y="22402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26168" y="224028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10216" y="2240280"/>
            <a:ext cx="384048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494264" y="2240280"/>
            <a:ext cx="384048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958072" y="26243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42120" y="26243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26168" y="262432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110216" y="2624328"/>
            <a:ext cx="384048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94264" y="2624328"/>
            <a:ext cx="384048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958072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42120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726168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110216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494264" y="300837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58072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2120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726168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110216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494264" y="339242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958072" y="3776472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42120" y="3776472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726168" y="3776472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110216" y="3776472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494264" y="3776472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35112" y="4206240"/>
            <a:ext cx="36240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үзүк сызык = алынып салынган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3²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Айбек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 × 3 = 6
6² = 36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3² = 9
2 × 9 = 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Айбектин жообу кайсы туюнтмага туура келет?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Кел, текшерип көрөлү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Машыгуу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эсептеп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4² + 2 × 5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(4 + 2)² ÷ 4 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50 − 3² × 2 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2³ + 10 ÷ 2 =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(10 − 7)² × 2 =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5² − 4² =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Катаны тап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Ката – үйрөнүүнүн бир бөлүгү. Ар бир чыгарылышты текшер, ката болсо оңдо.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331720"/>
            <a:ext cx="307543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926080"/>
            <a:ext cx="30754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= 4 × 2
=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Туура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04288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Ката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Оңдо: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18488" y="573328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59" y="2331720"/>
            <a:ext cx="307543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10 − 2²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6759" y="2926080"/>
            <a:ext cx="30754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= 10 − 4
= 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6759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Туура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959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Ката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5320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Оңдо: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71159" y="573328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9432" y="2331720"/>
            <a:ext cx="307543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(1 + 2)²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9432" y="2926080"/>
            <a:ext cx="307543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= 1 + 4
=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09432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Туура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09632" y="4663440"/>
            <a:ext cx="141732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Ката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7991" y="534924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Оңдо: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23831" y="573328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Кашаа кой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Талдоо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Барабардык туура болушу үчүн кашаа кой. Тандап, текшер!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1 + 2² = 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3 × 2² = 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20 − 2 × 3² = 162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2 × 5 + 1² = 121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Бакчадагы көчөттөр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3 · көп кадам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27/34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Бакчада 4 катар алма көчөтү бар, ар катарда 4төн. Дагы 3 катар өрүк, ар катарда 5тен. Баары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103120"/>
            <a:ext cx="31089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Эвристика: чийме чий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7432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7088" y="27432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31136" y="27432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15184" y="2743200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31272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47088" y="31272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31272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15184" y="3127248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0" y="35112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47088" y="35112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31136" y="35112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15184" y="3511296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63040" y="389534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47088" y="389534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31136" y="389534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15184" y="3895344"/>
            <a:ext cx="384048" cy="38404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4343400"/>
            <a:ext cx="153619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алма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2743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50208" y="2743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34256" y="2743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18304" y="2743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02352" y="2743200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66160" y="3127248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50208" y="3127248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34256" y="3127248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18304" y="3127248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02352" y="3127248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66160" y="3511296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50208" y="3511296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34256" y="3511296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18304" y="3511296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02352" y="3511296"/>
            <a:ext cx="384048" cy="38404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4343400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өрүк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92608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955279" y="3310128"/>
            <a:ext cx="356616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0" y="3749039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406640" y="4133087"/>
            <a:ext cx="4114800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Маселеде кашаа кайдан чыгат?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Тилке машыгуусу 3 · 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28/34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Нурай : Тилек = 3 : 5 (жаңгак). Тилекте 12 жаңгак көп. Тилекте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1234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Нурай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2331720"/>
            <a:ext cx="7772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331720"/>
            <a:ext cx="7772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331720"/>
            <a:ext cx="7772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12344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Тилек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926080"/>
            <a:ext cx="7772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926080"/>
            <a:ext cx="7772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926080"/>
            <a:ext cx="777240" cy="50292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926080"/>
            <a:ext cx="77724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926080"/>
            <a:ext cx="777240" cy="50292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43400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97880" y="3474720"/>
            <a:ext cx="0" cy="137159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43400" y="3611879"/>
            <a:ext cx="1554480" cy="0"/>
          </a:xfrm>
          <a:prstGeom prst="line">
            <a:avLst/>
          </a:prstGeom>
          <a:ln w="22225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49039" y="3657599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94560"/>
            <a:ext cx="40233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5 − 3 =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2194560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бирдик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34639"/>
            <a:ext cx="40233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 ÷ (5 − 3) =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2834639"/>
            <a:ext cx="12801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1 бирдик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74720"/>
            <a:ext cx="40233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5 × (12 ÷ (5 − 3)) = 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4572000"/>
            <a:ext cx="8449056" cy="68580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Чиймедеги биринчи кадам туюнтмада кашаага кирет.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" y="5440680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Тилек = </a:t>
            </a:r>
            <a:r>
              <a:rPr sz="3400" b="1">
                <a:solidFill>
                  <a:srgbClr val="24418C"/>
                </a:solidFill>
                <a:latin typeface="PT Sans"/>
              </a:rPr>
              <a:t>30 жаңгак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Так сандар жана квадраттар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3-деңгээл · Үлгү изде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29/34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463040"/>
            <a:ext cx="566928" cy="56692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64207" y="1463040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1136" y="1463040"/>
            <a:ext cx="566928" cy="56692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3" y="1463040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029968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64207" y="2029968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31136" y="2029968"/>
            <a:ext cx="566928" cy="56692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98063" y="2029968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596896"/>
            <a:ext cx="566928" cy="56692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64207" y="2596896"/>
            <a:ext cx="566928" cy="56692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31136" y="2596896"/>
            <a:ext cx="566928" cy="566928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98063" y="2596896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3163824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64207" y="3163824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31136" y="3163824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8063" y="3163824"/>
            <a:ext cx="566928" cy="566928"/>
          </a:xfrm>
          <a:prstGeom prst="rect">
            <a:avLst/>
          </a:prstGeom>
          <a:solidFill>
            <a:srgbClr val="F5E9E0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84048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7280"/>
                </a:solidFill>
                <a:latin typeface="PT Sans"/>
              </a:rPr>
              <a:t>1, 3, 5, 7 чарчы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1417320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141732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039112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+ 3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2039112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2²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660904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+ 3 + 5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660904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3²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82696"/>
            <a:ext cx="3657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+ 3 + 5 + 7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282696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= 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" y="4526280"/>
            <a:ext cx="1132941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4572000"/>
            <a:ext cx="10780776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 + 3 + 5 + 7 + 9 = ?  Даража менен жаз.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2000" b="0" i="0">
                <a:solidFill>
                  <a:srgbClr val="6B7280"/>
                </a:solidFill>
                <a:latin typeface="PT Sans"/>
              </a:rPr>
              <a:t>Үлгү: 1ден баштап канча так сан кошсок, ошол сандын квадраты чыгат.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Баалоо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30/34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45389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225296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18 − 6 ÷ 3 ×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472184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03704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4323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203704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3² + 4 × (10 − 8)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450592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Колдонуу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82112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341071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82112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Кайсынысы чоң: (2 + 3)² же 2² + 3²?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3429000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Талдоо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160520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43891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60520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2 × 3² жообу 36 эмес? Түшүндүр.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4407408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Баалоо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138928"/>
            <a:ext cx="11329416" cy="8503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536752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38928"/>
            <a:ext cx="8046720" cy="8503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 × 3² үчүн сүрөт чий (чарчылар менен).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5385816"/>
            <a:ext cx="1737360" cy="347472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D3557"/>
                </a:solidFill>
                <a:latin typeface="PT Sans"/>
              </a:rPr>
              <a:t>Блум: Түзүү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эмне үйрөндүк?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31/34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Даража деген эмне? Өз мисалыңды айт.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 ыкма жакты: капкак, чакмак дептер же сандар?</a:t>
            </a:r>
          </a:p>
        </p:txBody>
      </p:sp>
      <p:sp>
        <p:nvSpPr>
          <p:cNvPr id="17" name="Oval 16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3² = 9, 6 эмес?</a:t>
            </a:r>
          </a:p>
        </p:txBody>
      </p:sp>
      <p:sp>
        <p:nvSpPr>
          <p:cNvPr id="19" name="Oval 18"/>
          <p:cNvSpPr/>
          <p:nvPr/>
        </p:nvSpPr>
        <p:spPr>
          <a:xfrm>
            <a:off x="704088" y="378561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Бүгүн кайсы катадан үйрөндүң?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Кыскача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Кыскача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32/34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61872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" y="15087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1261872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Кашаанын ичи биринчи.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261872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( 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58568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50545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2258568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Анан даража: 3² = 3 × 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58568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255264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648" y="350215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3255264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Анан көбөйтүү жана бөлүү, солдон оңго.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55264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× 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251960"/>
            <a:ext cx="11329416" cy="886968"/>
          </a:xfrm>
          <a:prstGeom prst="roundRect">
            <a:avLst>
              <a:gd name="adj" fmla="val 207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12648" y="44988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4251960"/>
            <a:ext cx="786384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Анан кошуу жана кемитүү, солдон оңго.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251960"/>
            <a:ext cx="2651760" cy="8869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+ 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5358384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Ка → Да → БөКө → КоКе!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Кийинки темага качан өтөбүз?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33/34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9144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7101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1-сабак: даража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1271016"/>
            <a:ext cx="7854696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Чыгуу билети Б4: класстын кеминде 80%ы 3 суроонун 2сине туура + чечүүчү суроо Ч7: туура жооп (19) → 2-сабак: катыш маселелери.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" y="2249424"/>
            <a:ext cx="11329416" cy="91440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2-сабак: катыш маселелери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295144"/>
            <a:ext cx="7854696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Чыгуу билети Б6: класстын кеминде 80%ы 3 суроонун 2сине туура + чечүүчү суроо Ч9: туура жооп (А) → 5-класстын блок тести.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410712"/>
            <a:ext cx="3624072" cy="2734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" y="3502152"/>
            <a:ext cx="32583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007A5A"/>
                </a:solidFill>
                <a:latin typeface="PT Sans"/>
              </a:rPr>
              <a:t>80% жана андан көп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" y="3959352"/>
            <a:ext cx="3258312" cy="2093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Кийинки сабакка өтөбүз. Калган окуучулар кийинки сабактын башында 10 мүнөт ката коду боюнча кичи топто иштешет.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2439" y="3410712"/>
            <a:ext cx="3624072" cy="2734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5320" y="3502152"/>
            <a:ext cx="32583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60–79%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5320" y="3959352"/>
            <a:ext cx="3258312" cy="2093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Кийинки сабактын биринчи 15 мүнөтүндө кайталайбыз (ката коддору боюнча топтор), анан өтөбүз.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5112" y="3410712"/>
            <a:ext cx="3624072" cy="27340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7991" y="3502152"/>
            <a:ext cx="325831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24418C"/>
                </a:solidFill>
                <a:latin typeface="PT Sans"/>
              </a:rPr>
              <a:t>60%дан аз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7991" y="3959352"/>
            <a:ext cx="3258312" cy="209397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Өтпөйбүз. Сабакты сүрөт модели жана тилке менен кайра өтөбүз.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үчүн: тилке жана ой жүгүртүү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Амалдардын тартиби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Мугалим үчүн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34/34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4 кадам ар дайым бирдей: оку → чий → белгиле → жаз.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сабакта 5 мүнөт тилке машыгуусу: бөлүк – бүтүн → салыштыруу → көп кадам.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«Чийе албайм» деген окуучуга бир гана кадамды чийдириңиз, анан кийинкисин.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Тилкени окуучулар билген нерселерге байланыштырыңыз: акча, нан, дептер.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«Математика кыйын.»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«Бул азырынча кыйын, бирок биз үйрөнөбүз.»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«Кызыктуу ката! Кайсы кадамды текшеребиз?»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«Мен да математиканы билчү эмесмин.»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«Мен да машыгып үйрөнгөм.»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чыгардың, акылдуусуң!»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«Тилке чийип, жакшы аракет кылдың!»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