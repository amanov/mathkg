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9.jfif" ContentType="image/jpe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6"/>
  </p:notesMasterIdLst>
  <p:sldIdLst>
    <p:sldId id="974" r:id="rId7"/>
    <p:sldId id="971" r:id="rId6"/>
  </p:sldIdLst>
  <p:sldSz cx="9906000" cy="6858000" type="A4"/>
  <p:notesSz cx="6889750" cy="10021888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Calibri Light" panose="020F0302020204030204" pitchFamily="34" charset="0"/>
      <p:regular r:id="rId21"/>
      <p:italic r:id="rId22"/>
    </p:embeddedFont>
    <p:embeddedFont>
      <p:font typeface="Cambria Math" panose="02040503050406030204" pitchFamily="18" charset="0"/>
      <p:regular r:id="rId23"/>
    </p:embeddedFont>
    <p:embeddedFont>
      <p:font typeface="Honeydripper" panose="020B0604020202020204" charset="0"/>
      <p:regular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Slides" id="{197FF5E7-57A8-40D7-8FA0-8A089C366947}">
          <p14:sldIdLst>
            <p14:sldId id="923"/>
            <p14:sldId id="848"/>
            <p14:sldId id="902"/>
          </p14:sldIdLst>
        </p14:section>
        <p14:section name="Title Screen" id="{F2E5396C-0CD7-4EE0-9BCB-2BCB20A42D5C}">
          <p14:sldIdLst>
            <p14:sldId id="832"/>
          </p14:sldIdLst>
        </p14:section>
        <p14:section name="To Display" id="{5DD39219-C4C8-4F38-A5C2-C8826E0F85D8}">
          <p14:sldIdLst/>
        </p14:section>
        <p14:section name="Answers" id="{C52BA816-4B9E-4D5C-8AF3-0D1D3A3994B4}">
          <p14:sldIdLst>
            <p14:sldId id="971"/>
            <p14:sldId id="974"/>
            <p14:sldId id="969"/>
            <p14:sldId id="970"/>
            <p14:sldId id="967"/>
            <p14:sldId id="973"/>
            <p14:sldId id="966"/>
          </p14:sldIdLst>
        </p14:section>
        <p14:section name="Worksheets" id="{DDE88CB2-32CA-46EC-B0E3-87018E6EBA88}">
          <p14:sldIdLst/>
        </p14:section>
        <p14:section name="Make Your Own" id="{DA99B0F7-504B-4F7B-9D1B-A26D5B48AB2B}">
          <p14:sldIdLst>
            <p14:sldId id="943"/>
            <p14:sldId id="956"/>
          </p14:sldIdLst>
        </p14:section>
        <p14:section name="goteachmaths" id="{F3D720CF-F566-46A6-9361-125255B68FA6}">
          <p14:sldIdLst>
            <p14:sldId id="94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0000"/>
    <a:srgbClr val="FFE202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115" d="100"/>
          <a:sy n="115" d="100"/>
        </p:scale>
        <p:origin x="1446" y="10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706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16" Type="http://schemas.openxmlformats.org/officeDocument/2006/relationships/notesMaster" Target="notesMasters/notesMaster1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85558" cy="502835"/>
          </a:xfrm>
          <a:prstGeom prst="rect">
            <a:avLst/>
          </a:prstGeom>
        </p:spPr>
        <p:txBody>
          <a:bodyPr vert="horz" lIns="92300" tIns="46150" rIns="92300" bIns="4615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598" y="0"/>
            <a:ext cx="2985558" cy="502835"/>
          </a:xfrm>
          <a:prstGeom prst="rect">
            <a:avLst/>
          </a:prstGeom>
        </p:spPr>
        <p:txBody>
          <a:bodyPr vert="horz" lIns="92300" tIns="46150" rIns="92300" bIns="46150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12/08/2024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1713" y="1252538"/>
            <a:ext cx="4886325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00" tIns="46150" rIns="92300" bIns="4615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6" y="4823036"/>
            <a:ext cx="5511800" cy="3946118"/>
          </a:xfrm>
          <a:prstGeom prst="rect">
            <a:avLst/>
          </a:prstGeom>
        </p:spPr>
        <p:txBody>
          <a:bodyPr vert="horz" lIns="92300" tIns="46150" rIns="92300" bIns="4615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519058"/>
            <a:ext cx="2985558" cy="502834"/>
          </a:xfrm>
          <a:prstGeom prst="rect">
            <a:avLst/>
          </a:prstGeom>
        </p:spPr>
        <p:txBody>
          <a:bodyPr vert="horz" lIns="92300" tIns="46150" rIns="92300" bIns="4615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598" y="9519058"/>
            <a:ext cx="2985558" cy="502834"/>
          </a:xfrm>
          <a:prstGeom prst="rect">
            <a:avLst/>
          </a:prstGeom>
        </p:spPr>
        <p:txBody>
          <a:bodyPr vert="horz" lIns="92300" tIns="46150" rIns="92300" bIns="46150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jfif"/><Relationship Id="rId5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8.png"/><Relationship Id="rId4" Type="http://schemas.openxmlformats.org/officeDocument/2006/relationships/image" Target="../media/image9.jfif"/><Relationship Id="rId5" Type="http://schemas.openxmlformats.org/officeDocument/2006/relationships/image" Target="../media/image10.png"/></Relationships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 xmlns:a14="http://schemas.microsoft.com/office/drawing/2010/main">
        <p:nvGraphicFramePr>
          <p:cNvPr id="13" name="Table 12">
            <a:extLst>
              <a:ext uri="{FF2B5EF4-FFF2-40B4-BE49-F238E27FC236}">
                <a16:creationId xmlns:a16="http://schemas.microsoft.com/office/drawing/2014/main" id="{FFC43E7D-1CBD-4E9B-8C75-AAC2168FBA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874740"/>
              </p:ext>
            </p:extLst>
          </p:nvPr>
        </p:nvGraphicFramePr>
        <p:xfrm>
          <a:off x="17584" y="35167"/>
          <a:ext cx="9864968" cy="679645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466242">
                  <a:extLst>
                    <a:ext uri="{9D8B030D-6E8A-4147-A177-3AD203B41FA5}">
                      <a16:colId xmlns:a16="http://schemas.microsoft.com/office/drawing/2014/main" val="921319168"/>
                    </a:ext>
                  </a:extLst>
                </a:gridCol>
                <a:gridCol w="2466242">
                  <a:extLst>
                    <a:ext uri="{9D8B030D-6E8A-4147-A177-3AD203B41FA5}">
                      <a16:colId xmlns:a16="http://schemas.microsoft.com/office/drawing/2014/main" val="2374239729"/>
                    </a:ext>
                  </a:extLst>
                </a:gridCol>
                <a:gridCol w="2466242">
                  <a:extLst>
                    <a:ext uri="{9D8B030D-6E8A-4147-A177-3AD203B41FA5}">
                      <a16:colId xmlns:a16="http://schemas.microsoft.com/office/drawing/2014/main" val="1885592907"/>
                    </a:ext>
                  </a:extLst>
                </a:gridCol>
                <a:gridCol w="2466242">
                  <a:extLst>
                    <a:ext uri="{9D8B030D-6E8A-4147-A177-3AD203B41FA5}">
                      <a16:colId xmlns:a16="http://schemas.microsoft.com/office/drawing/2014/main" val="1484771037"/>
                    </a:ext>
                  </a:extLst>
                </a:gridCol>
              </a:tblGrid>
              <a:tr h="499540">
                <a:tc gridSpan="4">
                  <a:txBody>
                    <a:bodyPr/>
                    <a:lstStyle/>
                    <a:p>
                      <a:pPr algn="ctr"/>
                      <a:endParaRPr lang="en-GB" sz="2800" b="0" dirty="0">
                        <a:solidFill>
                          <a:schemeClr val="tx1"/>
                        </a:solidFill>
                        <a:latin typeface="Honeydripper" panose="00000400000000000000" pitchFamily="2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800" b="0" dirty="0">
                        <a:solidFill>
                          <a:schemeClr val="tx1"/>
                        </a:solidFill>
                        <a:latin typeface="Honeydripper" panose="00000400000000000000" pitchFamily="2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800" b="0" dirty="0">
                        <a:solidFill>
                          <a:schemeClr val="tx1"/>
                        </a:solidFill>
                        <a:latin typeface="Honeydripper" panose="00000400000000000000" pitchFamily="2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800" b="0" dirty="0">
                        <a:solidFill>
                          <a:schemeClr val="tx1"/>
                        </a:solidFill>
                        <a:latin typeface="Honeydripper" panose="00000400000000000000" pitchFamily="2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063453"/>
                  </a:ext>
                </a:extLst>
              </a:tr>
              <a:tr h="966229">
                <a:tc>
                  <a:txBody>
                    <a:bodyPr/>
                    <a:lstStyle/>
                    <a:p>
                      <a:pPr algn="ctr"/>
                      <a:r>
                        <a:rPr lang="ky-KG" sz="1500" b="0" dirty="0">
                          <a:solidFill>
                            <a:schemeClr val="tx1"/>
                          </a:solidFill>
                          <a:latin typeface="Calibri"/>
                        </a:rPr>
                        <a:t>2, 4, 9 сандарынын орточосу 15.</a:t>
                      </a: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500" b="0" dirty="0">
                          <a:solidFill>
                            <a:schemeClr val="tx1"/>
                          </a:solidFill>
                          <a:latin typeface="Calibri"/>
                        </a:rPr>
                        <a:t>2, 4, 9 сандарынын орточосу 5.</a:t>
                      </a:r>
                    </a:p>
                  </a:txBody>
                  <a:tcPr marL="91440" marR="9144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500" b="0" dirty="0">
                          <a:solidFill>
                            <a:schemeClr val="tx1"/>
                          </a:solidFill>
                          <a:latin typeface="Calibri"/>
                        </a:rPr>
                        <a:t>8, 1, 6 сандарынын медианасы 1.</a:t>
                      </a:r>
                    </a:p>
                  </a:txBody>
                  <a:tcPr marL="91440" marR="9144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500" b="0" dirty="0">
                          <a:solidFill>
                            <a:schemeClr val="tx1"/>
                          </a:solidFill>
                          <a:latin typeface="Calibri"/>
                        </a:rPr>
                        <a:t>3 сандын орточосу 4 болсо, алардын суммасы 7.</a:t>
                      </a:r>
                    </a:p>
                  </a:txBody>
                  <a:tcPr marL="91440" marR="9144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736126"/>
                  </a:ext>
                </a:extLst>
              </a:tr>
              <a:tr h="966229">
                <a:tc>
                  <a:txBody>
                    <a:bodyPr/>
                    <a:lstStyle/>
                    <a:p>
                      <a:pPr algn="ctr"/>
                      <a:r>
                        <a:rPr lang="ky-KG" sz="1500" b="0" dirty="0">
                          <a:solidFill>
                            <a:schemeClr val="tx1"/>
                          </a:solidFill>
                          <a:latin typeface="Calibri"/>
                        </a:rPr>
                        <a:t>5, 7, 5, 2, 7, 5 тизмесинин модасы 3.</a:t>
                      </a: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500" b="0" dirty="0">
                          <a:solidFill>
                            <a:schemeClr val="tx1"/>
                          </a:solidFill>
                          <a:latin typeface="Calibri"/>
                        </a:rPr>
                        <a:t>8, 1, 6 сандарынын медианасы 6.</a:t>
                      </a:r>
                    </a:p>
                  </a:txBody>
                  <a:tcPr marL="91440" marR="9144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500" b="0" dirty="0">
                          <a:solidFill>
                            <a:schemeClr val="tx1"/>
                          </a:solidFill>
                          <a:latin typeface="Calibri"/>
                        </a:rPr>
                        <a:t>5, 7, 5, 2, 7, 5 тизмесинин модасы 5.</a:t>
                      </a:r>
                    </a:p>
                  </a:txBody>
                  <a:tcPr marL="91440" marR="9144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500" b="0" dirty="0">
                          <a:solidFill>
                            <a:schemeClr val="tx1"/>
                          </a:solidFill>
                          <a:latin typeface="Calibri"/>
                        </a:rPr>
                        <a:t>6, 14, 9, 3 тизмесинин кулачы 11.</a:t>
                      </a:r>
                    </a:p>
                  </a:txBody>
                  <a:tcPr marL="91440" marR="9144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439726"/>
                  </a:ext>
                </a:extLst>
              </a:tr>
              <a:tr h="966229">
                <a:tc>
                  <a:txBody>
                    <a:bodyPr/>
                    <a:lstStyle/>
                    <a:p>
                      <a:pPr algn="ctr"/>
                      <a:r>
                        <a:rPr lang="ky-KG" sz="1500" b="0" dirty="0">
                          <a:solidFill>
                            <a:schemeClr val="tx1"/>
                          </a:solidFill>
                          <a:latin typeface="Calibri"/>
                        </a:rPr>
                        <a:t>6, 14, 9, 3 тизмесинин кулачы 3.</a:t>
                      </a: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500" b="0" dirty="0">
                          <a:solidFill>
                            <a:schemeClr val="tx1"/>
                          </a:solidFill>
                          <a:latin typeface="Calibri"/>
                        </a:rPr>
                        <a:t>3, 10, 6, 5 тизмесинин медианасы 8.</a:t>
                      </a:r>
                    </a:p>
                  </a:txBody>
                  <a:tcPr marL="91440" marR="9144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500" b="0" dirty="0">
                          <a:solidFill>
                            <a:schemeClr val="tx1"/>
                          </a:solidFill>
                          <a:latin typeface="Calibri"/>
                        </a:rPr>
                        <a:t>Ар бир санга 10 кошсо, кулач да 10 бирдикке чоңоёт.</a:t>
                      </a:r>
                    </a:p>
                  </a:txBody>
                  <a:tcPr marL="91440" marR="9144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500" b="0" dirty="0">
                          <a:solidFill>
                            <a:schemeClr val="tx1"/>
                          </a:solidFill>
                          <a:latin typeface="Calibri"/>
                        </a:rPr>
                        <a:t>3, 10, 6, 5 тизмесинин медианасы 5,5.</a:t>
                      </a:r>
                    </a:p>
                  </a:txBody>
                  <a:tcPr marL="91440" marR="9144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662882"/>
                  </a:ext>
                </a:extLst>
              </a:tr>
              <a:tr h="966229">
                <a:tc>
                  <a:txBody>
                    <a:bodyPr/>
                    <a:lstStyle/>
                    <a:p>
                      <a:pPr algn="ctr"/>
                      <a:r>
                        <a:rPr lang="ky-KG" sz="1500" b="0" dirty="0">
                          <a:solidFill>
                            <a:schemeClr val="tx1"/>
                          </a:solidFill>
                          <a:latin typeface="Calibri"/>
                        </a:rPr>
                        <a:t>0, 6, 0, 6 тизмесинин орточосу 6.</a:t>
                      </a: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500" b="0" dirty="0">
                          <a:solidFill>
                            <a:schemeClr val="tx1"/>
                          </a:solidFill>
                          <a:latin typeface="Calibri"/>
                        </a:rPr>
                        <a:t>0, 6, 0, 6 тизмесинин орточосу 3.</a:t>
                      </a:r>
                    </a:p>
                  </a:txBody>
                  <a:tcPr marL="91440" marR="9144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500" b="0" dirty="0">
                          <a:solidFill>
                            <a:schemeClr val="tx1"/>
                          </a:solidFill>
                          <a:latin typeface="Calibri"/>
                        </a:rPr>
                        <a:t>2, 4, 4, 9, 9 тизмесинин эки модасы бар: 4 жана 9.</a:t>
                      </a:r>
                    </a:p>
                  </a:txBody>
                  <a:tcPr marL="91440" marR="9144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500" b="0" dirty="0">
                          <a:solidFill>
                            <a:schemeClr val="tx1"/>
                          </a:solidFill>
                          <a:latin typeface="Calibri"/>
                        </a:rPr>
                        <a:t>Ар бир санга 10 кошсо, кулач өзгөрбөйт.</a:t>
                      </a:r>
                    </a:p>
                  </a:txBody>
                  <a:tcPr marL="91440" marR="9144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667592"/>
                  </a:ext>
                </a:extLst>
              </a:tr>
              <a:tr h="966229">
                <a:tc>
                  <a:txBody>
                    <a:bodyPr/>
                    <a:lstStyle/>
                    <a:p>
                      <a:pPr algn="ctr"/>
                      <a:r>
                        <a:rPr lang="ky-KG" sz="1500" b="0" dirty="0">
                          <a:solidFill>
                            <a:schemeClr val="tx1"/>
                          </a:solidFill>
                          <a:latin typeface="Calibri"/>
                        </a:rPr>
                        <a:t>100, 1, 4, 2, 3 тизмесинин медианасы 3.</a:t>
                      </a: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500" b="0" dirty="0">
                          <a:solidFill>
                            <a:schemeClr val="tx1"/>
                          </a:solidFill>
                          <a:latin typeface="Calibri"/>
                        </a:rPr>
                        <a:t>Тизме: 4, 5, □. Орточосу 6 болсо, □ = 9.</a:t>
                      </a:r>
                    </a:p>
                  </a:txBody>
                  <a:tcPr marL="91440" marR="9144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500" b="0" dirty="0">
                          <a:solidFill>
                            <a:schemeClr val="tx1"/>
                          </a:solidFill>
                          <a:latin typeface="Calibri"/>
                        </a:rPr>
                        <a:t>2, 4, 4, 9, 9 тизмесинин модасы 9 гана.</a:t>
                      </a:r>
                    </a:p>
                  </a:txBody>
                  <a:tcPr marL="91440" marR="9144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500" b="0" dirty="0">
                          <a:solidFill>
                            <a:schemeClr val="tx1"/>
                          </a:solidFill>
                          <a:latin typeface="Calibri"/>
                        </a:rPr>
                        <a:t>100, 1, 4, 2, 3 тизмесинин медианасы 4.</a:t>
                      </a:r>
                    </a:p>
                  </a:txBody>
                  <a:tcPr marL="91440" marR="9144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914130"/>
                  </a:ext>
                </a:extLst>
              </a:tr>
              <a:tr h="966229">
                <a:tc>
                  <a:txBody>
                    <a:bodyPr/>
                    <a:lstStyle/>
                    <a:p>
                      <a:pPr algn="ctr"/>
                      <a:r>
                        <a:rPr lang="ky-KG" sz="1500" b="0" dirty="0">
                          <a:solidFill>
                            <a:schemeClr val="tx1"/>
                          </a:solidFill>
                          <a:latin typeface="Calibri"/>
                        </a:rPr>
                        <a:t>5, 5, 5 тизмесинин кулачы 0.</a:t>
                      </a: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500" b="0" dirty="0">
                          <a:solidFill>
                            <a:schemeClr val="tx1"/>
                          </a:solidFill>
                          <a:latin typeface="Calibri"/>
                        </a:rPr>
                        <a:t>5, 5, 5 тизмесинин кулачы 5.</a:t>
                      </a:r>
                    </a:p>
                  </a:txBody>
                  <a:tcPr marL="91440" marR="9144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500" b="0" dirty="0">
                          <a:solidFill>
                            <a:schemeClr val="tx1"/>
                          </a:solidFill>
                          <a:latin typeface="Calibri"/>
                        </a:rPr>
                        <a:t>Тизме: 4, 5, □. Орточосу 6 болсо, □ = 6.</a:t>
                      </a:r>
                    </a:p>
                  </a:txBody>
                  <a:tcPr marL="91440" marR="9144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500" b="0" dirty="0">
                          <a:solidFill>
                            <a:schemeClr val="tx1"/>
                          </a:solidFill>
                          <a:latin typeface="Calibri"/>
                        </a:rPr>
                        <a:t>Орточо дайыма тизмедеги сандардын бири болот.</a:t>
                      </a:r>
                    </a:p>
                  </a:txBody>
                  <a:tcPr marL="91440" marR="9144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734302"/>
                  </a:ext>
                </a:extLst>
              </a:tr>
              <a:tr h="499540">
                <a:tc gridSpan="4">
                  <a:txBody>
                    <a:bodyPr/>
                    <a:lstStyle/>
                    <a:p>
                      <a:pPr algn="ctr"/>
                      <a:endParaRPr lang="en-GB" sz="2800" b="0" dirty="0">
                        <a:solidFill>
                          <a:schemeClr val="tx1"/>
                        </a:solidFill>
                        <a:latin typeface="Honeydripper" panose="00000400000000000000" pitchFamily="2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800" b="0" dirty="0">
                        <a:solidFill>
                          <a:schemeClr val="tx1"/>
                        </a:solidFill>
                        <a:latin typeface="Honeydripper" panose="00000400000000000000" pitchFamily="2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800" b="0" dirty="0">
                        <a:solidFill>
                          <a:schemeClr val="tx1"/>
                        </a:solidFill>
                        <a:latin typeface="Honeydripper" panose="00000400000000000000" pitchFamily="2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800" b="0" dirty="0">
                        <a:solidFill>
                          <a:schemeClr val="tx1"/>
                        </a:solidFill>
                        <a:latin typeface="Honeydripper" panose="00000400000000000000" pitchFamily="2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7346283"/>
                  </a:ext>
                </a:extLst>
              </a:tr>
            </a:tbl>
          </a:graphicData>
        </a:graphic>
      </p:graphicFrame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08C5E97-A371-43A8-87BD-962D16AC1FA4}"/>
              </a:ext>
            </a:extLst>
          </p:cNvPr>
          <p:cNvSpPr/>
          <p:nvPr/>
        </p:nvSpPr>
        <p:spPr>
          <a:xfrm>
            <a:off x="17585" y="26377"/>
            <a:ext cx="9864969" cy="6796454"/>
          </a:xfrm>
          <a:prstGeom prst="roundRect">
            <a:avLst>
              <a:gd name="adj" fmla="val 6529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CA7A56EF-E0CD-411A-98A5-A70E59DB7FAB}"/>
              </a:ext>
            </a:extLst>
          </p:cNvPr>
          <p:cNvSpPr/>
          <p:nvPr/>
        </p:nvSpPr>
        <p:spPr>
          <a:xfrm>
            <a:off x="1502948" y="240881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0076C339-281C-446E-B630-AED443D38242}"/>
              </a:ext>
            </a:extLst>
          </p:cNvPr>
          <p:cNvSpPr/>
          <p:nvPr/>
        </p:nvSpPr>
        <p:spPr>
          <a:xfrm rot="16200000">
            <a:off x="2254571" y="2730820"/>
            <a:ext cx="438694" cy="149946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64985A9-587A-4F91-8EDE-6B26E12412EF}"/>
              </a:ext>
            </a:extLst>
          </p:cNvPr>
          <p:cNvSpPr/>
          <p:nvPr/>
        </p:nvSpPr>
        <p:spPr>
          <a:xfrm rot="16200000">
            <a:off x="4723451" y="2853215"/>
            <a:ext cx="438694" cy="149946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8D1195E-A8A0-4473-8927-E881F00F1840}"/>
              </a:ext>
            </a:extLst>
          </p:cNvPr>
          <p:cNvSpPr/>
          <p:nvPr/>
        </p:nvSpPr>
        <p:spPr>
          <a:xfrm rot="16200000">
            <a:off x="7199951" y="2730820"/>
            <a:ext cx="438694" cy="149946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23EB33E-879B-4993-BD5B-5DB77BB3D7E9}"/>
              </a:ext>
            </a:extLst>
          </p:cNvPr>
          <p:cNvSpPr/>
          <p:nvPr/>
        </p:nvSpPr>
        <p:spPr>
          <a:xfrm rot="16200000">
            <a:off x="2254571" y="1968671"/>
            <a:ext cx="438694" cy="149946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5B9572B-A634-480A-9C7F-9AD015653E33}"/>
              </a:ext>
            </a:extLst>
          </p:cNvPr>
          <p:cNvSpPr/>
          <p:nvPr/>
        </p:nvSpPr>
        <p:spPr>
          <a:xfrm rot="16200000">
            <a:off x="4723451" y="1773696"/>
            <a:ext cx="438694" cy="149946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D78D9C7-D464-48CB-92F2-64567C82106C}"/>
              </a:ext>
            </a:extLst>
          </p:cNvPr>
          <p:cNvSpPr/>
          <p:nvPr/>
        </p:nvSpPr>
        <p:spPr>
          <a:xfrm rot="16200000">
            <a:off x="7199951" y="1846900"/>
            <a:ext cx="438694" cy="149946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75E1C950-0066-4272-B356-4BBF471B74DB}"/>
              </a:ext>
            </a:extLst>
          </p:cNvPr>
          <p:cNvSpPr/>
          <p:nvPr/>
        </p:nvSpPr>
        <p:spPr>
          <a:xfrm rot="16200000">
            <a:off x="2254571" y="909640"/>
            <a:ext cx="438694" cy="149946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4E81CF0-FD65-45F9-9EB0-224693B65659}"/>
              </a:ext>
            </a:extLst>
          </p:cNvPr>
          <p:cNvSpPr/>
          <p:nvPr/>
        </p:nvSpPr>
        <p:spPr>
          <a:xfrm rot="16200000">
            <a:off x="4723451" y="830721"/>
            <a:ext cx="438694" cy="149946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A02A964-9C46-4586-AF06-D41976BCA007}"/>
              </a:ext>
            </a:extLst>
          </p:cNvPr>
          <p:cNvSpPr/>
          <p:nvPr/>
        </p:nvSpPr>
        <p:spPr>
          <a:xfrm rot="16200000">
            <a:off x="7199951" y="1063674"/>
            <a:ext cx="438694" cy="149946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3448822-6C61-4DDB-9590-B0E2231BC4B4}"/>
              </a:ext>
            </a:extLst>
          </p:cNvPr>
          <p:cNvSpPr/>
          <p:nvPr/>
        </p:nvSpPr>
        <p:spPr>
          <a:xfrm rot="16200000">
            <a:off x="2254571" y="3686354"/>
            <a:ext cx="438694" cy="149946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EE90D44-9019-4CB9-ABF8-00DCC133F1F4}"/>
              </a:ext>
            </a:extLst>
          </p:cNvPr>
          <p:cNvSpPr/>
          <p:nvPr/>
        </p:nvSpPr>
        <p:spPr>
          <a:xfrm rot="16200000">
            <a:off x="4723451" y="3737071"/>
            <a:ext cx="438694" cy="149946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1084999-4709-49A3-82DE-450D94377FFC}"/>
              </a:ext>
            </a:extLst>
          </p:cNvPr>
          <p:cNvSpPr/>
          <p:nvPr/>
        </p:nvSpPr>
        <p:spPr>
          <a:xfrm rot="16200000">
            <a:off x="7199951" y="3934275"/>
            <a:ext cx="438694" cy="149946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0852C92-52D8-4B59-950C-34430C3F7815}"/>
              </a:ext>
            </a:extLst>
          </p:cNvPr>
          <p:cNvSpPr/>
          <p:nvPr/>
        </p:nvSpPr>
        <p:spPr>
          <a:xfrm rot="16200000">
            <a:off x="2254571" y="4779971"/>
            <a:ext cx="438694" cy="149946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3CBBB84-C3F4-4DAD-9DA3-838A51676123}"/>
              </a:ext>
            </a:extLst>
          </p:cNvPr>
          <p:cNvSpPr/>
          <p:nvPr/>
        </p:nvSpPr>
        <p:spPr>
          <a:xfrm rot="16200000">
            <a:off x="4723451" y="4831426"/>
            <a:ext cx="438694" cy="149946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BAE8667-3B2C-4625-B0F2-8EB8DD997826}"/>
              </a:ext>
            </a:extLst>
          </p:cNvPr>
          <p:cNvSpPr/>
          <p:nvPr/>
        </p:nvSpPr>
        <p:spPr>
          <a:xfrm rot="16200000">
            <a:off x="7199951" y="4885981"/>
            <a:ext cx="438694" cy="149946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92887A0E-2BB2-46BB-B37F-4FF78C4FF482}"/>
              </a:ext>
            </a:extLst>
          </p:cNvPr>
          <p:cNvSpPr/>
          <p:nvPr/>
        </p:nvSpPr>
        <p:spPr>
          <a:xfrm rot="16200000">
            <a:off x="2254571" y="5654241"/>
            <a:ext cx="438694" cy="149946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3A6AC7E-A676-478C-AC45-DD6326B8EA69}"/>
              </a:ext>
            </a:extLst>
          </p:cNvPr>
          <p:cNvSpPr/>
          <p:nvPr/>
        </p:nvSpPr>
        <p:spPr>
          <a:xfrm rot="16200000">
            <a:off x="4723451" y="5653504"/>
            <a:ext cx="438694" cy="149946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4D761A51-FD51-4809-BD76-8A0B64AB8B1A}"/>
              </a:ext>
            </a:extLst>
          </p:cNvPr>
          <p:cNvSpPr/>
          <p:nvPr/>
        </p:nvSpPr>
        <p:spPr>
          <a:xfrm rot="16200000">
            <a:off x="7199951" y="5816920"/>
            <a:ext cx="438694" cy="149946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B0EDC17-6845-456F-B654-068020BA1277}"/>
              </a:ext>
            </a:extLst>
          </p:cNvPr>
          <p:cNvSpPr/>
          <p:nvPr/>
        </p:nvSpPr>
        <p:spPr>
          <a:xfrm>
            <a:off x="3469006" y="240881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35ADB57-F65B-436E-8AE9-C606F97C23E8}"/>
              </a:ext>
            </a:extLst>
          </p:cNvPr>
          <p:cNvSpPr/>
          <p:nvPr/>
        </p:nvSpPr>
        <p:spPr>
          <a:xfrm>
            <a:off x="6195061" y="240881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A1B231E-FF69-4407-850C-B57AF150D43F}"/>
              </a:ext>
            </a:extLst>
          </p:cNvPr>
          <p:cNvSpPr/>
          <p:nvPr/>
        </p:nvSpPr>
        <p:spPr>
          <a:xfrm>
            <a:off x="8679970" y="240881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4DA7E56A-6428-40BC-AB86-CE02EB41A771}"/>
              </a:ext>
            </a:extLst>
          </p:cNvPr>
          <p:cNvSpPr/>
          <p:nvPr/>
        </p:nvSpPr>
        <p:spPr>
          <a:xfrm>
            <a:off x="842703" y="144107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D12AF1F4-1D80-4477-9D37-41F2E6A81301}"/>
              </a:ext>
            </a:extLst>
          </p:cNvPr>
          <p:cNvSpPr/>
          <p:nvPr/>
        </p:nvSpPr>
        <p:spPr>
          <a:xfrm>
            <a:off x="3213804" y="144107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FC02117F-EABB-4BF4-AA9D-029BA50E820F}"/>
              </a:ext>
            </a:extLst>
          </p:cNvPr>
          <p:cNvSpPr/>
          <p:nvPr/>
        </p:nvSpPr>
        <p:spPr>
          <a:xfrm>
            <a:off x="5915027" y="144107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BA6919F-D808-486D-BBC4-96156C847A7D}"/>
              </a:ext>
            </a:extLst>
          </p:cNvPr>
          <p:cNvSpPr/>
          <p:nvPr/>
        </p:nvSpPr>
        <p:spPr>
          <a:xfrm>
            <a:off x="8110342" y="144107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96A93F0-635B-4656-96EC-D359E699BE32}"/>
              </a:ext>
            </a:extLst>
          </p:cNvPr>
          <p:cNvSpPr/>
          <p:nvPr/>
        </p:nvSpPr>
        <p:spPr>
          <a:xfrm>
            <a:off x="730819" y="48857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E97450B7-7EA0-4884-A0CD-8F3CD62EDDBB}"/>
              </a:ext>
            </a:extLst>
          </p:cNvPr>
          <p:cNvSpPr/>
          <p:nvPr/>
        </p:nvSpPr>
        <p:spPr>
          <a:xfrm>
            <a:off x="3543927" y="48857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A21B7D96-73B2-4388-BD6E-625CF230C229}"/>
              </a:ext>
            </a:extLst>
          </p:cNvPr>
          <p:cNvSpPr/>
          <p:nvPr/>
        </p:nvSpPr>
        <p:spPr>
          <a:xfrm>
            <a:off x="5587515" y="48857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685D8769-4824-4A05-B6BD-B0BC4881DED4}"/>
              </a:ext>
            </a:extLst>
          </p:cNvPr>
          <p:cNvSpPr/>
          <p:nvPr/>
        </p:nvSpPr>
        <p:spPr>
          <a:xfrm>
            <a:off x="8624724" y="48857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63DF41BF-7A9D-4967-A7FA-68F1F991A2DC}"/>
              </a:ext>
            </a:extLst>
          </p:cNvPr>
          <p:cNvSpPr/>
          <p:nvPr/>
        </p:nvSpPr>
        <p:spPr>
          <a:xfrm>
            <a:off x="842703" y="336131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A5FCDF4-6FA0-4DEC-874A-06DCA01EE09D}"/>
              </a:ext>
            </a:extLst>
          </p:cNvPr>
          <p:cNvSpPr/>
          <p:nvPr/>
        </p:nvSpPr>
        <p:spPr>
          <a:xfrm>
            <a:off x="3543926" y="336131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FBBCDD68-70A2-41DF-BC3B-3908F05AEBCA}"/>
              </a:ext>
            </a:extLst>
          </p:cNvPr>
          <p:cNvSpPr/>
          <p:nvPr/>
        </p:nvSpPr>
        <p:spPr>
          <a:xfrm>
            <a:off x="5864938" y="336131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A6748C64-DACC-45B0-9A90-13D3F54AC883}"/>
              </a:ext>
            </a:extLst>
          </p:cNvPr>
          <p:cNvSpPr/>
          <p:nvPr/>
        </p:nvSpPr>
        <p:spPr>
          <a:xfrm>
            <a:off x="8073032" y="336131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8C0CAEE6-113A-43F8-84AC-7B80EEFDF25B}"/>
              </a:ext>
            </a:extLst>
          </p:cNvPr>
          <p:cNvSpPr/>
          <p:nvPr/>
        </p:nvSpPr>
        <p:spPr>
          <a:xfrm>
            <a:off x="1253090" y="433667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6FADE536-84A3-4368-9691-1832B40D4990}"/>
              </a:ext>
            </a:extLst>
          </p:cNvPr>
          <p:cNvSpPr/>
          <p:nvPr/>
        </p:nvSpPr>
        <p:spPr>
          <a:xfrm>
            <a:off x="3107445" y="433667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29657CA1-B285-49FD-9BB3-A24839A1E8E5}"/>
              </a:ext>
            </a:extLst>
          </p:cNvPr>
          <p:cNvSpPr/>
          <p:nvPr/>
        </p:nvSpPr>
        <p:spPr>
          <a:xfrm>
            <a:off x="5446627" y="433667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E3E375BC-078E-4511-8C8C-CFFD8F1036F3}"/>
              </a:ext>
            </a:extLst>
          </p:cNvPr>
          <p:cNvSpPr/>
          <p:nvPr/>
        </p:nvSpPr>
        <p:spPr>
          <a:xfrm>
            <a:off x="8892185" y="433667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DFC11071-D978-40F6-AB06-0CF37306620D}"/>
              </a:ext>
            </a:extLst>
          </p:cNvPr>
          <p:cNvSpPr/>
          <p:nvPr/>
        </p:nvSpPr>
        <p:spPr>
          <a:xfrm>
            <a:off x="922967" y="530441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0C953F2A-77F4-4532-8E3B-DD0FE5596FBF}"/>
              </a:ext>
            </a:extLst>
          </p:cNvPr>
          <p:cNvSpPr/>
          <p:nvPr/>
        </p:nvSpPr>
        <p:spPr>
          <a:xfrm>
            <a:off x="3566093" y="530441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547301AA-DCC1-4666-A4DB-3FBC263C238E}"/>
              </a:ext>
            </a:extLst>
          </p:cNvPr>
          <p:cNvSpPr/>
          <p:nvPr/>
        </p:nvSpPr>
        <p:spPr>
          <a:xfrm>
            <a:off x="5918042" y="530441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1C8B16AD-6F29-4816-B31F-8CCE93092A4A}"/>
              </a:ext>
            </a:extLst>
          </p:cNvPr>
          <p:cNvSpPr/>
          <p:nvPr/>
        </p:nvSpPr>
        <p:spPr>
          <a:xfrm>
            <a:off x="8440464" y="530441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23DA4EB1-B155-4652-9E83-6162842699A8}"/>
              </a:ext>
            </a:extLst>
          </p:cNvPr>
          <p:cNvSpPr/>
          <p:nvPr/>
        </p:nvSpPr>
        <p:spPr>
          <a:xfrm>
            <a:off x="686590" y="626453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A7F8F18C-DA84-474C-94BD-E0BFDAF731CA}"/>
              </a:ext>
            </a:extLst>
          </p:cNvPr>
          <p:cNvSpPr/>
          <p:nvPr/>
        </p:nvSpPr>
        <p:spPr>
          <a:xfrm>
            <a:off x="3330730" y="626453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ECEC13D4-4DF7-48E5-A482-63437CE90576}"/>
              </a:ext>
            </a:extLst>
          </p:cNvPr>
          <p:cNvSpPr/>
          <p:nvPr/>
        </p:nvSpPr>
        <p:spPr>
          <a:xfrm>
            <a:off x="5626315" y="626453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C034F4D7-2A43-483C-89AB-E6EF0C4E9C8C}"/>
              </a:ext>
            </a:extLst>
          </p:cNvPr>
          <p:cNvSpPr/>
          <p:nvPr/>
        </p:nvSpPr>
        <p:spPr>
          <a:xfrm>
            <a:off x="8290819" y="626453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260F48-12E4-A2F6-520B-8589FBF3C864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D0D0D0"/>
              </a:clrFrom>
              <a:clrTo>
                <a:srgbClr val="D0D0D0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5729" y="62693"/>
            <a:ext cx="365253" cy="3988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2DE6ADA-D2EC-AF11-140A-D70BAF1865F3}"/>
              </a:ext>
            </a:extLst>
          </p:cNvPr>
          <p:cNvSpPr txBox="1"/>
          <p:nvPr/>
        </p:nvSpPr>
        <p:spPr>
          <a:xfrm>
            <a:off x="380518" y="94157"/>
            <a:ext cx="42771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bg1">
                    <a:lumMod val="50000"/>
                  </a:schemeClr>
                </a:solidFill>
              </a:rPr>
              <a:t>ЖООПТОР · Туура жол жашыл түс менен белгиленген.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7907928" y="6360907"/>
            <a:ext cx="1725318" cy="4015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400" b="1">
                <a:solidFill>
                  <a:srgbClr val="808080"/>
                </a:solidFill>
                <a:latin typeface="Calibri"/>
              </a:rPr>
              <a:t>МААРА!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5149158" y="76662"/>
            <a:ext cx="1621677" cy="388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808080"/>
                </a:solidFill>
                <a:latin typeface="Calibri"/>
              </a:rPr>
              <a:t>БАШТА!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380518" y="6420000"/>
            <a:ext cx="5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08080"/>
                </a:solidFill>
                <a:latin typeface="Calibri"/>
              </a:rPr>
              <a:t>Статистика: орточо, медиана, мода, кулач</a:t>
            </a:r>
          </a:p>
        </p:txBody>
      </p:sp>
    </p:spTree>
    <p:extLst>
      <p:ext uri="{BB962C8B-B14F-4D97-AF65-F5344CB8AC3E}">
        <p14:creationId xmlns:p14="http://schemas.microsoft.com/office/powerpoint/2010/main" val="2222280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 xmlns:a14="http://schemas.microsoft.com/office/drawing/2010/main">
        <p:nvGraphicFramePr>
          <p:cNvPr id="13" name="Table 12">
            <a:extLst>
              <a:ext uri="{FF2B5EF4-FFF2-40B4-BE49-F238E27FC236}">
                <a16:creationId xmlns:a16="http://schemas.microsoft.com/office/drawing/2014/main" id="{FFC43E7D-1CBD-4E9B-8C75-AAC2168FBA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4372537"/>
              </p:ext>
            </p:extLst>
          </p:nvPr>
        </p:nvGraphicFramePr>
        <p:xfrm>
          <a:off x="17584" y="35167"/>
          <a:ext cx="9864968" cy="679645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466242">
                  <a:extLst>
                    <a:ext uri="{9D8B030D-6E8A-4147-A177-3AD203B41FA5}">
                      <a16:colId xmlns:a16="http://schemas.microsoft.com/office/drawing/2014/main" val="921319168"/>
                    </a:ext>
                  </a:extLst>
                </a:gridCol>
                <a:gridCol w="2466242">
                  <a:extLst>
                    <a:ext uri="{9D8B030D-6E8A-4147-A177-3AD203B41FA5}">
                      <a16:colId xmlns:a16="http://schemas.microsoft.com/office/drawing/2014/main" val="2374239729"/>
                    </a:ext>
                  </a:extLst>
                </a:gridCol>
                <a:gridCol w="2466242">
                  <a:extLst>
                    <a:ext uri="{9D8B030D-6E8A-4147-A177-3AD203B41FA5}">
                      <a16:colId xmlns:a16="http://schemas.microsoft.com/office/drawing/2014/main" val="1885592907"/>
                    </a:ext>
                  </a:extLst>
                </a:gridCol>
                <a:gridCol w="2466242">
                  <a:extLst>
                    <a:ext uri="{9D8B030D-6E8A-4147-A177-3AD203B41FA5}">
                      <a16:colId xmlns:a16="http://schemas.microsoft.com/office/drawing/2014/main" val="1484771037"/>
                    </a:ext>
                  </a:extLst>
                </a:gridCol>
              </a:tblGrid>
              <a:tr h="499540">
                <a:tc gridSpan="4">
                  <a:txBody>
                    <a:bodyPr/>
                    <a:lstStyle/>
                    <a:p>
                      <a:pPr algn="ctr"/>
                      <a:endParaRPr lang="en-GB" sz="2800" b="0" dirty="0">
                        <a:solidFill>
                          <a:schemeClr val="tx1"/>
                        </a:solidFill>
                        <a:latin typeface="Honeydripper" panose="00000400000000000000" pitchFamily="2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800" b="0" dirty="0">
                        <a:solidFill>
                          <a:schemeClr val="tx1"/>
                        </a:solidFill>
                        <a:latin typeface="Honeydripper" panose="00000400000000000000" pitchFamily="2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800" b="0" dirty="0">
                        <a:solidFill>
                          <a:schemeClr val="tx1"/>
                        </a:solidFill>
                        <a:latin typeface="Honeydripper" panose="00000400000000000000" pitchFamily="2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800" b="0" dirty="0">
                        <a:solidFill>
                          <a:schemeClr val="tx1"/>
                        </a:solidFill>
                        <a:latin typeface="Honeydripper" panose="00000400000000000000" pitchFamily="2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063453"/>
                  </a:ext>
                </a:extLst>
              </a:tr>
              <a:tr h="966229">
                <a:tc>
                  <a:txBody>
                    <a:bodyPr/>
                    <a:lstStyle/>
                    <a:p>
                      <a:pPr algn="ctr"/>
                      <a:r>
                        <a:rPr lang="ky-KG" sz="1500" b="0" dirty="0">
                          <a:solidFill>
                            <a:schemeClr val="tx1"/>
                          </a:solidFill>
                          <a:latin typeface="Calibri"/>
                        </a:rPr>
                        <a:t>2, 4, 9 сандарынын орточосу 15.</a:t>
                      </a: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500" b="0" dirty="0">
                          <a:solidFill>
                            <a:schemeClr val="tx1"/>
                          </a:solidFill>
                          <a:latin typeface="Calibri"/>
                        </a:rPr>
                        <a:t>2, 4, 9 сандарынын орточосу 5.</a:t>
                      </a:r>
                    </a:p>
                  </a:txBody>
                  <a:tcPr marL="91440" marR="9144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500" b="0" dirty="0">
                          <a:solidFill>
                            <a:schemeClr val="tx1"/>
                          </a:solidFill>
                          <a:latin typeface="Calibri"/>
                        </a:rPr>
                        <a:t>8, 1, 6 сандарынын медианасы 1.</a:t>
                      </a:r>
                    </a:p>
                  </a:txBody>
                  <a:tcPr marL="91440" marR="9144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500" b="0" dirty="0">
                          <a:solidFill>
                            <a:schemeClr val="tx1"/>
                          </a:solidFill>
                          <a:latin typeface="Calibri"/>
                        </a:rPr>
                        <a:t>3 сандын орточосу 4 болсо, алардын суммасы 7.</a:t>
                      </a:r>
                    </a:p>
                  </a:txBody>
                  <a:tcPr marL="91440" marR="9144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736126"/>
                  </a:ext>
                </a:extLst>
              </a:tr>
              <a:tr h="966229">
                <a:tc>
                  <a:txBody>
                    <a:bodyPr/>
                    <a:lstStyle/>
                    <a:p>
                      <a:pPr algn="ctr"/>
                      <a:r>
                        <a:rPr lang="ky-KG" sz="1500" b="0" dirty="0">
                          <a:solidFill>
                            <a:schemeClr val="tx1"/>
                          </a:solidFill>
                          <a:latin typeface="Calibri"/>
                        </a:rPr>
                        <a:t>5, 7, 5, 2, 7, 5 тизмесинин модасы 3.</a:t>
                      </a: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500" b="0" dirty="0">
                          <a:solidFill>
                            <a:schemeClr val="tx1"/>
                          </a:solidFill>
                          <a:latin typeface="Calibri"/>
                        </a:rPr>
                        <a:t>8, 1, 6 сандарынын медианасы 6.</a:t>
                      </a:r>
                    </a:p>
                  </a:txBody>
                  <a:tcPr marL="91440" marR="9144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500" b="0" dirty="0">
                          <a:solidFill>
                            <a:schemeClr val="tx1"/>
                          </a:solidFill>
                          <a:latin typeface="Calibri"/>
                        </a:rPr>
                        <a:t>5, 7, 5, 2, 7, 5 тизмесинин модасы 5.</a:t>
                      </a:r>
                    </a:p>
                  </a:txBody>
                  <a:tcPr marL="91440" marR="9144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500" b="0" dirty="0">
                          <a:solidFill>
                            <a:schemeClr val="tx1"/>
                          </a:solidFill>
                          <a:latin typeface="Calibri"/>
                        </a:rPr>
                        <a:t>6, 14, 9, 3 тизмесинин кулачы 11.</a:t>
                      </a:r>
                    </a:p>
                  </a:txBody>
                  <a:tcPr marL="91440" marR="9144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439726"/>
                  </a:ext>
                </a:extLst>
              </a:tr>
              <a:tr h="966229">
                <a:tc>
                  <a:txBody>
                    <a:bodyPr/>
                    <a:lstStyle/>
                    <a:p>
                      <a:pPr algn="ctr"/>
                      <a:r>
                        <a:rPr lang="ky-KG" sz="1500" b="0" dirty="0">
                          <a:solidFill>
                            <a:schemeClr val="tx1"/>
                          </a:solidFill>
                          <a:latin typeface="Calibri"/>
                        </a:rPr>
                        <a:t>6, 14, 9, 3 тизмесинин кулачы 3.</a:t>
                      </a: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500" b="0" dirty="0">
                          <a:solidFill>
                            <a:schemeClr val="tx1"/>
                          </a:solidFill>
                          <a:latin typeface="Calibri"/>
                        </a:rPr>
                        <a:t>3, 10, 6, 5 тизмесинин медианасы 8.</a:t>
                      </a:r>
                    </a:p>
                  </a:txBody>
                  <a:tcPr marL="91440" marR="9144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500" b="0" dirty="0">
                          <a:solidFill>
                            <a:schemeClr val="tx1"/>
                          </a:solidFill>
                          <a:latin typeface="Calibri"/>
                        </a:rPr>
                        <a:t>Ар бир санга 10 кошсо, кулач да 10 бирдикке чоңоёт.</a:t>
                      </a:r>
                    </a:p>
                  </a:txBody>
                  <a:tcPr marL="91440" marR="9144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500" b="0" dirty="0">
                          <a:solidFill>
                            <a:schemeClr val="tx1"/>
                          </a:solidFill>
                          <a:latin typeface="Calibri"/>
                        </a:rPr>
                        <a:t>3, 10, 6, 5 тизмесинин медианасы 5,5.</a:t>
                      </a:r>
                    </a:p>
                  </a:txBody>
                  <a:tcPr marL="91440" marR="9144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662882"/>
                  </a:ext>
                </a:extLst>
              </a:tr>
              <a:tr h="966229">
                <a:tc>
                  <a:txBody>
                    <a:bodyPr/>
                    <a:lstStyle/>
                    <a:p>
                      <a:pPr algn="ctr"/>
                      <a:r>
                        <a:rPr lang="ky-KG" sz="1500" b="0" dirty="0">
                          <a:solidFill>
                            <a:schemeClr val="tx1"/>
                          </a:solidFill>
                          <a:latin typeface="Calibri"/>
                        </a:rPr>
                        <a:t>0, 6, 0, 6 тизмесинин орточосу 6.</a:t>
                      </a: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500" b="0" dirty="0">
                          <a:solidFill>
                            <a:schemeClr val="tx1"/>
                          </a:solidFill>
                          <a:latin typeface="Calibri"/>
                        </a:rPr>
                        <a:t>0, 6, 0, 6 тизмесинин орточосу 3.</a:t>
                      </a:r>
                    </a:p>
                  </a:txBody>
                  <a:tcPr marL="91440" marR="9144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500" b="0" dirty="0">
                          <a:solidFill>
                            <a:schemeClr val="tx1"/>
                          </a:solidFill>
                          <a:latin typeface="Calibri"/>
                        </a:rPr>
                        <a:t>2, 4, 4, 9, 9 тизмесинин эки модасы бар: 4 жана 9.</a:t>
                      </a:r>
                    </a:p>
                  </a:txBody>
                  <a:tcPr marL="91440" marR="9144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500" b="0" dirty="0">
                          <a:solidFill>
                            <a:schemeClr val="tx1"/>
                          </a:solidFill>
                          <a:latin typeface="Calibri"/>
                        </a:rPr>
                        <a:t>Ар бир санга 10 кошсо, кулач өзгөрбөйт.</a:t>
                      </a:r>
                    </a:p>
                  </a:txBody>
                  <a:tcPr marL="91440" marR="9144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667592"/>
                  </a:ext>
                </a:extLst>
              </a:tr>
              <a:tr h="966229">
                <a:tc>
                  <a:txBody>
                    <a:bodyPr/>
                    <a:lstStyle/>
                    <a:p>
                      <a:pPr algn="ctr"/>
                      <a:r>
                        <a:rPr lang="ky-KG" sz="1500" b="0" dirty="0">
                          <a:solidFill>
                            <a:schemeClr val="tx1"/>
                          </a:solidFill>
                          <a:latin typeface="Calibri"/>
                        </a:rPr>
                        <a:t>100, 1, 4, 2, 3 тизмесинин медианасы 3.</a:t>
                      </a: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500" b="0" dirty="0">
                          <a:solidFill>
                            <a:schemeClr val="tx1"/>
                          </a:solidFill>
                          <a:latin typeface="Calibri"/>
                        </a:rPr>
                        <a:t>Тизме: 4, 5, □. Орточосу 6 болсо, □ = 9.</a:t>
                      </a:r>
                    </a:p>
                  </a:txBody>
                  <a:tcPr marL="91440" marR="9144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500" b="0" dirty="0">
                          <a:solidFill>
                            <a:schemeClr val="tx1"/>
                          </a:solidFill>
                          <a:latin typeface="Calibri"/>
                        </a:rPr>
                        <a:t>2, 4, 4, 9, 9 тизмесинин модасы 9 гана.</a:t>
                      </a:r>
                    </a:p>
                  </a:txBody>
                  <a:tcPr marL="91440" marR="9144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500" b="0" dirty="0">
                          <a:solidFill>
                            <a:schemeClr val="tx1"/>
                          </a:solidFill>
                          <a:latin typeface="Calibri"/>
                        </a:rPr>
                        <a:t>100, 1, 4, 2, 3 тизмесинин медианасы 4.</a:t>
                      </a:r>
                    </a:p>
                  </a:txBody>
                  <a:tcPr marL="91440" marR="9144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914130"/>
                  </a:ext>
                </a:extLst>
              </a:tr>
              <a:tr h="966229">
                <a:tc>
                  <a:txBody>
                    <a:bodyPr/>
                    <a:lstStyle/>
                    <a:p>
                      <a:pPr algn="ctr"/>
                      <a:r>
                        <a:rPr lang="ky-KG" sz="1500" b="0" dirty="0">
                          <a:solidFill>
                            <a:schemeClr val="tx1"/>
                          </a:solidFill>
                          <a:latin typeface="Calibri"/>
                        </a:rPr>
                        <a:t>5, 5, 5 тизмесинин кулачы 0.</a:t>
                      </a: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500" b="0" dirty="0">
                          <a:solidFill>
                            <a:schemeClr val="tx1"/>
                          </a:solidFill>
                          <a:latin typeface="Calibri"/>
                        </a:rPr>
                        <a:t>5, 5, 5 тизмесинин кулачы 5.</a:t>
                      </a:r>
                    </a:p>
                  </a:txBody>
                  <a:tcPr marL="91440" marR="9144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500" b="0" dirty="0">
                          <a:solidFill>
                            <a:schemeClr val="tx1"/>
                          </a:solidFill>
                          <a:latin typeface="Calibri"/>
                        </a:rPr>
                        <a:t>Тизме: 4, 5, □. Орточосу 6 болсо, □ = 6.</a:t>
                      </a:r>
                    </a:p>
                  </a:txBody>
                  <a:tcPr marL="91440" marR="9144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500" b="0" dirty="0">
                          <a:solidFill>
                            <a:schemeClr val="tx1"/>
                          </a:solidFill>
                          <a:latin typeface="Calibri"/>
                        </a:rPr>
                        <a:t>Орточо дайыма тизмедеги сандардын бири болот.</a:t>
                      </a:r>
                    </a:p>
                  </a:txBody>
                  <a:tcPr marL="91440" marR="9144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734302"/>
                  </a:ext>
                </a:extLst>
              </a:tr>
              <a:tr h="499540">
                <a:tc gridSpan="4">
                  <a:txBody>
                    <a:bodyPr/>
                    <a:lstStyle/>
                    <a:p>
                      <a:pPr algn="ctr"/>
                      <a:endParaRPr lang="en-GB" sz="2800" b="0" dirty="0">
                        <a:solidFill>
                          <a:schemeClr val="tx1"/>
                        </a:solidFill>
                        <a:latin typeface="Honeydripper" panose="00000400000000000000" pitchFamily="2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800" b="0" dirty="0">
                        <a:solidFill>
                          <a:schemeClr val="tx1"/>
                        </a:solidFill>
                        <a:latin typeface="Honeydripper" panose="00000400000000000000" pitchFamily="2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800" b="0" dirty="0">
                        <a:solidFill>
                          <a:schemeClr val="tx1"/>
                        </a:solidFill>
                        <a:latin typeface="Honeydripper" panose="00000400000000000000" pitchFamily="2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800" b="0" dirty="0">
                        <a:solidFill>
                          <a:schemeClr val="tx1"/>
                        </a:solidFill>
                        <a:latin typeface="Honeydripper" panose="00000400000000000000" pitchFamily="2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7346283"/>
                  </a:ext>
                </a:extLst>
              </a:tr>
            </a:tbl>
          </a:graphicData>
        </a:graphic>
      </p:graphicFrame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08C5E97-A371-43A8-87BD-962D16AC1FA4}"/>
              </a:ext>
            </a:extLst>
          </p:cNvPr>
          <p:cNvSpPr/>
          <p:nvPr/>
        </p:nvSpPr>
        <p:spPr>
          <a:xfrm>
            <a:off x="17585" y="26377"/>
            <a:ext cx="9864969" cy="6796454"/>
          </a:xfrm>
          <a:prstGeom prst="roundRect">
            <a:avLst>
              <a:gd name="adj" fmla="val 6529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CA7A56EF-E0CD-411A-98A5-A70E59DB7FAB}"/>
              </a:ext>
            </a:extLst>
          </p:cNvPr>
          <p:cNvSpPr/>
          <p:nvPr/>
        </p:nvSpPr>
        <p:spPr>
          <a:xfrm>
            <a:off x="1502948" y="240881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0076C339-281C-446E-B630-AED443D38242}"/>
              </a:ext>
            </a:extLst>
          </p:cNvPr>
          <p:cNvSpPr/>
          <p:nvPr/>
        </p:nvSpPr>
        <p:spPr>
          <a:xfrm rot="16200000">
            <a:off x="2254571" y="2730820"/>
            <a:ext cx="438694" cy="149946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64985A9-587A-4F91-8EDE-6B26E12412EF}"/>
              </a:ext>
            </a:extLst>
          </p:cNvPr>
          <p:cNvSpPr/>
          <p:nvPr/>
        </p:nvSpPr>
        <p:spPr>
          <a:xfrm rot="16200000">
            <a:off x="4723451" y="2853215"/>
            <a:ext cx="438694" cy="149946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8D1195E-A8A0-4473-8927-E881F00F1840}"/>
              </a:ext>
            </a:extLst>
          </p:cNvPr>
          <p:cNvSpPr/>
          <p:nvPr/>
        </p:nvSpPr>
        <p:spPr>
          <a:xfrm rot="16200000">
            <a:off x="7199951" y="2730820"/>
            <a:ext cx="438694" cy="149946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23EB33E-879B-4993-BD5B-5DB77BB3D7E9}"/>
              </a:ext>
            </a:extLst>
          </p:cNvPr>
          <p:cNvSpPr/>
          <p:nvPr/>
        </p:nvSpPr>
        <p:spPr>
          <a:xfrm rot="16200000">
            <a:off x="2254571" y="1968671"/>
            <a:ext cx="438694" cy="149946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5B9572B-A634-480A-9C7F-9AD015653E33}"/>
              </a:ext>
            </a:extLst>
          </p:cNvPr>
          <p:cNvSpPr/>
          <p:nvPr/>
        </p:nvSpPr>
        <p:spPr>
          <a:xfrm rot="16200000">
            <a:off x="4723451" y="1773696"/>
            <a:ext cx="438694" cy="149946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D78D9C7-D464-48CB-92F2-64567C82106C}"/>
              </a:ext>
            </a:extLst>
          </p:cNvPr>
          <p:cNvSpPr/>
          <p:nvPr/>
        </p:nvSpPr>
        <p:spPr>
          <a:xfrm rot="16200000">
            <a:off x="7199951" y="1846900"/>
            <a:ext cx="438694" cy="149946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75E1C950-0066-4272-B356-4BBF471B74DB}"/>
              </a:ext>
            </a:extLst>
          </p:cNvPr>
          <p:cNvSpPr/>
          <p:nvPr/>
        </p:nvSpPr>
        <p:spPr>
          <a:xfrm rot="16200000">
            <a:off x="2254571" y="909640"/>
            <a:ext cx="438694" cy="149946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4E81CF0-FD65-45F9-9EB0-224693B65659}"/>
              </a:ext>
            </a:extLst>
          </p:cNvPr>
          <p:cNvSpPr/>
          <p:nvPr/>
        </p:nvSpPr>
        <p:spPr>
          <a:xfrm rot="16200000">
            <a:off x="4723451" y="830721"/>
            <a:ext cx="438694" cy="149946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A02A964-9C46-4586-AF06-D41976BCA007}"/>
              </a:ext>
            </a:extLst>
          </p:cNvPr>
          <p:cNvSpPr/>
          <p:nvPr/>
        </p:nvSpPr>
        <p:spPr>
          <a:xfrm rot="16200000">
            <a:off x="7199951" y="1063674"/>
            <a:ext cx="438694" cy="149946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3448822-6C61-4DDB-9590-B0E2231BC4B4}"/>
              </a:ext>
            </a:extLst>
          </p:cNvPr>
          <p:cNvSpPr/>
          <p:nvPr/>
        </p:nvSpPr>
        <p:spPr>
          <a:xfrm rot="16200000">
            <a:off x="2254571" y="3686354"/>
            <a:ext cx="438694" cy="149946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EE90D44-9019-4CB9-ABF8-00DCC133F1F4}"/>
              </a:ext>
            </a:extLst>
          </p:cNvPr>
          <p:cNvSpPr/>
          <p:nvPr/>
        </p:nvSpPr>
        <p:spPr>
          <a:xfrm rot="16200000">
            <a:off x="4723451" y="3737071"/>
            <a:ext cx="438694" cy="149946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1084999-4709-49A3-82DE-450D94377FFC}"/>
              </a:ext>
            </a:extLst>
          </p:cNvPr>
          <p:cNvSpPr/>
          <p:nvPr/>
        </p:nvSpPr>
        <p:spPr>
          <a:xfrm rot="16200000">
            <a:off x="7199951" y="3934275"/>
            <a:ext cx="438694" cy="149946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0852C92-52D8-4B59-950C-34430C3F7815}"/>
              </a:ext>
            </a:extLst>
          </p:cNvPr>
          <p:cNvSpPr/>
          <p:nvPr/>
        </p:nvSpPr>
        <p:spPr>
          <a:xfrm rot="16200000">
            <a:off x="2254571" y="4779971"/>
            <a:ext cx="438694" cy="149946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3CBBB84-C3F4-4DAD-9DA3-838A51676123}"/>
              </a:ext>
            </a:extLst>
          </p:cNvPr>
          <p:cNvSpPr/>
          <p:nvPr/>
        </p:nvSpPr>
        <p:spPr>
          <a:xfrm rot="16200000">
            <a:off x="4723451" y="4831426"/>
            <a:ext cx="438694" cy="149946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BAE8667-3B2C-4625-B0F2-8EB8DD997826}"/>
              </a:ext>
            </a:extLst>
          </p:cNvPr>
          <p:cNvSpPr/>
          <p:nvPr/>
        </p:nvSpPr>
        <p:spPr>
          <a:xfrm rot="16200000">
            <a:off x="7199951" y="4885981"/>
            <a:ext cx="438694" cy="149946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92887A0E-2BB2-46BB-B37F-4FF78C4FF482}"/>
              </a:ext>
            </a:extLst>
          </p:cNvPr>
          <p:cNvSpPr/>
          <p:nvPr/>
        </p:nvSpPr>
        <p:spPr>
          <a:xfrm rot="16200000">
            <a:off x="2254571" y="5654241"/>
            <a:ext cx="438694" cy="149946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3A6AC7E-A676-478C-AC45-DD6326B8EA69}"/>
              </a:ext>
            </a:extLst>
          </p:cNvPr>
          <p:cNvSpPr/>
          <p:nvPr/>
        </p:nvSpPr>
        <p:spPr>
          <a:xfrm rot="16200000">
            <a:off x="4723451" y="5653504"/>
            <a:ext cx="438694" cy="149946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4D761A51-FD51-4809-BD76-8A0B64AB8B1A}"/>
              </a:ext>
            </a:extLst>
          </p:cNvPr>
          <p:cNvSpPr/>
          <p:nvPr/>
        </p:nvSpPr>
        <p:spPr>
          <a:xfrm rot="16200000">
            <a:off x="7199951" y="5816920"/>
            <a:ext cx="438694" cy="149946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B0EDC17-6845-456F-B654-068020BA1277}"/>
              </a:ext>
            </a:extLst>
          </p:cNvPr>
          <p:cNvSpPr/>
          <p:nvPr/>
        </p:nvSpPr>
        <p:spPr>
          <a:xfrm>
            <a:off x="3469006" y="240881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35ADB57-F65B-436E-8AE9-C606F97C23E8}"/>
              </a:ext>
            </a:extLst>
          </p:cNvPr>
          <p:cNvSpPr/>
          <p:nvPr/>
        </p:nvSpPr>
        <p:spPr>
          <a:xfrm>
            <a:off x="6195061" y="240881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A1B231E-FF69-4407-850C-B57AF150D43F}"/>
              </a:ext>
            </a:extLst>
          </p:cNvPr>
          <p:cNvSpPr/>
          <p:nvPr/>
        </p:nvSpPr>
        <p:spPr>
          <a:xfrm>
            <a:off x="8679970" y="240881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4DA7E56A-6428-40BC-AB86-CE02EB41A771}"/>
              </a:ext>
            </a:extLst>
          </p:cNvPr>
          <p:cNvSpPr/>
          <p:nvPr/>
        </p:nvSpPr>
        <p:spPr>
          <a:xfrm>
            <a:off x="842703" y="144107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D12AF1F4-1D80-4477-9D37-41F2E6A81301}"/>
              </a:ext>
            </a:extLst>
          </p:cNvPr>
          <p:cNvSpPr/>
          <p:nvPr/>
        </p:nvSpPr>
        <p:spPr>
          <a:xfrm>
            <a:off x="3213804" y="144107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FC02117F-EABB-4BF4-AA9D-029BA50E820F}"/>
              </a:ext>
            </a:extLst>
          </p:cNvPr>
          <p:cNvSpPr/>
          <p:nvPr/>
        </p:nvSpPr>
        <p:spPr>
          <a:xfrm>
            <a:off x="5915027" y="144107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BA6919F-D808-486D-BBC4-96156C847A7D}"/>
              </a:ext>
            </a:extLst>
          </p:cNvPr>
          <p:cNvSpPr/>
          <p:nvPr/>
        </p:nvSpPr>
        <p:spPr>
          <a:xfrm>
            <a:off x="8110342" y="144107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96A93F0-635B-4656-96EC-D359E699BE32}"/>
              </a:ext>
            </a:extLst>
          </p:cNvPr>
          <p:cNvSpPr/>
          <p:nvPr/>
        </p:nvSpPr>
        <p:spPr>
          <a:xfrm>
            <a:off x="730819" y="48857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E97450B7-7EA0-4884-A0CD-8F3CD62EDDBB}"/>
              </a:ext>
            </a:extLst>
          </p:cNvPr>
          <p:cNvSpPr/>
          <p:nvPr/>
        </p:nvSpPr>
        <p:spPr>
          <a:xfrm>
            <a:off x="3543927" y="48857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A21B7D96-73B2-4388-BD6E-625CF230C229}"/>
              </a:ext>
            </a:extLst>
          </p:cNvPr>
          <p:cNvSpPr/>
          <p:nvPr/>
        </p:nvSpPr>
        <p:spPr>
          <a:xfrm>
            <a:off x="5587515" y="48857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685D8769-4824-4A05-B6BD-B0BC4881DED4}"/>
              </a:ext>
            </a:extLst>
          </p:cNvPr>
          <p:cNvSpPr/>
          <p:nvPr/>
        </p:nvSpPr>
        <p:spPr>
          <a:xfrm>
            <a:off x="8624724" y="48857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63DF41BF-7A9D-4967-A7FA-68F1F991A2DC}"/>
              </a:ext>
            </a:extLst>
          </p:cNvPr>
          <p:cNvSpPr/>
          <p:nvPr/>
        </p:nvSpPr>
        <p:spPr>
          <a:xfrm>
            <a:off x="842703" y="336131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A5FCDF4-6FA0-4DEC-874A-06DCA01EE09D}"/>
              </a:ext>
            </a:extLst>
          </p:cNvPr>
          <p:cNvSpPr/>
          <p:nvPr/>
        </p:nvSpPr>
        <p:spPr>
          <a:xfrm>
            <a:off x="3543926" y="336131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FBBCDD68-70A2-41DF-BC3B-3908F05AEBCA}"/>
              </a:ext>
            </a:extLst>
          </p:cNvPr>
          <p:cNvSpPr/>
          <p:nvPr/>
        </p:nvSpPr>
        <p:spPr>
          <a:xfrm>
            <a:off x="5864938" y="336131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A6748C64-DACC-45B0-9A90-13D3F54AC883}"/>
              </a:ext>
            </a:extLst>
          </p:cNvPr>
          <p:cNvSpPr/>
          <p:nvPr/>
        </p:nvSpPr>
        <p:spPr>
          <a:xfrm>
            <a:off x="8073032" y="336131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8C0CAEE6-113A-43F8-84AC-7B80EEFDF25B}"/>
              </a:ext>
            </a:extLst>
          </p:cNvPr>
          <p:cNvSpPr/>
          <p:nvPr/>
        </p:nvSpPr>
        <p:spPr>
          <a:xfrm>
            <a:off x="1253090" y="433667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6FADE536-84A3-4368-9691-1832B40D4990}"/>
              </a:ext>
            </a:extLst>
          </p:cNvPr>
          <p:cNvSpPr/>
          <p:nvPr/>
        </p:nvSpPr>
        <p:spPr>
          <a:xfrm>
            <a:off x="3107445" y="433667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29657CA1-B285-49FD-9BB3-A24839A1E8E5}"/>
              </a:ext>
            </a:extLst>
          </p:cNvPr>
          <p:cNvSpPr/>
          <p:nvPr/>
        </p:nvSpPr>
        <p:spPr>
          <a:xfrm>
            <a:off x="5446627" y="433667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E3E375BC-078E-4511-8C8C-CFFD8F1036F3}"/>
              </a:ext>
            </a:extLst>
          </p:cNvPr>
          <p:cNvSpPr/>
          <p:nvPr/>
        </p:nvSpPr>
        <p:spPr>
          <a:xfrm>
            <a:off x="8892185" y="433667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DFC11071-D978-40F6-AB06-0CF37306620D}"/>
              </a:ext>
            </a:extLst>
          </p:cNvPr>
          <p:cNvSpPr/>
          <p:nvPr/>
        </p:nvSpPr>
        <p:spPr>
          <a:xfrm>
            <a:off x="922967" y="530441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0C953F2A-77F4-4532-8E3B-DD0FE5596FBF}"/>
              </a:ext>
            </a:extLst>
          </p:cNvPr>
          <p:cNvSpPr/>
          <p:nvPr/>
        </p:nvSpPr>
        <p:spPr>
          <a:xfrm>
            <a:off x="3566093" y="530441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547301AA-DCC1-4666-A4DB-3FBC263C238E}"/>
              </a:ext>
            </a:extLst>
          </p:cNvPr>
          <p:cNvSpPr/>
          <p:nvPr/>
        </p:nvSpPr>
        <p:spPr>
          <a:xfrm>
            <a:off x="5918042" y="530441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1C8B16AD-6F29-4816-B31F-8CCE93092A4A}"/>
              </a:ext>
            </a:extLst>
          </p:cNvPr>
          <p:cNvSpPr/>
          <p:nvPr/>
        </p:nvSpPr>
        <p:spPr>
          <a:xfrm>
            <a:off x="8440464" y="530441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23DA4EB1-B155-4652-9E83-6162842699A8}"/>
              </a:ext>
            </a:extLst>
          </p:cNvPr>
          <p:cNvSpPr/>
          <p:nvPr/>
        </p:nvSpPr>
        <p:spPr>
          <a:xfrm>
            <a:off x="686590" y="626453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A7F8F18C-DA84-474C-94BD-E0BFDAF731CA}"/>
              </a:ext>
            </a:extLst>
          </p:cNvPr>
          <p:cNvSpPr/>
          <p:nvPr/>
        </p:nvSpPr>
        <p:spPr>
          <a:xfrm>
            <a:off x="3330730" y="626453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ECEC13D4-4DF7-48E5-A482-63437CE90576}"/>
              </a:ext>
            </a:extLst>
          </p:cNvPr>
          <p:cNvSpPr/>
          <p:nvPr/>
        </p:nvSpPr>
        <p:spPr>
          <a:xfrm>
            <a:off x="5626315" y="626453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C034F4D7-2A43-483C-89AB-E6EF0C4E9C8C}"/>
              </a:ext>
            </a:extLst>
          </p:cNvPr>
          <p:cNvSpPr/>
          <p:nvPr/>
        </p:nvSpPr>
        <p:spPr>
          <a:xfrm>
            <a:off x="8290819" y="6264536"/>
            <a:ext cx="660245" cy="132454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260F48-12E4-A2F6-520B-8589FBF3C864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D0D0D0"/>
              </a:clrFrom>
              <a:clrTo>
                <a:srgbClr val="D0D0D0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5729" y="62693"/>
            <a:ext cx="365253" cy="3988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2DE6ADA-D2EC-AF11-140A-D70BAF1865F3}"/>
              </a:ext>
            </a:extLst>
          </p:cNvPr>
          <p:cNvSpPr txBox="1"/>
          <p:nvPr/>
        </p:nvSpPr>
        <p:spPr>
          <a:xfrm>
            <a:off x="380518" y="94157"/>
            <a:ext cx="42771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bg1">
                    <a:lumMod val="50000"/>
                  </a:schemeClr>
                </a:solidFill>
              </a:rPr>
              <a:t>Билдирүү туура болгон бөлмөлөр аркылуу гана өт.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7907928" y="6360907"/>
            <a:ext cx="1725318" cy="4015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400" b="1">
                <a:solidFill>
                  <a:srgbClr val="808080"/>
                </a:solidFill>
                <a:latin typeface="Calibri"/>
              </a:rPr>
              <a:t>МААРА!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5149158" y="76662"/>
            <a:ext cx="1621677" cy="388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808080"/>
                </a:solidFill>
                <a:latin typeface="Calibri"/>
              </a:rPr>
              <a:t>БАШТА!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380518" y="6420000"/>
            <a:ext cx="5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08080"/>
                </a:solidFill>
                <a:latin typeface="Calibri"/>
              </a:rPr>
              <a:t>Статистика: орточо, медиана, мода, кулач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6900000" y="94157"/>
            <a:ext cx="370000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08080"/>
                </a:solidFill>
                <a:latin typeface="Calibri"/>
              </a:rPr>
              <a:t>Аты-жөнү: 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2714628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9168</TotalTime>
  <Words>386</Words>
  <Application>Microsoft Office PowerPoint</Application>
  <PresentationFormat>A4 Paper (210x297 mm)</PresentationFormat>
  <Paragraphs>66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Calibri Light</vt:lpstr>
      <vt:lpstr>Arial</vt:lpstr>
      <vt:lpstr>Cambria Math</vt:lpstr>
      <vt:lpstr>Calibri</vt:lpstr>
      <vt:lpstr>Honeydripper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Rufus Woodwark</cp:lastModifiedBy>
  <cp:revision>418</cp:revision>
  <cp:lastPrinted>2019-01-19T07:33:17Z</cp:lastPrinted>
  <dcterms:created xsi:type="dcterms:W3CDTF">2017-01-17T16:57:04Z</dcterms:created>
  <dcterms:modified xsi:type="dcterms:W3CDTF">2024-08-12T08:53:25Z</dcterms:modified>
</cp:coreProperties>
</file>