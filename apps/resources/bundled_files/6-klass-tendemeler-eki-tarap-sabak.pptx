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бир чака 10 кгдан оорбу же жеңилби? Ким көп чака терди, ким көп «бош» кг терди?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Айпери: кашаадагы 2 да 3кө көбөйөт, 3(x + 2) = 3x + 6. Текшерүү: x = 4 → 18 = 18; x = 6 → 24 ≠ 20 (М3).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7 кагаз чөйчөк, 40 бөтөлкө капкагы (же таш, буурчак), A4 кагазга чийилген тараза. Мен ар бир чөйчөккө жашыруун 4төн капкак салып, оозун кагаз менен жаап берем. 1) Сол табакка 5 чөйчөк жана 3 капкак, оң табакка 2 чөйчөк жана 15 капкак: тараза тең. 2) «Эки табактан бирдей алабыз»: эки жактан тең 2 чөйчөк алышат. 3) Эки жактан тең 3 капкак алышат: 3 чөйчөк = 12 капкак. 4) 12 капкакты 3 чөйчөккө бөлүшөт: 1 чөйчөк = 4. 5) Чөйчөктү ачып текшеришет. Суроо: «Эмне үчүн чөйчөктү бир гана табактан алсак болбойт?» Проектор жок болсо, доскага тараза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эки сап чийишет: сап = теңдеменин бир жагы, эки сап бирдей узун. 1) Эки сапта тең 2 x бар: аларды үзүк сызык менен бөлүп, «алып салабыз». 2) Калганы: үстүндө 3x + 3, астында 15. 3) 3 кгны алабыз: 3x = 12, x = 4. Маселеде Пойанын 4 кадамы: Түшүн (эмне белгилүү?) → Планда (тилке) → Аткар (теңдеме) → Текшер (23 = 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Теңдеме = тең турган тараза. x эки тарапта болсо, кичине xти эки жагынан алабыз (тараза тең калат): мүчөнү «көчүрбөйбүз» (М4). Кашаа болсо, адегенде ачабыз, кашаанын ичиндеги ар бир мүчө көбөйөт (М3). Функция машинасын артка айлантканда акыркы амалды биринчи жана тескерисин аткарабыз (М1, 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«машинаны артка: акыркыны биринчи».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М4; Б = М5; В = ✓;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эки кадам → x эки тарапта → эки кашаа. Жооптор: 4x + 3 = 19; x = 4 кг; 5x + 2 = 3x + 10; x = 4 кг; 2(x + 3) + 3(x + 1) = 29; x =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тилкеде тең 2 чака бар: эки жагынан 2xти алабыз, 3x + 3 = 15 калат. Анан 3тү алабыз: 3x = 12, x = 4. Эгер 2xти «көчүрүп» кошсок (М4), 7x = 18 чыгат: чака бүтүн кг болбой калат, текшерүү дал келбейт. Текшерүү: экөө тең 23 кг терген.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x = 7; x = 3; x =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Теңдемелер: функция машинасы жана белгисиз эки тарапта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Тамгадагы чычырканак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Айпери менен Темирлан Тамга айылында Бүбүсара апага чычырканак терип, чакаларды таразада салыштырышат.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6-класс: «Бир өзгөрмөлүү сызыктуу теңдемелер» жана «Кашааларды ачуу» бөлүмдөрү; «Тамгалуу туюнтмалар жана теңдемелер» пакетинин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Тамгадагы чычырканак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Күз. Ысык-Көлдүн түштүк жээгиндеги Тамга айылында чычырканак бышты.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Айпери менен Темирлан Бүбүсара апасына жардам беришет: чычырканакты бирдей чакаларга терет.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Апанын эски эки табактуу таразасы бар. Тараза тең турса, эки табак бирдей оор.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Бир чакадагы чычырканактын салмагын билбейбиз. Аны x деп белгилейбиз.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Айпери 5 толук чака жана 3 кг терди. Темирлан 2 толук чака жана 15 кг терди. Экөө бирдей терди. Бир чакада канча кг?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Функция машинасын алдыга жана артка айлантам, машинадан теңдеме жазып чыгарам.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Кашааны ачып, эки жана үч кадамдуу теңдемени чыгарам: 3(x + 2) = 18.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x эки тарапта болгон теңдемени тараза жана тилке менен чыгарам жана текшерем: 5x + 3 = 2x + 15.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Машина, 2–3 кадам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Кашаалуу теңдеме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x эки тарапта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3(x + 2) = 3x + 2?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тараза: чөйчөк жана капкак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Тамга, Ысык-Көл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Чычырканак чакалары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Тамгалуу туюнтма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Амалдардын тартиби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 (1)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2x + 5 = 17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Окшош мүчөлөр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 (2)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Машина, кашаа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x эки тарапта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Сызыктуу теңдеме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Системалар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→ × 3 → + 4 →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Чыгар: 2x + 5 = 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Кашааны ач: 3(x + 2)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Жөнөкөйлөт: 5x − 2x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→ × 3 → + 4 →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Чыгар: 2x + 5 = 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Кашааны ач: 3(x + 2)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3x + 6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5x − 2x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Бүбүсара апа доскага жазды: 3(x + 2) = x + 14. «x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Темирлан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3x + 2 = x + 14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2x = 12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x =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Айпери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3x + 6 = x + 14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2x = 8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x =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x ордуна коюп, эки жагын эсепте.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чөйчөк = x (ичинде бирдей сандагы капкак), капкак = 1. Сол табакта 5 чөйчөк жана 3 капкак, оң табакта 2 чөйчөк жана 15 капкак.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5x + 3 = 2x + 15: тараза тең турат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" y="4069080"/>
            <a:ext cx="3566160" cy="0"/>
          </a:xfrm>
          <a:prstGeom prst="line">
            <a:avLst/>
          </a:prstGeom>
          <a:ln w="381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>
            <a:off x="3547872" y="4069080"/>
            <a:ext cx="585216" cy="777240"/>
          </a:xfrm>
          <a:prstGeom prst="triangl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017520" y="4846320"/>
            <a:ext cx="1645920" cy="0"/>
          </a:xfrm>
          <a:prstGeom prst="line">
            <a:avLst/>
          </a:prstGeom>
          <a:ln w="381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48840" y="3794760"/>
            <a:ext cx="0" cy="2743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4360" y="3721608"/>
            <a:ext cx="3108960" cy="91440"/>
          </a:xfrm>
          <a:prstGeom prst="roundRect">
            <a:avLst>
              <a:gd name="adj" fmla="val 50000"/>
            </a:avLst>
          </a:prstGeom>
          <a:solidFill>
            <a:srgbClr val="1D3557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anual Operation 17"/>
          <p:cNvSpPr/>
          <p:nvPr/>
        </p:nvSpPr>
        <p:spPr>
          <a:xfrm>
            <a:off x="667512" y="3136392"/>
            <a:ext cx="402336" cy="548640"/>
          </a:xfrm>
          <a:prstGeom prst="flowChartManualOperation">
            <a:avLst/>
          </a:prstGeom>
          <a:solidFill>
            <a:srgbClr val="F5E9E0"/>
          </a:solidFill>
          <a:ln w="1905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36392"/>
            <a:ext cx="40233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04088" y="3172968"/>
            <a:ext cx="329184" cy="47548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anual Operation 20"/>
          <p:cNvSpPr/>
          <p:nvPr/>
        </p:nvSpPr>
        <p:spPr>
          <a:xfrm>
            <a:off x="1115568" y="3136392"/>
            <a:ext cx="402336" cy="548640"/>
          </a:xfrm>
          <a:prstGeom prst="flowChartManualOperation">
            <a:avLst/>
          </a:prstGeom>
          <a:solidFill>
            <a:srgbClr val="F5E9E0"/>
          </a:solidFill>
          <a:ln w="1905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136392"/>
            <a:ext cx="40233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152144" y="3172968"/>
            <a:ext cx="329184" cy="47548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anual Operation 23"/>
          <p:cNvSpPr/>
          <p:nvPr/>
        </p:nvSpPr>
        <p:spPr>
          <a:xfrm>
            <a:off x="1563624" y="3136392"/>
            <a:ext cx="402336" cy="548640"/>
          </a:xfrm>
          <a:prstGeom prst="flowChartManualOperation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63624" y="3136392"/>
            <a:ext cx="40233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26" name="Manual Operation 25"/>
          <p:cNvSpPr/>
          <p:nvPr/>
        </p:nvSpPr>
        <p:spPr>
          <a:xfrm>
            <a:off x="2011680" y="3136392"/>
            <a:ext cx="402336" cy="548640"/>
          </a:xfrm>
          <a:prstGeom prst="flowChartManualOperation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3136392"/>
            <a:ext cx="40233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28" name="Manual Operation 27"/>
          <p:cNvSpPr/>
          <p:nvPr/>
        </p:nvSpPr>
        <p:spPr>
          <a:xfrm>
            <a:off x="2459736" y="3136392"/>
            <a:ext cx="402336" cy="548640"/>
          </a:xfrm>
          <a:prstGeom prst="flowChartManualOperation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9736" y="3136392"/>
            <a:ext cx="40233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30" name="Oval 29"/>
          <p:cNvSpPr/>
          <p:nvPr/>
        </p:nvSpPr>
        <p:spPr>
          <a:xfrm>
            <a:off x="2953512" y="3447288"/>
            <a:ext cx="237744" cy="237744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36976" y="3447288"/>
            <a:ext cx="237744" cy="237744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53512" y="3163824"/>
            <a:ext cx="237744" cy="237744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532120" y="3794760"/>
            <a:ext cx="0" cy="2743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977640" y="3721608"/>
            <a:ext cx="3108960" cy="91440"/>
          </a:xfrm>
          <a:prstGeom prst="roundRect">
            <a:avLst>
              <a:gd name="adj" fmla="val 50000"/>
            </a:avLst>
          </a:prstGeom>
          <a:solidFill>
            <a:srgbClr val="1D3557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anual Operation 34"/>
          <p:cNvSpPr/>
          <p:nvPr/>
        </p:nvSpPr>
        <p:spPr>
          <a:xfrm>
            <a:off x="4050792" y="3136392"/>
            <a:ext cx="402336" cy="548640"/>
          </a:xfrm>
          <a:prstGeom prst="flowChartManualOperation">
            <a:avLst/>
          </a:prstGeom>
          <a:solidFill>
            <a:srgbClr val="F5E9E0"/>
          </a:solidFill>
          <a:ln w="1905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0792" y="3136392"/>
            <a:ext cx="40233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087368" y="3172968"/>
            <a:ext cx="329184" cy="47548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Manual Operation 37"/>
          <p:cNvSpPr/>
          <p:nvPr/>
        </p:nvSpPr>
        <p:spPr>
          <a:xfrm>
            <a:off x="4498848" y="3136392"/>
            <a:ext cx="402336" cy="548640"/>
          </a:xfrm>
          <a:prstGeom prst="flowChartManualOperation">
            <a:avLst/>
          </a:prstGeom>
          <a:solidFill>
            <a:srgbClr val="F5E9E0"/>
          </a:solidFill>
          <a:ln w="1905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3136392"/>
            <a:ext cx="402336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535424" y="3172968"/>
            <a:ext cx="329184" cy="475488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992624" y="3447288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76088" y="3447288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59552" y="3447288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43016" y="3447288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26480" y="3447288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9944" y="3447288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93408" y="3447288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92624" y="3163824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276088" y="3163824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59552" y="3163824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43016" y="3163824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26480" y="3163824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09944" y="3163824"/>
            <a:ext cx="237744" cy="237744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693408" y="3163824"/>
            <a:ext cx="237744" cy="237744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92624" y="2880360"/>
            <a:ext cx="237744" cy="237744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2062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Айпери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42062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Темирлан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46320"/>
            <a:ext cx="6583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Сызылган чөйчөк, үзүк капкак = эки табактан тең алдык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230368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 чөйчөк = 12 капкак  →  1 чөйчөк = 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0" y="2011680"/>
            <a:ext cx="44348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79" y="2103120"/>
            <a:ext cx="41148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7 кагаз чөйчөк = x (жабык)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40 капкак = 1ден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A4 кагазга чийилген тараза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Эки табактан бирдей ал → тең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−2x:  3x + 3 = 15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−3:  3x = 12,  x = 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эки сап тилке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Айпери: 5 чака + 3 кг. Темирлан: 2 чака + 15 кг. Бирдей. Эки тилке чийип, салыштыр.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3716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Айпери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13716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Темирлан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788920"/>
            <a:ext cx="1463040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788920"/>
            <a:ext cx="1463040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788920"/>
            <a:ext cx="1463040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88920"/>
            <a:ext cx="1463040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788920"/>
            <a:ext cx="1463040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788920"/>
            <a:ext cx="1097280" cy="56692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840480"/>
            <a:ext cx="1463040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840480"/>
            <a:ext cx="1463040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840480"/>
            <a:ext cx="5486400" cy="56692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0" y="2560320"/>
            <a:ext cx="0" cy="2075688"/>
          </a:xfrm>
          <a:prstGeom prst="line">
            <a:avLst/>
          </a:prstGeom>
          <a:ln w="2540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28800" y="2578608"/>
            <a:ext cx="0" cy="13716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754880" y="2578608"/>
            <a:ext cx="0" cy="13716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2578608"/>
            <a:ext cx="2926080" cy="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20240" y="2167127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2x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28800" y="4480560"/>
            <a:ext cx="0" cy="13716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754880" y="4480560"/>
            <a:ext cx="0" cy="13716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0" y="4617720"/>
            <a:ext cx="2926080" cy="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20240" y="46634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2x: эки жактан тең алабыз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754880" y="2578608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241280" y="2578608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54880" y="2578608"/>
            <a:ext cx="54864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26479" y="2167127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3x + 3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54880" y="44805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41280" y="44805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80" y="4617720"/>
            <a:ext cx="54864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79" y="46634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788920"/>
            <a:ext cx="9144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A5A70"/>
                </a:solidFill>
                <a:latin typeface="PT Sans"/>
              </a:rPr>
              <a:t>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3840480"/>
            <a:ext cx="9144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A5A70"/>
                </a:solidFill>
                <a:latin typeface="PT Sans"/>
              </a:rPr>
              <a:t>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3892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Эки сап бирдей узун (теңдеме). Үзүк сызык = белгисиз x, жалбыз түс = белгилүү кг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5x + 3 = 2x + 15  →  3x + 3 = 15  →  3x = 12  →  x =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(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Кашааны ач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3(x + 2) = 3x + 6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−2x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xтерди бир жакка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Кичине xти эки жагынан ал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−3, ÷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Санды ал, бөл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Эки жагына бирдей амал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Текшер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x ордуна коюп, эки жагын эсепте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Эки жагына бирдей амал → тараза тең турат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Апанын баа машинасы: кг → × 150 → + 50 → сом (баштык 50 сом). Темирлан 650 сом төлөдү. Канча кг?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150x + 50 = 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машинадан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150x = 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эки жагынан −50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=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эки жагын ÷ 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150 · 4 + 50 = 650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x = </a:t>
            </a:r>
            <a:r>
              <a:rPr sz="3400" b="1">
                <a:solidFill>
                  <a:srgbClr val="24418C"/>
                </a:solidFill>
                <a:latin typeface="PT Sans"/>
              </a:rPr>
              <a:t>4 кг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x 10дон чоңбу?  3(x + 2) = x + 14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3x + 6 = x + 14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кашааны ач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2x + 6 =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эки жагынан −x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=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−6, анан ÷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 · 6 = 4 + 14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x = </a:t>
            </a:r>
            <a:r>
              <a:rPr sz="34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Машинаны артка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→ × 3 → + 4 →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19 → − 4 → ÷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15 ÷ 3 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Акыркы амал биринчи, тескериси менен.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Кичине xти 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5x + 3 = 2x + 15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эки жагынан −2x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3x + 3 =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xтер бир жакта калсын, анан эки кадамдуу теңдеме.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Кашааны жаап кой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3(x + 2) = 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(x + 2) = 18 ÷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+ 2 =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Кашааны бир чөйчөк деп ойло: адегенде ага бөл.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→ эки жагына бирдей амал → x ордуна коюп текшер.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Теңдемени чыгар: 7x + 2 = 3x + 18. x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Айпери 4 бирдей чака чычырканак жана дагы 3 кг терди. Баары 19 кг. Бир чакада канча кг?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Айпери 5 чака жана 2 кг терди, Темирлан 3 чака жана 10 кг терди. Экөө бирдей терди. Бир чака канча кг?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Апа 2 кутуга ар бирине бир чака жана 3 кг алма, 3 кутуга ар бирине бир чака жана 1 кг алма салды. Баары 29 кг. Бир чака канча кг?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Айпери 4 бирдей чака чычырканак жана дагы 3 кг терди. Баары 19 кг. Бир чакада канча кг?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49345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0383" y="3017520"/>
            <a:ext cx="49345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3838" y="3017520"/>
            <a:ext cx="49345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47293" y="3017520"/>
            <a:ext cx="49345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0748" y="3017520"/>
            <a:ext cx="37009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4x + 3 = 19; x = 4 кг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Айпери 5 чака жана 2 кг терди, Темирлан 3 чака жана 10 кг терди. Экөө бирдей терди. Бир чака канча кг?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9600" y="3017520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5765" y="3017520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1931" y="3017520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8097" y="3017520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4263" y="3017520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0429" y="3017520"/>
            <a:ext cx="2130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9600" y="3574389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5765" y="3574389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71931" y="3574389"/>
            <a:ext cx="42616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8097" y="3574389"/>
            <a:ext cx="106541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5x + 2 = 3x + 10; x = 4 кг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Апа 2 кутуга ар бирине бир чака жана 3 кг алма, 3 кутуга ар бирине бир чака жана 1 кг алма салды. Баары 29 кг. Бир чака канча кг?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2272" y="3017520"/>
            <a:ext cx="62504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7315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66097" y="3017520"/>
            <a:ext cx="62504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91140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2272" y="3574389"/>
            <a:ext cx="62504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7315" y="3574389"/>
            <a:ext cx="15626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3576" y="3574389"/>
            <a:ext cx="62504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78619" y="3574389"/>
            <a:ext cx="15626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34880" y="3574389"/>
            <a:ext cx="62504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59923" y="3574389"/>
            <a:ext cx="15626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844784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07624" y="3958437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890503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2(x + 3) + 3(x + 1) = 29; x =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→ × 4 → − 3 → 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÷ 2 + 5 = 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4(x − 3) = 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6x + 5 = 2x + 25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2(x + 5) = x + 17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5, 8, 11, 14, … Кайсы мүчө 50?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 → × 4 → − 3 →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 ÷ 2 + 5 =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4(x − 3) =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6x + 5 = 2x + 25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2(x + 5) = x + 17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5, 8, 11, 14, … Кайсы мүчө 50?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3n + 2 = 50; n =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Айпери 5 толук чака жана 3 кг терди. Темирлан 2 толук чака жана 15 кг терди. Экөө бирдей терди. Бир чакада канча кг?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Айпери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319916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356" y="2240280"/>
            <a:ext cx="1319916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7273" y="2240280"/>
            <a:ext cx="1319916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7189" y="2240280"/>
            <a:ext cx="1319916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57106" y="2240280"/>
            <a:ext cx="1319916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7022" y="2240280"/>
            <a:ext cx="98993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Темирлан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035808"/>
            <a:ext cx="1319916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97356" y="3035808"/>
            <a:ext cx="1319916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7273" y="3035808"/>
            <a:ext cx="4949686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5x + 3 = 2x + 15  →  3x + 3 =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эки жагынан −2x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3x = 12  →  x =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−3, анан ÷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Бир чакада 4 кг. Текшер: 5 · 4 + 3 = 23 жана 2 · 4 + 15 = 23.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Тамга окуясы менен маселе түз: эки бала бирдей чычырканак терди, x эки тарапта болсун, тамыры бүтүн сан.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Айпери, Темирлан, Бүбүсара апа.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Машина: x → + 2 → × 3 → 27. x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Чыгар жана текшер: 6x + 1 = 2x + 13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Чыгар: 2(x + 4) = x + 13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машинаны артка айлантканда акыркы амалдан баштайбыз?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3(x + 2) = 3x + 2 туура эмес?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x эки тарапта болгондо эмне үчүн кичине xти алабыз? Жообуңду кантип текшердиң?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7 кагаз чөйчөк жана 40 капкак; тараза A4 кагазга чийилет.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теңдемеден мурун: «Адегенде болжолдо: x канчага жакын?»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кадам жаңы сапта, «=» тизилет; «=»ди «анан жообу» деп колдонбойбуз.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Маселеде Пойанын 4 кадамы: Түшүн → Планда → Аткар → Текшер.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