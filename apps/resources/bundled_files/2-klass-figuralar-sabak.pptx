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Сабактын аталышы жана бүгүнкү окуя.</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Сабактын жолу: ар бир бөлүк өз слайды менен ачылат.</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Окуяны окуп берем. Окуучулар болжолдошот: жылдызча 10дон көппү, азбы? Жоопту сабактын аягында (22-слайд) текшеребиз. Колумда чыныгы кубик же ширеңке кутусу болот.</a:t>
            </a:r>
          </a:p>
          <a:p>
            <a:r>
              <a:t>3C (Байланыштыруу): Окуя турмуштан: бул суроого сабактын аягында кайтабыз.</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Ой жүгүртүү маданияты (Wenxi Lee, 2,6).</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Ийгилик критерийлери: сабактын аягында ар бирине ✓ коёбуз.</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Спираль: тема класстан класска тереңдейт.</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Мини-тактага жазышат. Жооптор кийинки слайдда.</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Жоопту дароо айтпайбыз. Жупта талкуулашат. Жооп: Айбек: кубдун 6 бети бар; Нуриза сүрөттө көрүнгөнүн гана санады (М3).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Ар бир жупка 12 таякча (ширеңке чийи, санак таякча же кургак макарон) жана 8 пластилин шарча берем (пластилин жок болсо, нымдуу чопо же нан камыры). Адегенде квадрат курушат: 4 таякча, 4 шарча. Анан экинчи квадрат жана 4 тик таякча: куб каркасы. «Канча шарча? Канча таякча?» деп сурайм. Тик бурч текшергичти ар бир окуучу кагазды эки жолу бүктөп өзү жасайт жана партанын, китептин бурчун текшерет. Проектор жок болсо, ушул сүрөттү доскага чийем.</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Кубду доскага чийем: көрүнбөгөн кырлар үзүк сызык менен. Анан кутуну кесип жазып көрсөтөм: 6 бет. Ар бир бетке номер жазабыз 1ден 6га чейин. Үч кубик: 6 + 6 + 6. «3 + 3 + 3 = 9» деген жоопту талкуулайбыз (М3).</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Тегиз фигурада жак жана чоку, көлөмдүү фигурада бет, кыр жана чоку. Тик бурчту көз менен эмес, текшергич менен табабыз (М6). Фигураны бурсак, аты өзгөрбөйт (М1). Куб – квадрат эмес: кубду колго алабыз, квадратты кагазга чийебиз (М4).</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Ар бир сап «=» менен башталат. Окуучулар кадамды айтып турат.</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Ар бир сап «=» менен башталат. Окуучулар кадамды айтып турат.</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Ар бир ыкманы окуучу үн чыгарып айтат: «кубдун беттерин жуп-жуп санадым: алды-арты, үстү-асты, оң-сол». «Оозеки беш мүнөт» (класста колдонуу картасы) эки апта кайталайт.</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Баары бир убакта манжа менен көрсөтөт (1–4). Туура эмес жооптун коду: А = М5; Б = ✓; В = М3; Г = М4</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деңгээл: эки бөлүк → бирдей бөлүктөр → бүтүн жана белгисиз. Жооптор: 3 + 4 = 7 таякча; 6 + 6 = 12 бет; 20 − 12 = 8 таякча</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Жеңилден баштап, мүмкүн болушунча алдыга. Жооптор кийинки слайдда.</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Ар бир кубиктин 6 бети: 6 + 6 + 6 = 18. Кимдир бирөө 9 десе (3 + 3 + 3), кубикти колго алып астын, артын жана сол жагын көрсөтөм: сүрөттө алар көрүнбөйт (М3).</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Блум: Түзүү. Жупта алмашып, бири-биринин маселесин чыгарышат.</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Жооптор: 5 жак, 5 чоку; 6 бет, 12 кыр; Жок: тик бурчтукта 4 тик бурч бар</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Бул слайд окуучуларга көрсөтүлбөйт.</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3" name="TextBox 2"/>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1/26</a:t>
            </a:r>
          </a:p>
        </p:txBody>
      </p:sp>
      <p:sp>
        <p:nvSpPr>
          <p:cNvPr id="4" name="Rounded Rectangle 3"/>
          <p:cNvSpPr/>
          <p:nvPr/>
        </p:nvSpPr>
        <p:spPr>
          <a:xfrm>
            <a:off x="822960" y="1371600"/>
            <a:ext cx="164592" cy="128016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7280" y="1371600"/>
            <a:ext cx="164592" cy="128016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371600" y="1371600"/>
            <a:ext cx="164592" cy="128016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28800" y="1188720"/>
            <a:ext cx="9601200" cy="548640"/>
          </a:xfrm>
          <a:prstGeom prst="rect">
            <a:avLst/>
          </a:prstGeom>
          <a:noFill/>
        </p:spPr>
        <p:txBody>
          <a:bodyPr wrap="square" anchor="t" lIns="45720" rIns="45720" tIns="27432" bIns="27432">
            <a:spAutoFit/>
          </a:bodyPr>
          <a:lstStyle/>
          <a:p>
            <a:pPr algn="l">
              <a:lnSpc>
                <a:spcPct val="105000"/>
              </a:lnSpc>
            </a:pPr>
            <a:r>
              <a:rPr sz="2200" b="0" i="0">
                <a:solidFill>
                  <a:srgbClr val="4A5A70"/>
                </a:solidFill>
                <a:latin typeface="PT Sans"/>
              </a:rPr>
              <a:t/>
            </a:r>
          </a:p>
        </p:txBody>
      </p:sp>
      <p:sp>
        <p:nvSpPr>
          <p:cNvPr id="8" name="TextBox 7"/>
          <p:cNvSpPr txBox="1"/>
          <p:nvPr/>
        </p:nvSpPr>
        <p:spPr>
          <a:xfrm>
            <a:off x="1828800" y="1691640"/>
            <a:ext cx="9601200" cy="1737360"/>
          </a:xfrm>
          <a:prstGeom prst="rect">
            <a:avLst/>
          </a:prstGeom>
          <a:noFill/>
        </p:spPr>
        <p:txBody>
          <a:bodyPr wrap="square" anchor="t" lIns="45720" rIns="45720" tIns="27432" bIns="27432">
            <a:spAutoFit/>
          </a:bodyPr>
          <a:lstStyle/>
          <a:p>
            <a:pPr algn="l">
              <a:lnSpc>
                <a:spcPct val="105000"/>
              </a:lnSpc>
            </a:pPr>
            <a:r>
              <a:rPr sz="4000" b="1" i="0">
                <a:solidFill>
                  <a:srgbClr val="1D3557"/>
                </a:solidFill>
                <a:latin typeface="PT Sans"/>
              </a:rPr>
              <a:t>Тегиз жана көлөмдүү фигуралар</a:t>
            </a:r>
          </a:p>
        </p:txBody>
      </p:sp>
      <p:sp>
        <p:nvSpPr>
          <p:cNvPr id="9" name="Rounded Rectangle 8"/>
          <p:cNvSpPr/>
          <p:nvPr/>
        </p:nvSpPr>
        <p:spPr>
          <a:xfrm>
            <a:off x="1828800" y="3611880"/>
            <a:ext cx="8778240" cy="1463040"/>
          </a:xfrm>
          <a:prstGeom prst="roundRect">
            <a:avLst>
              <a:gd name="adj" fmla="val 12000"/>
            </a:avLst>
          </a:prstGeom>
          <a:solidFill>
            <a:srgbClr val="FFFFFF"/>
          </a:solidFill>
          <a:ln w="285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3657600"/>
            <a:ext cx="8321040" cy="457200"/>
          </a:xfrm>
          <a:prstGeom prst="rect">
            <a:avLst/>
          </a:prstGeom>
          <a:noFill/>
        </p:spPr>
        <p:txBody>
          <a:bodyPr wrap="square" anchor="t" lIns="45720" rIns="45720" tIns="27432" bIns="27432">
            <a:spAutoFit/>
          </a:bodyPr>
          <a:lstStyle/>
          <a:p>
            <a:pPr algn="l">
              <a:lnSpc>
                <a:spcPct val="105000"/>
              </a:lnSpc>
            </a:pPr>
            <a:r>
              <a:rPr sz="2400" b="1" i="0">
                <a:solidFill>
                  <a:srgbClr val="A84400"/>
                </a:solidFill>
                <a:latin typeface="PT Sans"/>
              </a:rPr>
              <a:t>Бүгүнкү окуя: Каракол: чоң атанын устаканасы</a:t>
            </a:r>
          </a:p>
        </p:txBody>
      </p:sp>
      <p:sp>
        <p:nvSpPr>
          <p:cNvPr id="11" name="TextBox 10"/>
          <p:cNvSpPr txBox="1"/>
          <p:nvPr/>
        </p:nvSpPr>
        <p:spPr>
          <a:xfrm>
            <a:off x="2057400" y="4160520"/>
            <a:ext cx="8321040" cy="914400"/>
          </a:xfrm>
          <a:prstGeom prst="rect">
            <a:avLst/>
          </a:prstGeom>
          <a:noFill/>
        </p:spPr>
        <p:txBody>
          <a:bodyPr wrap="square" anchor="t" lIns="45720" rIns="45720" tIns="27432" bIns="27432">
            <a:spAutoFit/>
          </a:bodyPr>
          <a:lstStyle/>
          <a:p>
            <a:pPr algn="l">
              <a:lnSpc>
                <a:spcPct val="105000"/>
              </a:lnSpc>
            </a:pPr>
            <a:r>
              <a:rPr sz="1900" b="0" i="0">
                <a:solidFill>
                  <a:srgbClr val="1F2430"/>
                </a:solidFill>
                <a:latin typeface="PT Sans"/>
              </a:rPr>
              <a:t>Нуриза менен Айбек Асан чоң аталарынын жыгач устаканасында фигуралардан оюнчук жасашат.</a:t>
            </a:r>
          </a:p>
        </p:txBody>
      </p:sp>
      <p:sp>
        <p:nvSpPr>
          <p:cNvPr id="12" name="TextBox 11"/>
          <p:cNvSpPr txBox="1"/>
          <p:nvPr/>
        </p:nvSpPr>
        <p:spPr>
          <a:xfrm>
            <a:off x="1828800" y="5349240"/>
            <a:ext cx="9601200" cy="457200"/>
          </a:xfrm>
          <a:prstGeom prst="rect">
            <a:avLst/>
          </a:prstGeom>
          <a:noFill/>
        </p:spPr>
        <p:txBody>
          <a:bodyPr wrap="square" anchor="t" lIns="45720" rIns="45720" tIns="27432" bIns="27432">
            <a:spAutoFit/>
          </a:bodyPr>
          <a:lstStyle/>
          <a:p>
            <a:pPr algn="l">
              <a:lnSpc>
                <a:spcPct val="105000"/>
              </a:lnSpc>
            </a:pPr>
            <a:r>
              <a:rPr sz="1300" b="0" i="1">
                <a:solidFill>
                  <a:srgbClr val="6B7280"/>
                </a:solidFill>
                <a:latin typeface="PT Sans"/>
              </a:rPr>
              <a:t>Китеп: 2025–26 КТП, 2-класс: «2D/3D фигуралар»; 2011-стандарт 2.1.5 (тик бурчтук, квадрат). Кыргызча окуу китеби папкада жок; мазмуну толук жаңы.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Сабактын мазмуну</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Тегиз жана көлөмдүү фигуралар</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2/26</a:t>
            </a:r>
          </a:p>
        </p:txBody>
      </p:sp>
      <p:sp>
        <p:nvSpPr>
          <p:cNvPr id="10" name="Rounded Rectangle 9"/>
          <p:cNvSpPr/>
          <p:nvPr/>
        </p:nvSpPr>
        <p:spPr>
          <a:xfrm>
            <a:off x="429768" y="1280160"/>
            <a:ext cx="11329416" cy="804672"/>
          </a:xfrm>
          <a:prstGeom prst="roundRect">
            <a:avLst>
              <a:gd name="adj" fmla="val 20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0080" y="1463039"/>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1</a:t>
            </a:r>
          </a:p>
        </p:txBody>
      </p:sp>
      <p:sp>
        <p:nvSpPr>
          <p:cNvPr id="12" name="TextBox 11"/>
          <p:cNvSpPr txBox="1"/>
          <p:nvPr/>
        </p:nvSpPr>
        <p:spPr>
          <a:xfrm>
            <a:off x="1280160" y="1280160"/>
            <a:ext cx="3108960" cy="804672"/>
          </a:xfrm>
          <a:prstGeom prst="rect">
            <a:avLst/>
          </a:prstGeom>
          <a:noFill/>
        </p:spPr>
        <p:txBody>
          <a:bodyPr wrap="square" anchor="ctr" lIns="45720" rIns="45720" tIns="27432" bIns="27432">
            <a:spAutoFit/>
          </a:bodyPr>
          <a:lstStyle/>
          <a:p>
            <a:pPr algn="l">
              <a:lnSpc>
                <a:spcPct val="105000"/>
              </a:lnSpc>
            </a:pPr>
            <a:r>
              <a:rPr sz="2400" b="1" i="0">
                <a:solidFill>
                  <a:srgbClr val="1D3557"/>
                </a:solidFill>
                <a:latin typeface="PT Sans"/>
              </a:rPr>
              <a:t>Кириш</a:t>
            </a:r>
          </a:p>
        </p:txBody>
      </p:sp>
      <p:sp>
        <p:nvSpPr>
          <p:cNvPr id="13" name="TextBox 12"/>
          <p:cNvSpPr txBox="1"/>
          <p:nvPr/>
        </p:nvSpPr>
        <p:spPr>
          <a:xfrm>
            <a:off x="4480560" y="1280160"/>
            <a:ext cx="7132320" cy="804672"/>
          </a:xfrm>
          <a:prstGeom prst="rect">
            <a:avLst/>
          </a:prstGeom>
          <a:noFill/>
        </p:spPr>
        <p:txBody>
          <a:bodyPr wrap="square" anchor="ctr" lIns="45720" rIns="45720" tIns="27432" bIns="27432">
            <a:spAutoFit/>
          </a:bodyPr>
          <a:lstStyle/>
          <a:p>
            <a:pPr algn="l">
              <a:lnSpc>
                <a:spcPct val="105000"/>
              </a:lnSpc>
            </a:pPr>
            <a:r>
              <a:rPr sz="2100" b="0" i="0">
                <a:solidFill>
                  <a:srgbClr val="1F2430"/>
                </a:solidFill>
                <a:latin typeface="PT Sans"/>
              </a:rPr>
              <a:t>Окуя, эрежелер, максаттар</a:t>
            </a:r>
          </a:p>
        </p:txBody>
      </p:sp>
      <p:sp>
        <p:nvSpPr>
          <p:cNvPr id="14" name="Rounded Rectangle 13"/>
          <p:cNvSpPr/>
          <p:nvPr/>
        </p:nvSpPr>
        <p:spPr>
          <a:xfrm>
            <a:off x="429768" y="2212848"/>
            <a:ext cx="11329416" cy="804672"/>
          </a:xfrm>
          <a:prstGeom prst="roundRect">
            <a:avLst>
              <a:gd name="adj" fmla="val 20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0080" y="2395728"/>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2</a:t>
            </a:r>
          </a:p>
        </p:txBody>
      </p:sp>
      <p:sp>
        <p:nvSpPr>
          <p:cNvPr id="16" name="TextBox 15"/>
          <p:cNvSpPr txBox="1"/>
          <p:nvPr/>
        </p:nvSpPr>
        <p:spPr>
          <a:xfrm>
            <a:off x="1280160" y="2212848"/>
            <a:ext cx="3108960" cy="804672"/>
          </a:xfrm>
          <a:prstGeom prst="rect">
            <a:avLst/>
          </a:prstGeom>
          <a:noFill/>
        </p:spPr>
        <p:txBody>
          <a:bodyPr wrap="square" anchor="ctr" lIns="45720" rIns="45720" tIns="27432" bIns="27432">
            <a:spAutoFit/>
          </a:bodyPr>
          <a:lstStyle/>
          <a:p>
            <a:pPr algn="l">
              <a:lnSpc>
                <a:spcPct val="105000"/>
              </a:lnSpc>
            </a:pPr>
            <a:r>
              <a:rPr sz="2400" b="1" i="0">
                <a:solidFill>
                  <a:srgbClr val="1D3557"/>
                </a:solidFill>
                <a:latin typeface="PT Sans"/>
              </a:rPr>
              <a:t>Даярдык</a:t>
            </a:r>
          </a:p>
        </p:txBody>
      </p:sp>
      <p:sp>
        <p:nvSpPr>
          <p:cNvPr id="17" name="TextBox 16"/>
          <p:cNvSpPr txBox="1"/>
          <p:nvPr/>
        </p:nvSpPr>
        <p:spPr>
          <a:xfrm>
            <a:off x="4480560" y="2212848"/>
            <a:ext cx="7132320" cy="804672"/>
          </a:xfrm>
          <a:prstGeom prst="rect">
            <a:avLst/>
          </a:prstGeom>
          <a:noFill/>
        </p:spPr>
        <p:txBody>
          <a:bodyPr wrap="square" anchor="ctr" lIns="45720" rIns="45720" tIns="27432" bIns="27432">
            <a:spAutoFit/>
          </a:bodyPr>
          <a:lstStyle/>
          <a:p>
            <a:pPr algn="l">
              <a:lnSpc>
                <a:spcPct val="105000"/>
              </a:lnSpc>
            </a:pPr>
            <a:r>
              <a:rPr sz="2100" b="0" i="0">
                <a:solidFill>
                  <a:srgbClr val="1F2430"/>
                </a:solidFill>
                <a:latin typeface="PT Sans"/>
              </a:rPr>
              <a:t>Эстейбиз, «Ким туура?»</a:t>
            </a:r>
          </a:p>
        </p:txBody>
      </p:sp>
      <p:sp>
        <p:nvSpPr>
          <p:cNvPr id="18" name="Rounded Rectangle 17"/>
          <p:cNvSpPr/>
          <p:nvPr/>
        </p:nvSpPr>
        <p:spPr>
          <a:xfrm>
            <a:off x="429768" y="3145536"/>
            <a:ext cx="11329416" cy="804672"/>
          </a:xfrm>
          <a:prstGeom prst="roundRect">
            <a:avLst>
              <a:gd name="adj" fmla="val 20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40080" y="3328416"/>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3</a:t>
            </a:r>
          </a:p>
        </p:txBody>
      </p:sp>
      <p:sp>
        <p:nvSpPr>
          <p:cNvPr id="20" name="TextBox 19"/>
          <p:cNvSpPr txBox="1"/>
          <p:nvPr/>
        </p:nvSpPr>
        <p:spPr>
          <a:xfrm>
            <a:off x="1280160" y="3145536"/>
            <a:ext cx="3108960" cy="804672"/>
          </a:xfrm>
          <a:prstGeom prst="rect">
            <a:avLst/>
          </a:prstGeom>
          <a:noFill/>
        </p:spPr>
        <p:txBody>
          <a:bodyPr wrap="square" anchor="ctr" lIns="45720" rIns="45720" tIns="27432" bIns="27432">
            <a:spAutoFit/>
          </a:bodyPr>
          <a:lstStyle/>
          <a:p>
            <a:pPr algn="l">
              <a:lnSpc>
                <a:spcPct val="105000"/>
              </a:lnSpc>
            </a:pPr>
            <a:r>
              <a:rPr sz="2400" b="1" i="0">
                <a:solidFill>
                  <a:srgbClr val="1D3557"/>
                </a:solidFill>
                <a:latin typeface="PT Sans"/>
              </a:rPr>
              <a:t>Түшүнөбүз</a:t>
            </a:r>
          </a:p>
        </p:txBody>
      </p:sp>
      <p:sp>
        <p:nvSpPr>
          <p:cNvPr id="21" name="TextBox 20"/>
          <p:cNvSpPr txBox="1"/>
          <p:nvPr/>
        </p:nvSpPr>
        <p:spPr>
          <a:xfrm>
            <a:off x="4480560" y="3145536"/>
            <a:ext cx="7132320" cy="804672"/>
          </a:xfrm>
          <a:prstGeom prst="rect">
            <a:avLst/>
          </a:prstGeom>
          <a:noFill/>
        </p:spPr>
        <p:txBody>
          <a:bodyPr wrap="square" anchor="ctr" lIns="45720" rIns="45720" tIns="27432" bIns="27432">
            <a:spAutoFit/>
          </a:bodyPr>
          <a:lstStyle/>
          <a:p>
            <a:pPr algn="l">
              <a:lnSpc>
                <a:spcPct val="105000"/>
              </a:lnSpc>
            </a:pPr>
            <a:r>
              <a:rPr sz="2100" b="0" i="0">
                <a:solidFill>
                  <a:srgbClr val="1F2430"/>
                </a:solidFill>
                <a:latin typeface="PT Sans"/>
              </a:rPr>
              <a:t>К → С → А: буюм, тилке, эреже</a:t>
            </a:r>
          </a:p>
        </p:txBody>
      </p:sp>
      <p:sp>
        <p:nvSpPr>
          <p:cNvPr id="22" name="Rounded Rectangle 21"/>
          <p:cNvSpPr/>
          <p:nvPr/>
        </p:nvSpPr>
        <p:spPr>
          <a:xfrm>
            <a:off x="429768" y="4078224"/>
            <a:ext cx="11329416" cy="804672"/>
          </a:xfrm>
          <a:prstGeom prst="roundRect">
            <a:avLst>
              <a:gd name="adj" fmla="val 20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0080" y="426110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4</a:t>
            </a:r>
          </a:p>
        </p:txBody>
      </p:sp>
      <p:sp>
        <p:nvSpPr>
          <p:cNvPr id="24" name="TextBox 23"/>
          <p:cNvSpPr txBox="1"/>
          <p:nvPr/>
        </p:nvSpPr>
        <p:spPr>
          <a:xfrm>
            <a:off x="1280160" y="4078224"/>
            <a:ext cx="3108960" cy="804672"/>
          </a:xfrm>
          <a:prstGeom prst="rect">
            <a:avLst/>
          </a:prstGeom>
          <a:noFill/>
        </p:spPr>
        <p:txBody>
          <a:bodyPr wrap="square" anchor="ctr" lIns="45720" rIns="45720" tIns="27432" bIns="27432">
            <a:spAutoFit/>
          </a:bodyPr>
          <a:lstStyle/>
          <a:p>
            <a:pPr algn="l">
              <a:lnSpc>
                <a:spcPct val="105000"/>
              </a:lnSpc>
            </a:pPr>
            <a:r>
              <a:rPr sz="2400" b="1" i="0">
                <a:solidFill>
                  <a:srgbClr val="1D3557"/>
                </a:solidFill>
                <a:latin typeface="PT Sans"/>
              </a:rPr>
              <a:t>Машыгабыз</a:t>
            </a:r>
          </a:p>
        </p:txBody>
      </p:sp>
      <p:sp>
        <p:nvSpPr>
          <p:cNvPr id="25" name="TextBox 24"/>
          <p:cNvSpPr txBox="1"/>
          <p:nvPr/>
        </p:nvSpPr>
        <p:spPr>
          <a:xfrm>
            <a:off x="4480560" y="4078224"/>
            <a:ext cx="7132320" cy="804672"/>
          </a:xfrm>
          <a:prstGeom prst="rect">
            <a:avLst/>
          </a:prstGeom>
          <a:noFill/>
        </p:spPr>
        <p:txBody>
          <a:bodyPr wrap="square" anchor="ctr" lIns="45720" rIns="45720" tIns="27432" bIns="27432">
            <a:spAutoFit/>
          </a:bodyPr>
          <a:lstStyle/>
          <a:p>
            <a:pPr algn="l">
              <a:lnSpc>
                <a:spcPct val="105000"/>
              </a:lnSpc>
            </a:pPr>
            <a:r>
              <a:rPr sz="2100" b="0" i="0">
                <a:solidFill>
                  <a:srgbClr val="1F2430"/>
                </a:solidFill>
                <a:latin typeface="PT Sans"/>
              </a:rPr>
              <a:t>Чечүүчү суроо, тилке, өз алдынча иш</a:t>
            </a:r>
          </a:p>
        </p:txBody>
      </p:sp>
      <p:sp>
        <p:nvSpPr>
          <p:cNvPr id="26" name="Rounded Rectangle 25"/>
          <p:cNvSpPr/>
          <p:nvPr/>
        </p:nvSpPr>
        <p:spPr>
          <a:xfrm>
            <a:off x="429768" y="5010912"/>
            <a:ext cx="11329416" cy="804672"/>
          </a:xfrm>
          <a:prstGeom prst="roundRect">
            <a:avLst>
              <a:gd name="adj" fmla="val 20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0080" y="5193792"/>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5</a:t>
            </a:r>
          </a:p>
        </p:txBody>
      </p:sp>
      <p:sp>
        <p:nvSpPr>
          <p:cNvPr id="28" name="TextBox 27"/>
          <p:cNvSpPr txBox="1"/>
          <p:nvPr/>
        </p:nvSpPr>
        <p:spPr>
          <a:xfrm>
            <a:off x="1280160" y="5010912"/>
            <a:ext cx="3108960" cy="804672"/>
          </a:xfrm>
          <a:prstGeom prst="rect">
            <a:avLst/>
          </a:prstGeom>
          <a:noFill/>
        </p:spPr>
        <p:txBody>
          <a:bodyPr wrap="square" anchor="ctr" lIns="45720" rIns="45720" tIns="27432" bIns="27432">
            <a:spAutoFit/>
          </a:bodyPr>
          <a:lstStyle/>
          <a:p>
            <a:pPr algn="l">
              <a:lnSpc>
                <a:spcPct val="105000"/>
              </a:lnSpc>
            </a:pPr>
            <a:r>
              <a:rPr sz="2400" b="1" i="0">
                <a:solidFill>
                  <a:srgbClr val="1D3557"/>
                </a:solidFill>
                <a:latin typeface="PT Sans"/>
              </a:rPr>
              <a:t>Жыйынтык</a:t>
            </a:r>
          </a:p>
        </p:txBody>
      </p:sp>
      <p:sp>
        <p:nvSpPr>
          <p:cNvPr id="29" name="TextBox 28"/>
          <p:cNvSpPr txBox="1"/>
          <p:nvPr/>
        </p:nvSpPr>
        <p:spPr>
          <a:xfrm>
            <a:off x="4480560" y="5010912"/>
            <a:ext cx="7132320" cy="804672"/>
          </a:xfrm>
          <a:prstGeom prst="rect">
            <a:avLst/>
          </a:prstGeom>
          <a:noFill/>
        </p:spPr>
        <p:txBody>
          <a:bodyPr wrap="square" anchor="ctr" lIns="45720" rIns="45720" tIns="27432" bIns="27432">
            <a:spAutoFit/>
          </a:bodyPr>
          <a:lstStyle/>
          <a:p>
            <a:pPr algn="l">
              <a:lnSpc>
                <a:spcPct val="105000"/>
              </a:lnSpc>
            </a:pPr>
            <a:r>
              <a:rPr sz="2100" b="0" i="0">
                <a:solidFill>
                  <a:srgbClr val="1F2430"/>
                </a:solidFill>
                <a:latin typeface="PT Sans"/>
              </a:rPr>
              <a:t>Окуяга кайтуу, түзүү, чыгуу билети</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Окуя: Каракол: чоң атанын устаканасы</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Тегиз жана көлөмдүү фигуралар</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3/26</a:t>
            </a:r>
          </a:p>
        </p:txBody>
      </p:sp>
      <p:sp>
        <p:nvSpPr>
          <p:cNvPr id="10" name="Rounded Rectangle 9"/>
          <p:cNvSpPr/>
          <p:nvPr/>
        </p:nvSpPr>
        <p:spPr>
          <a:xfrm>
            <a:off x="429768" y="1225296"/>
            <a:ext cx="6766560" cy="45720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325880"/>
            <a:ext cx="6217920" cy="4389120"/>
          </a:xfrm>
          <a:prstGeom prst="rect">
            <a:avLst/>
          </a:prstGeom>
          <a:noFill/>
        </p:spPr>
        <p:txBody>
          <a:bodyPr wrap="square" anchor="t" lIns="45720" rIns="45720" tIns="27432" bIns="27432">
            <a:spAutoFit/>
          </a:bodyPr>
          <a:lstStyle/>
          <a:p>
            <a:pPr algn="l">
              <a:lnSpc>
                <a:spcPct val="105000"/>
              </a:lnSpc>
            </a:pPr>
            <a:r>
              <a:rPr sz="2100" b="0" i="0">
                <a:solidFill>
                  <a:srgbClr val="1F2430"/>
                </a:solidFill>
                <a:latin typeface="PT Sans"/>
              </a:rPr>
              <a:t>Күзгү каникул. Нуриза менен Айбек Караколго, Асан чоң аталарына барышты.</a:t>
            </a:r>
          </a:p>
          <a:p>
            <a:pPr algn="l">
              <a:lnSpc>
                <a:spcPct val="105000"/>
              </a:lnSpc>
              <a:spcBef>
                <a:spcPts val="800"/>
              </a:spcBef>
            </a:pPr>
            <a:r>
              <a:rPr sz="2100" b="0" i="0">
                <a:solidFill>
                  <a:srgbClr val="1F2430"/>
                </a:solidFill>
                <a:latin typeface="PT Sans"/>
              </a:rPr>
              <a:t>Асан ата – жыгач уста. Ал кубик, цилиндр, конус жана пирамида формасындагы оюнчуктарды жасайт.</a:t>
            </a:r>
          </a:p>
          <a:p>
            <a:pPr algn="l">
              <a:lnSpc>
                <a:spcPct val="105000"/>
              </a:lnSpc>
              <a:spcBef>
                <a:spcPts val="800"/>
              </a:spcBef>
            </a:pPr>
            <a:r>
              <a:rPr sz="2100" b="0" i="0">
                <a:solidFill>
                  <a:srgbClr val="1F2430"/>
                </a:solidFill>
                <a:latin typeface="PT Sans"/>
              </a:rPr>
              <a:t>Балдар Караколдун эски жыгач үйлөрүн карап басышты: терезелери тик бурчтук! Анан ашлянфу жешти.</a:t>
            </a:r>
          </a:p>
          <a:p>
            <a:pPr algn="l">
              <a:lnSpc>
                <a:spcPct val="105000"/>
              </a:lnSpc>
              <a:spcBef>
                <a:spcPts val="800"/>
              </a:spcBef>
            </a:pPr>
            <a:r>
              <a:rPr sz="2100" b="0" i="0">
                <a:solidFill>
                  <a:srgbClr val="1F2430"/>
                </a:solidFill>
                <a:latin typeface="PT Sans"/>
              </a:rPr>
              <a:t>Устаканада Нуриза ар бир оюнчуктун ар бир бетине бирден жылдызча чаптайт.</a:t>
            </a:r>
          </a:p>
        </p:txBody>
      </p:sp>
      <p:sp>
        <p:nvSpPr>
          <p:cNvPr id="12" name="Rounded Rectangle 11"/>
          <p:cNvSpPr/>
          <p:nvPr/>
        </p:nvSpPr>
        <p:spPr>
          <a:xfrm>
            <a:off x="7406640" y="1225296"/>
            <a:ext cx="4352544" cy="4572000"/>
          </a:xfrm>
          <a:prstGeom prst="roundRect">
            <a:avLst>
              <a:gd name="adj" fmla="val 6000"/>
            </a:avLst>
          </a:prstGeom>
          <a:solidFill>
            <a:srgbClr val="FFFFFF"/>
          </a:solidFill>
          <a:ln w="285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35240" y="1325880"/>
            <a:ext cx="3931920" cy="457200"/>
          </a:xfrm>
          <a:prstGeom prst="rect">
            <a:avLst/>
          </a:prstGeom>
          <a:noFill/>
        </p:spPr>
        <p:txBody>
          <a:bodyPr wrap="square" anchor="t" lIns="45720" rIns="45720" tIns="27432" bIns="27432">
            <a:spAutoFit/>
          </a:bodyPr>
          <a:lstStyle/>
          <a:p>
            <a:pPr algn="l">
              <a:lnSpc>
                <a:spcPct val="105000"/>
              </a:lnSpc>
            </a:pPr>
            <a:r>
              <a:rPr sz="2200" b="1" i="0">
                <a:solidFill>
                  <a:srgbClr val="A84400"/>
                </a:solidFill>
                <a:latin typeface="PT Sans"/>
              </a:rPr>
              <a:t>Суроо</a:t>
            </a:r>
          </a:p>
        </p:txBody>
      </p:sp>
      <p:sp>
        <p:nvSpPr>
          <p:cNvPr id="14" name="TextBox 13"/>
          <p:cNvSpPr txBox="1"/>
          <p:nvPr/>
        </p:nvSpPr>
        <p:spPr>
          <a:xfrm>
            <a:off x="7635240" y="1828800"/>
            <a:ext cx="3931920" cy="2743200"/>
          </a:xfrm>
          <a:prstGeom prst="rect">
            <a:avLst/>
          </a:prstGeom>
          <a:noFill/>
        </p:spPr>
        <p:txBody>
          <a:bodyPr wrap="square" anchor="t" lIns="45720" rIns="45720" tIns="27432" bIns="27432">
            <a:spAutoFit/>
          </a:bodyPr>
          <a:lstStyle/>
          <a:p>
            <a:pPr algn="l">
              <a:lnSpc>
                <a:spcPct val="105000"/>
              </a:lnSpc>
            </a:pPr>
            <a:r>
              <a:rPr sz="2200" b="1" i="0">
                <a:solidFill>
                  <a:srgbClr val="1F2430"/>
                </a:solidFill>
                <a:latin typeface="PT Sans"/>
              </a:rPr>
              <a:t>Асан ата 3 жыгач кубик жасады. Нуриза ар бир кубиктин бардык беттерине бирден жылдызча чаптайт. Канча жылдызча керек?</a:t>
            </a:r>
          </a:p>
        </p:txBody>
      </p:sp>
      <p:sp>
        <p:nvSpPr>
          <p:cNvPr id="15" name="TextBox 14"/>
          <p:cNvSpPr txBox="1"/>
          <p:nvPr/>
        </p:nvSpPr>
        <p:spPr>
          <a:xfrm>
            <a:off x="7635240" y="4572000"/>
            <a:ext cx="3931920" cy="1097280"/>
          </a:xfrm>
          <a:prstGeom prst="rect">
            <a:avLst/>
          </a:prstGeom>
          <a:noFill/>
        </p:spPr>
        <p:txBody>
          <a:bodyPr wrap="square" anchor="t" lIns="45720" rIns="45720" tIns="27432" bIns="27432">
            <a:spAutoFit/>
          </a:bodyPr>
          <a:lstStyle/>
          <a:p>
            <a:pPr algn="l">
              <a:lnSpc>
                <a:spcPct val="105000"/>
              </a:lnSpc>
            </a:pPr>
            <a:r>
              <a:rPr sz="1700" b="0" i="1">
                <a:solidFill>
                  <a:srgbClr val="6B7280"/>
                </a:solidFill>
                <a:latin typeface="PT Sans"/>
              </a:rPr>
              <a:t>Азыр жообун айтпайбыз. Ойлон: кантип билебиз?</a:t>
            </a:r>
          </a:p>
        </p:txBody>
      </p:sp>
      <p:sp>
        <p:nvSpPr>
          <p:cNvPr id="16" name="Rounded Rectangle 15"/>
          <p:cNvSpPr/>
          <p:nvPr/>
        </p:nvSpPr>
        <p:spPr>
          <a:xfrm>
            <a:off x="4449927" y="6327648"/>
            <a:ext cx="3291840" cy="411480"/>
          </a:xfrm>
          <a:prstGeom prst="roundRect">
            <a:avLst>
              <a:gd name="adj" fmla="val 50000"/>
            </a:avLst>
          </a:prstGeom>
          <a:noFill/>
          <a:ln w="15875">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24418C"/>
                </a:solidFill>
                <a:latin typeface="PT Sans"/>
              </a:rPr>
              <a:t>3C · Байланыштыруу</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Математикада биз…</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Тегиз жана көлөмдүү фигуралар</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4/26</a:t>
            </a:r>
          </a:p>
        </p:txBody>
      </p:sp>
      <p:sp>
        <p:nvSpPr>
          <p:cNvPr id="10" name="Rounded Rectangle 9"/>
          <p:cNvSpPr/>
          <p:nvPr/>
        </p:nvSpPr>
        <p:spPr>
          <a:xfrm>
            <a:off x="429768" y="1325880"/>
            <a:ext cx="3624072" cy="42062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58368" y="1600200"/>
            <a:ext cx="3166872" cy="1463040"/>
          </a:xfrm>
          <a:prstGeom prst="roundRect">
            <a:avLst>
              <a:gd name="adj" fmla="val 15000"/>
            </a:avLst>
          </a:prstGeom>
          <a:noFill/>
          <a:ln w="254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007A5A"/>
                </a:solidFill>
                <a:latin typeface="PT Sans"/>
              </a:rPr>
              <a:t>Ката – үйрөнүүнүн бир бөлүгү</a:t>
            </a:r>
          </a:p>
        </p:txBody>
      </p:sp>
      <p:sp>
        <p:nvSpPr>
          <p:cNvPr id="12" name="TextBox 11"/>
          <p:cNvSpPr txBox="1"/>
          <p:nvPr/>
        </p:nvSpPr>
        <p:spPr>
          <a:xfrm>
            <a:off x="658368" y="3291840"/>
            <a:ext cx="3166872" cy="2103120"/>
          </a:xfrm>
          <a:prstGeom prst="rect">
            <a:avLst/>
          </a:prstGeom>
          <a:noFill/>
        </p:spPr>
        <p:txBody>
          <a:bodyPr wrap="square" anchor="t" lIns="45720" rIns="45720" tIns="27432" bIns="27432">
            <a:spAutoFit/>
          </a:bodyPr>
          <a:lstStyle/>
          <a:p>
            <a:pPr algn="ctr">
              <a:lnSpc>
                <a:spcPct val="105000"/>
              </a:lnSpc>
            </a:pPr>
            <a:r>
              <a:rPr sz="1900" b="0" i="0">
                <a:solidFill>
                  <a:srgbClr val="1F2430"/>
                </a:solidFill>
                <a:latin typeface="PT Sans"/>
              </a:rPr>
              <a:t>Ката кетсе, эмне үчүн кеткенин издейбиз.</a:t>
            </a:r>
          </a:p>
        </p:txBody>
      </p:sp>
      <p:sp>
        <p:nvSpPr>
          <p:cNvPr id="13" name="Rounded Rectangle 12"/>
          <p:cNvSpPr/>
          <p:nvPr/>
        </p:nvSpPr>
        <p:spPr>
          <a:xfrm>
            <a:off x="4282439" y="1325880"/>
            <a:ext cx="3624072" cy="42062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11039" y="1600200"/>
            <a:ext cx="3166872" cy="1463040"/>
          </a:xfrm>
          <a:prstGeom prst="roundRect">
            <a:avLst>
              <a:gd name="adj" fmla="val 15000"/>
            </a:avLst>
          </a:prstGeom>
          <a:noFill/>
          <a:ln w="2540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A84400"/>
                </a:solidFill>
                <a:latin typeface="PT Sans"/>
              </a:rPr>
              <a:t>«Азырынча билбейм»</a:t>
            </a:r>
          </a:p>
        </p:txBody>
      </p:sp>
      <p:sp>
        <p:nvSpPr>
          <p:cNvPr id="15" name="TextBox 14"/>
          <p:cNvSpPr txBox="1"/>
          <p:nvPr/>
        </p:nvSpPr>
        <p:spPr>
          <a:xfrm>
            <a:off x="4511039" y="3291840"/>
            <a:ext cx="3166872" cy="2103120"/>
          </a:xfrm>
          <a:prstGeom prst="rect">
            <a:avLst/>
          </a:prstGeom>
          <a:noFill/>
        </p:spPr>
        <p:txBody>
          <a:bodyPr wrap="square" anchor="t" lIns="45720" rIns="45720" tIns="27432" bIns="27432">
            <a:spAutoFit/>
          </a:bodyPr>
          <a:lstStyle/>
          <a:p>
            <a:pPr algn="ctr">
              <a:lnSpc>
                <a:spcPct val="105000"/>
              </a:lnSpc>
            </a:pPr>
            <a:r>
              <a:rPr sz="1900" b="0" i="0">
                <a:solidFill>
                  <a:srgbClr val="1F2430"/>
                </a:solidFill>
                <a:latin typeface="PT Sans"/>
              </a:rPr>
              <a:t>«Билбейм» эмес, «азырынча». Машыксак, үйрөнөбүз.</a:t>
            </a:r>
          </a:p>
        </p:txBody>
      </p:sp>
      <p:sp>
        <p:nvSpPr>
          <p:cNvPr id="16" name="Rounded Rectangle 15"/>
          <p:cNvSpPr/>
          <p:nvPr/>
        </p:nvSpPr>
        <p:spPr>
          <a:xfrm>
            <a:off x="8135112" y="1325880"/>
            <a:ext cx="3624072" cy="42062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363712" y="1600200"/>
            <a:ext cx="3166872" cy="1463040"/>
          </a:xfrm>
          <a:prstGeom prst="roundRect">
            <a:avLst>
              <a:gd name="adj" fmla="val 15000"/>
            </a:avLst>
          </a:prstGeom>
          <a:noFill/>
          <a:ln w="2540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24418C"/>
                </a:solidFill>
                <a:latin typeface="PT Sans"/>
              </a:rPr>
              <a:t>Адегенде түшүн, анан эсепте</a:t>
            </a:r>
          </a:p>
        </p:txBody>
      </p:sp>
      <p:sp>
        <p:nvSpPr>
          <p:cNvPr id="18" name="TextBox 17"/>
          <p:cNvSpPr txBox="1"/>
          <p:nvPr/>
        </p:nvSpPr>
        <p:spPr>
          <a:xfrm>
            <a:off x="8363712" y="3291840"/>
            <a:ext cx="3166872" cy="2103120"/>
          </a:xfrm>
          <a:prstGeom prst="rect">
            <a:avLst/>
          </a:prstGeom>
          <a:noFill/>
        </p:spPr>
        <p:txBody>
          <a:bodyPr wrap="square" anchor="t" lIns="45720" rIns="45720" tIns="27432" bIns="27432">
            <a:spAutoFit/>
          </a:bodyPr>
          <a:lstStyle/>
          <a:p>
            <a:pPr algn="ctr">
              <a:lnSpc>
                <a:spcPct val="105000"/>
              </a:lnSpc>
            </a:pPr>
            <a:r>
              <a:rPr sz="1900" b="0" i="0">
                <a:solidFill>
                  <a:srgbClr val="1F2430"/>
                </a:solidFill>
                <a:latin typeface="PT Sans"/>
              </a:rPr>
              <a:t>Сүрөт же тилке чийип, анан сан менен жазабыз.</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Максаттар</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Тегиз жана көлөмдүү фигуралар</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5/26</a:t>
            </a:r>
          </a:p>
        </p:txBody>
      </p:sp>
      <p:sp>
        <p:nvSpPr>
          <p:cNvPr id="10" name="Rounded Rectangle 9"/>
          <p:cNvSpPr/>
          <p:nvPr/>
        </p:nvSpPr>
        <p:spPr>
          <a:xfrm>
            <a:off x="429768" y="1225296"/>
            <a:ext cx="6409944"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429768" y="1865376"/>
            <a:ext cx="6409944" cy="0"/>
          </a:xfrm>
          <a:prstGeom prst="line">
            <a:avLst/>
          </a:prstGeom>
          <a:ln w="19050">
            <a:solidFill>
              <a:srgbClr val="1D3557"/>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12648" y="1225296"/>
            <a:ext cx="6044184" cy="640080"/>
          </a:xfrm>
          <a:prstGeom prst="rect">
            <a:avLst/>
          </a:prstGeom>
          <a:noFill/>
        </p:spPr>
        <p:txBody>
          <a:bodyPr wrap="square" anchor="ctr" lIns="45720" rIns="45720" tIns="27432" bIns="27432">
            <a:spAutoFit/>
          </a:bodyPr>
          <a:lstStyle/>
          <a:p>
            <a:pPr algn="ctr">
              <a:lnSpc>
                <a:spcPct val="105000"/>
              </a:lnSpc>
            </a:pPr>
            <a:r>
              <a:rPr sz="2400" b="1" i="0">
                <a:solidFill>
                  <a:srgbClr val="1D3557"/>
                </a:solidFill>
                <a:latin typeface="PT Sans"/>
              </a:rPr>
              <a:t>Бүгүн биз үйрөнөбүз</a:t>
            </a:r>
          </a:p>
        </p:txBody>
      </p:sp>
      <p:sp>
        <p:nvSpPr>
          <p:cNvPr id="13" name="Oval 12"/>
          <p:cNvSpPr/>
          <p:nvPr/>
        </p:nvSpPr>
        <p:spPr>
          <a:xfrm>
            <a:off x="722376" y="2148840"/>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1</a:t>
            </a:r>
          </a:p>
        </p:txBody>
      </p:sp>
      <p:sp>
        <p:nvSpPr>
          <p:cNvPr id="14" name="TextBox 13"/>
          <p:cNvSpPr txBox="1"/>
          <p:nvPr/>
        </p:nvSpPr>
        <p:spPr>
          <a:xfrm>
            <a:off x="1261872" y="2112264"/>
            <a:ext cx="5394960" cy="1097280"/>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Тегиз фигуранын жактарын, чокуларын, тик бурчтарын санайм.</a:t>
            </a:r>
          </a:p>
        </p:txBody>
      </p:sp>
      <p:sp>
        <p:nvSpPr>
          <p:cNvPr id="15" name="Oval 14"/>
          <p:cNvSpPr/>
          <p:nvPr/>
        </p:nvSpPr>
        <p:spPr>
          <a:xfrm>
            <a:off x="722376" y="3429000"/>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2</a:t>
            </a:r>
          </a:p>
        </p:txBody>
      </p:sp>
      <p:sp>
        <p:nvSpPr>
          <p:cNvPr id="16" name="TextBox 15"/>
          <p:cNvSpPr txBox="1"/>
          <p:nvPr/>
        </p:nvSpPr>
        <p:spPr>
          <a:xfrm>
            <a:off x="1261872" y="3392424"/>
            <a:ext cx="5394960" cy="1097280"/>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Көлөмдүү фигуранын беттерин, кырларын, чокуларын санайм.</a:t>
            </a:r>
          </a:p>
        </p:txBody>
      </p:sp>
      <p:sp>
        <p:nvSpPr>
          <p:cNvPr id="17" name="Oval 16"/>
          <p:cNvSpPr/>
          <p:nvPr/>
        </p:nvSpPr>
        <p:spPr>
          <a:xfrm>
            <a:off x="722376" y="4709160"/>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3</a:t>
            </a:r>
          </a:p>
        </p:txBody>
      </p:sp>
      <p:sp>
        <p:nvSpPr>
          <p:cNvPr id="18" name="TextBox 17"/>
          <p:cNvSpPr txBox="1"/>
          <p:nvPr/>
        </p:nvSpPr>
        <p:spPr>
          <a:xfrm>
            <a:off x="1261872" y="4672584"/>
            <a:ext cx="5394960" cy="1097280"/>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Фигураларды атайм, топторго бөлөм жана турмуштан табам.</a:t>
            </a:r>
          </a:p>
        </p:txBody>
      </p:sp>
      <p:sp>
        <p:nvSpPr>
          <p:cNvPr id="19" name="Rounded Rectangle 18"/>
          <p:cNvSpPr/>
          <p:nvPr/>
        </p:nvSpPr>
        <p:spPr>
          <a:xfrm>
            <a:off x="7132320" y="1225296"/>
            <a:ext cx="4636008"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7132320" y="1865376"/>
            <a:ext cx="4636008" cy="0"/>
          </a:xfrm>
          <a:prstGeom prst="line">
            <a:avLst/>
          </a:prstGeom>
          <a:ln w="19050">
            <a:solidFill>
              <a:srgbClr val="1D3557"/>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306056" y="1225296"/>
            <a:ext cx="4270248" cy="640080"/>
          </a:xfrm>
          <a:prstGeom prst="rect">
            <a:avLst/>
          </a:prstGeom>
          <a:noFill/>
        </p:spPr>
        <p:txBody>
          <a:bodyPr wrap="square" anchor="ctr" lIns="45720" rIns="45720" tIns="27432" bIns="27432">
            <a:spAutoFit/>
          </a:bodyPr>
          <a:lstStyle/>
          <a:p>
            <a:pPr algn="ctr">
              <a:lnSpc>
                <a:spcPct val="105000"/>
              </a:lnSpc>
            </a:pPr>
            <a:r>
              <a:rPr sz="2400" b="1" i="0">
                <a:solidFill>
                  <a:srgbClr val="1D3557"/>
                </a:solidFill>
                <a:latin typeface="PT Sans"/>
              </a:rPr>
              <a:t>Деңгээлдер</a:t>
            </a:r>
          </a:p>
        </p:txBody>
      </p:sp>
      <p:sp>
        <p:nvSpPr>
          <p:cNvPr id="22" name="Rounded Rectangle 21"/>
          <p:cNvSpPr/>
          <p:nvPr/>
        </p:nvSpPr>
        <p:spPr>
          <a:xfrm>
            <a:off x="7360920" y="2103120"/>
            <a:ext cx="1143000" cy="731520"/>
          </a:xfrm>
          <a:prstGeom prst="roundRect">
            <a:avLst>
              <a:gd name="adj" fmla="val 20000"/>
            </a:avLst>
          </a:prstGeom>
          <a:solidFill>
            <a:srgbClr val="FFFFFF"/>
          </a:solidFill>
          <a:ln w="1905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007A5A"/>
                </a:solidFill>
                <a:latin typeface="PT Sans"/>
              </a:rPr>
              <a:t>Жеңил</a:t>
            </a:r>
          </a:p>
        </p:txBody>
      </p:sp>
      <p:sp>
        <p:nvSpPr>
          <p:cNvPr id="23" name="TextBox 22"/>
          <p:cNvSpPr txBox="1"/>
          <p:nvPr/>
        </p:nvSpPr>
        <p:spPr>
          <a:xfrm>
            <a:off x="8641080" y="2057400"/>
            <a:ext cx="3017520" cy="822960"/>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Атайм жана санайм</a:t>
            </a:r>
          </a:p>
        </p:txBody>
      </p:sp>
      <p:sp>
        <p:nvSpPr>
          <p:cNvPr id="24" name="Rounded Rectangle 23"/>
          <p:cNvSpPr/>
          <p:nvPr/>
        </p:nvSpPr>
        <p:spPr>
          <a:xfrm>
            <a:off x="7360920" y="3127248"/>
            <a:ext cx="1143000" cy="731520"/>
          </a:xfrm>
          <a:prstGeom prst="roundRect">
            <a:avLst>
              <a:gd name="adj" fmla="val 20000"/>
            </a:avLst>
          </a:prstGeom>
          <a:solidFill>
            <a:srgbClr val="FFFFFF"/>
          </a:solidFill>
          <a:ln w="2540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A84400"/>
                </a:solidFill>
                <a:latin typeface="PT Sans"/>
              </a:rPr>
              <a:t>Орто</a:t>
            </a:r>
          </a:p>
        </p:txBody>
      </p:sp>
      <p:sp>
        <p:nvSpPr>
          <p:cNvPr id="25" name="TextBox 24"/>
          <p:cNvSpPr txBox="1"/>
          <p:nvPr/>
        </p:nvSpPr>
        <p:spPr>
          <a:xfrm>
            <a:off x="8641080" y="3081528"/>
            <a:ext cx="3017520" cy="822960"/>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Тик бурч, бет, кыр</a:t>
            </a:r>
          </a:p>
        </p:txBody>
      </p:sp>
      <p:sp>
        <p:nvSpPr>
          <p:cNvPr id="26" name="Rounded Rectangle 25"/>
          <p:cNvSpPr/>
          <p:nvPr/>
        </p:nvSpPr>
        <p:spPr>
          <a:xfrm>
            <a:off x="7360920" y="4151376"/>
            <a:ext cx="1143000" cy="731520"/>
          </a:xfrm>
          <a:prstGeom prst="roundRect">
            <a:avLst>
              <a:gd name="adj" fmla="val 20000"/>
            </a:avLst>
          </a:prstGeom>
          <a:solidFill>
            <a:srgbClr val="FFFFFF"/>
          </a:solidFill>
          <a:ln w="19050">
            <a:solidFill>
              <a:srgbClr val="4A5A7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4A5A70"/>
                </a:solidFill>
                <a:latin typeface="PT Sans"/>
              </a:rPr>
              <a:t>Оор</a:t>
            </a:r>
          </a:p>
        </p:txBody>
      </p:sp>
      <p:sp>
        <p:nvSpPr>
          <p:cNvPr id="27" name="TextBox 26"/>
          <p:cNvSpPr txBox="1"/>
          <p:nvPr/>
        </p:nvSpPr>
        <p:spPr>
          <a:xfrm>
            <a:off x="8641080" y="4105656"/>
            <a:ext cx="3017520" cy="822960"/>
          </a:xfrm>
          <a:prstGeom prst="rect">
            <a:avLst/>
          </a:prstGeom>
          <a:noFill/>
        </p:spPr>
        <p:txBody>
          <a:bodyPr wrap="square" anchor="ctr" lIns="45720" rIns="45720" tIns="27432" bIns="27432">
            <a:spAutoFit/>
          </a:bodyPr>
          <a:lstStyle/>
          <a:p>
            <a:pPr algn="l">
              <a:lnSpc>
                <a:spcPct val="105000"/>
              </a:lnSpc>
            </a:pPr>
            <a:r>
              <a:rPr sz="2000" b="0" i="0">
                <a:solidFill>
                  <a:srgbClr val="6B7280"/>
                </a:solidFill>
                <a:latin typeface="PT Sans"/>
              </a:rPr>
              <a:t>Каркас, табышмак</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3C: бүгүн кантип ойлонобуз?</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Тегиз жана көлөмдүү фигуралар</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6/26</a:t>
            </a:r>
          </a:p>
        </p:txBody>
      </p:sp>
      <p:sp>
        <p:nvSpPr>
          <p:cNvPr id="10" name="Rounded Rectangle 9"/>
          <p:cNvSpPr/>
          <p:nvPr/>
        </p:nvSpPr>
        <p:spPr>
          <a:xfrm>
            <a:off x="429768" y="1225296"/>
            <a:ext cx="3593592"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04088" y="1463040"/>
            <a:ext cx="3044952" cy="640080"/>
          </a:xfrm>
          <a:prstGeom prst="roundRect">
            <a:avLst>
              <a:gd name="adj" fmla="val 50000"/>
            </a:avLst>
          </a:prstGeom>
          <a:noFill/>
          <a:ln w="254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007A5A"/>
                </a:solidFill>
                <a:latin typeface="PT Sans"/>
              </a:rPr>
              <a:t>Сынчыл ой</a:t>
            </a:r>
          </a:p>
        </p:txBody>
      </p:sp>
      <p:sp>
        <p:nvSpPr>
          <p:cNvPr id="12" name="TextBox 11"/>
          <p:cNvSpPr txBox="1"/>
          <p:nvPr/>
        </p:nvSpPr>
        <p:spPr>
          <a:xfrm>
            <a:off x="658368" y="2286000"/>
            <a:ext cx="3136392" cy="1371600"/>
          </a:xfrm>
          <a:prstGeom prst="rect">
            <a:avLst/>
          </a:prstGeom>
          <a:noFill/>
        </p:spPr>
        <p:txBody>
          <a:bodyPr wrap="square" anchor="t" lIns="45720" rIns="45720" tIns="27432" bIns="27432">
            <a:spAutoFit/>
          </a:bodyPr>
          <a:lstStyle/>
          <a:p>
            <a:pPr algn="ctr">
              <a:lnSpc>
                <a:spcPct val="105000"/>
              </a:lnSpc>
            </a:pPr>
            <a:r>
              <a:rPr sz="2000" b="0" i="0">
                <a:solidFill>
                  <a:srgbClr val="1F2430"/>
                </a:solidFill>
                <a:latin typeface="PT Sans"/>
              </a:rPr>
              <a:t>Текшеребиз, далилдейбиз, катаны издейбиз.</a:t>
            </a:r>
          </a:p>
        </p:txBody>
      </p:sp>
      <p:cxnSp>
        <p:nvCxnSpPr>
          <p:cNvPr id="13" name="Connector 12"/>
          <p:cNvCxnSpPr/>
          <p:nvPr/>
        </p:nvCxnSpPr>
        <p:spPr>
          <a:xfrm>
            <a:off x="704088" y="3703320"/>
            <a:ext cx="3044952"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58368" y="3794760"/>
            <a:ext cx="3136392" cy="411480"/>
          </a:xfrm>
          <a:prstGeom prst="rect">
            <a:avLst/>
          </a:prstGeom>
          <a:noFill/>
        </p:spPr>
        <p:txBody>
          <a:bodyPr wrap="square" anchor="t" lIns="45720" rIns="45720" tIns="27432" bIns="27432">
            <a:spAutoFit/>
          </a:bodyPr>
          <a:lstStyle/>
          <a:p>
            <a:pPr algn="l">
              <a:lnSpc>
                <a:spcPct val="105000"/>
              </a:lnSpc>
            </a:pPr>
            <a:r>
              <a:rPr sz="1600" b="1" i="0">
                <a:solidFill>
                  <a:srgbClr val="6B7280"/>
                </a:solidFill>
                <a:latin typeface="PT Sans"/>
              </a:rPr>
              <a:t>Бүгүн:</a:t>
            </a:r>
          </a:p>
        </p:txBody>
      </p:sp>
      <p:sp>
        <p:nvSpPr>
          <p:cNvPr id="15" name="TextBox 14"/>
          <p:cNvSpPr txBox="1"/>
          <p:nvPr/>
        </p:nvSpPr>
        <p:spPr>
          <a:xfrm>
            <a:off x="658368" y="4206240"/>
            <a:ext cx="3136392" cy="1828800"/>
          </a:xfrm>
          <a:prstGeom prst="rect">
            <a:avLst/>
          </a:prstGeom>
          <a:noFill/>
        </p:spPr>
        <p:txBody>
          <a:bodyPr wrap="square" anchor="t" lIns="45720" rIns="45720" tIns="27432" bIns="27432">
            <a:spAutoFit/>
          </a:bodyPr>
          <a:lstStyle/>
          <a:p>
            <a:pPr algn="l">
              <a:lnSpc>
                <a:spcPct val="105000"/>
              </a:lnSpc>
            </a:pPr>
            <a:r>
              <a:rPr sz="1800" b="0" i="0">
                <a:solidFill>
                  <a:srgbClr val="1F2430"/>
                </a:solidFill>
                <a:latin typeface="PT Sans"/>
              </a:rPr>
              <a:t>• «Ким туура?»</a:t>
            </a:r>
          </a:p>
          <a:p>
            <a:pPr algn="l">
              <a:lnSpc>
                <a:spcPct val="105000"/>
              </a:lnSpc>
            </a:pPr>
            <a:r>
              <a:rPr sz="1800" b="0" i="0">
                <a:solidFill>
                  <a:srgbClr val="1F2430"/>
                </a:solidFill>
                <a:latin typeface="PT Sans"/>
              </a:rPr>
              <a:t>• Тик бурчту текшерүү</a:t>
            </a:r>
          </a:p>
        </p:txBody>
      </p:sp>
      <p:sp>
        <p:nvSpPr>
          <p:cNvPr id="16" name="Rounded Rectangle 15"/>
          <p:cNvSpPr/>
          <p:nvPr/>
        </p:nvSpPr>
        <p:spPr>
          <a:xfrm>
            <a:off x="4297680" y="1225296"/>
            <a:ext cx="3593592"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572000" y="1463040"/>
            <a:ext cx="3044952" cy="640080"/>
          </a:xfrm>
          <a:prstGeom prst="roundRect">
            <a:avLst>
              <a:gd name="adj" fmla="val 50000"/>
            </a:avLst>
          </a:prstGeom>
          <a:noFill/>
          <a:ln w="2540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A84400"/>
                </a:solidFill>
                <a:latin typeface="PT Sans"/>
              </a:rPr>
              <a:t>Кызматташуу</a:t>
            </a:r>
          </a:p>
        </p:txBody>
      </p:sp>
      <p:sp>
        <p:nvSpPr>
          <p:cNvPr id="18" name="TextBox 17"/>
          <p:cNvSpPr txBox="1"/>
          <p:nvPr/>
        </p:nvSpPr>
        <p:spPr>
          <a:xfrm>
            <a:off x="4526280" y="2286000"/>
            <a:ext cx="3136392" cy="1371600"/>
          </a:xfrm>
          <a:prstGeom prst="rect">
            <a:avLst/>
          </a:prstGeom>
          <a:noFill/>
        </p:spPr>
        <p:txBody>
          <a:bodyPr wrap="square" anchor="t" lIns="45720" rIns="45720" tIns="27432" bIns="27432">
            <a:spAutoFit/>
          </a:bodyPr>
          <a:lstStyle/>
          <a:p>
            <a:pPr algn="ctr">
              <a:lnSpc>
                <a:spcPct val="105000"/>
              </a:lnSpc>
            </a:pPr>
            <a:r>
              <a:rPr sz="2000" b="0" i="0">
                <a:solidFill>
                  <a:srgbClr val="1F2430"/>
                </a:solidFill>
                <a:latin typeface="PT Sans"/>
              </a:rPr>
              <a:t>Жупта жана топто сүйлөшөбүз.</a:t>
            </a:r>
          </a:p>
        </p:txBody>
      </p:sp>
      <p:cxnSp>
        <p:nvCxnSpPr>
          <p:cNvPr id="19" name="Connector 18"/>
          <p:cNvCxnSpPr/>
          <p:nvPr/>
        </p:nvCxnSpPr>
        <p:spPr>
          <a:xfrm>
            <a:off x="4572000" y="3703320"/>
            <a:ext cx="3044952"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526280" y="3794760"/>
            <a:ext cx="3136392" cy="411480"/>
          </a:xfrm>
          <a:prstGeom prst="rect">
            <a:avLst/>
          </a:prstGeom>
          <a:noFill/>
        </p:spPr>
        <p:txBody>
          <a:bodyPr wrap="square" anchor="t" lIns="45720" rIns="45720" tIns="27432" bIns="27432">
            <a:spAutoFit/>
          </a:bodyPr>
          <a:lstStyle/>
          <a:p>
            <a:pPr algn="l">
              <a:lnSpc>
                <a:spcPct val="105000"/>
              </a:lnSpc>
            </a:pPr>
            <a:r>
              <a:rPr sz="1600" b="1" i="0">
                <a:solidFill>
                  <a:srgbClr val="6B7280"/>
                </a:solidFill>
                <a:latin typeface="PT Sans"/>
              </a:rPr>
              <a:t>Бүгүн:</a:t>
            </a:r>
          </a:p>
        </p:txBody>
      </p:sp>
      <p:sp>
        <p:nvSpPr>
          <p:cNvPr id="21" name="TextBox 20"/>
          <p:cNvSpPr txBox="1"/>
          <p:nvPr/>
        </p:nvSpPr>
        <p:spPr>
          <a:xfrm>
            <a:off x="4526280" y="4206240"/>
            <a:ext cx="3136392" cy="1828800"/>
          </a:xfrm>
          <a:prstGeom prst="rect">
            <a:avLst/>
          </a:prstGeom>
          <a:noFill/>
        </p:spPr>
        <p:txBody>
          <a:bodyPr wrap="square" anchor="t" lIns="45720" rIns="45720" tIns="27432" bIns="27432">
            <a:spAutoFit/>
          </a:bodyPr>
          <a:lstStyle/>
          <a:p>
            <a:pPr algn="l">
              <a:lnSpc>
                <a:spcPct val="105000"/>
              </a:lnSpc>
            </a:pPr>
            <a:r>
              <a:rPr sz="1800" b="0" i="0">
                <a:solidFill>
                  <a:srgbClr val="1F2430"/>
                </a:solidFill>
                <a:latin typeface="PT Sans"/>
              </a:rPr>
              <a:t>• Жупта: каркас куруу</a:t>
            </a:r>
          </a:p>
          <a:p>
            <a:pPr algn="l">
              <a:lnSpc>
                <a:spcPct val="105000"/>
              </a:lnSpc>
            </a:pPr>
            <a:r>
              <a:rPr sz="1800" b="0" i="0">
                <a:solidFill>
                  <a:srgbClr val="1F2430"/>
                </a:solidFill>
                <a:latin typeface="PT Sans"/>
              </a:rPr>
              <a:t>• Карта сорттоо</a:t>
            </a:r>
          </a:p>
        </p:txBody>
      </p:sp>
      <p:sp>
        <p:nvSpPr>
          <p:cNvPr id="22" name="Rounded Rectangle 21"/>
          <p:cNvSpPr/>
          <p:nvPr/>
        </p:nvSpPr>
        <p:spPr>
          <a:xfrm>
            <a:off x="8165592" y="1225296"/>
            <a:ext cx="3593592"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439912" y="1463040"/>
            <a:ext cx="3044952" cy="640080"/>
          </a:xfrm>
          <a:prstGeom prst="roundRect">
            <a:avLst>
              <a:gd name="adj" fmla="val 50000"/>
            </a:avLst>
          </a:prstGeom>
          <a:noFill/>
          <a:ln w="2540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24418C"/>
                </a:solidFill>
                <a:latin typeface="PT Sans"/>
              </a:rPr>
              <a:t>Байланыштыруу</a:t>
            </a:r>
          </a:p>
        </p:txBody>
      </p:sp>
      <p:sp>
        <p:nvSpPr>
          <p:cNvPr id="24" name="TextBox 23"/>
          <p:cNvSpPr txBox="1"/>
          <p:nvPr/>
        </p:nvSpPr>
        <p:spPr>
          <a:xfrm>
            <a:off x="8394192" y="2286000"/>
            <a:ext cx="3136392" cy="1371600"/>
          </a:xfrm>
          <a:prstGeom prst="rect">
            <a:avLst/>
          </a:prstGeom>
          <a:noFill/>
        </p:spPr>
        <p:txBody>
          <a:bodyPr wrap="square" anchor="t" lIns="45720" rIns="45720" tIns="27432" bIns="27432">
            <a:spAutoFit/>
          </a:bodyPr>
          <a:lstStyle/>
          <a:p>
            <a:pPr algn="ctr">
              <a:lnSpc>
                <a:spcPct val="105000"/>
              </a:lnSpc>
            </a:pPr>
            <a:r>
              <a:rPr sz="2000" b="0" i="0">
                <a:solidFill>
                  <a:srgbClr val="1F2430"/>
                </a:solidFill>
                <a:latin typeface="PT Sans"/>
              </a:rPr>
              <a:t>Математиканы турмуш менен байланыштырабыз.</a:t>
            </a:r>
          </a:p>
        </p:txBody>
      </p:sp>
      <p:cxnSp>
        <p:nvCxnSpPr>
          <p:cNvPr id="25" name="Connector 24"/>
          <p:cNvCxnSpPr/>
          <p:nvPr/>
        </p:nvCxnSpPr>
        <p:spPr>
          <a:xfrm>
            <a:off x="8439912" y="3703320"/>
            <a:ext cx="3044952"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394192" y="3794760"/>
            <a:ext cx="3136392" cy="411480"/>
          </a:xfrm>
          <a:prstGeom prst="rect">
            <a:avLst/>
          </a:prstGeom>
          <a:noFill/>
        </p:spPr>
        <p:txBody>
          <a:bodyPr wrap="square" anchor="t" lIns="45720" rIns="45720" tIns="27432" bIns="27432">
            <a:spAutoFit/>
          </a:bodyPr>
          <a:lstStyle/>
          <a:p>
            <a:pPr algn="l">
              <a:lnSpc>
                <a:spcPct val="105000"/>
              </a:lnSpc>
            </a:pPr>
            <a:r>
              <a:rPr sz="1600" b="1" i="0">
                <a:solidFill>
                  <a:srgbClr val="6B7280"/>
                </a:solidFill>
                <a:latin typeface="PT Sans"/>
              </a:rPr>
              <a:t>Бүгүн:</a:t>
            </a:r>
          </a:p>
        </p:txBody>
      </p:sp>
      <p:sp>
        <p:nvSpPr>
          <p:cNvPr id="27" name="TextBox 26"/>
          <p:cNvSpPr txBox="1"/>
          <p:nvPr/>
        </p:nvSpPr>
        <p:spPr>
          <a:xfrm>
            <a:off x="8394192" y="4206240"/>
            <a:ext cx="3136392" cy="1828800"/>
          </a:xfrm>
          <a:prstGeom prst="rect">
            <a:avLst/>
          </a:prstGeom>
          <a:noFill/>
        </p:spPr>
        <p:txBody>
          <a:bodyPr wrap="square" anchor="t" lIns="45720" rIns="45720" tIns="27432" bIns="27432">
            <a:spAutoFit/>
          </a:bodyPr>
          <a:lstStyle/>
          <a:p>
            <a:pPr algn="l">
              <a:lnSpc>
                <a:spcPct val="105000"/>
              </a:lnSpc>
            </a:pPr>
            <a:r>
              <a:rPr sz="1800" b="0" i="0">
                <a:solidFill>
                  <a:srgbClr val="1F2430"/>
                </a:solidFill>
                <a:latin typeface="PT Sans"/>
              </a:rPr>
              <a:t>• Каракол устаканасы</a:t>
            </a:r>
          </a:p>
          <a:p>
            <a:pPr algn="l">
              <a:lnSpc>
                <a:spcPct val="105000"/>
              </a:lnSpc>
            </a:pPr>
            <a:r>
              <a:rPr sz="1800" b="0" i="0">
                <a:solidFill>
                  <a:srgbClr val="1F2430"/>
                </a:solidFill>
                <a:latin typeface="PT Sans"/>
              </a:rPr>
              <a:t>• Үйдөгү буюмдар</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Мурун – бүгүн – кийин</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Тегиз жана көлөмдүү фигуралар</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7/26</a:t>
            </a:r>
          </a:p>
        </p:txBody>
      </p:sp>
      <p:sp>
        <p:nvSpPr>
          <p:cNvPr id="10" name="Rounded Rectangle 9"/>
          <p:cNvSpPr/>
          <p:nvPr/>
        </p:nvSpPr>
        <p:spPr>
          <a:xfrm>
            <a:off x="429768" y="3017520"/>
            <a:ext cx="2660904" cy="2743200"/>
          </a:xfrm>
          <a:prstGeom prst="roundRect">
            <a:avLst>
              <a:gd name="adj" fmla="val 6000"/>
            </a:avLst>
          </a:prstGeom>
          <a:solidFill>
            <a:srgbClr val="FFFFFF"/>
          </a:solidFill>
          <a:ln w="1905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3108960"/>
            <a:ext cx="2386584" cy="502920"/>
          </a:xfrm>
          <a:prstGeom prst="rect">
            <a:avLst/>
          </a:prstGeom>
          <a:noFill/>
        </p:spPr>
        <p:txBody>
          <a:bodyPr wrap="square" anchor="t" lIns="45720" rIns="45720" tIns="27432" bIns="27432">
            <a:spAutoFit/>
          </a:bodyPr>
          <a:lstStyle/>
          <a:p>
            <a:pPr algn="ctr">
              <a:lnSpc>
                <a:spcPct val="105000"/>
              </a:lnSpc>
            </a:pPr>
            <a:r>
              <a:rPr sz="2400" b="1" i="0">
                <a:solidFill>
                  <a:srgbClr val="007A5A"/>
                </a:solidFill>
                <a:latin typeface="PT Sans"/>
              </a:rPr>
              <a:t/>
            </a:r>
          </a:p>
        </p:txBody>
      </p:sp>
      <p:cxnSp>
        <p:nvCxnSpPr>
          <p:cNvPr id="12" name="Connector 11"/>
          <p:cNvCxnSpPr/>
          <p:nvPr/>
        </p:nvCxnSpPr>
        <p:spPr>
          <a:xfrm>
            <a:off x="704088" y="3657600"/>
            <a:ext cx="2112264" cy="0"/>
          </a:xfrm>
          <a:prstGeom prst="line">
            <a:avLst/>
          </a:prstGeom>
          <a:ln w="12700">
            <a:solidFill>
              <a:srgbClr val="007A5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12647" y="3749039"/>
            <a:ext cx="2295144" cy="1920240"/>
          </a:xfrm>
          <a:prstGeom prst="rect">
            <a:avLst/>
          </a:prstGeom>
          <a:noFill/>
        </p:spPr>
        <p:txBody>
          <a:bodyPr wrap="square" anchor="t" lIns="45720" rIns="45720" tIns="27432" bIns="27432">
            <a:spAutoFit/>
          </a:bodyPr>
          <a:lstStyle/>
          <a:p>
            <a:pPr algn="l">
              <a:lnSpc>
                <a:spcPct val="105000"/>
              </a:lnSpc>
            </a:pPr>
            <a:r>
              <a:rPr sz="1500" b="0" i="0">
                <a:solidFill>
                  <a:srgbClr val="1F2430"/>
                </a:solidFill>
                <a:latin typeface="PT Sans"/>
              </a:rPr>
              <a:t>• Тегерек, үч бурчтук</a:t>
            </a:r>
          </a:p>
          <a:p>
            <a:pPr algn="l">
              <a:lnSpc>
                <a:spcPct val="105000"/>
              </a:lnSpc>
              <a:spcBef>
                <a:spcPts val="400"/>
              </a:spcBef>
            </a:pPr>
            <a:r>
              <a:rPr sz="1500" b="0" i="0">
                <a:solidFill>
                  <a:srgbClr val="1F2430"/>
                </a:solidFill>
                <a:latin typeface="PT Sans"/>
              </a:rPr>
              <a:t>• Куб, шар</a:t>
            </a:r>
          </a:p>
        </p:txBody>
      </p:sp>
      <p:sp>
        <p:nvSpPr>
          <p:cNvPr id="14" name="Rounded Rectangle 13"/>
          <p:cNvSpPr/>
          <p:nvPr/>
        </p:nvSpPr>
        <p:spPr>
          <a:xfrm>
            <a:off x="3319272" y="2560320"/>
            <a:ext cx="2660904" cy="3200400"/>
          </a:xfrm>
          <a:prstGeom prst="roundRect">
            <a:avLst>
              <a:gd name="adj" fmla="val 6000"/>
            </a:avLst>
          </a:prstGeom>
          <a:solidFill>
            <a:srgbClr val="FFFFFF"/>
          </a:solidFill>
          <a:ln w="285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56432" y="2651760"/>
            <a:ext cx="2386584" cy="502920"/>
          </a:xfrm>
          <a:prstGeom prst="rect">
            <a:avLst/>
          </a:prstGeom>
          <a:noFill/>
        </p:spPr>
        <p:txBody>
          <a:bodyPr wrap="square" anchor="t" lIns="45720" rIns="45720" tIns="27432" bIns="27432">
            <a:spAutoFit/>
          </a:bodyPr>
          <a:lstStyle/>
          <a:p>
            <a:pPr algn="ctr">
              <a:lnSpc>
                <a:spcPct val="105000"/>
              </a:lnSpc>
            </a:pPr>
            <a:r>
              <a:rPr sz="2400" b="1" i="0">
                <a:solidFill>
                  <a:srgbClr val="A84400"/>
                </a:solidFill>
                <a:latin typeface="PT Sans"/>
              </a:rPr>
              <a:t/>
            </a:r>
          </a:p>
        </p:txBody>
      </p:sp>
      <p:cxnSp>
        <p:nvCxnSpPr>
          <p:cNvPr id="16" name="Connector 15"/>
          <p:cNvCxnSpPr/>
          <p:nvPr/>
        </p:nvCxnSpPr>
        <p:spPr>
          <a:xfrm>
            <a:off x="3593591" y="3200400"/>
            <a:ext cx="2112265" cy="0"/>
          </a:xfrm>
          <a:prstGeom prst="line">
            <a:avLst/>
          </a:prstGeom>
          <a:ln w="12700">
            <a:solidFill>
              <a:srgbClr val="A8440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502152" y="3291839"/>
            <a:ext cx="2295144" cy="2377440"/>
          </a:xfrm>
          <a:prstGeom prst="rect">
            <a:avLst/>
          </a:prstGeom>
          <a:noFill/>
        </p:spPr>
        <p:txBody>
          <a:bodyPr wrap="square" anchor="t" lIns="45720" rIns="45720" tIns="27432" bIns="27432">
            <a:spAutoFit/>
          </a:bodyPr>
          <a:lstStyle/>
          <a:p>
            <a:pPr algn="l">
              <a:lnSpc>
                <a:spcPct val="105000"/>
              </a:lnSpc>
            </a:pPr>
            <a:r>
              <a:rPr sz="1500" b="0" i="0">
                <a:solidFill>
                  <a:srgbClr val="1F2430"/>
                </a:solidFill>
                <a:latin typeface="PT Sans"/>
              </a:rPr>
              <a:t>• Жак, чоку, тик бурч</a:t>
            </a:r>
          </a:p>
          <a:p>
            <a:pPr algn="l">
              <a:lnSpc>
                <a:spcPct val="105000"/>
              </a:lnSpc>
              <a:spcBef>
                <a:spcPts val="400"/>
              </a:spcBef>
            </a:pPr>
            <a:r>
              <a:rPr sz="1500" b="0" i="0">
                <a:solidFill>
                  <a:srgbClr val="1F2430"/>
                </a:solidFill>
                <a:latin typeface="PT Sans"/>
              </a:rPr>
              <a:t>• Бет, кыр</a:t>
            </a:r>
          </a:p>
        </p:txBody>
      </p:sp>
      <p:sp>
        <p:nvSpPr>
          <p:cNvPr id="18" name="Rounded Rectangle 17"/>
          <p:cNvSpPr/>
          <p:nvPr/>
        </p:nvSpPr>
        <p:spPr>
          <a:xfrm>
            <a:off x="3918204" y="2057400"/>
            <a:ext cx="1463040" cy="384048"/>
          </a:xfrm>
          <a:prstGeom prst="roundRect">
            <a:avLst>
              <a:gd name="adj" fmla="val 50000"/>
            </a:avLst>
          </a:prstGeom>
          <a:noFill/>
          <a:ln w="1905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A84400"/>
                </a:solidFill>
                <a:latin typeface="PT Sans"/>
              </a:rPr>
              <a:t>Бүгүн</a:t>
            </a:r>
          </a:p>
        </p:txBody>
      </p:sp>
      <p:sp>
        <p:nvSpPr>
          <p:cNvPr id="19" name="Rounded Rectangle 18"/>
          <p:cNvSpPr/>
          <p:nvPr/>
        </p:nvSpPr>
        <p:spPr>
          <a:xfrm>
            <a:off x="6208776" y="2103120"/>
            <a:ext cx="2660904" cy="3657600"/>
          </a:xfrm>
          <a:prstGeom prst="roundRect">
            <a:avLst>
              <a:gd name="adj" fmla="val 6000"/>
            </a:avLst>
          </a:prstGeom>
          <a:solidFill>
            <a:srgbClr val="FFFFFF"/>
          </a:solidFill>
          <a:ln w="19050">
            <a:solidFill>
              <a:srgbClr val="4A5A7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45936" y="2194560"/>
            <a:ext cx="2386584" cy="502920"/>
          </a:xfrm>
          <a:prstGeom prst="rect">
            <a:avLst/>
          </a:prstGeom>
          <a:noFill/>
        </p:spPr>
        <p:txBody>
          <a:bodyPr wrap="square" anchor="t" lIns="45720" rIns="45720" tIns="27432" bIns="27432">
            <a:spAutoFit/>
          </a:bodyPr>
          <a:lstStyle/>
          <a:p>
            <a:pPr algn="ctr">
              <a:lnSpc>
                <a:spcPct val="105000"/>
              </a:lnSpc>
            </a:pPr>
            <a:r>
              <a:rPr sz="2400" b="1" i="0">
                <a:solidFill>
                  <a:srgbClr val="4A5A70"/>
                </a:solidFill>
                <a:latin typeface="PT Sans"/>
              </a:rPr>
              <a:t/>
            </a:r>
          </a:p>
        </p:txBody>
      </p:sp>
      <p:cxnSp>
        <p:nvCxnSpPr>
          <p:cNvPr id="21" name="Connector 20"/>
          <p:cNvCxnSpPr/>
          <p:nvPr/>
        </p:nvCxnSpPr>
        <p:spPr>
          <a:xfrm>
            <a:off x="6483096" y="2743200"/>
            <a:ext cx="2112263" cy="0"/>
          </a:xfrm>
          <a:prstGeom prst="line">
            <a:avLst/>
          </a:prstGeom>
          <a:ln w="12700">
            <a:solidFill>
              <a:srgbClr val="4A5A7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391656" y="2834639"/>
            <a:ext cx="2295144" cy="2834640"/>
          </a:xfrm>
          <a:prstGeom prst="rect">
            <a:avLst/>
          </a:prstGeom>
          <a:noFill/>
        </p:spPr>
        <p:txBody>
          <a:bodyPr wrap="square" anchor="t" lIns="45720" rIns="45720" tIns="27432" bIns="27432">
            <a:spAutoFit/>
          </a:bodyPr>
          <a:lstStyle/>
          <a:p>
            <a:pPr algn="l">
              <a:lnSpc>
                <a:spcPct val="105000"/>
              </a:lnSpc>
            </a:pPr>
            <a:r>
              <a:rPr sz="1500" b="0" i="0">
                <a:solidFill>
                  <a:srgbClr val="6B7280"/>
                </a:solidFill>
                <a:latin typeface="PT Sans"/>
              </a:rPr>
              <a:t>• Периметр</a:t>
            </a:r>
          </a:p>
          <a:p>
            <a:pPr algn="l">
              <a:lnSpc>
                <a:spcPct val="105000"/>
              </a:lnSpc>
              <a:spcBef>
                <a:spcPts val="400"/>
              </a:spcBef>
            </a:pPr>
            <a:r>
              <a:rPr sz="1500" b="0" i="0">
                <a:solidFill>
                  <a:srgbClr val="6B7280"/>
                </a:solidFill>
                <a:latin typeface="PT Sans"/>
              </a:rPr>
              <a:t>• Симметрия</a:t>
            </a:r>
          </a:p>
        </p:txBody>
      </p:sp>
      <p:sp>
        <p:nvSpPr>
          <p:cNvPr id="23" name="Rounded Rectangle 22"/>
          <p:cNvSpPr/>
          <p:nvPr/>
        </p:nvSpPr>
        <p:spPr>
          <a:xfrm>
            <a:off x="9098280" y="1645919"/>
            <a:ext cx="2660904" cy="4114800"/>
          </a:xfrm>
          <a:prstGeom prst="roundRect">
            <a:avLst>
              <a:gd name="adj" fmla="val 6000"/>
            </a:avLst>
          </a:prstGeom>
          <a:solidFill>
            <a:srgbClr val="FFFFFF"/>
          </a:solidFill>
          <a:ln w="19050">
            <a:solidFill>
              <a:srgbClr val="4A5A7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35440" y="1737360"/>
            <a:ext cx="2386584" cy="502920"/>
          </a:xfrm>
          <a:prstGeom prst="rect">
            <a:avLst/>
          </a:prstGeom>
          <a:noFill/>
        </p:spPr>
        <p:txBody>
          <a:bodyPr wrap="square" anchor="t" lIns="45720" rIns="45720" tIns="27432" bIns="27432">
            <a:spAutoFit/>
          </a:bodyPr>
          <a:lstStyle/>
          <a:p>
            <a:pPr algn="ctr">
              <a:lnSpc>
                <a:spcPct val="105000"/>
              </a:lnSpc>
            </a:pPr>
            <a:r>
              <a:rPr sz="2400" b="1" i="0">
                <a:solidFill>
                  <a:srgbClr val="4A5A70"/>
                </a:solidFill>
                <a:latin typeface="PT Sans"/>
              </a:rPr>
              <a:t/>
            </a:r>
          </a:p>
        </p:txBody>
      </p:sp>
      <p:cxnSp>
        <p:nvCxnSpPr>
          <p:cNvPr id="25" name="Connector 24"/>
          <p:cNvCxnSpPr/>
          <p:nvPr/>
        </p:nvCxnSpPr>
        <p:spPr>
          <a:xfrm>
            <a:off x="9372600" y="2286000"/>
            <a:ext cx="2112264" cy="0"/>
          </a:xfrm>
          <a:prstGeom prst="line">
            <a:avLst/>
          </a:prstGeom>
          <a:ln w="12700">
            <a:solidFill>
              <a:srgbClr val="4A5A70"/>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281160" y="2377439"/>
            <a:ext cx="2295144" cy="3291840"/>
          </a:xfrm>
          <a:prstGeom prst="rect">
            <a:avLst/>
          </a:prstGeom>
          <a:noFill/>
        </p:spPr>
        <p:txBody>
          <a:bodyPr wrap="square" anchor="t" lIns="45720" rIns="45720" tIns="27432" bIns="27432">
            <a:spAutoFit/>
          </a:bodyPr>
          <a:lstStyle/>
          <a:p>
            <a:pPr algn="l">
              <a:lnSpc>
                <a:spcPct val="105000"/>
              </a:lnSpc>
            </a:pPr>
            <a:r>
              <a:rPr sz="1500" b="0" i="0">
                <a:solidFill>
                  <a:srgbClr val="6B7280"/>
                </a:solidFill>
                <a:latin typeface="PT Sans"/>
              </a:rPr>
              <a:t>• Аянт</a:t>
            </a:r>
          </a:p>
          <a:p>
            <a:pPr algn="l">
              <a:lnSpc>
                <a:spcPct val="105000"/>
              </a:lnSpc>
              <a:spcBef>
                <a:spcPts val="400"/>
              </a:spcBef>
            </a:pPr>
            <a:r>
              <a:rPr sz="1500" b="0" i="0">
                <a:solidFill>
                  <a:srgbClr val="6B7280"/>
                </a:solidFill>
                <a:latin typeface="PT Sans"/>
              </a:rPr>
              <a:t>• Пирамида, призма</a:t>
            </a:r>
          </a:p>
        </p:txBody>
      </p:sp>
      <p:sp>
        <p:nvSpPr>
          <p:cNvPr id="27" name="TextBox 26"/>
          <p:cNvSpPr txBox="1"/>
          <p:nvPr/>
        </p:nvSpPr>
        <p:spPr>
          <a:xfrm>
            <a:off x="429768" y="5806440"/>
            <a:ext cx="11329416" cy="365760"/>
          </a:xfrm>
          <a:prstGeom prst="rect">
            <a:avLst/>
          </a:prstGeom>
          <a:noFill/>
        </p:spPr>
        <p:txBody>
          <a:bodyPr wrap="square" anchor="t" lIns="45720" rIns="45720" tIns="27432" bIns="27432">
            <a:spAutoFit/>
          </a:bodyPr>
          <a:lstStyle/>
          <a:p>
            <a:pPr algn="ctr">
              <a:lnSpc>
                <a:spcPct val="105000"/>
              </a:lnSpc>
            </a:pPr>
            <a:r>
              <a:rPr sz="1800" b="0" i="1">
                <a:solidFill>
                  <a:srgbClr val="6B7280"/>
                </a:solidFill>
                <a:latin typeface="PT Sans"/>
              </a:rPr>
              <a:t>Ар бир класс мурункусунун үстүнө курулат.</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Даярдык: эстейли</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Тегиз жана көлөмдүү фигуралар</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8/26</a:t>
            </a:r>
          </a:p>
        </p:txBody>
      </p:sp>
      <p:sp>
        <p:nvSpPr>
          <p:cNvPr id="10" name="TextBox 9"/>
          <p:cNvSpPr txBox="1"/>
          <p:nvPr/>
        </p:nvSpPr>
        <p:spPr>
          <a:xfrm>
            <a:off x="429768" y="1143000"/>
            <a:ext cx="11329416" cy="457200"/>
          </a:xfrm>
          <a:prstGeom prst="rect">
            <a:avLst/>
          </a:prstGeom>
          <a:noFill/>
        </p:spPr>
        <p:txBody>
          <a:bodyPr wrap="square" anchor="t" lIns="45720" rIns="45720" tIns="27432" bIns="27432">
            <a:spAutoFit/>
          </a:bodyPr>
          <a:lstStyle/>
          <a:p>
            <a:pPr algn="l">
              <a:lnSpc>
                <a:spcPct val="105000"/>
              </a:lnSpc>
            </a:pPr>
            <a:r>
              <a:rPr sz="2200" b="0" i="1">
                <a:solidFill>
                  <a:srgbClr val="6B7280"/>
                </a:solidFill>
                <a:latin typeface="PT Sans"/>
              </a:rPr>
              <a:t>Мини-тактага жаз. 2 мүнөт.</a:t>
            </a:r>
          </a:p>
        </p:txBody>
      </p:sp>
      <p:sp>
        <p:nvSpPr>
          <p:cNvPr id="11" name="Rounded Rectangle 10"/>
          <p:cNvSpPr/>
          <p:nvPr/>
        </p:nvSpPr>
        <p:spPr>
          <a:xfrm>
            <a:off x="429768" y="1691640"/>
            <a:ext cx="5550408" cy="212597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12647" y="253517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1</a:t>
            </a:r>
          </a:p>
        </p:txBody>
      </p:sp>
      <p:sp>
        <p:nvSpPr>
          <p:cNvPr id="13" name="TextBox 12"/>
          <p:cNvSpPr txBox="1"/>
          <p:nvPr/>
        </p:nvSpPr>
        <p:spPr>
          <a:xfrm>
            <a:off x="1207007" y="1691640"/>
            <a:ext cx="4636008" cy="2125979"/>
          </a:xfrm>
          <a:prstGeom prst="rect">
            <a:avLst/>
          </a:prstGeom>
          <a:noFill/>
        </p:spPr>
        <p:txBody>
          <a:bodyPr wrap="square" anchor="ctr" lIns="45720" rIns="45720" tIns="27432" bIns="27432">
            <a:spAutoFit/>
          </a:bodyPr>
          <a:lstStyle/>
          <a:p>
            <a:pPr algn="l">
              <a:lnSpc>
                <a:spcPct val="105000"/>
              </a:lnSpc>
            </a:pPr>
            <a:r>
              <a:rPr sz="2800" b="1" i="0">
                <a:solidFill>
                  <a:srgbClr val="1F2430"/>
                </a:solidFill>
                <a:latin typeface="PT Sans"/>
              </a:rPr>
              <a:t>Үч бурчтуктун канча бурчу бар?</a:t>
            </a:r>
          </a:p>
        </p:txBody>
      </p:sp>
      <p:sp>
        <p:nvSpPr>
          <p:cNvPr id="14" name="Rounded Rectangle 13"/>
          <p:cNvSpPr/>
          <p:nvPr/>
        </p:nvSpPr>
        <p:spPr>
          <a:xfrm>
            <a:off x="6208776" y="1691640"/>
            <a:ext cx="5550408" cy="212597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391656" y="253517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2</a:t>
            </a:r>
          </a:p>
        </p:txBody>
      </p:sp>
      <p:sp>
        <p:nvSpPr>
          <p:cNvPr id="16" name="TextBox 15"/>
          <p:cNvSpPr txBox="1"/>
          <p:nvPr/>
        </p:nvSpPr>
        <p:spPr>
          <a:xfrm>
            <a:off x="6986016" y="1691640"/>
            <a:ext cx="4636008" cy="2125979"/>
          </a:xfrm>
          <a:prstGeom prst="rect">
            <a:avLst/>
          </a:prstGeom>
          <a:noFill/>
        </p:spPr>
        <p:txBody>
          <a:bodyPr wrap="square" anchor="ctr" lIns="45720" rIns="45720" tIns="27432" bIns="27432">
            <a:spAutoFit/>
          </a:bodyPr>
          <a:lstStyle/>
          <a:p>
            <a:pPr algn="l">
              <a:lnSpc>
                <a:spcPct val="105000"/>
              </a:lnSpc>
            </a:pPr>
            <a:r>
              <a:rPr sz="2800" b="1" i="0">
                <a:solidFill>
                  <a:srgbClr val="1F2430"/>
                </a:solidFill>
                <a:latin typeface="PT Sans"/>
              </a:rPr>
              <a:t>6 + 6 =</a:t>
            </a:r>
          </a:p>
        </p:txBody>
      </p:sp>
      <p:sp>
        <p:nvSpPr>
          <p:cNvPr id="17" name="Rounded Rectangle 16"/>
          <p:cNvSpPr/>
          <p:nvPr/>
        </p:nvSpPr>
        <p:spPr>
          <a:xfrm>
            <a:off x="429768" y="4000500"/>
            <a:ext cx="5550408" cy="212597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12647" y="4844033"/>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3</a:t>
            </a:r>
          </a:p>
        </p:txBody>
      </p:sp>
      <p:sp>
        <p:nvSpPr>
          <p:cNvPr id="19" name="TextBox 18"/>
          <p:cNvSpPr txBox="1"/>
          <p:nvPr/>
        </p:nvSpPr>
        <p:spPr>
          <a:xfrm>
            <a:off x="1207007" y="4000500"/>
            <a:ext cx="4636008" cy="2125979"/>
          </a:xfrm>
          <a:prstGeom prst="rect">
            <a:avLst/>
          </a:prstGeom>
          <a:noFill/>
        </p:spPr>
        <p:txBody>
          <a:bodyPr wrap="square" anchor="ctr" lIns="45720" rIns="45720" tIns="27432" bIns="27432">
            <a:spAutoFit/>
          </a:bodyPr>
          <a:lstStyle/>
          <a:p>
            <a:pPr algn="l">
              <a:lnSpc>
                <a:spcPct val="105000"/>
              </a:lnSpc>
            </a:pPr>
            <a:r>
              <a:rPr sz="2800" b="1" i="0">
                <a:solidFill>
                  <a:srgbClr val="1F2430"/>
                </a:solidFill>
                <a:latin typeface="PT Sans"/>
              </a:rPr>
              <a:t>4 + 4 + 4 =</a:t>
            </a:r>
          </a:p>
        </p:txBody>
      </p:sp>
      <p:sp>
        <p:nvSpPr>
          <p:cNvPr id="20" name="Rounded Rectangle 19"/>
          <p:cNvSpPr/>
          <p:nvPr/>
        </p:nvSpPr>
        <p:spPr>
          <a:xfrm>
            <a:off x="6208776" y="4000500"/>
            <a:ext cx="5550408" cy="212597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91656" y="4844033"/>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4</a:t>
            </a:r>
          </a:p>
        </p:txBody>
      </p:sp>
      <p:sp>
        <p:nvSpPr>
          <p:cNvPr id="22" name="TextBox 21"/>
          <p:cNvSpPr txBox="1"/>
          <p:nvPr/>
        </p:nvSpPr>
        <p:spPr>
          <a:xfrm>
            <a:off x="6986016" y="4000500"/>
            <a:ext cx="4636008" cy="2125979"/>
          </a:xfrm>
          <a:prstGeom prst="rect">
            <a:avLst/>
          </a:prstGeom>
          <a:noFill/>
        </p:spPr>
        <p:txBody>
          <a:bodyPr wrap="square" anchor="ctr" lIns="45720" rIns="45720" tIns="27432" bIns="27432">
            <a:spAutoFit/>
          </a:bodyPr>
          <a:lstStyle/>
          <a:p>
            <a:pPr algn="l">
              <a:lnSpc>
                <a:spcPct val="105000"/>
              </a:lnSpc>
            </a:pPr>
            <a:r>
              <a:rPr sz="2800" b="1" i="0">
                <a:solidFill>
                  <a:srgbClr val="1F2430"/>
                </a:solidFill>
                <a:latin typeface="PT Sans"/>
              </a:rPr>
              <a:t>Тегерек буюмду ата.</a:t>
            </a:r>
          </a:p>
        </p:txBody>
      </p:sp>
      <p:sp>
        <p:nvSpPr>
          <p:cNvPr id="23" name="Rounded Rectangle 22"/>
          <p:cNvSpPr/>
          <p:nvPr/>
        </p:nvSpPr>
        <p:spPr>
          <a:xfrm>
            <a:off x="8412480"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К</a:t>
            </a:r>
          </a:p>
        </p:txBody>
      </p:sp>
      <p:sp>
        <p:nvSpPr>
          <p:cNvPr id="24" name="Rounded Rectangle 23"/>
          <p:cNvSpPr/>
          <p:nvPr/>
        </p:nvSpPr>
        <p:spPr>
          <a:xfrm>
            <a:off x="896111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С</a:t>
            </a:r>
          </a:p>
        </p:txBody>
      </p:sp>
      <p:sp>
        <p:nvSpPr>
          <p:cNvPr id="25" name="Rounded Rectangle 24"/>
          <p:cNvSpPr/>
          <p:nvPr/>
        </p:nvSpPr>
        <p:spPr>
          <a:xfrm>
            <a:off x="9509759"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А</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Даярдык: жооптор</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Тегиз жана көлөмдүү фигуралар</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9/26</a:t>
            </a:r>
          </a:p>
        </p:txBody>
      </p:sp>
      <p:sp>
        <p:nvSpPr>
          <p:cNvPr id="10" name="Rounded Rectangle 9"/>
          <p:cNvSpPr/>
          <p:nvPr/>
        </p:nvSpPr>
        <p:spPr>
          <a:xfrm>
            <a:off x="429768" y="1325880"/>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66928" y="1581912"/>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2" name="TextBox 11"/>
          <p:cNvSpPr txBox="1"/>
          <p:nvPr/>
        </p:nvSpPr>
        <p:spPr>
          <a:xfrm>
            <a:off x="1115568" y="1325880"/>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Үч бурчтуктун канча бурчу бар?</a:t>
            </a:r>
          </a:p>
        </p:txBody>
      </p:sp>
      <p:sp>
        <p:nvSpPr>
          <p:cNvPr id="13" name="TextBox 12"/>
          <p:cNvSpPr txBox="1"/>
          <p:nvPr/>
        </p:nvSpPr>
        <p:spPr>
          <a:xfrm>
            <a:off x="4334804" y="1325880"/>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3</a:t>
            </a:r>
          </a:p>
        </p:txBody>
      </p:sp>
      <p:sp>
        <p:nvSpPr>
          <p:cNvPr id="14" name="Rounded Rectangle 13"/>
          <p:cNvSpPr/>
          <p:nvPr/>
        </p:nvSpPr>
        <p:spPr>
          <a:xfrm>
            <a:off x="6208776" y="1325880"/>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345936" y="1581912"/>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16" name="TextBox 15"/>
          <p:cNvSpPr txBox="1"/>
          <p:nvPr/>
        </p:nvSpPr>
        <p:spPr>
          <a:xfrm>
            <a:off x="6894576" y="1325880"/>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6 + 6 =</a:t>
            </a:r>
          </a:p>
        </p:txBody>
      </p:sp>
      <p:sp>
        <p:nvSpPr>
          <p:cNvPr id="17" name="TextBox 16"/>
          <p:cNvSpPr txBox="1"/>
          <p:nvPr/>
        </p:nvSpPr>
        <p:spPr>
          <a:xfrm>
            <a:off x="10113812" y="1325880"/>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12</a:t>
            </a:r>
          </a:p>
        </p:txBody>
      </p:sp>
      <p:sp>
        <p:nvSpPr>
          <p:cNvPr id="18" name="Rounded Rectangle 17"/>
          <p:cNvSpPr/>
          <p:nvPr/>
        </p:nvSpPr>
        <p:spPr>
          <a:xfrm>
            <a:off x="429768" y="2350008"/>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66928" y="2606040"/>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20" name="TextBox 19"/>
          <p:cNvSpPr txBox="1"/>
          <p:nvPr/>
        </p:nvSpPr>
        <p:spPr>
          <a:xfrm>
            <a:off x="1115568" y="2350008"/>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4 + 4 + 4 =</a:t>
            </a:r>
          </a:p>
        </p:txBody>
      </p:sp>
      <p:sp>
        <p:nvSpPr>
          <p:cNvPr id="21" name="TextBox 20"/>
          <p:cNvSpPr txBox="1"/>
          <p:nvPr/>
        </p:nvSpPr>
        <p:spPr>
          <a:xfrm>
            <a:off x="4334804" y="2350008"/>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12</a:t>
            </a:r>
          </a:p>
        </p:txBody>
      </p:sp>
      <p:sp>
        <p:nvSpPr>
          <p:cNvPr id="22" name="Rounded Rectangle 21"/>
          <p:cNvSpPr/>
          <p:nvPr/>
        </p:nvSpPr>
        <p:spPr>
          <a:xfrm>
            <a:off x="6208776" y="2350008"/>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345936" y="2606040"/>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4</a:t>
            </a:r>
          </a:p>
        </p:txBody>
      </p:sp>
      <p:sp>
        <p:nvSpPr>
          <p:cNvPr id="24" name="TextBox 23"/>
          <p:cNvSpPr txBox="1"/>
          <p:nvPr/>
        </p:nvSpPr>
        <p:spPr>
          <a:xfrm>
            <a:off x="6894576" y="2350008"/>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Тегерек буюмду ата.</a:t>
            </a:r>
          </a:p>
        </p:txBody>
      </p:sp>
      <p:sp>
        <p:nvSpPr>
          <p:cNvPr id="25" name="TextBox 24"/>
          <p:cNvSpPr txBox="1"/>
          <p:nvPr/>
        </p:nvSpPr>
        <p:spPr>
          <a:xfrm>
            <a:off x="10113812" y="2350008"/>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Мис.: нан, табак, тыйын</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Ким туура?</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Тегиз жана көлөмдүү фигуралар</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10/26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Асан ата жыгач кубикти столго койду. Нуриза менен Айбек кубиктин беттерин санашты.</a:t>
            </a:r>
          </a:p>
        </p:txBody>
      </p:sp>
      <p:sp>
        <p:nvSpPr>
          <p:cNvPr id="12" name="Rounded Rectangle 11"/>
          <p:cNvSpPr/>
          <p:nvPr/>
        </p:nvSpPr>
        <p:spPr>
          <a:xfrm>
            <a:off x="429768" y="2103120"/>
            <a:ext cx="5550408" cy="310896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429768" y="2697480"/>
            <a:ext cx="5550408" cy="0"/>
          </a:xfrm>
          <a:prstGeom prst="line">
            <a:avLst/>
          </a:prstGeom>
          <a:ln w="19050">
            <a:solidFill>
              <a:srgbClr val="1D3557"/>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29768" y="2103120"/>
            <a:ext cx="5550408" cy="594360"/>
          </a:xfrm>
          <a:prstGeom prst="rect">
            <a:avLst/>
          </a:prstGeom>
          <a:noFill/>
        </p:spPr>
        <p:txBody>
          <a:bodyPr wrap="square" anchor="ctr" lIns="45720" rIns="45720" tIns="27432" bIns="27432">
            <a:spAutoFit/>
          </a:bodyPr>
          <a:lstStyle/>
          <a:p>
            <a:pPr algn="ctr">
              <a:lnSpc>
                <a:spcPct val="105000"/>
              </a:lnSpc>
            </a:pPr>
            <a:r>
              <a:rPr sz="2400" b="1" i="0">
                <a:solidFill>
                  <a:srgbClr val="1D3557"/>
                </a:solidFill>
                <a:latin typeface="PT Sans"/>
              </a:rPr>
              <a:t>Нуриза</a:t>
            </a:r>
          </a:p>
        </p:txBody>
      </p:sp>
      <p:sp>
        <p:nvSpPr>
          <p:cNvPr id="15" name="TextBox 14"/>
          <p:cNvSpPr txBox="1"/>
          <p:nvPr/>
        </p:nvSpPr>
        <p:spPr>
          <a:xfrm>
            <a:off x="704088" y="2834640"/>
            <a:ext cx="5029200" cy="2286000"/>
          </a:xfrm>
          <a:prstGeom prst="rect">
            <a:avLst/>
          </a:prstGeom>
          <a:noFill/>
        </p:spPr>
        <p:txBody>
          <a:bodyPr wrap="square" anchor="t" lIns="45720" rIns="45720" tIns="27432" bIns="27432">
            <a:spAutoFit/>
          </a:bodyPr>
          <a:lstStyle/>
          <a:p>
            <a:pPr algn="l">
              <a:lnSpc>
                <a:spcPct val="105000"/>
              </a:lnSpc>
            </a:pPr>
            <a:r>
              <a:rPr sz="2600" b="0" i="0">
                <a:solidFill>
                  <a:srgbClr val="1F2430"/>
                </a:solidFill>
                <a:latin typeface="PT Sans"/>
              </a:rPr>
              <a:t>Мен 3 бетин көрүп турам.</a:t>
            </a:r>
          </a:p>
          <a:p>
            <a:pPr algn="l">
              <a:lnSpc>
                <a:spcPct val="105000"/>
              </a:lnSpc>
            </a:pPr>
            <a:r>
              <a:rPr sz="2600" b="0" i="0">
                <a:solidFill>
                  <a:srgbClr val="1F2430"/>
                </a:solidFill>
                <a:latin typeface="PT Sans"/>
              </a:rPr>
              <a:t>Демек, кубдун 3 бети бар.</a:t>
            </a:r>
          </a:p>
        </p:txBody>
      </p:sp>
      <p:sp>
        <p:nvSpPr>
          <p:cNvPr id="16" name="Rounded Rectangle 15"/>
          <p:cNvSpPr/>
          <p:nvPr/>
        </p:nvSpPr>
        <p:spPr>
          <a:xfrm>
            <a:off x="6208776" y="2103120"/>
            <a:ext cx="5550408" cy="310896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6208776" y="2697480"/>
            <a:ext cx="5550408" cy="0"/>
          </a:xfrm>
          <a:prstGeom prst="line">
            <a:avLst/>
          </a:prstGeom>
          <a:ln w="19050">
            <a:solidFill>
              <a:srgbClr val="1D3557"/>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208776" y="2103120"/>
            <a:ext cx="5550408" cy="594360"/>
          </a:xfrm>
          <a:prstGeom prst="rect">
            <a:avLst/>
          </a:prstGeom>
          <a:noFill/>
        </p:spPr>
        <p:txBody>
          <a:bodyPr wrap="square" anchor="ctr" lIns="45720" rIns="45720" tIns="27432" bIns="27432">
            <a:spAutoFit/>
          </a:bodyPr>
          <a:lstStyle/>
          <a:p>
            <a:pPr algn="ctr">
              <a:lnSpc>
                <a:spcPct val="105000"/>
              </a:lnSpc>
            </a:pPr>
            <a:r>
              <a:rPr sz="2400" b="1" i="0">
                <a:solidFill>
                  <a:srgbClr val="1D3557"/>
                </a:solidFill>
                <a:latin typeface="PT Sans"/>
              </a:rPr>
              <a:t>Айбек</a:t>
            </a:r>
          </a:p>
        </p:txBody>
      </p:sp>
      <p:sp>
        <p:nvSpPr>
          <p:cNvPr id="19" name="TextBox 18"/>
          <p:cNvSpPr txBox="1"/>
          <p:nvPr/>
        </p:nvSpPr>
        <p:spPr>
          <a:xfrm>
            <a:off x="6483096" y="2834640"/>
            <a:ext cx="5029200" cy="2286000"/>
          </a:xfrm>
          <a:prstGeom prst="rect">
            <a:avLst/>
          </a:prstGeom>
          <a:noFill/>
        </p:spPr>
        <p:txBody>
          <a:bodyPr wrap="square" anchor="t" lIns="45720" rIns="45720" tIns="27432" bIns="27432">
            <a:spAutoFit/>
          </a:bodyPr>
          <a:lstStyle/>
          <a:p>
            <a:pPr algn="l">
              <a:lnSpc>
                <a:spcPct val="105000"/>
              </a:lnSpc>
            </a:pPr>
            <a:r>
              <a:rPr sz="2600" b="0" i="0">
                <a:solidFill>
                  <a:srgbClr val="1F2430"/>
                </a:solidFill>
                <a:latin typeface="PT Sans"/>
              </a:rPr>
              <a:t>Асты, арты, сол жагы</a:t>
            </a:r>
          </a:p>
          <a:p>
            <a:pPr algn="l">
              <a:lnSpc>
                <a:spcPct val="105000"/>
              </a:lnSpc>
            </a:pPr>
            <a:r>
              <a:rPr sz="2600" b="0" i="0">
                <a:solidFill>
                  <a:srgbClr val="1F2430"/>
                </a:solidFill>
                <a:latin typeface="PT Sans"/>
              </a:rPr>
              <a:t>да бар. Кубдун 6 бети бар.</a:t>
            </a:r>
          </a:p>
        </p:txBody>
      </p:sp>
      <p:sp>
        <p:nvSpPr>
          <p:cNvPr id="20" name="TextBox 19"/>
          <p:cNvSpPr txBox="1"/>
          <p:nvPr/>
        </p:nvSpPr>
        <p:spPr>
          <a:xfrm>
            <a:off x="429768" y="5349240"/>
            <a:ext cx="11329416" cy="548640"/>
          </a:xfrm>
          <a:prstGeom prst="rect">
            <a:avLst/>
          </a:prstGeom>
          <a:noFill/>
        </p:spPr>
        <p:txBody>
          <a:bodyPr wrap="square" anchor="t" lIns="45720" rIns="45720" tIns="27432" bIns="27432">
            <a:spAutoFit/>
          </a:bodyPr>
          <a:lstStyle/>
          <a:p>
            <a:pPr algn="ctr">
              <a:lnSpc>
                <a:spcPct val="105000"/>
              </a:lnSpc>
            </a:pPr>
            <a:r>
              <a:rPr sz="2600" b="1" i="0">
                <a:solidFill>
                  <a:srgbClr val="A84400"/>
                </a:solidFill>
                <a:latin typeface="PT Sans"/>
              </a:rPr>
              <a:t>Ким туура? Кубикти колуңа алып текшер.</a:t>
            </a:r>
          </a:p>
        </p:txBody>
      </p:sp>
      <p:sp>
        <p:nvSpPr>
          <p:cNvPr id="21" name="Rounded Rectangle 20"/>
          <p:cNvSpPr/>
          <p:nvPr/>
        </p:nvSpPr>
        <p:spPr>
          <a:xfrm>
            <a:off x="4449927" y="6327648"/>
            <a:ext cx="3291840" cy="411480"/>
          </a:xfrm>
          <a:prstGeom prst="roundRect">
            <a:avLst>
              <a:gd name="adj" fmla="val 50000"/>
            </a:avLst>
          </a:prstGeom>
          <a:no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007A5A"/>
                </a:solidFill>
                <a:latin typeface="PT Sans"/>
              </a:rPr>
              <a:t>3C · Сынчыл ой</a:t>
            </a:r>
          </a:p>
        </p:txBody>
      </p:sp>
      <p:sp>
        <p:nvSpPr>
          <p:cNvPr id="22" name="g2fig"/>
          <p:cNvSpPr/>
          <p:nvPr/>
        </p:nvSpPr>
        <p:spPr>
          <a:xfrm>
            <a:off x="4475988" y="4183732"/>
            <a:ext cx="776888" cy="776888"/>
          </a:xfrm>
          <a:custGeom>
            <a:avLst/>
            <a:gdLst/>
            <a:ahLst/>
            <a:cxnLst/>
            <a:rect l="l" t="t" r="r" b="b"/>
            <a:pathLst>
              <a:path w="776888" h="776888">
                <a:moveTo>
                  <a:pt x="0" y="776888"/>
                </a:moveTo>
                <a:lnTo>
                  <a:pt x="776888" y="776888"/>
                </a:lnTo>
                <a:lnTo>
                  <a:pt x="776888" y="0"/>
                </a:lnTo>
                <a:lnTo>
                  <a:pt x="0" y="0"/>
                </a:lnTo>
                <a:close/>
              </a:path>
            </a:pathLst>
          </a:custGeom>
          <a:solidFill>
            <a:srgbClr val="C9D4EE"/>
          </a:solidFill>
          <a:ln w="6718" cap="rnd">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g2fig"/>
          <p:cNvSpPr/>
          <p:nvPr/>
        </p:nvSpPr>
        <p:spPr>
          <a:xfrm>
            <a:off x="4475988" y="3909060"/>
            <a:ext cx="1051560" cy="274672"/>
          </a:xfrm>
          <a:custGeom>
            <a:avLst/>
            <a:gdLst/>
            <a:ahLst/>
            <a:cxnLst/>
            <a:rect l="l" t="t" r="r" b="b"/>
            <a:pathLst>
              <a:path w="1051560" h="274672">
                <a:moveTo>
                  <a:pt x="0" y="274672"/>
                </a:moveTo>
                <a:lnTo>
                  <a:pt x="776888" y="274672"/>
                </a:lnTo>
                <a:lnTo>
                  <a:pt x="1051560" y="0"/>
                </a:lnTo>
                <a:lnTo>
                  <a:pt x="274672" y="0"/>
                </a:lnTo>
                <a:close/>
              </a:path>
            </a:pathLst>
          </a:custGeom>
          <a:solidFill>
            <a:srgbClr val="E6EBF7"/>
          </a:solidFill>
          <a:ln w="6718" cap="rnd">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g2fig"/>
          <p:cNvSpPr/>
          <p:nvPr/>
        </p:nvSpPr>
        <p:spPr>
          <a:xfrm>
            <a:off x="5252876" y="3909060"/>
            <a:ext cx="274672" cy="1051560"/>
          </a:xfrm>
          <a:custGeom>
            <a:avLst/>
            <a:gdLst/>
            <a:ahLst/>
            <a:cxnLst/>
            <a:rect l="l" t="t" r="r" b="b"/>
            <a:pathLst>
              <a:path w="274672" h="1051560">
                <a:moveTo>
                  <a:pt x="0" y="1051560"/>
                </a:moveTo>
                <a:lnTo>
                  <a:pt x="0" y="274672"/>
                </a:lnTo>
                <a:lnTo>
                  <a:pt x="274672" y="0"/>
                </a:lnTo>
                <a:lnTo>
                  <a:pt x="274672" y="776888"/>
                </a:lnTo>
                <a:close/>
              </a:path>
            </a:pathLst>
          </a:custGeom>
          <a:solidFill>
            <a:srgbClr val="C9D4EE"/>
          </a:solidFill>
          <a:ln w="6718" cap="rnd">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g2fig"/>
          <p:cNvCxnSpPr/>
          <p:nvPr/>
        </p:nvCxnSpPr>
        <p:spPr>
          <a:xfrm flipV="1">
            <a:off x="4475988" y="4685948"/>
            <a:ext cx="274671" cy="274672"/>
          </a:xfrm>
          <a:prstGeom prst="line">
            <a:avLst/>
          </a:prstGeom>
          <a:ln w="10077" cap="rnd">
            <a:solidFill>
              <a:srgbClr val="4A5A70"/>
            </a:solidFill>
            <a:prstDash val="dash"/>
          </a:ln>
        </p:spPr>
        <p:style>
          <a:lnRef idx="2">
            <a:schemeClr val="accent1"/>
          </a:lnRef>
          <a:fillRef idx="0">
            <a:schemeClr val="accent1"/>
          </a:fillRef>
          <a:effectRef idx="1">
            <a:schemeClr val="accent1"/>
          </a:effectRef>
          <a:fontRef idx="minor">
            <a:schemeClr val="tx1"/>
          </a:fontRef>
        </p:style>
      </p:cxnSp>
      <p:cxnSp>
        <p:nvCxnSpPr>
          <p:cNvPr id="26" name="g2fig"/>
          <p:cNvCxnSpPr/>
          <p:nvPr/>
        </p:nvCxnSpPr>
        <p:spPr>
          <a:xfrm>
            <a:off x="4750659" y="4685948"/>
            <a:ext cx="776889" cy="0"/>
          </a:xfrm>
          <a:prstGeom prst="line">
            <a:avLst/>
          </a:prstGeom>
          <a:ln w="10077" cap="rnd">
            <a:solidFill>
              <a:srgbClr val="4A5A70"/>
            </a:solidFill>
            <a:prstDash val="dash"/>
          </a:ln>
        </p:spPr>
        <p:style>
          <a:lnRef idx="2">
            <a:schemeClr val="accent1"/>
          </a:lnRef>
          <a:fillRef idx="0">
            <a:schemeClr val="accent1"/>
          </a:fillRef>
          <a:effectRef idx="1">
            <a:schemeClr val="accent1"/>
          </a:effectRef>
          <a:fontRef idx="minor">
            <a:schemeClr val="tx1"/>
          </a:fontRef>
        </p:style>
      </p:cxnSp>
      <p:cxnSp>
        <p:nvCxnSpPr>
          <p:cNvPr id="27" name="g2fig"/>
          <p:cNvCxnSpPr/>
          <p:nvPr/>
        </p:nvCxnSpPr>
        <p:spPr>
          <a:xfrm flipV="1">
            <a:off x="4750659" y="3909060"/>
            <a:ext cx="0" cy="776888"/>
          </a:xfrm>
          <a:prstGeom prst="line">
            <a:avLst/>
          </a:prstGeom>
          <a:ln w="10077" cap="rnd">
            <a:solidFill>
              <a:srgbClr val="4A5A70"/>
            </a:solidFill>
            <a:prstDash val="dash"/>
          </a:ln>
        </p:spPr>
        <p:style>
          <a:lnRef idx="2">
            <a:schemeClr val="accent1"/>
          </a:lnRef>
          <a:fillRef idx="0">
            <a:schemeClr val="accent1"/>
          </a:fillRef>
          <a:effectRef idx="1">
            <a:schemeClr val="accent1"/>
          </a:effectRef>
          <a:fontRef idx="minor">
            <a:schemeClr val="tx1"/>
          </a:fontRef>
        </p:style>
      </p:cxnSp>
      <p:cxnSp>
        <p:nvCxnSpPr>
          <p:cNvPr id="28" name="g2fig"/>
          <p:cNvCxnSpPr/>
          <p:nvPr/>
        </p:nvCxnSpPr>
        <p:spPr>
          <a:xfrm>
            <a:off x="4475988" y="4960620"/>
            <a:ext cx="776888" cy="0"/>
          </a:xfrm>
          <a:prstGeom prst="line">
            <a:avLst/>
          </a:prstGeom>
          <a:ln w="16795"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29" name="g2fig"/>
          <p:cNvCxnSpPr/>
          <p:nvPr/>
        </p:nvCxnSpPr>
        <p:spPr>
          <a:xfrm flipV="1">
            <a:off x="4475988" y="4183731"/>
            <a:ext cx="0" cy="776889"/>
          </a:xfrm>
          <a:prstGeom prst="line">
            <a:avLst/>
          </a:prstGeom>
          <a:ln w="16795"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30" name="g2fig"/>
          <p:cNvCxnSpPr/>
          <p:nvPr/>
        </p:nvCxnSpPr>
        <p:spPr>
          <a:xfrm flipV="1">
            <a:off x="5252876" y="4183731"/>
            <a:ext cx="0" cy="776889"/>
          </a:xfrm>
          <a:prstGeom prst="line">
            <a:avLst/>
          </a:prstGeom>
          <a:ln w="16795"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31" name="g2fig"/>
          <p:cNvCxnSpPr/>
          <p:nvPr/>
        </p:nvCxnSpPr>
        <p:spPr>
          <a:xfrm flipV="1">
            <a:off x="5252876" y="4685948"/>
            <a:ext cx="274672" cy="274672"/>
          </a:xfrm>
          <a:prstGeom prst="line">
            <a:avLst/>
          </a:prstGeom>
          <a:ln w="16795"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32" name="g2fig"/>
          <p:cNvCxnSpPr/>
          <p:nvPr/>
        </p:nvCxnSpPr>
        <p:spPr>
          <a:xfrm flipH="1">
            <a:off x="4475988" y="4183731"/>
            <a:ext cx="776888" cy="0"/>
          </a:xfrm>
          <a:prstGeom prst="line">
            <a:avLst/>
          </a:prstGeom>
          <a:ln w="16795"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33" name="g2fig"/>
          <p:cNvCxnSpPr/>
          <p:nvPr/>
        </p:nvCxnSpPr>
        <p:spPr>
          <a:xfrm flipV="1">
            <a:off x="5252876" y="3909060"/>
            <a:ext cx="274672" cy="274671"/>
          </a:xfrm>
          <a:prstGeom prst="line">
            <a:avLst/>
          </a:prstGeom>
          <a:ln w="16795"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34" name="g2fig"/>
          <p:cNvCxnSpPr/>
          <p:nvPr/>
        </p:nvCxnSpPr>
        <p:spPr>
          <a:xfrm flipV="1">
            <a:off x="4475988" y="3909060"/>
            <a:ext cx="274671" cy="274671"/>
          </a:xfrm>
          <a:prstGeom prst="line">
            <a:avLst/>
          </a:prstGeom>
          <a:ln w="16795"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35" name="g2fig"/>
          <p:cNvCxnSpPr/>
          <p:nvPr/>
        </p:nvCxnSpPr>
        <p:spPr>
          <a:xfrm flipV="1">
            <a:off x="5527548" y="3909060"/>
            <a:ext cx="0" cy="776888"/>
          </a:xfrm>
          <a:prstGeom prst="line">
            <a:avLst/>
          </a:prstGeom>
          <a:ln w="16795"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36" name="g2fig"/>
          <p:cNvCxnSpPr/>
          <p:nvPr/>
        </p:nvCxnSpPr>
        <p:spPr>
          <a:xfrm flipH="1">
            <a:off x="4750659" y="3909060"/>
            <a:ext cx="776889" cy="0"/>
          </a:xfrm>
          <a:prstGeom prst="line">
            <a:avLst/>
          </a:prstGeom>
          <a:ln w="16795" cap="rnd">
            <a:solidFill>
              <a:srgbClr val="1D3557"/>
            </a:solidFill>
          </a:ln>
        </p:spPr>
        <p:style>
          <a:lnRef idx="2">
            <a:schemeClr val="accent1"/>
          </a:lnRef>
          <a:fillRef idx="0">
            <a:schemeClr val="accent1"/>
          </a:fillRef>
          <a:effectRef idx="1">
            <a:schemeClr val="accent1"/>
          </a:effectRef>
          <a:fontRef idx="minor">
            <a:schemeClr val="tx1"/>
          </a:fontRef>
        </p:style>
      </p:cxnSp>
      <p:sp>
        <p:nvSpPr>
          <p:cNvPr id="37" name="g2fig"/>
          <p:cNvSpPr/>
          <p:nvPr/>
        </p:nvSpPr>
        <p:spPr>
          <a:xfrm>
            <a:off x="10254996" y="4183732"/>
            <a:ext cx="776888" cy="776888"/>
          </a:xfrm>
          <a:custGeom>
            <a:avLst/>
            <a:gdLst/>
            <a:ahLst/>
            <a:cxnLst/>
            <a:rect l="l" t="t" r="r" b="b"/>
            <a:pathLst>
              <a:path w="776888" h="776888">
                <a:moveTo>
                  <a:pt x="0" y="776888"/>
                </a:moveTo>
                <a:lnTo>
                  <a:pt x="776888" y="776888"/>
                </a:lnTo>
                <a:lnTo>
                  <a:pt x="776888" y="0"/>
                </a:lnTo>
                <a:lnTo>
                  <a:pt x="0" y="0"/>
                </a:lnTo>
                <a:close/>
              </a:path>
            </a:pathLst>
          </a:custGeom>
          <a:solidFill>
            <a:srgbClr val="C9D4EE"/>
          </a:solidFill>
          <a:ln w="6718" cap="rnd">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g2fig"/>
          <p:cNvSpPr/>
          <p:nvPr/>
        </p:nvSpPr>
        <p:spPr>
          <a:xfrm>
            <a:off x="10254996" y="3909060"/>
            <a:ext cx="1051560" cy="274672"/>
          </a:xfrm>
          <a:custGeom>
            <a:avLst/>
            <a:gdLst/>
            <a:ahLst/>
            <a:cxnLst/>
            <a:rect l="l" t="t" r="r" b="b"/>
            <a:pathLst>
              <a:path w="1051560" h="274672">
                <a:moveTo>
                  <a:pt x="0" y="274672"/>
                </a:moveTo>
                <a:lnTo>
                  <a:pt x="776888" y="274672"/>
                </a:lnTo>
                <a:lnTo>
                  <a:pt x="1051560" y="0"/>
                </a:lnTo>
                <a:lnTo>
                  <a:pt x="274672" y="0"/>
                </a:lnTo>
                <a:close/>
              </a:path>
            </a:pathLst>
          </a:custGeom>
          <a:solidFill>
            <a:srgbClr val="E6EBF7"/>
          </a:solidFill>
          <a:ln w="6718" cap="rnd">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g2fig"/>
          <p:cNvSpPr/>
          <p:nvPr/>
        </p:nvSpPr>
        <p:spPr>
          <a:xfrm>
            <a:off x="11031884" y="3909060"/>
            <a:ext cx="274672" cy="1051560"/>
          </a:xfrm>
          <a:custGeom>
            <a:avLst/>
            <a:gdLst/>
            <a:ahLst/>
            <a:cxnLst/>
            <a:rect l="l" t="t" r="r" b="b"/>
            <a:pathLst>
              <a:path w="274672" h="1051560">
                <a:moveTo>
                  <a:pt x="0" y="1051560"/>
                </a:moveTo>
                <a:lnTo>
                  <a:pt x="0" y="274672"/>
                </a:lnTo>
                <a:lnTo>
                  <a:pt x="274672" y="0"/>
                </a:lnTo>
                <a:lnTo>
                  <a:pt x="274672" y="776888"/>
                </a:lnTo>
                <a:close/>
              </a:path>
            </a:pathLst>
          </a:custGeom>
          <a:solidFill>
            <a:srgbClr val="C9D4EE"/>
          </a:solidFill>
          <a:ln w="6718" cap="rnd">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 name="g2fig"/>
          <p:cNvCxnSpPr/>
          <p:nvPr/>
        </p:nvCxnSpPr>
        <p:spPr>
          <a:xfrm flipV="1">
            <a:off x="10254996" y="4685948"/>
            <a:ext cx="274671" cy="274672"/>
          </a:xfrm>
          <a:prstGeom prst="line">
            <a:avLst/>
          </a:prstGeom>
          <a:ln w="10077" cap="rnd">
            <a:solidFill>
              <a:srgbClr val="4A5A70"/>
            </a:solidFill>
            <a:prstDash val="dash"/>
          </a:ln>
        </p:spPr>
        <p:style>
          <a:lnRef idx="2">
            <a:schemeClr val="accent1"/>
          </a:lnRef>
          <a:fillRef idx="0">
            <a:schemeClr val="accent1"/>
          </a:fillRef>
          <a:effectRef idx="1">
            <a:schemeClr val="accent1"/>
          </a:effectRef>
          <a:fontRef idx="minor">
            <a:schemeClr val="tx1"/>
          </a:fontRef>
        </p:style>
      </p:cxnSp>
      <p:cxnSp>
        <p:nvCxnSpPr>
          <p:cNvPr id="41" name="g2fig"/>
          <p:cNvCxnSpPr/>
          <p:nvPr/>
        </p:nvCxnSpPr>
        <p:spPr>
          <a:xfrm>
            <a:off x="10529667" y="4685948"/>
            <a:ext cx="776889" cy="0"/>
          </a:xfrm>
          <a:prstGeom prst="line">
            <a:avLst/>
          </a:prstGeom>
          <a:ln w="10077" cap="rnd">
            <a:solidFill>
              <a:srgbClr val="4A5A70"/>
            </a:solidFill>
            <a:prstDash val="dash"/>
          </a:ln>
        </p:spPr>
        <p:style>
          <a:lnRef idx="2">
            <a:schemeClr val="accent1"/>
          </a:lnRef>
          <a:fillRef idx="0">
            <a:schemeClr val="accent1"/>
          </a:fillRef>
          <a:effectRef idx="1">
            <a:schemeClr val="accent1"/>
          </a:effectRef>
          <a:fontRef idx="minor">
            <a:schemeClr val="tx1"/>
          </a:fontRef>
        </p:style>
      </p:cxnSp>
      <p:cxnSp>
        <p:nvCxnSpPr>
          <p:cNvPr id="42" name="g2fig"/>
          <p:cNvCxnSpPr/>
          <p:nvPr/>
        </p:nvCxnSpPr>
        <p:spPr>
          <a:xfrm flipV="1">
            <a:off x="10529667" y="3909060"/>
            <a:ext cx="0" cy="776888"/>
          </a:xfrm>
          <a:prstGeom prst="line">
            <a:avLst/>
          </a:prstGeom>
          <a:ln w="10077" cap="rnd">
            <a:solidFill>
              <a:srgbClr val="4A5A70"/>
            </a:solidFill>
            <a:prstDash val="dash"/>
          </a:ln>
        </p:spPr>
        <p:style>
          <a:lnRef idx="2">
            <a:schemeClr val="accent1"/>
          </a:lnRef>
          <a:fillRef idx="0">
            <a:schemeClr val="accent1"/>
          </a:fillRef>
          <a:effectRef idx="1">
            <a:schemeClr val="accent1"/>
          </a:effectRef>
          <a:fontRef idx="minor">
            <a:schemeClr val="tx1"/>
          </a:fontRef>
        </p:style>
      </p:cxnSp>
      <p:cxnSp>
        <p:nvCxnSpPr>
          <p:cNvPr id="43" name="g2fig"/>
          <p:cNvCxnSpPr/>
          <p:nvPr/>
        </p:nvCxnSpPr>
        <p:spPr>
          <a:xfrm>
            <a:off x="10254996" y="4960620"/>
            <a:ext cx="776888" cy="0"/>
          </a:xfrm>
          <a:prstGeom prst="line">
            <a:avLst/>
          </a:prstGeom>
          <a:ln w="16795"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44" name="g2fig"/>
          <p:cNvCxnSpPr/>
          <p:nvPr/>
        </p:nvCxnSpPr>
        <p:spPr>
          <a:xfrm flipV="1">
            <a:off x="10254996" y="4183731"/>
            <a:ext cx="0" cy="776889"/>
          </a:xfrm>
          <a:prstGeom prst="line">
            <a:avLst/>
          </a:prstGeom>
          <a:ln w="16795"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45" name="g2fig"/>
          <p:cNvCxnSpPr/>
          <p:nvPr/>
        </p:nvCxnSpPr>
        <p:spPr>
          <a:xfrm flipV="1">
            <a:off x="11031884" y="4183731"/>
            <a:ext cx="0" cy="776889"/>
          </a:xfrm>
          <a:prstGeom prst="line">
            <a:avLst/>
          </a:prstGeom>
          <a:ln w="16795"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46" name="g2fig"/>
          <p:cNvCxnSpPr/>
          <p:nvPr/>
        </p:nvCxnSpPr>
        <p:spPr>
          <a:xfrm flipV="1">
            <a:off x="11031884" y="4685948"/>
            <a:ext cx="274672" cy="274672"/>
          </a:xfrm>
          <a:prstGeom prst="line">
            <a:avLst/>
          </a:prstGeom>
          <a:ln w="16795"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47" name="g2fig"/>
          <p:cNvCxnSpPr/>
          <p:nvPr/>
        </p:nvCxnSpPr>
        <p:spPr>
          <a:xfrm flipH="1">
            <a:off x="10254996" y="4183731"/>
            <a:ext cx="776888" cy="0"/>
          </a:xfrm>
          <a:prstGeom prst="line">
            <a:avLst/>
          </a:prstGeom>
          <a:ln w="16795"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48" name="g2fig"/>
          <p:cNvCxnSpPr/>
          <p:nvPr/>
        </p:nvCxnSpPr>
        <p:spPr>
          <a:xfrm flipV="1">
            <a:off x="11031884" y="3909060"/>
            <a:ext cx="274672" cy="274671"/>
          </a:xfrm>
          <a:prstGeom prst="line">
            <a:avLst/>
          </a:prstGeom>
          <a:ln w="16795"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49" name="g2fig"/>
          <p:cNvCxnSpPr/>
          <p:nvPr/>
        </p:nvCxnSpPr>
        <p:spPr>
          <a:xfrm flipV="1">
            <a:off x="10254996" y="3909060"/>
            <a:ext cx="274671" cy="274671"/>
          </a:xfrm>
          <a:prstGeom prst="line">
            <a:avLst/>
          </a:prstGeom>
          <a:ln w="16795"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50" name="g2fig"/>
          <p:cNvCxnSpPr/>
          <p:nvPr/>
        </p:nvCxnSpPr>
        <p:spPr>
          <a:xfrm flipV="1">
            <a:off x="11306556" y="3909060"/>
            <a:ext cx="0" cy="776888"/>
          </a:xfrm>
          <a:prstGeom prst="line">
            <a:avLst/>
          </a:prstGeom>
          <a:ln w="16795"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51" name="g2fig"/>
          <p:cNvCxnSpPr/>
          <p:nvPr/>
        </p:nvCxnSpPr>
        <p:spPr>
          <a:xfrm flipH="1">
            <a:off x="10529667" y="3909060"/>
            <a:ext cx="776889" cy="0"/>
          </a:xfrm>
          <a:prstGeom prst="line">
            <a:avLst/>
          </a:prstGeom>
          <a:ln w="16795" cap="rnd">
            <a:solidFill>
              <a:srgbClr val="1D3557"/>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К: буюм менен</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Тегиз жана көлөмдүү фигуралар</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11/26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Жупта: таякча жана пластилин менен куб каркасын кургула. Шарча – чоку, таякча – кыр.</a:t>
            </a:r>
          </a:p>
        </p:txBody>
      </p:sp>
      <p:sp>
        <p:nvSpPr>
          <p:cNvPr id="12" name="TextBox 11"/>
          <p:cNvSpPr txBox="1"/>
          <p:nvPr/>
        </p:nvSpPr>
        <p:spPr>
          <a:xfrm>
            <a:off x="274320" y="2042160"/>
            <a:ext cx="4206240" cy="304800"/>
          </a:xfrm>
          <a:prstGeom prst="rect">
            <a:avLst/>
          </a:prstGeom>
          <a:noFill/>
        </p:spPr>
        <p:txBody>
          <a:bodyPr wrap="none" lIns="0" rIns="0" tIns="0" bIns="0" anchor="ctr">
            <a:spAutoFit/>
          </a:bodyPr>
          <a:lstStyle/>
          <a:p>
            <a:pPr algn="ctr"/>
            <a:r>
              <a:rPr sz="1500" b="1" i="0">
                <a:solidFill>
                  <a:srgbClr val="1D3557"/>
                </a:solidFill>
                <a:latin typeface="PT Sans"/>
              </a:rPr>
              <a:t>Таякча + пластилин: куб каркасы</a:t>
            </a:r>
          </a:p>
        </p:txBody>
      </p:sp>
      <p:cxnSp>
        <p:nvCxnSpPr>
          <p:cNvPr id="13" name="Connector 12"/>
          <p:cNvCxnSpPr/>
          <p:nvPr/>
        </p:nvCxnSpPr>
        <p:spPr>
          <a:xfrm>
            <a:off x="1051560" y="5120640"/>
            <a:ext cx="1823998" cy="0"/>
          </a:xfrm>
          <a:prstGeom prst="line">
            <a:avLst/>
          </a:prstGeom>
          <a:ln w="109728" cap="rnd">
            <a:solidFill>
              <a:srgbClr val="B07A4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051560" y="3296641"/>
            <a:ext cx="0" cy="1823999"/>
          </a:xfrm>
          <a:prstGeom prst="line">
            <a:avLst/>
          </a:prstGeom>
          <a:ln w="109728" cap="rnd">
            <a:solidFill>
              <a:srgbClr val="B07A4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1051560" y="4475758"/>
            <a:ext cx="644881" cy="644882"/>
          </a:xfrm>
          <a:prstGeom prst="line">
            <a:avLst/>
          </a:prstGeom>
          <a:ln w="109728" cap="rnd">
            <a:solidFill>
              <a:srgbClr val="B07A4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2875558" y="3296641"/>
            <a:ext cx="0" cy="1823999"/>
          </a:xfrm>
          <a:prstGeom prst="line">
            <a:avLst/>
          </a:prstGeom>
          <a:ln w="109728" cap="rnd">
            <a:solidFill>
              <a:srgbClr val="B07A4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2875558" y="4475758"/>
            <a:ext cx="644882" cy="644882"/>
          </a:xfrm>
          <a:prstGeom prst="line">
            <a:avLst/>
          </a:prstGeom>
          <a:ln w="109728" cap="rnd">
            <a:solidFill>
              <a:srgbClr val="B07A4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051560" y="3296641"/>
            <a:ext cx="1823998" cy="0"/>
          </a:xfrm>
          <a:prstGeom prst="line">
            <a:avLst/>
          </a:prstGeom>
          <a:ln w="109728" cap="rnd">
            <a:solidFill>
              <a:srgbClr val="B07A4A"/>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2875558" y="2651759"/>
            <a:ext cx="644882" cy="644882"/>
          </a:xfrm>
          <a:prstGeom prst="line">
            <a:avLst/>
          </a:prstGeom>
          <a:ln w="109728" cap="rnd">
            <a:solidFill>
              <a:srgbClr val="B07A4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1051560" y="2651759"/>
            <a:ext cx="644881" cy="644882"/>
          </a:xfrm>
          <a:prstGeom prst="line">
            <a:avLst/>
          </a:prstGeom>
          <a:ln w="109728" cap="rnd">
            <a:solidFill>
              <a:srgbClr val="B07A4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696441" y="4475758"/>
            <a:ext cx="1823999" cy="0"/>
          </a:xfrm>
          <a:prstGeom prst="line">
            <a:avLst/>
          </a:prstGeom>
          <a:ln w="109728" cap="rnd">
            <a:solidFill>
              <a:srgbClr val="B07A4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1696441" y="2651759"/>
            <a:ext cx="0" cy="1823999"/>
          </a:xfrm>
          <a:prstGeom prst="line">
            <a:avLst/>
          </a:prstGeom>
          <a:ln w="109728" cap="rnd">
            <a:solidFill>
              <a:srgbClr val="B07A4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3520440" y="2651759"/>
            <a:ext cx="0" cy="1823999"/>
          </a:xfrm>
          <a:prstGeom prst="line">
            <a:avLst/>
          </a:prstGeom>
          <a:ln w="109728" cap="rnd">
            <a:solidFill>
              <a:srgbClr val="B07A4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1696441" y="2651759"/>
            <a:ext cx="1823999" cy="0"/>
          </a:xfrm>
          <a:prstGeom prst="line">
            <a:avLst/>
          </a:prstGeom>
          <a:ln w="109728" cap="rnd">
            <a:solidFill>
              <a:srgbClr val="B07A4A"/>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915771" y="4984851"/>
            <a:ext cx="271576" cy="271576"/>
          </a:xfrm>
          <a:prstGeom prst="ellipse">
            <a:avLst/>
          </a:prstGeom>
          <a:solidFill>
            <a:srgbClr val="F5E9E0"/>
          </a:solidFill>
          <a:ln w="158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2739770" y="4984851"/>
            <a:ext cx="271576" cy="271576"/>
          </a:xfrm>
          <a:prstGeom prst="ellipse">
            <a:avLst/>
          </a:prstGeom>
          <a:solidFill>
            <a:srgbClr val="F5E9E0"/>
          </a:solidFill>
          <a:ln w="158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2739770" y="3160852"/>
            <a:ext cx="271576" cy="271576"/>
          </a:xfrm>
          <a:prstGeom prst="ellipse">
            <a:avLst/>
          </a:prstGeom>
          <a:solidFill>
            <a:srgbClr val="F5E9E0"/>
          </a:solidFill>
          <a:ln w="158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15771" y="3160852"/>
            <a:ext cx="271576" cy="271576"/>
          </a:xfrm>
          <a:prstGeom prst="ellipse">
            <a:avLst/>
          </a:prstGeom>
          <a:solidFill>
            <a:srgbClr val="F5E9E0"/>
          </a:solidFill>
          <a:ln w="158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560652" y="4339970"/>
            <a:ext cx="271576" cy="271576"/>
          </a:xfrm>
          <a:prstGeom prst="ellipse">
            <a:avLst/>
          </a:prstGeom>
          <a:solidFill>
            <a:srgbClr val="F5E9E0"/>
          </a:solidFill>
          <a:ln w="158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384651" y="4339970"/>
            <a:ext cx="271576" cy="271576"/>
          </a:xfrm>
          <a:prstGeom prst="ellipse">
            <a:avLst/>
          </a:prstGeom>
          <a:solidFill>
            <a:srgbClr val="F5E9E0"/>
          </a:solidFill>
          <a:ln w="158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3384651" y="2515971"/>
            <a:ext cx="271576" cy="271576"/>
          </a:xfrm>
          <a:prstGeom prst="ellipse">
            <a:avLst/>
          </a:prstGeom>
          <a:solidFill>
            <a:srgbClr val="F5E9E0"/>
          </a:solidFill>
          <a:ln w="158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560652" y="2515971"/>
            <a:ext cx="271576" cy="271576"/>
          </a:xfrm>
          <a:prstGeom prst="ellipse">
            <a:avLst/>
          </a:prstGeom>
          <a:solidFill>
            <a:srgbClr val="F5E9E0"/>
          </a:solidFill>
          <a:ln w="158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82880" y="5298440"/>
            <a:ext cx="4389120" cy="284480"/>
          </a:xfrm>
          <a:prstGeom prst="rect">
            <a:avLst/>
          </a:prstGeom>
          <a:noFill/>
        </p:spPr>
        <p:txBody>
          <a:bodyPr wrap="none" lIns="0" rIns="0" tIns="0" bIns="0" anchor="ctr">
            <a:spAutoFit/>
          </a:bodyPr>
          <a:lstStyle/>
          <a:p>
            <a:pPr algn="ctr"/>
            <a:r>
              <a:rPr sz="1400" b="1" i="0">
                <a:solidFill>
                  <a:srgbClr val="A84400"/>
                </a:solidFill>
                <a:latin typeface="PT Sans"/>
              </a:rPr>
              <a:t>8 шарча = 8 чоку   ·   12 таякча = 12 кыр</a:t>
            </a:r>
          </a:p>
        </p:txBody>
      </p:sp>
      <p:sp>
        <p:nvSpPr>
          <p:cNvPr id="34" name="TextBox 33"/>
          <p:cNvSpPr txBox="1"/>
          <p:nvPr/>
        </p:nvSpPr>
        <p:spPr>
          <a:xfrm>
            <a:off x="4709160" y="2042160"/>
            <a:ext cx="3291840" cy="304800"/>
          </a:xfrm>
          <a:prstGeom prst="rect">
            <a:avLst/>
          </a:prstGeom>
          <a:noFill/>
        </p:spPr>
        <p:txBody>
          <a:bodyPr wrap="none" lIns="0" rIns="0" tIns="0" bIns="0" anchor="ctr">
            <a:spAutoFit/>
          </a:bodyPr>
          <a:lstStyle/>
          <a:p>
            <a:pPr algn="ctr"/>
            <a:r>
              <a:rPr sz="1500" b="1" i="0">
                <a:solidFill>
                  <a:srgbClr val="1D3557"/>
                </a:solidFill>
                <a:latin typeface="PT Sans"/>
              </a:rPr>
              <a:t>Тик бурч текшергич</a:t>
            </a:r>
          </a:p>
        </p:txBody>
      </p:sp>
      <p:sp>
        <p:nvSpPr>
          <p:cNvPr id="35" name="Freeform 34"/>
          <p:cNvSpPr/>
          <p:nvPr/>
        </p:nvSpPr>
        <p:spPr>
          <a:xfrm>
            <a:off x="4617720" y="2606040"/>
            <a:ext cx="1051560" cy="1051560"/>
          </a:xfrm>
          <a:custGeom>
            <a:avLst/>
            <a:gdLst/>
            <a:ahLst/>
            <a:cxnLst/>
            <a:rect l="l" t="t" r="r" b="b"/>
            <a:pathLst>
              <a:path w="1051560" h="1051560">
                <a:moveTo>
                  <a:pt x="0" y="91440"/>
                </a:moveTo>
                <a:lnTo>
                  <a:pt x="914400" y="0"/>
                </a:lnTo>
                <a:lnTo>
                  <a:pt x="1051560" y="960120"/>
                </a:lnTo>
                <a:lnTo>
                  <a:pt x="45720" y="1051560"/>
                </a:lnTo>
                <a:close/>
              </a:path>
            </a:pathLst>
          </a:custGeom>
          <a:solidFill>
            <a:srgbClr val="FFFFFF"/>
          </a:solidFill>
          <a:ln w="15875" cap="rnd">
            <a:solidFill>
              <a:srgbClr val="4A5A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26279" y="3809999"/>
            <a:ext cx="1188720" cy="243840"/>
          </a:xfrm>
          <a:prstGeom prst="rect">
            <a:avLst/>
          </a:prstGeom>
          <a:noFill/>
        </p:spPr>
        <p:txBody>
          <a:bodyPr wrap="none" lIns="0" rIns="0" tIns="0" bIns="0" anchor="ctr">
            <a:spAutoFit/>
          </a:bodyPr>
          <a:lstStyle/>
          <a:p>
            <a:pPr algn="ctr"/>
            <a:r>
              <a:rPr sz="1200" b="1" i="0">
                <a:solidFill>
                  <a:srgbClr val="4A5A70"/>
                </a:solidFill>
                <a:latin typeface="PT Sans"/>
              </a:rPr>
              <a:t>1. Кагаз</a:t>
            </a:r>
          </a:p>
        </p:txBody>
      </p:sp>
      <p:sp>
        <p:nvSpPr>
          <p:cNvPr id="37" name="Freeform 36"/>
          <p:cNvSpPr/>
          <p:nvPr/>
        </p:nvSpPr>
        <p:spPr>
          <a:xfrm>
            <a:off x="5852160" y="3108960"/>
            <a:ext cx="1051560" cy="548640"/>
          </a:xfrm>
          <a:custGeom>
            <a:avLst/>
            <a:gdLst/>
            <a:ahLst/>
            <a:cxnLst/>
            <a:rect l="l" t="t" r="r" b="b"/>
            <a:pathLst>
              <a:path w="1051560" h="548640">
                <a:moveTo>
                  <a:pt x="0" y="0"/>
                </a:moveTo>
                <a:lnTo>
                  <a:pt x="1051560" y="0"/>
                </a:lnTo>
                <a:lnTo>
                  <a:pt x="1051560" y="548640"/>
                </a:lnTo>
                <a:lnTo>
                  <a:pt x="45720" y="548640"/>
                </a:lnTo>
                <a:close/>
              </a:path>
            </a:pathLst>
          </a:custGeom>
          <a:solidFill>
            <a:srgbClr val="FFFFFF"/>
          </a:solidFill>
          <a:ln w="15875" cap="rnd">
            <a:solidFill>
              <a:srgbClr val="4A5A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 name="Connector 37"/>
          <p:cNvCxnSpPr/>
          <p:nvPr/>
        </p:nvCxnSpPr>
        <p:spPr>
          <a:xfrm>
            <a:off x="5852160" y="3108960"/>
            <a:ext cx="1051560" cy="0"/>
          </a:xfrm>
          <a:prstGeom prst="line">
            <a:avLst/>
          </a:prstGeom>
          <a:ln w="28575" cap="rnd">
            <a:solidFill>
              <a:srgbClr val="A84400"/>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5760720" y="3809999"/>
            <a:ext cx="1188720" cy="243840"/>
          </a:xfrm>
          <a:prstGeom prst="rect">
            <a:avLst/>
          </a:prstGeom>
          <a:noFill/>
        </p:spPr>
        <p:txBody>
          <a:bodyPr wrap="none" lIns="0" rIns="0" tIns="0" bIns="0" anchor="ctr">
            <a:spAutoFit/>
          </a:bodyPr>
          <a:lstStyle/>
          <a:p>
            <a:pPr algn="ctr"/>
            <a:r>
              <a:rPr sz="1200" b="1" i="0">
                <a:solidFill>
                  <a:srgbClr val="4A5A70"/>
                </a:solidFill>
                <a:latin typeface="PT Sans"/>
              </a:rPr>
              <a:t>2. Бүктө</a:t>
            </a:r>
          </a:p>
        </p:txBody>
      </p:sp>
      <p:sp>
        <p:nvSpPr>
          <p:cNvPr id="40" name="Freeform 39"/>
          <p:cNvSpPr/>
          <p:nvPr/>
        </p:nvSpPr>
        <p:spPr>
          <a:xfrm>
            <a:off x="7315200" y="3108960"/>
            <a:ext cx="594360" cy="548640"/>
          </a:xfrm>
          <a:custGeom>
            <a:avLst/>
            <a:gdLst/>
            <a:ahLst/>
            <a:cxnLst/>
            <a:rect l="l" t="t" r="r" b="b"/>
            <a:pathLst>
              <a:path w="594360" h="548640">
                <a:moveTo>
                  <a:pt x="0" y="0"/>
                </a:moveTo>
                <a:lnTo>
                  <a:pt x="594360" y="0"/>
                </a:lnTo>
                <a:lnTo>
                  <a:pt x="548640" y="502920"/>
                </a:lnTo>
                <a:lnTo>
                  <a:pt x="0" y="548640"/>
                </a:lnTo>
                <a:close/>
              </a:path>
            </a:pathLst>
          </a:custGeom>
          <a:solidFill>
            <a:srgbClr val="FFFFFF"/>
          </a:solidFill>
          <a:ln w="15875" cap="rnd">
            <a:solidFill>
              <a:srgbClr val="4A5A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 name="Connector 40"/>
          <p:cNvCxnSpPr/>
          <p:nvPr/>
        </p:nvCxnSpPr>
        <p:spPr>
          <a:xfrm>
            <a:off x="7315200" y="3108960"/>
            <a:ext cx="594360" cy="0"/>
          </a:xfrm>
          <a:prstGeom prst="line">
            <a:avLst/>
          </a:prstGeom>
          <a:ln w="28575" cap="rnd">
            <a:solidFill>
              <a:srgbClr val="A84400"/>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7315200" y="3108960"/>
            <a:ext cx="0" cy="548640"/>
          </a:xfrm>
          <a:prstGeom prst="line">
            <a:avLst/>
          </a:prstGeom>
          <a:ln w="28575" cap="rnd">
            <a:solidFill>
              <a:srgbClr val="A84400"/>
            </a:solidFill>
          </a:ln>
        </p:spPr>
        <p:style>
          <a:lnRef idx="2">
            <a:schemeClr val="accent1"/>
          </a:lnRef>
          <a:fillRef idx="0">
            <a:schemeClr val="accent1"/>
          </a:fillRef>
          <a:effectRef idx="1">
            <a:schemeClr val="accent1"/>
          </a:effectRef>
          <a:fontRef idx="minor">
            <a:schemeClr val="tx1"/>
          </a:fontRef>
        </p:style>
      </p:cxnSp>
      <p:sp>
        <p:nvSpPr>
          <p:cNvPr id="43" name="Freeform 42"/>
          <p:cNvSpPr/>
          <p:nvPr/>
        </p:nvSpPr>
        <p:spPr>
          <a:xfrm>
            <a:off x="7315200" y="3108960"/>
            <a:ext cx="128016" cy="128016"/>
          </a:xfrm>
          <a:custGeom>
            <a:avLst/>
            <a:gdLst/>
            <a:ahLst/>
            <a:cxnLst/>
            <a:rect l="l" t="t" r="r" b="b"/>
            <a:pathLst>
              <a:path w="128016" h="128016">
                <a:moveTo>
                  <a:pt x="128016" y="0"/>
                </a:moveTo>
                <a:lnTo>
                  <a:pt x="128016" y="128016"/>
                </a:lnTo>
                <a:lnTo>
                  <a:pt x="0" y="128016"/>
                </a:lnTo>
              </a:path>
            </a:pathLst>
          </a:custGeom>
          <a:noFill/>
          <a:ln w="19050" cap="rnd">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995160" y="3809999"/>
            <a:ext cx="1188720" cy="243840"/>
          </a:xfrm>
          <a:prstGeom prst="rect">
            <a:avLst/>
          </a:prstGeom>
          <a:noFill/>
        </p:spPr>
        <p:txBody>
          <a:bodyPr wrap="none" lIns="0" rIns="0" tIns="0" bIns="0" anchor="ctr">
            <a:spAutoFit/>
          </a:bodyPr>
          <a:lstStyle/>
          <a:p>
            <a:pPr algn="ctr"/>
            <a:r>
              <a:rPr sz="1200" b="1" i="0">
                <a:solidFill>
                  <a:srgbClr val="4A5A70"/>
                </a:solidFill>
                <a:latin typeface="PT Sans"/>
              </a:rPr>
              <a:t>3. Дагы бүктө</a:t>
            </a:r>
          </a:p>
        </p:txBody>
      </p:sp>
      <p:sp>
        <p:nvSpPr>
          <p:cNvPr id="45" name="Freeform 44"/>
          <p:cNvSpPr/>
          <p:nvPr/>
        </p:nvSpPr>
        <p:spPr>
          <a:xfrm>
            <a:off x="4937760" y="4343400"/>
            <a:ext cx="2926080" cy="1097280"/>
          </a:xfrm>
          <a:custGeom>
            <a:avLst/>
            <a:gdLst/>
            <a:ahLst/>
            <a:cxnLst/>
            <a:rect l="l" t="t" r="r" b="b"/>
            <a:pathLst>
              <a:path w="2926080" h="1097280">
                <a:moveTo>
                  <a:pt x="0" y="0"/>
                </a:moveTo>
                <a:lnTo>
                  <a:pt x="2926080" y="0"/>
                </a:lnTo>
                <a:lnTo>
                  <a:pt x="2926080" y="1097280"/>
                </a:lnTo>
                <a:lnTo>
                  <a:pt x="0" y="1097280"/>
                </a:lnTo>
                <a:close/>
              </a:path>
            </a:pathLst>
          </a:custGeom>
          <a:solidFill>
            <a:srgbClr val="F5E9E0"/>
          </a:solidFill>
          <a:ln w="19050" cap="rnd">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394960" y="4770119"/>
            <a:ext cx="2011680" cy="243840"/>
          </a:xfrm>
          <a:prstGeom prst="rect">
            <a:avLst/>
          </a:prstGeom>
          <a:noFill/>
        </p:spPr>
        <p:txBody>
          <a:bodyPr wrap="none" lIns="0" rIns="0" tIns="0" bIns="0" anchor="ctr">
            <a:spAutoFit/>
          </a:bodyPr>
          <a:lstStyle/>
          <a:p>
            <a:pPr algn="ctr"/>
            <a:r>
              <a:rPr sz="1200" b="0" i="1">
                <a:solidFill>
                  <a:srgbClr val="4A5A70"/>
                </a:solidFill>
                <a:latin typeface="PT Sans"/>
              </a:rPr>
              <a:t>Китептин бурчу</a:t>
            </a:r>
          </a:p>
        </p:txBody>
      </p:sp>
      <p:sp>
        <p:nvSpPr>
          <p:cNvPr id="47" name="Freeform 46"/>
          <p:cNvSpPr/>
          <p:nvPr/>
        </p:nvSpPr>
        <p:spPr>
          <a:xfrm>
            <a:off x="4937760" y="4343400"/>
            <a:ext cx="685800" cy="685800"/>
          </a:xfrm>
          <a:custGeom>
            <a:avLst/>
            <a:gdLst/>
            <a:ahLst/>
            <a:cxnLst/>
            <a:rect l="l" t="t" r="r" b="b"/>
            <a:pathLst>
              <a:path w="685800" h="685800">
                <a:moveTo>
                  <a:pt x="0" y="0"/>
                </a:moveTo>
                <a:lnTo>
                  <a:pt x="685800" y="0"/>
                </a:lnTo>
                <a:lnTo>
                  <a:pt x="685800" y="685800"/>
                </a:lnTo>
                <a:lnTo>
                  <a:pt x="0" y="685800"/>
                </a:lnTo>
                <a:close/>
              </a:path>
            </a:pathLst>
          </a:custGeom>
          <a:solidFill>
            <a:srgbClr val="FFFFFF"/>
          </a:solidFill>
          <a:ln w="22225" cap="rnd">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102352" y="4498848"/>
            <a:ext cx="365760" cy="365760"/>
          </a:xfrm>
          <a:prstGeom prst="rect">
            <a:avLst/>
          </a:prstGeom>
          <a:noFill/>
        </p:spPr>
        <p:txBody>
          <a:bodyPr wrap="none" lIns="0" rIns="0" tIns="0" bIns="0" anchor="ctr">
            <a:spAutoFit/>
          </a:bodyPr>
          <a:lstStyle/>
          <a:p>
            <a:pPr algn="ctr"/>
            <a:r>
              <a:rPr sz="1800" b="1" i="0">
                <a:solidFill>
                  <a:srgbClr val="007A5A"/>
                </a:solidFill>
                <a:latin typeface="PT Sans"/>
              </a:rPr>
              <a:t>✓</a:t>
            </a:r>
          </a:p>
        </p:txBody>
      </p:sp>
      <p:sp>
        <p:nvSpPr>
          <p:cNvPr id="49" name="Rounded Rectangle 48"/>
          <p:cNvSpPr/>
          <p:nvPr/>
        </p:nvSpPr>
        <p:spPr>
          <a:xfrm>
            <a:off x="9006840" y="2057400"/>
            <a:ext cx="2743200" cy="37033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144000" y="2121408"/>
            <a:ext cx="2514600" cy="3566160"/>
          </a:xfrm>
          <a:prstGeom prst="rect">
            <a:avLst/>
          </a:prstGeom>
          <a:noFill/>
        </p:spPr>
        <p:txBody>
          <a:bodyPr wrap="square" anchor="t" lIns="45720" rIns="45720" tIns="27432" bIns="27432">
            <a:spAutoFit/>
          </a:bodyPr>
          <a:lstStyle/>
          <a:p>
            <a:pPr algn="l">
              <a:lnSpc>
                <a:spcPct val="110000"/>
              </a:lnSpc>
            </a:pPr>
            <a:r>
              <a:rPr sz="1800" b="1" i="0">
                <a:solidFill>
                  <a:srgbClr val="1F2430"/>
                </a:solidFill>
                <a:latin typeface="PT Sans"/>
              </a:rPr>
              <a:t>Ар бир жупта:</a:t>
            </a:r>
          </a:p>
          <a:p>
            <a:pPr algn="l">
              <a:lnSpc>
                <a:spcPct val="110000"/>
              </a:lnSpc>
            </a:pPr>
            <a:r>
              <a:rPr sz="1500" b="0" i="0">
                <a:solidFill>
                  <a:srgbClr val="1F2430"/>
                </a:solidFill>
                <a:latin typeface="PT Sans"/>
              </a:rPr>
              <a:t>• 12 таякча</a:t>
            </a:r>
          </a:p>
          <a:p>
            <a:pPr algn="l">
              <a:lnSpc>
                <a:spcPct val="110000"/>
              </a:lnSpc>
            </a:pPr>
            <a:r>
              <a:rPr sz="1500" b="0" i="0">
                <a:solidFill>
                  <a:srgbClr val="1F2430"/>
                </a:solidFill>
                <a:latin typeface="PT Sans"/>
              </a:rPr>
              <a:t>• 8 пластилин шарча</a:t>
            </a:r>
          </a:p>
          <a:p>
            <a:pPr algn="l">
              <a:lnSpc>
                <a:spcPct val="110000"/>
              </a:lnSpc>
            </a:pPr>
            <a:r>
              <a:rPr sz="1500" b="0" i="0">
                <a:solidFill>
                  <a:srgbClr val="1F2430"/>
                </a:solidFill>
                <a:latin typeface="PT Sans"/>
              </a:rPr>
              <a:t>• 1 барак кагаз</a:t>
            </a:r>
          </a:p>
          <a:p>
            <a:pPr algn="l">
              <a:lnSpc>
                <a:spcPct val="110000"/>
              </a:lnSpc>
            </a:pPr>
            <a:r>
              <a:rPr sz="1500" b="0" i="0">
                <a:solidFill>
                  <a:srgbClr val="1F2430"/>
                </a:solidFill>
                <a:latin typeface="PT Sans"/>
              </a:rPr>
              <a:t>Топко: кутуча, банка, топ, кагаз мүйүз</a:t>
            </a:r>
          </a:p>
          <a:p>
            <a:pPr algn="l">
              <a:lnSpc>
                <a:spcPct val="110000"/>
              </a:lnSpc>
            </a:pPr>
            <a:r>
              <a:rPr sz="1700" b="1" i="0">
                <a:solidFill>
                  <a:srgbClr val="24418C"/>
                </a:solidFill>
                <a:latin typeface="PT Sans"/>
              </a:rPr>
              <a:t>Кармай алсак – көлөмдүү</a:t>
            </a:r>
          </a:p>
        </p:txBody>
      </p:sp>
      <p:sp>
        <p:nvSpPr>
          <p:cNvPr id="51" name="Rounded Rectangle 50"/>
          <p:cNvSpPr/>
          <p:nvPr/>
        </p:nvSpPr>
        <p:spPr>
          <a:xfrm>
            <a:off x="8412480"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К</a:t>
            </a:r>
          </a:p>
        </p:txBody>
      </p:sp>
      <p:sp>
        <p:nvSpPr>
          <p:cNvPr id="52" name="Rounded Rectangle 51"/>
          <p:cNvSpPr/>
          <p:nvPr/>
        </p:nvSpPr>
        <p:spPr>
          <a:xfrm>
            <a:off x="896111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С</a:t>
            </a:r>
          </a:p>
        </p:txBody>
      </p:sp>
      <p:sp>
        <p:nvSpPr>
          <p:cNvPr id="53" name="Rounded Rectangle 52"/>
          <p:cNvSpPr/>
          <p:nvPr/>
        </p:nvSpPr>
        <p:spPr>
          <a:xfrm>
            <a:off x="950975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А</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С: сүрөт менен: бет, кыр, чоку</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Тегиз жана көлөмдүү фигуралар</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12/26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Кубдун сүрөтүндө 3 гана бет көрүнөт. Калган беттер кайда?</a:t>
            </a:r>
          </a:p>
        </p:txBody>
      </p:sp>
      <p:sp>
        <p:nvSpPr>
          <p:cNvPr id="12" name="Freeform 11"/>
          <p:cNvSpPr/>
          <p:nvPr/>
        </p:nvSpPr>
        <p:spPr>
          <a:xfrm>
            <a:off x="982980" y="3237954"/>
            <a:ext cx="1722666" cy="1722666"/>
          </a:xfrm>
          <a:custGeom>
            <a:avLst/>
            <a:gdLst/>
            <a:ahLst/>
            <a:cxnLst/>
            <a:rect l="l" t="t" r="r" b="b"/>
            <a:pathLst>
              <a:path w="1722666" h="1722666">
                <a:moveTo>
                  <a:pt x="0" y="1722666"/>
                </a:moveTo>
                <a:lnTo>
                  <a:pt x="1722666" y="1722666"/>
                </a:lnTo>
                <a:lnTo>
                  <a:pt x="1722666" y="0"/>
                </a:lnTo>
                <a:lnTo>
                  <a:pt x="0" y="0"/>
                </a:lnTo>
                <a:close/>
              </a:path>
            </a:pathLst>
          </a:custGeom>
          <a:solidFill>
            <a:srgbClr val="C9D4EE"/>
          </a:solidFill>
          <a:ln w="13970" cap="rnd">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982980" y="2628900"/>
            <a:ext cx="2331720" cy="609054"/>
          </a:xfrm>
          <a:custGeom>
            <a:avLst/>
            <a:gdLst/>
            <a:ahLst/>
            <a:cxnLst/>
            <a:rect l="l" t="t" r="r" b="b"/>
            <a:pathLst>
              <a:path w="2331720" h="609054">
                <a:moveTo>
                  <a:pt x="0" y="609054"/>
                </a:moveTo>
                <a:lnTo>
                  <a:pt x="1722666" y="609054"/>
                </a:lnTo>
                <a:lnTo>
                  <a:pt x="2331720" y="0"/>
                </a:lnTo>
                <a:lnTo>
                  <a:pt x="609054" y="0"/>
                </a:lnTo>
                <a:close/>
              </a:path>
            </a:pathLst>
          </a:custGeom>
          <a:solidFill>
            <a:srgbClr val="E6EBF7"/>
          </a:solidFill>
          <a:ln w="13970" cap="rnd">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2705646" y="2628900"/>
            <a:ext cx="609054" cy="2331720"/>
          </a:xfrm>
          <a:custGeom>
            <a:avLst/>
            <a:gdLst/>
            <a:ahLst/>
            <a:cxnLst/>
            <a:rect l="l" t="t" r="r" b="b"/>
            <a:pathLst>
              <a:path w="609054" h="2331720">
                <a:moveTo>
                  <a:pt x="0" y="2331720"/>
                </a:moveTo>
                <a:lnTo>
                  <a:pt x="0" y="609054"/>
                </a:lnTo>
                <a:lnTo>
                  <a:pt x="609054" y="0"/>
                </a:lnTo>
                <a:lnTo>
                  <a:pt x="609054" y="1722666"/>
                </a:lnTo>
                <a:close/>
              </a:path>
            </a:pathLst>
          </a:custGeom>
          <a:solidFill>
            <a:srgbClr val="C9D4EE"/>
          </a:solidFill>
          <a:ln w="13970" cap="rnd">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flipV="1">
            <a:off x="982980" y="4351565"/>
            <a:ext cx="609054" cy="609055"/>
          </a:xfrm>
          <a:prstGeom prst="line">
            <a:avLst/>
          </a:prstGeom>
          <a:ln w="20955" cap="rnd">
            <a:solidFill>
              <a:srgbClr val="4A5A70"/>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592034" y="4351565"/>
            <a:ext cx="1722666" cy="0"/>
          </a:xfrm>
          <a:prstGeom prst="line">
            <a:avLst/>
          </a:prstGeom>
          <a:ln w="20955" cap="rnd">
            <a:solidFill>
              <a:srgbClr val="4A5A70"/>
            </a:solidFill>
            <a:prstDash val="dash"/>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592034" y="2628900"/>
            <a:ext cx="0" cy="1722665"/>
          </a:xfrm>
          <a:prstGeom prst="line">
            <a:avLst/>
          </a:prstGeom>
          <a:ln w="20955" cap="rnd">
            <a:solidFill>
              <a:srgbClr val="4A5A70"/>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82980" y="4960620"/>
            <a:ext cx="1722665" cy="0"/>
          </a:xfrm>
          <a:prstGeom prst="line">
            <a:avLst/>
          </a:prstGeom>
          <a:ln w="34925"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982980" y="3237954"/>
            <a:ext cx="0" cy="1722666"/>
          </a:xfrm>
          <a:prstGeom prst="line">
            <a:avLst/>
          </a:prstGeom>
          <a:ln w="34925"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2705645" y="3237954"/>
            <a:ext cx="0" cy="1722666"/>
          </a:xfrm>
          <a:prstGeom prst="line">
            <a:avLst/>
          </a:prstGeom>
          <a:ln w="34925"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2705645" y="4351565"/>
            <a:ext cx="609055" cy="609055"/>
          </a:xfrm>
          <a:prstGeom prst="line">
            <a:avLst/>
          </a:prstGeom>
          <a:ln w="34925"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982980" y="3237954"/>
            <a:ext cx="1722665" cy="0"/>
          </a:xfrm>
          <a:prstGeom prst="line">
            <a:avLst/>
          </a:prstGeom>
          <a:ln w="34925"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2705645" y="2628900"/>
            <a:ext cx="609055" cy="609054"/>
          </a:xfrm>
          <a:prstGeom prst="line">
            <a:avLst/>
          </a:prstGeom>
          <a:ln w="34925"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982980" y="2628900"/>
            <a:ext cx="609054" cy="609054"/>
          </a:xfrm>
          <a:prstGeom prst="line">
            <a:avLst/>
          </a:prstGeom>
          <a:ln w="34925"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3314700" y="2628900"/>
            <a:ext cx="0" cy="1722665"/>
          </a:xfrm>
          <a:prstGeom prst="line">
            <a:avLst/>
          </a:prstGeom>
          <a:ln w="34925"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1592034" y="2628900"/>
            <a:ext cx="1722666" cy="0"/>
          </a:xfrm>
          <a:prstGeom prst="line">
            <a:avLst/>
          </a:prstGeom>
          <a:ln w="34925"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85800" y="2331720"/>
            <a:ext cx="1067072" cy="1676127"/>
          </a:xfrm>
          <a:prstGeom prst="line">
            <a:avLst/>
          </a:prstGeom>
          <a:ln w="22225" cap="rnd">
            <a:solidFill>
              <a:srgbClr val="A844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60247" y="2032000"/>
            <a:ext cx="451104" cy="325120"/>
          </a:xfrm>
          <a:prstGeom prst="rect">
            <a:avLst/>
          </a:prstGeom>
          <a:noFill/>
        </p:spPr>
        <p:txBody>
          <a:bodyPr wrap="none" lIns="0" rIns="0" tIns="0" bIns="0" anchor="ctr">
            <a:spAutoFit/>
          </a:bodyPr>
          <a:lstStyle/>
          <a:p>
            <a:pPr algn="ctr"/>
            <a:r>
              <a:rPr sz="1600" b="1" i="0">
                <a:solidFill>
                  <a:srgbClr val="A84400"/>
                </a:solidFill>
                <a:latin typeface="PT Sans"/>
              </a:rPr>
              <a:t>бет</a:t>
            </a:r>
          </a:p>
        </p:txBody>
      </p:sp>
      <p:cxnSp>
        <p:nvCxnSpPr>
          <p:cNvPr id="29" name="Connector 28"/>
          <p:cNvCxnSpPr/>
          <p:nvPr/>
        </p:nvCxnSpPr>
        <p:spPr>
          <a:xfrm flipH="1">
            <a:off x="3055892" y="2240280"/>
            <a:ext cx="876028" cy="665715"/>
          </a:xfrm>
          <a:prstGeom prst="line">
            <a:avLst/>
          </a:prstGeom>
          <a:ln w="22225" cap="rnd">
            <a:solidFill>
              <a:srgbClr val="A844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3843528" y="1986280"/>
            <a:ext cx="451104" cy="325120"/>
          </a:xfrm>
          <a:prstGeom prst="rect">
            <a:avLst/>
          </a:prstGeom>
          <a:noFill/>
        </p:spPr>
        <p:txBody>
          <a:bodyPr wrap="none" lIns="0" rIns="0" tIns="0" bIns="0" anchor="ctr">
            <a:spAutoFit/>
          </a:bodyPr>
          <a:lstStyle/>
          <a:p>
            <a:pPr algn="ctr"/>
            <a:r>
              <a:rPr sz="1600" b="1" i="0">
                <a:solidFill>
                  <a:srgbClr val="A84400"/>
                </a:solidFill>
                <a:latin typeface="PT Sans"/>
              </a:rPr>
              <a:t>кыр</a:t>
            </a:r>
          </a:p>
        </p:txBody>
      </p:sp>
      <p:cxnSp>
        <p:nvCxnSpPr>
          <p:cNvPr id="31" name="Connector 30"/>
          <p:cNvCxnSpPr/>
          <p:nvPr/>
        </p:nvCxnSpPr>
        <p:spPr>
          <a:xfrm flipH="1" flipV="1">
            <a:off x="2769653" y="5006340"/>
            <a:ext cx="1207986" cy="251460"/>
          </a:xfrm>
          <a:prstGeom prst="line">
            <a:avLst/>
          </a:prstGeom>
          <a:ln w="22225" cap="rnd">
            <a:solidFill>
              <a:srgbClr val="A844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3832351" y="5186679"/>
            <a:ext cx="564896" cy="325120"/>
          </a:xfrm>
          <a:prstGeom prst="rect">
            <a:avLst/>
          </a:prstGeom>
          <a:noFill/>
        </p:spPr>
        <p:txBody>
          <a:bodyPr wrap="none" lIns="0" rIns="0" tIns="0" bIns="0" anchor="ctr">
            <a:spAutoFit/>
          </a:bodyPr>
          <a:lstStyle/>
          <a:p>
            <a:pPr algn="ctr"/>
            <a:r>
              <a:rPr sz="1600" b="1" i="0">
                <a:solidFill>
                  <a:srgbClr val="A84400"/>
                </a:solidFill>
                <a:latin typeface="PT Sans"/>
              </a:rPr>
              <a:t>чоку</a:t>
            </a:r>
          </a:p>
        </p:txBody>
      </p:sp>
      <p:sp>
        <p:nvSpPr>
          <p:cNvPr id="33" name="TextBox 32"/>
          <p:cNvSpPr txBox="1"/>
          <p:nvPr/>
        </p:nvSpPr>
        <p:spPr>
          <a:xfrm>
            <a:off x="640080" y="5227319"/>
            <a:ext cx="2743200" cy="243840"/>
          </a:xfrm>
          <a:prstGeom prst="rect">
            <a:avLst/>
          </a:prstGeom>
          <a:noFill/>
        </p:spPr>
        <p:txBody>
          <a:bodyPr wrap="none" lIns="0" rIns="0" tIns="0" bIns="0" anchor="ctr">
            <a:spAutoFit/>
          </a:bodyPr>
          <a:lstStyle/>
          <a:p>
            <a:pPr algn="ctr"/>
            <a:r>
              <a:rPr sz="1200" b="0" i="1">
                <a:solidFill>
                  <a:srgbClr val="4A5A70"/>
                </a:solidFill>
                <a:latin typeface="PT Sans"/>
              </a:rPr>
              <a:t>Үзүк сызык – көрүнбөгөн кыр</a:t>
            </a:r>
          </a:p>
        </p:txBody>
      </p:sp>
      <p:sp>
        <p:nvSpPr>
          <p:cNvPr id="34" name="Rectangle 33"/>
          <p:cNvSpPr/>
          <p:nvPr/>
        </p:nvSpPr>
        <p:spPr>
          <a:xfrm>
            <a:off x="6126480" y="2240280"/>
            <a:ext cx="502920" cy="502920"/>
          </a:xfrm>
          <a:prstGeom prst="rect">
            <a:avLst/>
          </a:prstGeom>
          <a:solidFill>
            <a:srgbClr val="C9D4EE"/>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40780" y="2339340"/>
            <a:ext cx="274320" cy="304800"/>
          </a:xfrm>
          <a:prstGeom prst="rect">
            <a:avLst/>
          </a:prstGeom>
          <a:noFill/>
        </p:spPr>
        <p:txBody>
          <a:bodyPr wrap="none" lIns="0" rIns="0" tIns="0" bIns="0" anchor="ctr">
            <a:spAutoFit/>
          </a:bodyPr>
          <a:lstStyle/>
          <a:p>
            <a:pPr algn="ctr"/>
            <a:r>
              <a:rPr sz="1500" b="1" i="0">
                <a:solidFill>
                  <a:srgbClr val="1D3557"/>
                </a:solidFill>
                <a:latin typeface="PT Sans"/>
              </a:rPr>
              <a:t>1</a:t>
            </a:r>
          </a:p>
        </p:txBody>
      </p:sp>
      <p:sp>
        <p:nvSpPr>
          <p:cNvPr id="36" name="Rectangle 35"/>
          <p:cNvSpPr/>
          <p:nvPr/>
        </p:nvSpPr>
        <p:spPr>
          <a:xfrm>
            <a:off x="5623560" y="2743200"/>
            <a:ext cx="502920" cy="502920"/>
          </a:xfrm>
          <a:prstGeom prst="rect">
            <a:avLst/>
          </a:prstGeom>
          <a:solidFill>
            <a:srgbClr val="E6EBF7"/>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737860" y="2842260"/>
            <a:ext cx="274320" cy="304800"/>
          </a:xfrm>
          <a:prstGeom prst="rect">
            <a:avLst/>
          </a:prstGeom>
          <a:noFill/>
        </p:spPr>
        <p:txBody>
          <a:bodyPr wrap="none" lIns="0" rIns="0" tIns="0" bIns="0" anchor="ctr">
            <a:spAutoFit/>
          </a:bodyPr>
          <a:lstStyle/>
          <a:p>
            <a:pPr algn="ctr"/>
            <a:r>
              <a:rPr sz="1500" b="1" i="0">
                <a:solidFill>
                  <a:srgbClr val="1D3557"/>
                </a:solidFill>
                <a:latin typeface="PT Sans"/>
              </a:rPr>
              <a:t>2</a:t>
            </a:r>
          </a:p>
        </p:txBody>
      </p:sp>
      <p:sp>
        <p:nvSpPr>
          <p:cNvPr id="38" name="Rectangle 37"/>
          <p:cNvSpPr/>
          <p:nvPr/>
        </p:nvSpPr>
        <p:spPr>
          <a:xfrm>
            <a:off x="6126480" y="2743200"/>
            <a:ext cx="502920" cy="502920"/>
          </a:xfrm>
          <a:prstGeom prst="rect">
            <a:avLst/>
          </a:prstGeom>
          <a:solidFill>
            <a:srgbClr val="C9D4EE"/>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40780" y="2842260"/>
            <a:ext cx="274320" cy="304800"/>
          </a:xfrm>
          <a:prstGeom prst="rect">
            <a:avLst/>
          </a:prstGeom>
          <a:noFill/>
        </p:spPr>
        <p:txBody>
          <a:bodyPr wrap="none" lIns="0" rIns="0" tIns="0" bIns="0" anchor="ctr">
            <a:spAutoFit/>
          </a:bodyPr>
          <a:lstStyle/>
          <a:p>
            <a:pPr algn="ctr"/>
            <a:r>
              <a:rPr sz="1500" b="1" i="0">
                <a:solidFill>
                  <a:srgbClr val="1D3557"/>
                </a:solidFill>
                <a:latin typeface="PT Sans"/>
              </a:rPr>
              <a:t>3</a:t>
            </a:r>
          </a:p>
        </p:txBody>
      </p:sp>
      <p:sp>
        <p:nvSpPr>
          <p:cNvPr id="40" name="Rectangle 39"/>
          <p:cNvSpPr/>
          <p:nvPr/>
        </p:nvSpPr>
        <p:spPr>
          <a:xfrm>
            <a:off x="6629400" y="2743200"/>
            <a:ext cx="502920" cy="502920"/>
          </a:xfrm>
          <a:prstGeom prst="rect">
            <a:avLst/>
          </a:prstGeom>
          <a:solidFill>
            <a:srgbClr val="E6EBF7"/>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743700" y="2842260"/>
            <a:ext cx="274320" cy="304800"/>
          </a:xfrm>
          <a:prstGeom prst="rect">
            <a:avLst/>
          </a:prstGeom>
          <a:noFill/>
        </p:spPr>
        <p:txBody>
          <a:bodyPr wrap="none" lIns="0" rIns="0" tIns="0" bIns="0" anchor="ctr">
            <a:spAutoFit/>
          </a:bodyPr>
          <a:lstStyle/>
          <a:p>
            <a:pPr algn="ctr"/>
            <a:r>
              <a:rPr sz="1500" b="1" i="0">
                <a:solidFill>
                  <a:srgbClr val="1D3557"/>
                </a:solidFill>
                <a:latin typeface="PT Sans"/>
              </a:rPr>
              <a:t>4</a:t>
            </a:r>
          </a:p>
        </p:txBody>
      </p:sp>
      <p:sp>
        <p:nvSpPr>
          <p:cNvPr id="42" name="Rectangle 41"/>
          <p:cNvSpPr/>
          <p:nvPr/>
        </p:nvSpPr>
        <p:spPr>
          <a:xfrm>
            <a:off x="6126480" y="3246120"/>
            <a:ext cx="502920" cy="502920"/>
          </a:xfrm>
          <a:prstGeom prst="rect">
            <a:avLst/>
          </a:prstGeom>
          <a:solidFill>
            <a:srgbClr val="C9D4EE"/>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240780" y="3345180"/>
            <a:ext cx="274320" cy="304800"/>
          </a:xfrm>
          <a:prstGeom prst="rect">
            <a:avLst/>
          </a:prstGeom>
          <a:noFill/>
        </p:spPr>
        <p:txBody>
          <a:bodyPr wrap="none" lIns="0" rIns="0" tIns="0" bIns="0" anchor="ctr">
            <a:spAutoFit/>
          </a:bodyPr>
          <a:lstStyle/>
          <a:p>
            <a:pPr algn="ctr"/>
            <a:r>
              <a:rPr sz="1500" b="1" i="0">
                <a:solidFill>
                  <a:srgbClr val="1D3557"/>
                </a:solidFill>
                <a:latin typeface="PT Sans"/>
              </a:rPr>
              <a:t>5</a:t>
            </a:r>
          </a:p>
        </p:txBody>
      </p:sp>
      <p:sp>
        <p:nvSpPr>
          <p:cNvPr id="44" name="Rectangle 43"/>
          <p:cNvSpPr/>
          <p:nvPr/>
        </p:nvSpPr>
        <p:spPr>
          <a:xfrm>
            <a:off x="6126480" y="3749040"/>
            <a:ext cx="502920" cy="502920"/>
          </a:xfrm>
          <a:prstGeom prst="rect">
            <a:avLst/>
          </a:prstGeom>
          <a:solidFill>
            <a:srgbClr val="E6EBF7"/>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40780" y="3848099"/>
            <a:ext cx="274320" cy="304800"/>
          </a:xfrm>
          <a:prstGeom prst="rect">
            <a:avLst/>
          </a:prstGeom>
          <a:noFill/>
        </p:spPr>
        <p:txBody>
          <a:bodyPr wrap="none" lIns="0" rIns="0" tIns="0" bIns="0" anchor="ctr">
            <a:spAutoFit/>
          </a:bodyPr>
          <a:lstStyle/>
          <a:p>
            <a:pPr algn="ctr"/>
            <a:r>
              <a:rPr sz="1500" b="1" i="0">
                <a:solidFill>
                  <a:srgbClr val="1D3557"/>
                </a:solidFill>
                <a:latin typeface="PT Sans"/>
              </a:rPr>
              <a:t>6</a:t>
            </a:r>
          </a:p>
        </p:txBody>
      </p:sp>
      <p:sp>
        <p:nvSpPr>
          <p:cNvPr id="46" name="TextBox 45"/>
          <p:cNvSpPr txBox="1"/>
          <p:nvPr/>
        </p:nvSpPr>
        <p:spPr>
          <a:xfrm>
            <a:off x="5006340" y="4384040"/>
            <a:ext cx="2743200" cy="284480"/>
          </a:xfrm>
          <a:prstGeom prst="rect">
            <a:avLst/>
          </a:prstGeom>
          <a:noFill/>
        </p:spPr>
        <p:txBody>
          <a:bodyPr wrap="none" lIns="0" rIns="0" tIns="0" bIns="0" anchor="ctr">
            <a:spAutoFit/>
          </a:bodyPr>
          <a:lstStyle/>
          <a:p>
            <a:pPr algn="ctr"/>
            <a:r>
              <a:rPr sz="1400" b="1" i="0">
                <a:solidFill>
                  <a:srgbClr val="1D3557"/>
                </a:solidFill>
                <a:latin typeface="PT Sans"/>
              </a:rPr>
              <a:t>Кутуну жазсак: 6 бет</a:t>
            </a:r>
          </a:p>
        </p:txBody>
      </p:sp>
      <p:sp>
        <p:nvSpPr>
          <p:cNvPr id="47" name="Freeform 46"/>
          <p:cNvSpPr/>
          <p:nvPr/>
        </p:nvSpPr>
        <p:spPr>
          <a:xfrm>
            <a:off x="8001000" y="3027765"/>
            <a:ext cx="675555" cy="675555"/>
          </a:xfrm>
          <a:custGeom>
            <a:avLst/>
            <a:gdLst/>
            <a:ahLst/>
            <a:cxnLst/>
            <a:rect l="l" t="t" r="r" b="b"/>
            <a:pathLst>
              <a:path w="675555" h="675555">
                <a:moveTo>
                  <a:pt x="0" y="675555"/>
                </a:moveTo>
                <a:lnTo>
                  <a:pt x="675555" y="675555"/>
                </a:lnTo>
                <a:lnTo>
                  <a:pt x="675555" y="0"/>
                </a:lnTo>
                <a:lnTo>
                  <a:pt x="0" y="0"/>
                </a:lnTo>
                <a:close/>
              </a:path>
            </a:pathLst>
          </a:custGeom>
          <a:solidFill>
            <a:srgbClr val="C9D4EE"/>
          </a:solidFill>
          <a:ln w="5842" cap="rnd">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Freeform 47"/>
          <p:cNvSpPr/>
          <p:nvPr/>
        </p:nvSpPr>
        <p:spPr>
          <a:xfrm>
            <a:off x="8001000" y="2788920"/>
            <a:ext cx="914400" cy="238845"/>
          </a:xfrm>
          <a:custGeom>
            <a:avLst/>
            <a:gdLst/>
            <a:ahLst/>
            <a:cxnLst/>
            <a:rect l="l" t="t" r="r" b="b"/>
            <a:pathLst>
              <a:path w="914400" h="238845">
                <a:moveTo>
                  <a:pt x="0" y="238845"/>
                </a:moveTo>
                <a:lnTo>
                  <a:pt x="675555" y="238845"/>
                </a:lnTo>
                <a:lnTo>
                  <a:pt x="914400" y="0"/>
                </a:lnTo>
                <a:lnTo>
                  <a:pt x="238845" y="0"/>
                </a:lnTo>
                <a:close/>
              </a:path>
            </a:pathLst>
          </a:custGeom>
          <a:solidFill>
            <a:srgbClr val="E6EBF7"/>
          </a:solidFill>
          <a:ln w="5842" cap="rnd">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Freeform 48"/>
          <p:cNvSpPr/>
          <p:nvPr/>
        </p:nvSpPr>
        <p:spPr>
          <a:xfrm>
            <a:off x="8676555" y="2788920"/>
            <a:ext cx="238845" cy="914400"/>
          </a:xfrm>
          <a:custGeom>
            <a:avLst/>
            <a:gdLst/>
            <a:ahLst/>
            <a:cxnLst/>
            <a:rect l="l" t="t" r="r" b="b"/>
            <a:pathLst>
              <a:path w="238845" h="914400">
                <a:moveTo>
                  <a:pt x="0" y="914400"/>
                </a:moveTo>
                <a:lnTo>
                  <a:pt x="0" y="238845"/>
                </a:lnTo>
                <a:lnTo>
                  <a:pt x="238845" y="0"/>
                </a:lnTo>
                <a:lnTo>
                  <a:pt x="238845" y="675555"/>
                </a:lnTo>
                <a:close/>
              </a:path>
            </a:pathLst>
          </a:custGeom>
          <a:solidFill>
            <a:srgbClr val="C9D4EE"/>
          </a:solidFill>
          <a:ln w="5842" cap="rnd">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0" name="Connector 49"/>
          <p:cNvCxnSpPr/>
          <p:nvPr/>
        </p:nvCxnSpPr>
        <p:spPr>
          <a:xfrm flipV="1">
            <a:off x="8001000" y="3464475"/>
            <a:ext cx="238844" cy="238845"/>
          </a:xfrm>
          <a:prstGeom prst="line">
            <a:avLst/>
          </a:prstGeom>
          <a:ln w="9525" cap="rnd">
            <a:solidFill>
              <a:srgbClr val="4A5A70"/>
            </a:solidFill>
            <a:prstDash val="dash"/>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8239844" y="3464475"/>
            <a:ext cx="675556" cy="0"/>
          </a:xfrm>
          <a:prstGeom prst="line">
            <a:avLst/>
          </a:prstGeom>
          <a:ln w="9525" cap="rnd">
            <a:solidFill>
              <a:srgbClr val="4A5A70"/>
            </a:solidFill>
            <a:prstDash val="dash"/>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8239844" y="2788920"/>
            <a:ext cx="0" cy="675555"/>
          </a:xfrm>
          <a:prstGeom prst="line">
            <a:avLst/>
          </a:prstGeom>
          <a:ln w="9525" cap="rnd">
            <a:solidFill>
              <a:srgbClr val="4A5A70"/>
            </a:solidFill>
            <a:prstDash val="dash"/>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8001000" y="3703320"/>
            <a:ext cx="675555" cy="0"/>
          </a:xfrm>
          <a:prstGeom prst="line">
            <a:avLst/>
          </a:prstGeom>
          <a:ln w="14604"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8001000" y="3027764"/>
            <a:ext cx="0" cy="675556"/>
          </a:xfrm>
          <a:prstGeom prst="line">
            <a:avLst/>
          </a:prstGeom>
          <a:ln w="14604"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8676555" y="3027764"/>
            <a:ext cx="0" cy="675556"/>
          </a:xfrm>
          <a:prstGeom prst="line">
            <a:avLst/>
          </a:prstGeom>
          <a:ln w="14604"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8676555" y="3464475"/>
            <a:ext cx="238845" cy="238845"/>
          </a:xfrm>
          <a:prstGeom prst="line">
            <a:avLst/>
          </a:prstGeom>
          <a:ln w="14604"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a:off x="8001000" y="3027764"/>
            <a:ext cx="675555" cy="0"/>
          </a:xfrm>
          <a:prstGeom prst="line">
            <a:avLst/>
          </a:prstGeom>
          <a:ln w="14604"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8676555" y="2788920"/>
            <a:ext cx="238845" cy="238844"/>
          </a:xfrm>
          <a:prstGeom prst="line">
            <a:avLst/>
          </a:prstGeom>
          <a:ln w="14604"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8001000" y="2788920"/>
            <a:ext cx="238844" cy="238844"/>
          </a:xfrm>
          <a:prstGeom prst="line">
            <a:avLst/>
          </a:prstGeom>
          <a:ln w="14604"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8915400" y="2788920"/>
            <a:ext cx="0" cy="675555"/>
          </a:xfrm>
          <a:prstGeom prst="line">
            <a:avLst/>
          </a:prstGeom>
          <a:ln w="14604"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a:off x="8239844" y="2788920"/>
            <a:ext cx="675556" cy="0"/>
          </a:xfrm>
          <a:prstGeom prst="line">
            <a:avLst/>
          </a:prstGeom>
          <a:ln w="14604" cap="rnd">
            <a:solidFill>
              <a:srgbClr val="1D3557"/>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8321040" y="3820160"/>
            <a:ext cx="274320" cy="406400"/>
          </a:xfrm>
          <a:prstGeom prst="rect">
            <a:avLst/>
          </a:prstGeom>
          <a:noFill/>
        </p:spPr>
        <p:txBody>
          <a:bodyPr wrap="none" lIns="0" rIns="0" tIns="0" bIns="0" anchor="ctr">
            <a:spAutoFit/>
          </a:bodyPr>
          <a:lstStyle/>
          <a:p>
            <a:pPr algn="ctr"/>
            <a:r>
              <a:rPr sz="2000" b="1" i="0">
                <a:solidFill>
                  <a:srgbClr val="007A5A"/>
                </a:solidFill>
                <a:latin typeface="PT Sans"/>
              </a:rPr>
              <a:t>6</a:t>
            </a:r>
          </a:p>
        </p:txBody>
      </p:sp>
      <p:sp>
        <p:nvSpPr>
          <p:cNvPr id="63" name="Freeform 62"/>
          <p:cNvSpPr/>
          <p:nvPr/>
        </p:nvSpPr>
        <p:spPr>
          <a:xfrm>
            <a:off x="9189720" y="3027765"/>
            <a:ext cx="675555" cy="675555"/>
          </a:xfrm>
          <a:custGeom>
            <a:avLst/>
            <a:gdLst/>
            <a:ahLst/>
            <a:cxnLst/>
            <a:rect l="l" t="t" r="r" b="b"/>
            <a:pathLst>
              <a:path w="675555" h="675555">
                <a:moveTo>
                  <a:pt x="0" y="675555"/>
                </a:moveTo>
                <a:lnTo>
                  <a:pt x="675555" y="675555"/>
                </a:lnTo>
                <a:lnTo>
                  <a:pt x="675555" y="0"/>
                </a:lnTo>
                <a:lnTo>
                  <a:pt x="0" y="0"/>
                </a:lnTo>
                <a:close/>
              </a:path>
            </a:pathLst>
          </a:custGeom>
          <a:solidFill>
            <a:srgbClr val="C9D4EE"/>
          </a:solidFill>
          <a:ln w="5842" cap="rnd">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Freeform 63"/>
          <p:cNvSpPr/>
          <p:nvPr/>
        </p:nvSpPr>
        <p:spPr>
          <a:xfrm>
            <a:off x="9189720" y="2788920"/>
            <a:ext cx="914400" cy="238845"/>
          </a:xfrm>
          <a:custGeom>
            <a:avLst/>
            <a:gdLst/>
            <a:ahLst/>
            <a:cxnLst/>
            <a:rect l="l" t="t" r="r" b="b"/>
            <a:pathLst>
              <a:path w="914400" h="238845">
                <a:moveTo>
                  <a:pt x="0" y="238845"/>
                </a:moveTo>
                <a:lnTo>
                  <a:pt x="675555" y="238845"/>
                </a:lnTo>
                <a:lnTo>
                  <a:pt x="914400" y="0"/>
                </a:lnTo>
                <a:lnTo>
                  <a:pt x="238845" y="0"/>
                </a:lnTo>
                <a:close/>
              </a:path>
            </a:pathLst>
          </a:custGeom>
          <a:solidFill>
            <a:srgbClr val="E6EBF7"/>
          </a:solidFill>
          <a:ln w="5842" cap="rnd">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Freeform 64"/>
          <p:cNvSpPr/>
          <p:nvPr/>
        </p:nvSpPr>
        <p:spPr>
          <a:xfrm>
            <a:off x="9865275" y="2788920"/>
            <a:ext cx="238845" cy="914400"/>
          </a:xfrm>
          <a:custGeom>
            <a:avLst/>
            <a:gdLst/>
            <a:ahLst/>
            <a:cxnLst/>
            <a:rect l="l" t="t" r="r" b="b"/>
            <a:pathLst>
              <a:path w="238845" h="914400">
                <a:moveTo>
                  <a:pt x="0" y="914400"/>
                </a:moveTo>
                <a:lnTo>
                  <a:pt x="0" y="238845"/>
                </a:lnTo>
                <a:lnTo>
                  <a:pt x="238845" y="0"/>
                </a:lnTo>
                <a:lnTo>
                  <a:pt x="238845" y="675555"/>
                </a:lnTo>
                <a:close/>
              </a:path>
            </a:pathLst>
          </a:custGeom>
          <a:solidFill>
            <a:srgbClr val="C9D4EE"/>
          </a:solidFill>
          <a:ln w="5842" cap="rnd">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6" name="Connector 65"/>
          <p:cNvCxnSpPr/>
          <p:nvPr/>
        </p:nvCxnSpPr>
        <p:spPr>
          <a:xfrm flipV="1">
            <a:off x="9189720" y="3464475"/>
            <a:ext cx="238844" cy="238845"/>
          </a:xfrm>
          <a:prstGeom prst="line">
            <a:avLst/>
          </a:prstGeom>
          <a:ln w="9525" cap="rnd">
            <a:solidFill>
              <a:srgbClr val="4A5A70"/>
            </a:solidFill>
            <a:prstDash val="dash"/>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9428564" y="3464475"/>
            <a:ext cx="675556" cy="0"/>
          </a:xfrm>
          <a:prstGeom prst="line">
            <a:avLst/>
          </a:prstGeom>
          <a:ln w="9525" cap="rnd">
            <a:solidFill>
              <a:srgbClr val="4A5A70"/>
            </a:solidFill>
            <a:prstDash val="dash"/>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9428564" y="2788920"/>
            <a:ext cx="0" cy="675555"/>
          </a:xfrm>
          <a:prstGeom prst="line">
            <a:avLst/>
          </a:prstGeom>
          <a:ln w="9525" cap="rnd">
            <a:solidFill>
              <a:srgbClr val="4A5A70"/>
            </a:solidFill>
            <a:prstDash val="dash"/>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9189720" y="3703320"/>
            <a:ext cx="675555" cy="0"/>
          </a:xfrm>
          <a:prstGeom prst="line">
            <a:avLst/>
          </a:prstGeom>
          <a:ln w="14604"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9189720" y="3027764"/>
            <a:ext cx="0" cy="675556"/>
          </a:xfrm>
          <a:prstGeom prst="line">
            <a:avLst/>
          </a:prstGeom>
          <a:ln w="14604"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9865275" y="3027764"/>
            <a:ext cx="0" cy="675556"/>
          </a:xfrm>
          <a:prstGeom prst="line">
            <a:avLst/>
          </a:prstGeom>
          <a:ln w="14604"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9865275" y="3464475"/>
            <a:ext cx="238845" cy="238845"/>
          </a:xfrm>
          <a:prstGeom prst="line">
            <a:avLst/>
          </a:prstGeom>
          <a:ln w="14604"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a:off x="9189720" y="3027764"/>
            <a:ext cx="675555" cy="0"/>
          </a:xfrm>
          <a:prstGeom prst="line">
            <a:avLst/>
          </a:prstGeom>
          <a:ln w="14604"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9865275" y="2788920"/>
            <a:ext cx="238845" cy="238844"/>
          </a:xfrm>
          <a:prstGeom prst="line">
            <a:avLst/>
          </a:prstGeom>
          <a:ln w="14604"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9189720" y="2788920"/>
            <a:ext cx="238844" cy="238844"/>
          </a:xfrm>
          <a:prstGeom prst="line">
            <a:avLst/>
          </a:prstGeom>
          <a:ln w="14604"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10104120" y="2788920"/>
            <a:ext cx="0" cy="675555"/>
          </a:xfrm>
          <a:prstGeom prst="line">
            <a:avLst/>
          </a:prstGeom>
          <a:ln w="14604"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H="1">
            <a:off x="9428564" y="2788920"/>
            <a:ext cx="675556" cy="0"/>
          </a:xfrm>
          <a:prstGeom prst="line">
            <a:avLst/>
          </a:prstGeom>
          <a:ln w="14604" cap="rnd">
            <a:solidFill>
              <a:srgbClr val="1D3557"/>
            </a:solidFill>
          </a:ln>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9509760" y="3820160"/>
            <a:ext cx="274320" cy="406400"/>
          </a:xfrm>
          <a:prstGeom prst="rect">
            <a:avLst/>
          </a:prstGeom>
          <a:noFill/>
        </p:spPr>
        <p:txBody>
          <a:bodyPr wrap="none" lIns="0" rIns="0" tIns="0" bIns="0" anchor="ctr">
            <a:spAutoFit/>
          </a:bodyPr>
          <a:lstStyle/>
          <a:p>
            <a:pPr algn="ctr"/>
            <a:r>
              <a:rPr sz="2000" b="1" i="0">
                <a:solidFill>
                  <a:srgbClr val="007A5A"/>
                </a:solidFill>
                <a:latin typeface="PT Sans"/>
              </a:rPr>
              <a:t>6</a:t>
            </a:r>
          </a:p>
        </p:txBody>
      </p:sp>
      <p:sp>
        <p:nvSpPr>
          <p:cNvPr id="79" name="Freeform 78"/>
          <p:cNvSpPr/>
          <p:nvPr/>
        </p:nvSpPr>
        <p:spPr>
          <a:xfrm>
            <a:off x="10378440" y="3027765"/>
            <a:ext cx="675555" cy="675555"/>
          </a:xfrm>
          <a:custGeom>
            <a:avLst/>
            <a:gdLst/>
            <a:ahLst/>
            <a:cxnLst/>
            <a:rect l="l" t="t" r="r" b="b"/>
            <a:pathLst>
              <a:path w="675555" h="675555">
                <a:moveTo>
                  <a:pt x="0" y="675555"/>
                </a:moveTo>
                <a:lnTo>
                  <a:pt x="675555" y="675555"/>
                </a:lnTo>
                <a:lnTo>
                  <a:pt x="675555" y="0"/>
                </a:lnTo>
                <a:lnTo>
                  <a:pt x="0" y="0"/>
                </a:lnTo>
                <a:close/>
              </a:path>
            </a:pathLst>
          </a:custGeom>
          <a:solidFill>
            <a:srgbClr val="C9D4EE"/>
          </a:solidFill>
          <a:ln w="5842" cap="rnd">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Freeform 79"/>
          <p:cNvSpPr/>
          <p:nvPr/>
        </p:nvSpPr>
        <p:spPr>
          <a:xfrm>
            <a:off x="10378440" y="2788920"/>
            <a:ext cx="914400" cy="238845"/>
          </a:xfrm>
          <a:custGeom>
            <a:avLst/>
            <a:gdLst/>
            <a:ahLst/>
            <a:cxnLst/>
            <a:rect l="l" t="t" r="r" b="b"/>
            <a:pathLst>
              <a:path w="914400" h="238845">
                <a:moveTo>
                  <a:pt x="0" y="238845"/>
                </a:moveTo>
                <a:lnTo>
                  <a:pt x="675555" y="238845"/>
                </a:lnTo>
                <a:lnTo>
                  <a:pt x="914400" y="0"/>
                </a:lnTo>
                <a:lnTo>
                  <a:pt x="238845" y="0"/>
                </a:lnTo>
                <a:close/>
              </a:path>
            </a:pathLst>
          </a:custGeom>
          <a:solidFill>
            <a:srgbClr val="E6EBF7"/>
          </a:solidFill>
          <a:ln w="5842" cap="rnd">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Freeform 80"/>
          <p:cNvSpPr/>
          <p:nvPr/>
        </p:nvSpPr>
        <p:spPr>
          <a:xfrm>
            <a:off x="11053995" y="2788920"/>
            <a:ext cx="238845" cy="914400"/>
          </a:xfrm>
          <a:custGeom>
            <a:avLst/>
            <a:gdLst/>
            <a:ahLst/>
            <a:cxnLst/>
            <a:rect l="l" t="t" r="r" b="b"/>
            <a:pathLst>
              <a:path w="238845" h="914400">
                <a:moveTo>
                  <a:pt x="0" y="914400"/>
                </a:moveTo>
                <a:lnTo>
                  <a:pt x="0" y="238845"/>
                </a:lnTo>
                <a:lnTo>
                  <a:pt x="238845" y="0"/>
                </a:lnTo>
                <a:lnTo>
                  <a:pt x="238845" y="675555"/>
                </a:lnTo>
                <a:close/>
              </a:path>
            </a:pathLst>
          </a:custGeom>
          <a:solidFill>
            <a:srgbClr val="C9D4EE"/>
          </a:solidFill>
          <a:ln w="5842" cap="rnd">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2" name="Connector 81"/>
          <p:cNvCxnSpPr/>
          <p:nvPr/>
        </p:nvCxnSpPr>
        <p:spPr>
          <a:xfrm flipV="1">
            <a:off x="10378440" y="3464475"/>
            <a:ext cx="238844" cy="238845"/>
          </a:xfrm>
          <a:prstGeom prst="line">
            <a:avLst/>
          </a:prstGeom>
          <a:ln w="9525" cap="rnd">
            <a:solidFill>
              <a:srgbClr val="4A5A70"/>
            </a:solidFill>
            <a:prstDash val="dash"/>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10617284" y="3464475"/>
            <a:ext cx="675556" cy="0"/>
          </a:xfrm>
          <a:prstGeom prst="line">
            <a:avLst/>
          </a:prstGeom>
          <a:ln w="9525" cap="rnd">
            <a:solidFill>
              <a:srgbClr val="4A5A70"/>
            </a:solidFill>
            <a:prstDash val="dash"/>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10617284" y="2788920"/>
            <a:ext cx="0" cy="675555"/>
          </a:xfrm>
          <a:prstGeom prst="line">
            <a:avLst/>
          </a:prstGeom>
          <a:ln w="9525" cap="rnd">
            <a:solidFill>
              <a:srgbClr val="4A5A70"/>
            </a:solidFill>
            <a:prstDash val="dash"/>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10378440" y="3703320"/>
            <a:ext cx="675555" cy="0"/>
          </a:xfrm>
          <a:prstGeom prst="line">
            <a:avLst/>
          </a:prstGeom>
          <a:ln w="14604"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10378440" y="3027764"/>
            <a:ext cx="0" cy="675556"/>
          </a:xfrm>
          <a:prstGeom prst="line">
            <a:avLst/>
          </a:prstGeom>
          <a:ln w="14604"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11053995" y="3027764"/>
            <a:ext cx="0" cy="675556"/>
          </a:xfrm>
          <a:prstGeom prst="line">
            <a:avLst/>
          </a:prstGeom>
          <a:ln w="14604"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11053995" y="3464475"/>
            <a:ext cx="238845" cy="238845"/>
          </a:xfrm>
          <a:prstGeom prst="line">
            <a:avLst/>
          </a:prstGeom>
          <a:ln w="14604"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H="1">
            <a:off x="10378440" y="3027764"/>
            <a:ext cx="675555" cy="0"/>
          </a:xfrm>
          <a:prstGeom prst="line">
            <a:avLst/>
          </a:prstGeom>
          <a:ln w="14604"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11053995" y="2788920"/>
            <a:ext cx="238845" cy="238844"/>
          </a:xfrm>
          <a:prstGeom prst="line">
            <a:avLst/>
          </a:prstGeom>
          <a:ln w="14604"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10378440" y="2788920"/>
            <a:ext cx="238844" cy="238844"/>
          </a:xfrm>
          <a:prstGeom prst="line">
            <a:avLst/>
          </a:prstGeom>
          <a:ln w="14604"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11292840" y="2788920"/>
            <a:ext cx="0" cy="675555"/>
          </a:xfrm>
          <a:prstGeom prst="line">
            <a:avLst/>
          </a:prstGeom>
          <a:ln w="14604"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H="1">
            <a:off x="10617284" y="2788920"/>
            <a:ext cx="675556" cy="0"/>
          </a:xfrm>
          <a:prstGeom prst="line">
            <a:avLst/>
          </a:prstGeom>
          <a:ln w="14604" cap="rnd">
            <a:solidFill>
              <a:srgbClr val="1D3557"/>
            </a:solidFill>
          </a:ln>
        </p:spPr>
        <p:style>
          <a:lnRef idx="2">
            <a:schemeClr val="accent1"/>
          </a:lnRef>
          <a:fillRef idx="0">
            <a:schemeClr val="accent1"/>
          </a:fillRef>
          <a:effectRef idx="1">
            <a:schemeClr val="accent1"/>
          </a:effectRef>
          <a:fontRef idx="minor">
            <a:schemeClr val="tx1"/>
          </a:fontRef>
        </p:style>
      </p:cxnSp>
      <p:sp>
        <p:nvSpPr>
          <p:cNvPr id="94" name="TextBox 93"/>
          <p:cNvSpPr txBox="1"/>
          <p:nvPr/>
        </p:nvSpPr>
        <p:spPr>
          <a:xfrm>
            <a:off x="10698480" y="3820160"/>
            <a:ext cx="274320" cy="406400"/>
          </a:xfrm>
          <a:prstGeom prst="rect">
            <a:avLst/>
          </a:prstGeom>
          <a:noFill/>
        </p:spPr>
        <p:txBody>
          <a:bodyPr wrap="none" lIns="0" rIns="0" tIns="0" bIns="0" anchor="ctr">
            <a:spAutoFit/>
          </a:bodyPr>
          <a:lstStyle/>
          <a:p>
            <a:pPr algn="ctr"/>
            <a:r>
              <a:rPr sz="2000" b="1" i="0">
                <a:solidFill>
                  <a:srgbClr val="007A5A"/>
                </a:solidFill>
                <a:latin typeface="PT Sans"/>
              </a:rPr>
              <a:t>6</a:t>
            </a:r>
          </a:p>
        </p:txBody>
      </p:sp>
      <p:sp>
        <p:nvSpPr>
          <p:cNvPr id="95" name="TextBox 94"/>
          <p:cNvSpPr txBox="1"/>
          <p:nvPr/>
        </p:nvSpPr>
        <p:spPr>
          <a:xfrm>
            <a:off x="8915400" y="3820160"/>
            <a:ext cx="274320" cy="406400"/>
          </a:xfrm>
          <a:prstGeom prst="rect">
            <a:avLst/>
          </a:prstGeom>
          <a:noFill/>
        </p:spPr>
        <p:txBody>
          <a:bodyPr wrap="none" lIns="0" rIns="0" tIns="0" bIns="0" anchor="ctr">
            <a:spAutoFit/>
          </a:bodyPr>
          <a:lstStyle/>
          <a:p>
            <a:pPr algn="ctr"/>
            <a:r>
              <a:rPr sz="2000" b="1" i="0">
                <a:solidFill>
                  <a:srgbClr val="1F2430"/>
                </a:solidFill>
                <a:latin typeface="PT Sans"/>
              </a:rPr>
              <a:t>+</a:t>
            </a:r>
          </a:p>
        </p:txBody>
      </p:sp>
      <p:sp>
        <p:nvSpPr>
          <p:cNvPr id="96" name="TextBox 95"/>
          <p:cNvSpPr txBox="1"/>
          <p:nvPr/>
        </p:nvSpPr>
        <p:spPr>
          <a:xfrm>
            <a:off x="10104120" y="3820160"/>
            <a:ext cx="274320" cy="406400"/>
          </a:xfrm>
          <a:prstGeom prst="rect">
            <a:avLst/>
          </a:prstGeom>
          <a:noFill/>
        </p:spPr>
        <p:txBody>
          <a:bodyPr wrap="none" lIns="0" rIns="0" tIns="0" bIns="0" anchor="ctr">
            <a:spAutoFit/>
          </a:bodyPr>
          <a:lstStyle/>
          <a:p>
            <a:pPr algn="ctr"/>
            <a:r>
              <a:rPr sz="2000" b="1" i="0">
                <a:solidFill>
                  <a:srgbClr val="1F2430"/>
                </a:solidFill>
                <a:latin typeface="PT Sans"/>
              </a:rPr>
              <a:t>+</a:t>
            </a:r>
          </a:p>
        </p:txBody>
      </p:sp>
      <p:sp>
        <p:nvSpPr>
          <p:cNvPr id="97" name="TextBox 96"/>
          <p:cNvSpPr txBox="1"/>
          <p:nvPr/>
        </p:nvSpPr>
        <p:spPr>
          <a:xfrm>
            <a:off x="8503920" y="4394200"/>
            <a:ext cx="2286000" cy="447040"/>
          </a:xfrm>
          <a:prstGeom prst="rect">
            <a:avLst/>
          </a:prstGeom>
          <a:noFill/>
        </p:spPr>
        <p:txBody>
          <a:bodyPr wrap="none" lIns="0" rIns="0" tIns="0" bIns="0" anchor="ctr">
            <a:spAutoFit/>
          </a:bodyPr>
          <a:lstStyle/>
          <a:p>
            <a:pPr algn="ctr"/>
            <a:r>
              <a:rPr sz="2200" b="1" i="0">
                <a:solidFill>
                  <a:srgbClr val="24418C"/>
                </a:solidFill>
                <a:latin typeface="PT Sans"/>
              </a:rPr>
              <a:t>= 18 бет</a:t>
            </a:r>
          </a:p>
        </p:txBody>
      </p:sp>
      <p:sp>
        <p:nvSpPr>
          <p:cNvPr id="98" name="TextBox 97"/>
          <p:cNvSpPr txBox="1"/>
          <p:nvPr/>
        </p:nvSpPr>
        <p:spPr>
          <a:xfrm>
            <a:off x="429768" y="5623560"/>
            <a:ext cx="11329416" cy="457200"/>
          </a:xfrm>
          <a:prstGeom prst="rect">
            <a:avLst/>
          </a:prstGeom>
          <a:noFill/>
        </p:spPr>
        <p:txBody>
          <a:bodyPr wrap="square" anchor="t" lIns="45720" rIns="45720" tIns="27432" bIns="27432">
            <a:spAutoFit/>
          </a:bodyPr>
          <a:lstStyle/>
          <a:p>
            <a:pPr algn="ctr">
              <a:lnSpc>
                <a:spcPct val="105000"/>
              </a:lnSpc>
            </a:pPr>
            <a:r>
              <a:rPr sz="2200" b="1" i="0">
                <a:solidFill>
                  <a:srgbClr val="24418C"/>
                </a:solidFill>
                <a:latin typeface="PT Sans"/>
              </a:rPr>
              <a:t>1 кубик = 6 бет;   3 кубик: 6 + 6 + 6 = 18</a:t>
            </a:r>
          </a:p>
        </p:txBody>
      </p:sp>
      <p:sp>
        <p:nvSpPr>
          <p:cNvPr id="99" name="Rounded Rectangle 98"/>
          <p:cNvSpPr/>
          <p:nvPr/>
        </p:nvSpPr>
        <p:spPr>
          <a:xfrm>
            <a:off x="8412480"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К</a:t>
            </a:r>
          </a:p>
        </p:txBody>
      </p:sp>
      <p:sp>
        <p:nvSpPr>
          <p:cNvPr id="100" name="Rounded Rectangle 99"/>
          <p:cNvSpPr/>
          <p:nvPr/>
        </p:nvSpPr>
        <p:spPr>
          <a:xfrm>
            <a:off x="8961119"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С</a:t>
            </a:r>
          </a:p>
        </p:txBody>
      </p:sp>
      <p:sp>
        <p:nvSpPr>
          <p:cNvPr id="101" name="Rounded Rectangle 100"/>
          <p:cNvSpPr/>
          <p:nvPr/>
        </p:nvSpPr>
        <p:spPr>
          <a:xfrm>
            <a:off x="950975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А</a:t>
            </a:r>
          </a:p>
        </p:txBody>
      </p:sp>
      <p:sp>
        <p:nvSpPr>
          <p:cNvPr id="102" name="Rounded Rectangle 101"/>
          <p:cNvSpPr/>
          <p:nvPr/>
        </p:nvSpPr>
        <p:spPr>
          <a:xfrm>
            <a:off x="4449927" y="6327648"/>
            <a:ext cx="3291840" cy="411480"/>
          </a:xfrm>
          <a:prstGeom prst="roundRect">
            <a:avLst>
              <a:gd name="adj" fmla="val 50000"/>
            </a:avLst>
          </a:prstGeom>
          <a:noFill/>
          <a:ln w="15875">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24418C"/>
                </a:solidFill>
                <a:latin typeface="PT Sans"/>
              </a:rPr>
              <a:t>3C · Байланыштыруу</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А: эреже</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Тегиз жана көлөмдүү фигуралар</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13/26</a:t>
            </a:r>
          </a:p>
        </p:txBody>
      </p:sp>
      <p:sp>
        <p:nvSpPr>
          <p:cNvPr id="10" name="Rounded Rectangle 9"/>
          <p:cNvSpPr/>
          <p:nvPr/>
        </p:nvSpPr>
        <p:spPr>
          <a:xfrm>
            <a:off x="429768" y="1371600"/>
            <a:ext cx="2626614" cy="3017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23035" y="1600200"/>
            <a:ext cx="640080" cy="64008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1D3557"/>
                </a:solidFill>
                <a:latin typeface="PT Sans"/>
              </a:rPr>
              <a:t>1</a:t>
            </a:r>
          </a:p>
        </p:txBody>
      </p:sp>
      <p:sp>
        <p:nvSpPr>
          <p:cNvPr id="12" name="TextBox 11"/>
          <p:cNvSpPr txBox="1"/>
          <p:nvPr/>
        </p:nvSpPr>
        <p:spPr>
          <a:xfrm>
            <a:off x="521207" y="2377440"/>
            <a:ext cx="2443734" cy="640080"/>
          </a:xfrm>
          <a:prstGeom prst="rect">
            <a:avLst/>
          </a:prstGeom>
          <a:noFill/>
        </p:spPr>
        <p:txBody>
          <a:bodyPr wrap="square" anchor="t" lIns="45720" rIns="45720" tIns="27432" bIns="27432">
            <a:spAutoFit/>
          </a:bodyPr>
          <a:lstStyle/>
          <a:p>
            <a:pPr algn="ctr">
              <a:lnSpc>
                <a:spcPct val="105000"/>
              </a:lnSpc>
            </a:pPr>
            <a:r>
              <a:rPr sz="3600" b="1" i="0">
                <a:solidFill>
                  <a:srgbClr val="24418C"/>
                </a:solidFill>
                <a:latin typeface="PT Sans"/>
              </a:rPr>
              <a:t>Жак, чоку</a:t>
            </a:r>
          </a:p>
        </p:txBody>
      </p:sp>
      <p:sp>
        <p:nvSpPr>
          <p:cNvPr id="13" name="TextBox 12"/>
          <p:cNvSpPr txBox="1"/>
          <p:nvPr/>
        </p:nvSpPr>
        <p:spPr>
          <a:xfrm>
            <a:off x="521207" y="3063240"/>
            <a:ext cx="2443734" cy="457200"/>
          </a:xfrm>
          <a:prstGeom prst="rect">
            <a:avLst/>
          </a:prstGeom>
          <a:noFill/>
        </p:spPr>
        <p:txBody>
          <a:bodyPr wrap="square" anchor="t" lIns="45720" rIns="45720" tIns="27432" bIns="27432">
            <a:spAutoFit/>
          </a:bodyPr>
          <a:lstStyle/>
          <a:p>
            <a:pPr algn="ctr">
              <a:lnSpc>
                <a:spcPct val="105000"/>
              </a:lnSpc>
            </a:pPr>
            <a:r>
              <a:rPr sz="1700" b="1" i="0">
                <a:solidFill>
                  <a:srgbClr val="1F2430"/>
                </a:solidFill>
                <a:latin typeface="PT Sans"/>
              </a:rPr>
              <a:t>Тегиз фигура</a:t>
            </a:r>
          </a:p>
        </p:txBody>
      </p:sp>
      <p:sp>
        <p:nvSpPr>
          <p:cNvPr id="14" name="TextBox 13"/>
          <p:cNvSpPr txBox="1"/>
          <p:nvPr/>
        </p:nvSpPr>
        <p:spPr>
          <a:xfrm>
            <a:off x="566928" y="3566160"/>
            <a:ext cx="2352294" cy="731520"/>
          </a:xfrm>
          <a:prstGeom prst="rect">
            <a:avLst/>
          </a:prstGeom>
          <a:noFill/>
        </p:spPr>
        <p:txBody>
          <a:bodyPr wrap="square" anchor="t" lIns="45720" rIns="45720" tIns="27432" bIns="27432">
            <a:spAutoFit/>
          </a:bodyPr>
          <a:lstStyle/>
          <a:p>
            <a:pPr algn="ctr">
              <a:lnSpc>
                <a:spcPct val="105000"/>
              </a:lnSpc>
            </a:pPr>
            <a:r>
              <a:rPr sz="1800" b="0" i="0">
                <a:solidFill>
                  <a:srgbClr val="6B7280"/>
                </a:solidFill>
                <a:latin typeface="PT Sans"/>
              </a:rPr>
              <a:t>Белгилеп сана, эки жолу эмес</a:t>
            </a:r>
          </a:p>
        </p:txBody>
      </p:sp>
      <p:cxnSp>
        <p:nvCxnSpPr>
          <p:cNvPr id="15" name="Connector 14"/>
          <p:cNvCxnSpPr/>
          <p:nvPr/>
        </p:nvCxnSpPr>
        <p:spPr>
          <a:xfrm>
            <a:off x="3056382" y="2880360"/>
            <a:ext cx="274320" cy="0"/>
          </a:xfrm>
          <a:prstGeom prst="line">
            <a:avLst/>
          </a:prstGeom>
          <a:ln w="31750">
            <a:solidFill>
              <a:srgbClr val="A84400"/>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330702" y="1371600"/>
            <a:ext cx="2626614" cy="3017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323969" y="1600200"/>
            <a:ext cx="640080" cy="64008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1D3557"/>
                </a:solidFill>
                <a:latin typeface="PT Sans"/>
              </a:rPr>
              <a:t>2</a:t>
            </a:r>
          </a:p>
        </p:txBody>
      </p:sp>
      <p:sp>
        <p:nvSpPr>
          <p:cNvPr id="18" name="TextBox 17"/>
          <p:cNvSpPr txBox="1"/>
          <p:nvPr/>
        </p:nvSpPr>
        <p:spPr>
          <a:xfrm>
            <a:off x="3422142" y="2377440"/>
            <a:ext cx="2443734" cy="640080"/>
          </a:xfrm>
          <a:prstGeom prst="rect">
            <a:avLst/>
          </a:prstGeom>
          <a:noFill/>
        </p:spPr>
        <p:txBody>
          <a:bodyPr wrap="square" anchor="t" lIns="45720" rIns="45720" tIns="27432" bIns="27432">
            <a:spAutoFit/>
          </a:bodyPr>
          <a:lstStyle/>
          <a:p>
            <a:pPr algn="ctr">
              <a:lnSpc>
                <a:spcPct val="105000"/>
              </a:lnSpc>
            </a:pPr>
            <a:r>
              <a:rPr sz="3600" b="1" i="0">
                <a:solidFill>
                  <a:srgbClr val="24418C"/>
                </a:solidFill>
                <a:latin typeface="PT Sans"/>
              </a:rPr>
              <a:t>Тик бурч</a:t>
            </a:r>
          </a:p>
        </p:txBody>
      </p:sp>
      <p:sp>
        <p:nvSpPr>
          <p:cNvPr id="19" name="TextBox 18"/>
          <p:cNvSpPr txBox="1"/>
          <p:nvPr/>
        </p:nvSpPr>
        <p:spPr>
          <a:xfrm>
            <a:off x="3422142" y="3063240"/>
            <a:ext cx="2443734" cy="457200"/>
          </a:xfrm>
          <a:prstGeom prst="rect">
            <a:avLst/>
          </a:prstGeom>
          <a:noFill/>
        </p:spPr>
        <p:txBody>
          <a:bodyPr wrap="square" anchor="t" lIns="45720" rIns="45720" tIns="27432" bIns="27432">
            <a:spAutoFit/>
          </a:bodyPr>
          <a:lstStyle/>
          <a:p>
            <a:pPr algn="ctr">
              <a:lnSpc>
                <a:spcPct val="105000"/>
              </a:lnSpc>
            </a:pPr>
            <a:r>
              <a:rPr sz="1700" b="1" i="0">
                <a:solidFill>
                  <a:srgbClr val="1F2430"/>
                </a:solidFill>
                <a:latin typeface="PT Sans"/>
              </a:rPr>
              <a:t>Бурчту текшер</a:t>
            </a:r>
          </a:p>
        </p:txBody>
      </p:sp>
      <p:sp>
        <p:nvSpPr>
          <p:cNvPr id="20" name="TextBox 19"/>
          <p:cNvSpPr txBox="1"/>
          <p:nvPr/>
        </p:nvSpPr>
        <p:spPr>
          <a:xfrm>
            <a:off x="3467862" y="3566160"/>
            <a:ext cx="2352294" cy="731520"/>
          </a:xfrm>
          <a:prstGeom prst="rect">
            <a:avLst/>
          </a:prstGeom>
          <a:noFill/>
        </p:spPr>
        <p:txBody>
          <a:bodyPr wrap="square" anchor="t" lIns="45720" rIns="45720" tIns="27432" bIns="27432">
            <a:spAutoFit/>
          </a:bodyPr>
          <a:lstStyle/>
          <a:p>
            <a:pPr algn="ctr">
              <a:lnSpc>
                <a:spcPct val="105000"/>
              </a:lnSpc>
            </a:pPr>
            <a:r>
              <a:rPr sz="1800" b="0" i="0">
                <a:solidFill>
                  <a:srgbClr val="6B7280"/>
                </a:solidFill>
                <a:latin typeface="PT Sans"/>
              </a:rPr>
              <a:t>Бүктөлгөн кагаз менен</a:t>
            </a:r>
          </a:p>
        </p:txBody>
      </p:sp>
      <p:cxnSp>
        <p:nvCxnSpPr>
          <p:cNvPr id="21" name="Connector 20"/>
          <p:cNvCxnSpPr/>
          <p:nvPr/>
        </p:nvCxnSpPr>
        <p:spPr>
          <a:xfrm>
            <a:off x="5957316" y="2880360"/>
            <a:ext cx="274320" cy="0"/>
          </a:xfrm>
          <a:prstGeom prst="line">
            <a:avLst/>
          </a:prstGeom>
          <a:ln w="31750">
            <a:solidFill>
              <a:srgbClr val="A84400"/>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231636" y="1371600"/>
            <a:ext cx="2626614" cy="3017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224902" y="1600200"/>
            <a:ext cx="640080" cy="64008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1D3557"/>
                </a:solidFill>
                <a:latin typeface="PT Sans"/>
              </a:rPr>
              <a:t>3</a:t>
            </a:r>
          </a:p>
        </p:txBody>
      </p:sp>
      <p:sp>
        <p:nvSpPr>
          <p:cNvPr id="24" name="TextBox 23"/>
          <p:cNvSpPr txBox="1"/>
          <p:nvPr/>
        </p:nvSpPr>
        <p:spPr>
          <a:xfrm>
            <a:off x="6323075" y="2377440"/>
            <a:ext cx="2443734" cy="640080"/>
          </a:xfrm>
          <a:prstGeom prst="rect">
            <a:avLst/>
          </a:prstGeom>
          <a:noFill/>
        </p:spPr>
        <p:txBody>
          <a:bodyPr wrap="square" anchor="t" lIns="45720" rIns="45720" tIns="27432" bIns="27432">
            <a:spAutoFit/>
          </a:bodyPr>
          <a:lstStyle/>
          <a:p>
            <a:pPr algn="ctr">
              <a:lnSpc>
                <a:spcPct val="105000"/>
              </a:lnSpc>
            </a:pPr>
            <a:r>
              <a:rPr sz="3600" b="1" i="0">
                <a:solidFill>
                  <a:srgbClr val="24418C"/>
                </a:solidFill>
                <a:latin typeface="PT Sans"/>
              </a:rPr>
              <a:t>Бет, кыр</a:t>
            </a:r>
          </a:p>
        </p:txBody>
      </p:sp>
      <p:sp>
        <p:nvSpPr>
          <p:cNvPr id="25" name="TextBox 24"/>
          <p:cNvSpPr txBox="1"/>
          <p:nvPr/>
        </p:nvSpPr>
        <p:spPr>
          <a:xfrm>
            <a:off x="6323075" y="3063240"/>
            <a:ext cx="2443734" cy="457200"/>
          </a:xfrm>
          <a:prstGeom prst="rect">
            <a:avLst/>
          </a:prstGeom>
          <a:noFill/>
        </p:spPr>
        <p:txBody>
          <a:bodyPr wrap="square" anchor="t" lIns="45720" rIns="45720" tIns="27432" bIns="27432">
            <a:spAutoFit/>
          </a:bodyPr>
          <a:lstStyle/>
          <a:p>
            <a:pPr algn="ctr">
              <a:lnSpc>
                <a:spcPct val="105000"/>
              </a:lnSpc>
            </a:pPr>
            <a:r>
              <a:rPr sz="1700" b="1" i="0">
                <a:solidFill>
                  <a:srgbClr val="1F2430"/>
                </a:solidFill>
                <a:latin typeface="PT Sans"/>
              </a:rPr>
              <a:t>Көлөмдүү фигура</a:t>
            </a:r>
          </a:p>
        </p:txBody>
      </p:sp>
      <p:sp>
        <p:nvSpPr>
          <p:cNvPr id="26" name="TextBox 25"/>
          <p:cNvSpPr txBox="1"/>
          <p:nvPr/>
        </p:nvSpPr>
        <p:spPr>
          <a:xfrm>
            <a:off x="6368796" y="3566160"/>
            <a:ext cx="2352294" cy="731520"/>
          </a:xfrm>
          <a:prstGeom prst="rect">
            <a:avLst/>
          </a:prstGeom>
          <a:noFill/>
        </p:spPr>
        <p:txBody>
          <a:bodyPr wrap="square" anchor="t" lIns="45720" rIns="45720" tIns="27432" bIns="27432">
            <a:spAutoFit/>
          </a:bodyPr>
          <a:lstStyle/>
          <a:p>
            <a:pPr algn="ctr">
              <a:lnSpc>
                <a:spcPct val="105000"/>
              </a:lnSpc>
            </a:pPr>
            <a:r>
              <a:rPr sz="1800" b="0" i="0">
                <a:solidFill>
                  <a:srgbClr val="6B7280"/>
                </a:solidFill>
                <a:latin typeface="PT Sans"/>
              </a:rPr>
              <a:t>Көрүнбөгөнүн да сана</a:t>
            </a:r>
          </a:p>
        </p:txBody>
      </p:sp>
      <p:cxnSp>
        <p:nvCxnSpPr>
          <p:cNvPr id="27" name="Connector 26"/>
          <p:cNvCxnSpPr/>
          <p:nvPr/>
        </p:nvCxnSpPr>
        <p:spPr>
          <a:xfrm>
            <a:off x="8858250" y="2880360"/>
            <a:ext cx="274320" cy="0"/>
          </a:xfrm>
          <a:prstGeom prst="line">
            <a:avLst/>
          </a:prstGeom>
          <a:ln w="31750">
            <a:solidFill>
              <a:srgbClr val="A84400"/>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132570" y="1371600"/>
            <a:ext cx="2626614" cy="3017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25837" y="1600200"/>
            <a:ext cx="640080" cy="64008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1D3557"/>
                </a:solidFill>
                <a:latin typeface="PT Sans"/>
              </a:rPr>
              <a:t>4</a:t>
            </a:r>
          </a:p>
        </p:txBody>
      </p:sp>
      <p:sp>
        <p:nvSpPr>
          <p:cNvPr id="30" name="TextBox 29"/>
          <p:cNvSpPr txBox="1"/>
          <p:nvPr/>
        </p:nvSpPr>
        <p:spPr>
          <a:xfrm>
            <a:off x="9224010" y="2377440"/>
            <a:ext cx="2443734" cy="640080"/>
          </a:xfrm>
          <a:prstGeom prst="rect">
            <a:avLst/>
          </a:prstGeom>
          <a:noFill/>
        </p:spPr>
        <p:txBody>
          <a:bodyPr wrap="square" anchor="t" lIns="45720" rIns="45720" tIns="27432" bIns="27432">
            <a:spAutoFit/>
          </a:bodyPr>
          <a:lstStyle/>
          <a:p>
            <a:pPr algn="ctr">
              <a:lnSpc>
                <a:spcPct val="105000"/>
              </a:lnSpc>
            </a:pPr>
            <a:r>
              <a:rPr sz="3600" b="1" i="0">
                <a:solidFill>
                  <a:srgbClr val="24418C"/>
                </a:solidFill>
                <a:latin typeface="PT Sans"/>
              </a:rPr>
              <a:t>Аты</a:t>
            </a:r>
          </a:p>
        </p:txBody>
      </p:sp>
      <p:sp>
        <p:nvSpPr>
          <p:cNvPr id="31" name="TextBox 30"/>
          <p:cNvSpPr txBox="1"/>
          <p:nvPr/>
        </p:nvSpPr>
        <p:spPr>
          <a:xfrm>
            <a:off x="9224010" y="3063240"/>
            <a:ext cx="2443734" cy="457200"/>
          </a:xfrm>
          <a:prstGeom prst="rect">
            <a:avLst/>
          </a:prstGeom>
          <a:noFill/>
        </p:spPr>
        <p:txBody>
          <a:bodyPr wrap="square" anchor="t" lIns="45720" rIns="45720" tIns="27432" bIns="27432">
            <a:spAutoFit/>
          </a:bodyPr>
          <a:lstStyle/>
          <a:p>
            <a:pPr algn="ctr">
              <a:lnSpc>
                <a:spcPct val="105000"/>
              </a:lnSpc>
            </a:pPr>
            <a:r>
              <a:rPr sz="1700" b="1" i="0">
                <a:solidFill>
                  <a:srgbClr val="1F2430"/>
                </a:solidFill>
                <a:latin typeface="PT Sans"/>
              </a:rPr>
              <a:t>Касиети боюнча ата</a:t>
            </a:r>
          </a:p>
        </p:txBody>
      </p:sp>
      <p:sp>
        <p:nvSpPr>
          <p:cNvPr id="32" name="TextBox 31"/>
          <p:cNvSpPr txBox="1"/>
          <p:nvPr/>
        </p:nvSpPr>
        <p:spPr>
          <a:xfrm>
            <a:off x="9269730" y="3566160"/>
            <a:ext cx="2352294" cy="731520"/>
          </a:xfrm>
          <a:prstGeom prst="rect">
            <a:avLst/>
          </a:prstGeom>
          <a:noFill/>
        </p:spPr>
        <p:txBody>
          <a:bodyPr wrap="square" anchor="t" lIns="45720" rIns="45720" tIns="27432" bIns="27432">
            <a:spAutoFit/>
          </a:bodyPr>
          <a:lstStyle/>
          <a:p>
            <a:pPr algn="ctr">
              <a:lnSpc>
                <a:spcPct val="105000"/>
              </a:lnSpc>
            </a:pPr>
            <a:r>
              <a:rPr sz="1800" b="0" i="0">
                <a:solidFill>
                  <a:srgbClr val="6B7280"/>
                </a:solidFill>
                <a:latin typeface="PT Sans"/>
              </a:rPr>
              <a:t>Бурсак да, аты өзгөрбөйт</a:t>
            </a:r>
          </a:p>
        </p:txBody>
      </p:sp>
      <p:sp>
        <p:nvSpPr>
          <p:cNvPr id="33" name="Rounded Rectangle 32"/>
          <p:cNvSpPr/>
          <p:nvPr/>
        </p:nvSpPr>
        <p:spPr>
          <a:xfrm>
            <a:off x="1874519" y="4709160"/>
            <a:ext cx="8449056" cy="758952"/>
          </a:xfrm>
          <a:prstGeom prst="roundRect">
            <a:avLst>
              <a:gd name="adj" fmla="val 24400"/>
            </a:avLst>
          </a:prstGeom>
          <a:solidFill>
            <a:srgbClr val="FFFFFF"/>
          </a:solidFill>
          <a:ln w="285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600" b="1">
                <a:solidFill>
                  <a:srgbClr val="A84400"/>
                </a:solidFill>
                <a:latin typeface="PT Sans"/>
              </a:rPr>
              <a:t>Куб: 6 бет, 12 кыр, 8 чоку</a:t>
            </a:r>
          </a:p>
        </p:txBody>
      </p:sp>
      <p:sp>
        <p:nvSpPr>
          <p:cNvPr id="34" name="Rounded Rectangle 33"/>
          <p:cNvSpPr/>
          <p:nvPr/>
        </p:nvSpPr>
        <p:spPr>
          <a:xfrm>
            <a:off x="8412480"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К</a:t>
            </a:r>
          </a:p>
        </p:txBody>
      </p:sp>
      <p:sp>
        <p:nvSpPr>
          <p:cNvPr id="35" name="Rounded Rectangle 34"/>
          <p:cNvSpPr/>
          <p:nvPr/>
        </p:nvSpPr>
        <p:spPr>
          <a:xfrm>
            <a:off x="896111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С</a:t>
            </a:r>
          </a:p>
        </p:txBody>
      </p:sp>
      <p:sp>
        <p:nvSpPr>
          <p:cNvPr id="36" name="Rounded Rectangle 35"/>
          <p:cNvSpPr/>
          <p:nvPr/>
        </p:nvSpPr>
        <p:spPr>
          <a:xfrm>
            <a:off x="9509759"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А</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Мисал 1: мен көрсөтөм</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Тегиз жана көлөмдүү фигуралар</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14/26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Асан ата пирамида жасады (асты квадрат). Анын беттери, кырлары, чокулары канча?</a:t>
            </a:r>
          </a:p>
        </p:txBody>
      </p:sp>
      <p:sp>
        <p:nvSpPr>
          <p:cNvPr id="12" name="TextBox 11"/>
          <p:cNvSpPr txBox="1"/>
          <p:nvPr/>
        </p:nvSpPr>
        <p:spPr>
          <a:xfrm>
            <a:off x="731520" y="2240280"/>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1F2430"/>
                </a:solidFill>
                <a:latin typeface="PT Sans"/>
              </a:rPr>
              <a:t>Беттер = 1 + 4 = 5</a:t>
            </a:r>
          </a:p>
        </p:txBody>
      </p:sp>
      <p:sp>
        <p:nvSpPr>
          <p:cNvPr id="13" name="TextBox 12"/>
          <p:cNvSpPr txBox="1"/>
          <p:nvPr/>
        </p:nvSpPr>
        <p:spPr>
          <a:xfrm>
            <a:off x="8366760" y="2240280"/>
            <a:ext cx="3108960" cy="658368"/>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асты + капталы</a:t>
            </a:r>
          </a:p>
        </p:txBody>
      </p:sp>
      <p:sp>
        <p:nvSpPr>
          <p:cNvPr id="14" name="TextBox 13"/>
          <p:cNvSpPr txBox="1"/>
          <p:nvPr/>
        </p:nvSpPr>
        <p:spPr>
          <a:xfrm>
            <a:off x="731520" y="2898648"/>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1F2430"/>
                </a:solidFill>
                <a:latin typeface="PT Sans"/>
              </a:rPr>
              <a:t>Кырлар = 4 + 4 = 8</a:t>
            </a:r>
          </a:p>
        </p:txBody>
      </p:sp>
      <p:sp>
        <p:nvSpPr>
          <p:cNvPr id="15" name="TextBox 14"/>
          <p:cNvSpPr txBox="1"/>
          <p:nvPr/>
        </p:nvSpPr>
        <p:spPr>
          <a:xfrm>
            <a:off x="8366760" y="2898648"/>
            <a:ext cx="3108960" cy="658368"/>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асты + капталы</a:t>
            </a:r>
          </a:p>
        </p:txBody>
      </p:sp>
      <p:sp>
        <p:nvSpPr>
          <p:cNvPr id="16" name="TextBox 15"/>
          <p:cNvSpPr txBox="1"/>
          <p:nvPr/>
        </p:nvSpPr>
        <p:spPr>
          <a:xfrm>
            <a:off x="731520" y="3557016"/>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24418C"/>
                </a:solidFill>
                <a:latin typeface="PT Sans"/>
              </a:rPr>
              <a:t>Чокулар = 4 + 1 = 5</a:t>
            </a:r>
          </a:p>
        </p:txBody>
      </p:sp>
      <p:sp>
        <p:nvSpPr>
          <p:cNvPr id="17" name="TextBox 16"/>
          <p:cNvSpPr txBox="1"/>
          <p:nvPr/>
        </p:nvSpPr>
        <p:spPr>
          <a:xfrm>
            <a:off x="8366760" y="3557016"/>
            <a:ext cx="3108960" cy="658368"/>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асты + төбөсү</a:t>
            </a:r>
          </a:p>
        </p:txBody>
      </p:sp>
      <p:sp>
        <p:nvSpPr>
          <p:cNvPr id="18" name="TextBox 17"/>
          <p:cNvSpPr txBox="1"/>
          <p:nvPr/>
        </p:nvSpPr>
        <p:spPr>
          <a:xfrm>
            <a:off x="429768" y="5596128"/>
            <a:ext cx="11329416" cy="640080"/>
          </a:xfrm>
          <a:prstGeom prst="rect">
            <a:avLst/>
          </a:prstGeom>
          <a:noFill/>
        </p:spPr>
        <p:txBody>
          <a:bodyPr wrap="square" anchor="t" lIns="45720" rIns="45720" tIns="27432" bIns="27432">
            <a:spAutoFit/>
          </a:bodyPr>
          <a:lstStyle/>
          <a:p>
            <a:pPr algn="ctr">
              <a:lnSpc>
                <a:spcPct val="105000"/>
              </a:lnSpc>
            </a:pPr>
            <a:r>
              <a:rPr sz="3400" b="1" i="0">
                <a:solidFill>
                  <a:srgbClr val="1F2430"/>
                </a:solidFill>
                <a:latin typeface="PT Sans"/>
              </a:rPr>
              <a:t>Пирамида = </a:t>
            </a:r>
            <a:r>
              <a:rPr sz="3400" b="1">
                <a:solidFill>
                  <a:srgbClr val="24418C"/>
                </a:solidFill>
                <a:latin typeface="PT Sans"/>
              </a:rPr>
              <a:t>5 бет, 8 кыр, 5 чоку</a:t>
            </a:r>
          </a:p>
        </p:txBody>
      </p:sp>
      <p:sp>
        <p:nvSpPr>
          <p:cNvPr id="19" name="g2fig"/>
          <p:cNvSpPr/>
          <p:nvPr/>
        </p:nvSpPr>
        <p:spPr>
          <a:xfrm>
            <a:off x="1280160" y="2704531"/>
            <a:ext cx="1553777" cy="1906138"/>
          </a:xfrm>
          <a:custGeom>
            <a:avLst/>
            <a:gdLst/>
            <a:ahLst/>
            <a:cxnLst/>
            <a:rect l="l" t="t" r="r" b="b"/>
            <a:pathLst>
              <a:path w="1553777" h="1906138">
                <a:moveTo>
                  <a:pt x="0" y="1906138"/>
                </a:moveTo>
                <a:lnTo>
                  <a:pt x="1553777" y="1906138"/>
                </a:lnTo>
                <a:lnTo>
                  <a:pt x="1051560" y="0"/>
                </a:lnTo>
                <a:close/>
              </a:path>
            </a:pathLst>
          </a:custGeom>
          <a:solidFill>
            <a:srgbClr val="E6EBF7"/>
          </a:solidFill>
          <a:ln w="13436" cap="rnd">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g2fig"/>
          <p:cNvSpPr/>
          <p:nvPr/>
        </p:nvSpPr>
        <p:spPr>
          <a:xfrm>
            <a:off x="2331720" y="2704531"/>
            <a:ext cx="1051560" cy="1906138"/>
          </a:xfrm>
          <a:custGeom>
            <a:avLst/>
            <a:gdLst/>
            <a:ahLst/>
            <a:cxnLst/>
            <a:rect l="l" t="t" r="r" b="b"/>
            <a:pathLst>
              <a:path w="1051560" h="1906138">
                <a:moveTo>
                  <a:pt x="502217" y="1906138"/>
                </a:moveTo>
                <a:lnTo>
                  <a:pt x="1051560" y="1356795"/>
                </a:lnTo>
                <a:lnTo>
                  <a:pt x="0" y="0"/>
                </a:lnTo>
                <a:close/>
              </a:path>
            </a:pathLst>
          </a:custGeom>
          <a:solidFill>
            <a:srgbClr val="C9D4EE"/>
          </a:solidFill>
          <a:ln w="13436" cap="rnd">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g2fig"/>
          <p:cNvCxnSpPr/>
          <p:nvPr/>
        </p:nvCxnSpPr>
        <p:spPr>
          <a:xfrm flipV="1">
            <a:off x="1280160" y="4061325"/>
            <a:ext cx="549343" cy="549343"/>
          </a:xfrm>
          <a:prstGeom prst="line">
            <a:avLst/>
          </a:prstGeom>
          <a:ln w="20154" cap="rnd">
            <a:solidFill>
              <a:srgbClr val="4A5A70"/>
            </a:solidFill>
            <a:prstDash val="dash"/>
          </a:ln>
        </p:spPr>
        <p:style>
          <a:lnRef idx="2">
            <a:schemeClr val="accent1"/>
          </a:lnRef>
          <a:fillRef idx="0">
            <a:schemeClr val="accent1"/>
          </a:fillRef>
          <a:effectRef idx="1">
            <a:schemeClr val="accent1"/>
          </a:effectRef>
          <a:fontRef idx="minor">
            <a:schemeClr val="tx1"/>
          </a:fontRef>
        </p:style>
      </p:cxnSp>
      <p:cxnSp>
        <p:nvCxnSpPr>
          <p:cNvPr id="22" name="g2fig"/>
          <p:cNvCxnSpPr/>
          <p:nvPr/>
        </p:nvCxnSpPr>
        <p:spPr>
          <a:xfrm flipH="1">
            <a:off x="1829503" y="4061325"/>
            <a:ext cx="1553776" cy="0"/>
          </a:xfrm>
          <a:prstGeom prst="line">
            <a:avLst/>
          </a:prstGeom>
          <a:ln w="20154" cap="rnd">
            <a:solidFill>
              <a:srgbClr val="4A5A70"/>
            </a:solidFill>
            <a:prstDash val="dash"/>
          </a:ln>
        </p:spPr>
        <p:style>
          <a:lnRef idx="2">
            <a:schemeClr val="accent1"/>
          </a:lnRef>
          <a:fillRef idx="0">
            <a:schemeClr val="accent1"/>
          </a:fillRef>
          <a:effectRef idx="1">
            <a:schemeClr val="accent1"/>
          </a:effectRef>
          <a:fontRef idx="minor">
            <a:schemeClr val="tx1"/>
          </a:fontRef>
        </p:style>
      </p:cxnSp>
      <p:cxnSp>
        <p:nvCxnSpPr>
          <p:cNvPr id="23" name="g2fig"/>
          <p:cNvCxnSpPr/>
          <p:nvPr/>
        </p:nvCxnSpPr>
        <p:spPr>
          <a:xfrm flipV="1">
            <a:off x="1829503" y="2704531"/>
            <a:ext cx="502217" cy="1356794"/>
          </a:xfrm>
          <a:prstGeom prst="line">
            <a:avLst/>
          </a:prstGeom>
          <a:ln w="20154" cap="rnd">
            <a:solidFill>
              <a:srgbClr val="4A5A70"/>
            </a:solidFill>
            <a:prstDash val="dash"/>
          </a:ln>
        </p:spPr>
        <p:style>
          <a:lnRef idx="2">
            <a:schemeClr val="accent1"/>
          </a:lnRef>
          <a:fillRef idx="0">
            <a:schemeClr val="accent1"/>
          </a:fillRef>
          <a:effectRef idx="1">
            <a:schemeClr val="accent1"/>
          </a:effectRef>
          <a:fontRef idx="minor">
            <a:schemeClr val="tx1"/>
          </a:fontRef>
        </p:style>
      </p:cxnSp>
      <p:cxnSp>
        <p:nvCxnSpPr>
          <p:cNvPr id="24" name="g2fig"/>
          <p:cNvCxnSpPr/>
          <p:nvPr/>
        </p:nvCxnSpPr>
        <p:spPr>
          <a:xfrm>
            <a:off x="1280160" y="4610668"/>
            <a:ext cx="1553776" cy="0"/>
          </a:xfrm>
          <a:prstGeom prst="line">
            <a:avLst/>
          </a:prstGeom>
          <a:ln w="33591"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25" name="g2fig"/>
          <p:cNvCxnSpPr/>
          <p:nvPr/>
        </p:nvCxnSpPr>
        <p:spPr>
          <a:xfrm flipV="1">
            <a:off x="1280160" y="2704531"/>
            <a:ext cx="1051560" cy="1906137"/>
          </a:xfrm>
          <a:prstGeom prst="line">
            <a:avLst/>
          </a:prstGeom>
          <a:ln w="33591"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26" name="g2fig"/>
          <p:cNvCxnSpPr/>
          <p:nvPr/>
        </p:nvCxnSpPr>
        <p:spPr>
          <a:xfrm flipV="1">
            <a:off x="2833936" y="4061325"/>
            <a:ext cx="549343" cy="549343"/>
          </a:xfrm>
          <a:prstGeom prst="line">
            <a:avLst/>
          </a:prstGeom>
          <a:ln w="33591"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27" name="g2fig"/>
          <p:cNvCxnSpPr/>
          <p:nvPr/>
        </p:nvCxnSpPr>
        <p:spPr>
          <a:xfrm flipH="1" flipV="1">
            <a:off x="2331720" y="2704531"/>
            <a:ext cx="502216" cy="1906137"/>
          </a:xfrm>
          <a:prstGeom prst="line">
            <a:avLst/>
          </a:prstGeom>
          <a:ln w="33591"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28" name="g2fig"/>
          <p:cNvCxnSpPr/>
          <p:nvPr/>
        </p:nvCxnSpPr>
        <p:spPr>
          <a:xfrm flipH="1" flipV="1">
            <a:off x="2331720" y="2704531"/>
            <a:ext cx="1051559" cy="1356794"/>
          </a:xfrm>
          <a:prstGeom prst="line">
            <a:avLst/>
          </a:prstGeom>
          <a:ln w="33591" cap="rnd">
            <a:solidFill>
              <a:srgbClr val="1D3557"/>
            </a:solidFill>
          </a:ln>
        </p:spPr>
        <p:style>
          <a:lnRef idx="2">
            <a:schemeClr val="accent1"/>
          </a:lnRef>
          <a:fillRef idx="0">
            <a:schemeClr val="accent1"/>
          </a:fillRef>
          <a:effectRef idx="1">
            <a:schemeClr val="accent1"/>
          </a:effectRef>
          <a:fontRef idx="minor">
            <a:schemeClr val="tx1"/>
          </a:fontRef>
        </p:style>
      </p:cxnSp>
      <p:sp>
        <p:nvSpPr>
          <p:cNvPr id="29" name="g2fig"/>
          <p:cNvSpPr/>
          <p:nvPr/>
        </p:nvSpPr>
        <p:spPr>
          <a:xfrm>
            <a:off x="1206550" y="4537059"/>
            <a:ext cx="147218" cy="147218"/>
          </a:xfrm>
          <a:prstGeom prst="ellipse">
            <a:avLst/>
          </a:prstGeom>
          <a:solidFill>
            <a:srgbClr val="A84400"/>
          </a:solidFill>
          <a:ln w="1270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g2fig"/>
          <p:cNvSpPr/>
          <p:nvPr/>
        </p:nvSpPr>
        <p:spPr>
          <a:xfrm>
            <a:off x="2760327" y="4537059"/>
            <a:ext cx="147218" cy="147218"/>
          </a:xfrm>
          <a:prstGeom prst="ellipse">
            <a:avLst/>
          </a:prstGeom>
          <a:solidFill>
            <a:srgbClr val="A84400"/>
          </a:solidFill>
          <a:ln w="1270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g2fig"/>
          <p:cNvSpPr/>
          <p:nvPr/>
        </p:nvSpPr>
        <p:spPr>
          <a:xfrm>
            <a:off x="3309670" y="3987716"/>
            <a:ext cx="147218" cy="147218"/>
          </a:xfrm>
          <a:prstGeom prst="ellipse">
            <a:avLst/>
          </a:prstGeom>
          <a:solidFill>
            <a:srgbClr val="A84400"/>
          </a:solidFill>
          <a:ln w="1270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g2fig"/>
          <p:cNvSpPr/>
          <p:nvPr/>
        </p:nvSpPr>
        <p:spPr>
          <a:xfrm>
            <a:off x="1755893" y="3987716"/>
            <a:ext cx="147218" cy="147218"/>
          </a:xfrm>
          <a:prstGeom prst="ellipse">
            <a:avLst/>
          </a:prstGeom>
          <a:solidFill>
            <a:srgbClr val="FFFFFF"/>
          </a:solidFill>
          <a:ln w="1270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g2fig"/>
          <p:cNvSpPr/>
          <p:nvPr/>
        </p:nvSpPr>
        <p:spPr>
          <a:xfrm>
            <a:off x="2258110" y="2630922"/>
            <a:ext cx="147218" cy="147218"/>
          </a:xfrm>
          <a:prstGeom prst="ellipse">
            <a:avLst/>
          </a:prstGeom>
          <a:solidFill>
            <a:srgbClr val="A84400"/>
          </a:solidFill>
          <a:ln w="1270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Мисал 2: мен көрсөтөм</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Тегиз жана көлөмдүү фигуралар</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15/26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Айбек таякчалардан 2 үч бурчтук жана 1 квадрат курду. Канча таякча керек болду?</a:t>
            </a:r>
          </a:p>
        </p:txBody>
      </p:sp>
      <p:sp>
        <p:nvSpPr>
          <p:cNvPr id="12" name="TextBox 11"/>
          <p:cNvSpPr txBox="1"/>
          <p:nvPr/>
        </p:nvSpPr>
        <p:spPr>
          <a:xfrm>
            <a:off x="731520" y="2240280"/>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1F2430"/>
                </a:solidFill>
                <a:latin typeface="PT Sans"/>
              </a:rPr>
              <a:t>3 + 3 + 4</a:t>
            </a:r>
          </a:p>
        </p:txBody>
      </p:sp>
      <p:sp>
        <p:nvSpPr>
          <p:cNvPr id="13" name="TextBox 12"/>
          <p:cNvSpPr txBox="1"/>
          <p:nvPr/>
        </p:nvSpPr>
        <p:spPr>
          <a:xfrm>
            <a:off x="8366760" y="2240280"/>
            <a:ext cx="3108960" cy="658368"/>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2 үч бурчтук + квадрат</a:t>
            </a:r>
          </a:p>
        </p:txBody>
      </p:sp>
      <p:sp>
        <p:nvSpPr>
          <p:cNvPr id="14" name="TextBox 13"/>
          <p:cNvSpPr txBox="1"/>
          <p:nvPr/>
        </p:nvSpPr>
        <p:spPr>
          <a:xfrm>
            <a:off x="731520" y="2898648"/>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1F2430"/>
                </a:solidFill>
                <a:latin typeface="PT Sans"/>
              </a:rPr>
              <a:t>= 6 + 4</a:t>
            </a:r>
          </a:p>
        </p:txBody>
      </p:sp>
      <p:sp>
        <p:nvSpPr>
          <p:cNvPr id="15" name="TextBox 14"/>
          <p:cNvSpPr txBox="1"/>
          <p:nvPr/>
        </p:nvSpPr>
        <p:spPr>
          <a:xfrm>
            <a:off x="731520" y="3557016"/>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24418C"/>
                </a:solidFill>
                <a:latin typeface="PT Sans"/>
              </a:rPr>
              <a:t>= 10</a:t>
            </a:r>
          </a:p>
        </p:txBody>
      </p:sp>
      <p:sp>
        <p:nvSpPr>
          <p:cNvPr id="16" name="TextBox 15"/>
          <p:cNvSpPr txBox="1"/>
          <p:nvPr/>
        </p:nvSpPr>
        <p:spPr>
          <a:xfrm>
            <a:off x="8366760" y="3557016"/>
            <a:ext cx="3108960" cy="658368"/>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таякча</a:t>
            </a:r>
          </a:p>
        </p:txBody>
      </p:sp>
      <p:sp>
        <p:nvSpPr>
          <p:cNvPr id="17" name="TextBox 16"/>
          <p:cNvSpPr txBox="1"/>
          <p:nvPr/>
        </p:nvSpPr>
        <p:spPr>
          <a:xfrm>
            <a:off x="429768" y="5596128"/>
            <a:ext cx="11329416" cy="640080"/>
          </a:xfrm>
          <a:prstGeom prst="rect">
            <a:avLst/>
          </a:prstGeom>
          <a:noFill/>
        </p:spPr>
        <p:txBody>
          <a:bodyPr wrap="square" anchor="t" lIns="45720" rIns="45720" tIns="27432" bIns="27432">
            <a:spAutoFit/>
          </a:bodyPr>
          <a:lstStyle/>
          <a:p>
            <a:pPr algn="ctr">
              <a:lnSpc>
                <a:spcPct val="105000"/>
              </a:lnSpc>
            </a:pPr>
            <a:r>
              <a:rPr sz="3400" b="1" i="0">
                <a:solidFill>
                  <a:srgbClr val="1F2430"/>
                </a:solidFill>
                <a:latin typeface="PT Sans"/>
              </a:rPr>
              <a:t>Таякча = </a:t>
            </a:r>
            <a:r>
              <a:rPr sz="3400" b="1">
                <a:solidFill>
                  <a:srgbClr val="24418C"/>
                </a:solidFill>
                <a:latin typeface="PT Sans"/>
              </a:rPr>
              <a:t>10</a:t>
            </a:r>
          </a:p>
        </p:txBody>
      </p:sp>
      <p:cxnSp>
        <p:nvCxnSpPr>
          <p:cNvPr id="18" name="g2fig"/>
          <p:cNvCxnSpPr/>
          <p:nvPr/>
        </p:nvCxnSpPr>
        <p:spPr>
          <a:xfrm>
            <a:off x="1325880" y="3116961"/>
            <a:ext cx="571500" cy="989838"/>
          </a:xfrm>
          <a:prstGeom prst="line">
            <a:avLst/>
          </a:prstGeom>
          <a:ln w="44704" cap="rnd">
            <a:solidFill>
              <a:srgbClr val="B07A4A"/>
            </a:solidFill>
          </a:ln>
        </p:spPr>
        <p:style>
          <a:lnRef idx="2">
            <a:schemeClr val="accent1"/>
          </a:lnRef>
          <a:fillRef idx="0">
            <a:schemeClr val="accent1"/>
          </a:fillRef>
          <a:effectRef idx="1">
            <a:schemeClr val="accent1"/>
          </a:effectRef>
          <a:fontRef idx="minor">
            <a:schemeClr val="tx1"/>
          </a:fontRef>
        </p:style>
      </p:cxnSp>
      <p:cxnSp>
        <p:nvCxnSpPr>
          <p:cNvPr id="19" name="g2fig"/>
          <p:cNvCxnSpPr/>
          <p:nvPr/>
        </p:nvCxnSpPr>
        <p:spPr>
          <a:xfrm flipH="1">
            <a:off x="754380" y="4106799"/>
            <a:ext cx="1143000" cy="0"/>
          </a:xfrm>
          <a:prstGeom prst="line">
            <a:avLst/>
          </a:prstGeom>
          <a:ln w="44704" cap="rnd">
            <a:solidFill>
              <a:srgbClr val="B07A4A"/>
            </a:solidFill>
          </a:ln>
        </p:spPr>
        <p:style>
          <a:lnRef idx="2">
            <a:schemeClr val="accent1"/>
          </a:lnRef>
          <a:fillRef idx="0">
            <a:schemeClr val="accent1"/>
          </a:fillRef>
          <a:effectRef idx="1">
            <a:schemeClr val="accent1"/>
          </a:effectRef>
          <a:fontRef idx="minor">
            <a:schemeClr val="tx1"/>
          </a:fontRef>
        </p:style>
      </p:cxnSp>
      <p:cxnSp>
        <p:nvCxnSpPr>
          <p:cNvPr id="20" name="g2fig"/>
          <p:cNvCxnSpPr/>
          <p:nvPr/>
        </p:nvCxnSpPr>
        <p:spPr>
          <a:xfrm flipV="1">
            <a:off x="754380" y="3116961"/>
            <a:ext cx="571500" cy="989838"/>
          </a:xfrm>
          <a:prstGeom prst="line">
            <a:avLst/>
          </a:prstGeom>
          <a:ln w="44704" cap="rnd">
            <a:solidFill>
              <a:srgbClr val="B07A4A"/>
            </a:solidFill>
          </a:ln>
        </p:spPr>
        <p:style>
          <a:lnRef idx="2">
            <a:schemeClr val="accent1"/>
          </a:lnRef>
          <a:fillRef idx="0">
            <a:schemeClr val="accent1"/>
          </a:fillRef>
          <a:effectRef idx="1">
            <a:schemeClr val="accent1"/>
          </a:effectRef>
          <a:fontRef idx="minor">
            <a:schemeClr val="tx1"/>
          </a:fontRef>
        </p:style>
      </p:cxnSp>
      <p:sp>
        <p:nvSpPr>
          <p:cNvPr id="21" name="g2fig"/>
          <p:cNvSpPr/>
          <p:nvPr/>
        </p:nvSpPr>
        <p:spPr>
          <a:xfrm>
            <a:off x="1270558" y="3061639"/>
            <a:ext cx="110642" cy="110642"/>
          </a:xfrm>
          <a:prstGeom prst="ellipse">
            <a:avLst/>
          </a:prstGeom>
          <a:solidFill>
            <a:srgbClr val="F5E9E0"/>
          </a:solidFill>
          <a:ln w="158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g2fig"/>
          <p:cNvSpPr/>
          <p:nvPr/>
        </p:nvSpPr>
        <p:spPr>
          <a:xfrm>
            <a:off x="1842058" y="4051477"/>
            <a:ext cx="110642" cy="110642"/>
          </a:xfrm>
          <a:prstGeom prst="ellipse">
            <a:avLst/>
          </a:prstGeom>
          <a:solidFill>
            <a:srgbClr val="F5E9E0"/>
          </a:solidFill>
          <a:ln w="158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g2fig"/>
          <p:cNvSpPr/>
          <p:nvPr/>
        </p:nvSpPr>
        <p:spPr>
          <a:xfrm>
            <a:off x="699058" y="4051477"/>
            <a:ext cx="110642" cy="110642"/>
          </a:xfrm>
          <a:prstGeom prst="ellipse">
            <a:avLst/>
          </a:prstGeom>
          <a:solidFill>
            <a:srgbClr val="F5E9E0"/>
          </a:solidFill>
          <a:ln w="158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g2fig"/>
          <p:cNvCxnSpPr/>
          <p:nvPr/>
        </p:nvCxnSpPr>
        <p:spPr>
          <a:xfrm>
            <a:off x="2697480" y="3116961"/>
            <a:ext cx="571500" cy="989838"/>
          </a:xfrm>
          <a:prstGeom prst="line">
            <a:avLst/>
          </a:prstGeom>
          <a:ln w="44704" cap="rnd">
            <a:solidFill>
              <a:srgbClr val="B07A4A"/>
            </a:solidFill>
          </a:ln>
        </p:spPr>
        <p:style>
          <a:lnRef idx="2">
            <a:schemeClr val="accent1"/>
          </a:lnRef>
          <a:fillRef idx="0">
            <a:schemeClr val="accent1"/>
          </a:fillRef>
          <a:effectRef idx="1">
            <a:schemeClr val="accent1"/>
          </a:effectRef>
          <a:fontRef idx="minor">
            <a:schemeClr val="tx1"/>
          </a:fontRef>
        </p:style>
      </p:cxnSp>
      <p:cxnSp>
        <p:nvCxnSpPr>
          <p:cNvPr id="25" name="g2fig"/>
          <p:cNvCxnSpPr/>
          <p:nvPr/>
        </p:nvCxnSpPr>
        <p:spPr>
          <a:xfrm flipH="1">
            <a:off x="2125980" y="4106799"/>
            <a:ext cx="1143000" cy="0"/>
          </a:xfrm>
          <a:prstGeom prst="line">
            <a:avLst/>
          </a:prstGeom>
          <a:ln w="44704" cap="rnd">
            <a:solidFill>
              <a:srgbClr val="B07A4A"/>
            </a:solidFill>
          </a:ln>
        </p:spPr>
        <p:style>
          <a:lnRef idx="2">
            <a:schemeClr val="accent1"/>
          </a:lnRef>
          <a:fillRef idx="0">
            <a:schemeClr val="accent1"/>
          </a:fillRef>
          <a:effectRef idx="1">
            <a:schemeClr val="accent1"/>
          </a:effectRef>
          <a:fontRef idx="minor">
            <a:schemeClr val="tx1"/>
          </a:fontRef>
        </p:style>
      </p:cxnSp>
      <p:cxnSp>
        <p:nvCxnSpPr>
          <p:cNvPr id="26" name="g2fig"/>
          <p:cNvCxnSpPr/>
          <p:nvPr/>
        </p:nvCxnSpPr>
        <p:spPr>
          <a:xfrm flipV="1">
            <a:off x="2125980" y="3116961"/>
            <a:ext cx="571500" cy="989838"/>
          </a:xfrm>
          <a:prstGeom prst="line">
            <a:avLst/>
          </a:prstGeom>
          <a:ln w="44704" cap="rnd">
            <a:solidFill>
              <a:srgbClr val="B07A4A"/>
            </a:solidFill>
          </a:ln>
        </p:spPr>
        <p:style>
          <a:lnRef idx="2">
            <a:schemeClr val="accent1"/>
          </a:lnRef>
          <a:fillRef idx="0">
            <a:schemeClr val="accent1"/>
          </a:fillRef>
          <a:effectRef idx="1">
            <a:schemeClr val="accent1"/>
          </a:effectRef>
          <a:fontRef idx="minor">
            <a:schemeClr val="tx1"/>
          </a:fontRef>
        </p:style>
      </p:cxnSp>
      <p:sp>
        <p:nvSpPr>
          <p:cNvPr id="27" name="g2fig"/>
          <p:cNvSpPr/>
          <p:nvPr/>
        </p:nvSpPr>
        <p:spPr>
          <a:xfrm>
            <a:off x="2642158" y="3061639"/>
            <a:ext cx="110642" cy="110642"/>
          </a:xfrm>
          <a:prstGeom prst="ellipse">
            <a:avLst/>
          </a:prstGeom>
          <a:solidFill>
            <a:srgbClr val="F5E9E0"/>
          </a:solidFill>
          <a:ln w="158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g2fig"/>
          <p:cNvSpPr/>
          <p:nvPr/>
        </p:nvSpPr>
        <p:spPr>
          <a:xfrm>
            <a:off x="3213658" y="4051477"/>
            <a:ext cx="110642" cy="110642"/>
          </a:xfrm>
          <a:prstGeom prst="ellipse">
            <a:avLst/>
          </a:prstGeom>
          <a:solidFill>
            <a:srgbClr val="F5E9E0"/>
          </a:solidFill>
          <a:ln w="158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g2fig"/>
          <p:cNvSpPr/>
          <p:nvPr/>
        </p:nvSpPr>
        <p:spPr>
          <a:xfrm>
            <a:off x="2070658" y="4051477"/>
            <a:ext cx="110642" cy="110642"/>
          </a:xfrm>
          <a:prstGeom prst="ellipse">
            <a:avLst/>
          </a:prstGeom>
          <a:solidFill>
            <a:srgbClr val="F5E9E0"/>
          </a:solidFill>
          <a:ln w="158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g2fig"/>
          <p:cNvCxnSpPr/>
          <p:nvPr/>
        </p:nvCxnSpPr>
        <p:spPr>
          <a:xfrm>
            <a:off x="3543300" y="3131820"/>
            <a:ext cx="960120" cy="0"/>
          </a:xfrm>
          <a:prstGeom prst="line">
            <a:avLst/>
          </a:prstGeom>
          <a:ln w="42672" cap="rnd">
            <a:solidFill>
              <a:srgbClr val="B07A4A"/>
            </a:solidFill>
          </a:ln>
        </p:spPr>
        <p:style>
          <a:lnRef idx="2">
            <a:schemeClr val="accent1"/>
          </a:lnRef>
          <a:fillRef idx="0">
            <a:schemeClr val="accent1"/>
          </a:fillRef>
          <a:effectRef idx="1">
            <a:schemeClr val="accent1"/>
          </a:effectRef>
          <a:fontRef idx="minor">
            <a:schemeClr val="tx1"/>
          </a:fontRef>
        </p:style>
      </p:cxnSp>
      <p:cxnSp>
        <p:nvCxnSpPr>
          <p:cNvPr id="31" name="g2fig"/>
          <p:cNvCxnSpPr/>
          <p:nvPr/>
        </p:nvCxnSpPr>
        <p:spPr>
          <a:xfrm>
            <a:off x="4503420" y="3131820"/>
            <a:ext cx="0" cy="960120"/>
          </a:xfrm>
          <a:prstGeom prst="line">
            <a:avLst/>
          </a:prstGeom>
          <a:ln w="42672" cap="rnd">
            <a:solidFill>
              <a:srgbClr val="B07A4A"/>
            </a:solidFill>
          </a:ln>
        </p:spPr>
        <p:style>
          <a:lnRef idx="2">
            <a:schemeClr val="accent1"/>
          </a:lnRef>
          <a:fillRef idx="0">
            <a:schemeClr val="accent1"/>
          </a:fillRef>
          <a:effectRef idx="1">
            <a:schemeClr val="accent1"/>
          </a:effectRef>
          <a:fontRef idx="minor">
            <a:schemeClr val="tx1"/>
          </a:fontRef>
        </p:style>
      </p:cxnSp>
      <p:cxnSp>
        <p:nvCxnSpPr>
          <p:cNvPr id="32" name="g2fig"/>
          <p:cNvCxnSpPr/>
          <p:nvPr/>
        </p:nvCxnSpPr>
        <p:spPr>
          <a:xfrm flipH="1">
            <a:off x="3543300" y="4091940"/>
            <a:ext cx="960120" cy="0"/>
          </a:xfrm>
          <a:prstGeom prst="line">
            <a:avLst/>
          </a:prstGeom>
          <a:ln w="42672" cap="rnd">
            <a:solidFill>
              <a:srgbClr val="B07A4A"/>
            </a:solidFill>
          </a:ln>
        </p:spPr>
        <p:style>
          <a:lnRef idx="2">
            <a:schemeClr val="accent1"/>
          </a:lnRef>
          <a:fillRef idx="0">
            <a:schemeClr val="accent1"/>
          </a:fillRef>
          <a:effectRef idx="1">
            <a:schemeClr val="accent1"/>
          </a:effectRef>
          <a:fontRef idx="minor">
            <a:schemeClr val="tx1"/>
          </a:fontRef>
        </p:style>
      </p:cxnSp>
      <p:cxnSp>
        <p:nvCxnSpPr>
          <p:cNvPr id="33" name="g2fig"/>
          <p:cNvCxnSpPr/>
          <p:nvPr/>
        </p:nvCxnSpPr>
        <p:spPr>
          <a:xfrm flipV="1">
            <a:off x="3543300" y="3131820"/>
            <a:ext cx="0" cy="960120"/>
          </a:xfrm>
          <a:prstGeom prst="line">
            <a:avLst/>
          </a:prstGeom>
          <a:ln w="42672" cap="rnd">
            <a:solidFill>
              <a:srgbClr val="B07A4A"/>
            </a:solidFill>
          </a:ln>
        </p:spPr>
        <p:style>
          <a:lnRef idx="2">
            <a:schemeClr val="accent1"/>
          </a:lnRef>
          <a:fillRef idx="0">
            <a:schemeClr val="accent1"/>
          </a:fillRef>
          <a:effectRef idx="1">
            <a:schemeClr val="accent1"/>
          </a:effectRef>
          <a:fontRef idx="minor">
            <a:schemeClr val="tx1"/>
          </a:fontRef>
        </p:style>
      </p:cxnSp>
      <p:sp>
        <p:nvSpPr>
          <p:cNvPr id="34" name="g2fig"/>
          <p:cNvSpPr/>
          <p:nvPr/>
        </p:nvSpPr>
        <p:spPr>
          <a:xfrm>
            <a:off x="3490493" y="3079013"/>
            <a:ext cx="105613" cy="105613"/>
          </a:xfrm>
          <a:prstGeom prst="ellipse">
            <a:avLst/>
          </a:prstGeom>
          <a:solidFill>
            <a:srgbClr val="F5E9E0"/>
          </a:solidFill>
          <a:ln w="158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g2fig"/>
          <p:cNvSpPr/>
          <p:nvPr/>
        </p:nvSpPr>
        <p:spPr>
          <a:xfrm>
            <a:off x="4450613" y="3079013"/>
            <a:ext cx="105613" cy="105613"/>
          </a:xfrm>
          <a:prstGeom prst="ellipse">
            <a:avLst/>
          </a:prstGeom>
          <a:solidFill>
            <a:srgbClr val="F5E9E0"/>
          </a:solidFill>
          <a:ln w="158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g2fig"/>
          <p:cNvSpPr/>
          <p:nvPr/>
        </p:nvSpPr>
        <p:spPr>
          <a:xfrm>
            <a:off x="4450613" y="4039133"/>
            <a:ext cx="105613" cy="105613"/>
          </a:xfrm>
          <a:prstGeom prst="ellipse">
            <a:avLst/>
          </a:prstGeom>
          <a:solidFill>
            <a:srgbClr val="F5E9E0"/>
          </a:solidFill>
          <a:ln w="158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g2fig"/>
          <p:cNvSpPr/>
          <p:nvPr/>
        </p:nvSpPr>
        <p:spPr>
          <a:xfrm>
            <a:off x="3490493" y="4039133"/>
            <a:ext cx="105613" cy="105613"/>
          </a:xfrm>
          <a:prstGeom prst="ellipse">
            <a:avLst/>
          </a:prstGeom>
          <a:solidFill>
            <a:srgbClr val="F5E9E0"/>
          </a:solidFill>
          <a:ln w="158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Оозеки ыкма: санабай эле тап</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Тегиз жана көлөмдүү фигуралар</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16/26</a:t>
            </a:r>
          </a:p>
        </p:txBody>
      </p:sp>
      <p:sp>
        <p:nvSpPr>
          <p:cNvPr id="10" name="Rounded Rectangle 9"/>
          <p:cNvSpPr/>
          <p:nvPr/>
        </p:nvSpPr>
        <p:spPr>
          <a:xfrm>
            <a:off x="429768" y="1280160"/>
            <a:ext cx="3593592" cy="4160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12647" y="1444752"/>
            <a:ext cx="457200" cy="45720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1</a:t>
            </a:r>
          </a:p>
        </p:txBody>
      </p:sp>
      <p:sp>
        <p:nvSpPr>
          <p:cNvPr id="12" name="TextBox 11"/>
          <p:cNvSpPr txBox="1"/>
          <p:nvPr/>
        </p:nvSpPr>
        <p:spPr>
          <a:xfrm>
            <a:off x="1207007" y="1371600"/>
            <a:ext cx="2679192" cy="685800"/>
          </a:xfrm>
          <a:prstGeom prst="rect">
            <a:avLst/>
          </a:prstGeom>
          <a:noFill/>
        </p:spPr>
        <p:txBody>
          <a:bodyPr wrap="square" anchor="ctr" lIns="45720" rIns="45720" tIns="27432" bIns="27432">
            <a:spAutoFit/>
          </a:bodyPr>
          <a:lstStyle/>
          <a:p>
            <a:pPr algn="l">
              <a:lnSpc>
                <a:spcPct val="105000"/>
              </a:lnSpc>
            </a:pPr>
            <a:r>
              <a:rPr sz="2000" b="1" i="0">
                <a:solidFill>
                  <a:srgbClr val="1D3557"/>
                </a:solidFill>
                <a:latin typeface="PT Sans"/>
              </a:rPr>
              <a:t>Жуп-жуп сана</a:t>
            </a:r>
          </a:p>
        </p:txBody>
      </p:sp>
      <p:sp>
        <p:nvSpPr>
          <p:cNvPr id="13" name="TextBox 12"/>
          <p:cNvSpPr txBox="1"/>
          <p:nvPr/>
        </p:nvSpPr>
        <p:spPr>
          <a:xfrm>
            <a:off x="658368" y="2194560"/>
            <a:ext cx="3136392" cy="457200"/>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Кубдун беттери:</a:t>
            </a:r>
          </a:p>
        </p:txBody>
      </p:sp>
      <p:sp>
        <p:nvSpPr>
          <p:cNvPr id="14" name="TextBox 13"/>
          <p:cNvSpPr txBox="1"/>
          <p:nvPr/>
        </p:nvSpPr>
        <p:spPr>
          <a:xfrm>
            <a:off x="658368" y="2651760"/>
            <a:ext cx="3136392" cy="457200"/>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алды, арты: 2</a:t>
            </a:r>
          </a:p>
        </p:txBody>
      </p:sp>
      <p:sp>
        <p:nvSpPr>
          <p:cNvPr id="15" name="TextBox 14"/>
          <p:cNvSpPr txBox="1"/>
          <p:nvPr/>
        </p:nvSpPr>
        <p:spPr>
          <a:xfrm>
            <a:off x="658368" y="3108960"/>
            <a:ext cx="3136392" cy="457200"/>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үстү, асты: 2</a:t>
            </a:r>
          </a:p>
        </p:txBody>
      </p:sp>
      <p:sp>
        <p:nvSpPr>
          <p:cNvPr id="16" name="TextBox 15"/>
          <p:cNvSpPr txBox="1"/>
          <p:nvPr/>
        </p:nvSpPr>
        <p:spPr>
          <a:xfrm>
            <a:off x="658368" y="3566160"/>
            <a:ext cx="3136392" cy="457200"/>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оң, сол: 2</a:t>
            </a:r>
          </a:p>
        </p:txBody>
      </p:sp>
      <p:sp>
        <p:nvSpPr>
          <p:cNvPr id="17" name="TextBox 16"/>
          <p:cNvSpPr txBox="1"/>
          <p:nvPr/>
        </p:nvSpPr>
        <p:spPr>
          <a:xfrm>
            <a:off x="658368" y="4023360"/>
            <a:ext cx="3136392" cy="457200"/>
          </a:xfrm>
          <a:prstGeom prst="rect">
            <a:avLst/>
          </a:prstGeom>
          <a:noFill/>
        </p:spPr>
        <p:txBody>
          <a:bodyPr wrap="square" anchor="ctr" lIns="45720" rIns="45720" tIns="27432" bIns="27432">
            <a:spAutoFit/>
          </a:bodyPr>
          <a:lstStyle/>
          <a:p>
            <a:pPr algn="l">
              <a:lnSpc>
                <a:spcPct val="105000"/>
              </a:lnSpc>
            </a:pPr>
            <a:r>
              <a:rPr sz="2200" b="1" i="0">
                <a:solidFill>
                  <a:srgbClr val="24418C"/>
                </a:solidFill>
                <a:latin typeface="PT Sans"/>
              </a:rPr>
              <a:t>= 2 + 2 + 2 = 6</a:t>
            </a:r>
          </a:p>
        </p:txBody>
      </p:sp>
      <p:sp>
        <p:nvSpPr>
          <p:cNvPr id="18" name="TextBox 17"/>
          <p:cNvSpPr txBox="1"/>
          <p:nvPr/>
        </p:nvSpPr>
        <p:spPr>
          <a:xfrm>
            <a:off x="658368" y="4526280"/>
            <a:ext cx="3136392"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Беттерди жуп менен санайбыз.</a:t>
            </a:r>
          </a:p>
        </p:txBody>
      </p:sp>
      <p:sp>
        <p:nvSpPr>
          <p:cNvPr id="19" name="Rounded Rectangle 18"/>
          <p:cNvSpPr/>
          <p:nvPr/>
        </p:nvSpPr>
        <p:spPr>
          <a:xfrm>
            <a:off x="4297680" y="1280160"/>
            <a:ext cx="3593592" cy="4160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480560" y="1444752"/>
            <a:ext cx="457200" cy="45720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2</a:t>
            </a:r>
          </a:p>
        </p:txBody>
      </p:sp>
      <p:sp>
        <p:nvSpPr>
          <p:cNvPr id="21" name="TextBox 20"/>
          <p:cNvSpPr txBox="1"/>
          <p:nvPr/>
        </p:nvSpPr>
        <p:spPr>
          <a:xfrm>
            <a:off x="5074920" y="1371600"/>
            <a:ext cx="2679192" cy="685800"/>
          </a:xfrm>
          <a:prstGeom prst="rect">
            <a:avLst/>
          </a:prstGeom>
          <a:noFill/>
        </p:spPr>
        <p:txBody>
          <a:bodyPr wrap="square" anchor="ctr" lIns="45720" rIns="45720" tIns="27432" bIns="27432">
            <a:spAutoFit/>
          </a:bodyPr>
          <a:lstStyle/>
          <a:p>
            <a:pPr algn="l">
              <a:lnSpc>
                <a:spcPct val="105000"/>
              </a:lnSpc>
            </a:pPr>
            <a:r>
              <a:rPr sz="2000" b="1" i="0">
                <a:solidFill>
                  <a:srgbClr val="1D3557"/>
                </a:solidFill>
                <a:latin typeface="PT Sans"/>
              </a:rPr>
              <a:t>Кабат-кабат</a:t>
            </a:r>
          </a:p>
        </p:txBody>
      </p:sp>
      <p:sp>
        <p:nvSpPr>
          <p:cNvPr id="22" name="TextBox 21"/>
          <p:cNvSpPr txBox="1"/>
          <p:nvPr/>
        </p:nvSpPr>
        <p:spPr>
          <a:xfrm>
            <a:off x="4526280" y="2194560"/>
            <a:ext cx="3136392" cy="457200"/>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Кубдун кырлары:</a:t>
            </a:r>
          </a:p>
        </p:txBody>
      </p:sp>
      <p:sp>
        <p:nvSpPr>
          <p:cNvPr id="23" name="TextBox 22"/>
          <p:cNvSpPr txBox="1"/>
          <p:nvPr/>
        </p:nvSpPr>
        <p:spPr>
          <a:xfrm>
            <a:off x="4526280" y="2651760"/>
            <a:ext cx="3136392" cy="457200"/>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үстүндө: 4</a:t>
            </a:r>
          </a:p>
        </p:txBody>
      </p:sp>
      <p:sp>
        <p:nvSpPr>
          <p:cNvPr id="24" name="TextBox 23"/>
          <p:cNvSpPr txBox="1"/>
          <p:nvPr/>
        </p:nvSpPr>
        <p:spPr>
          <a:xfrm>
            <a:off x="4526280" y="3108960"/>
            <a:ext cx="3136392" cy="457200"/>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астында: 4</a:t>
            </a:r>
          </a:p>
        </p:txBody>
      </p:sp>
      <p:sp>
        <p:nvSpPr>
          <p:cNvPr id="25" name="TextBox 24"/>
          <p:cNvSpPr txBox="1"/>
          <p:nvPr/>
        </p:nvSpPr>
        <p:spPr>
          <a:xfrm>
            <a:off x="4526280" y="3566160"/>
            <a:ext cx="3136392" cy="457200"/>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тик: 4</a:t>
            </a:r>
          </a:p>
        </p:txBody>
      </p:sp>
      <p:sp>
        <p:nvSpPr>
          <p:cNvPr id="26" name="TextBox 25"/>
          <p:cNvSpPr txBox="1"/>
          <p:nvPr/>
        </p:nvSpPr>
        <p:spPr>
          <a:xfrm>
            <a:off x="4526280" y="4023360"/>
            <a:ext cx="3136392" cy="457200"/>
          </a:xfrm>
          <a:prstGeom prst="rect">
            <a:avLst/>
          </a:prstGeom>
          <a:noFill/>
        </p:spPr>
        <p:txBody>
          <a:bodyPr wrap="square" anchor="ctr" lIns="45720" rIns="45720" tIns="27432" bIns="27432">
            <a:spAutoFit/>
          </a:bodyPr>
          <a:lstStyle/>
          <a:p>
            <a:pPr algn="l">
              <a:lnSpc>
                <a:spcPct val="105000"/>
              </a:lnSpc>
            </a:pPr>
            <a:r>
              <a:rPr sz="2200" b="1" i="0">
                <a:solidFill>
                  <a:srgbClr val="24418C"/>
                </a:solidFill>
                <a:latin typeface="PT Sans"/>
              </a:rPr>
              <a:t>= 4 + 4 + 4 = 12</a:t>
            </a:r>
          </a:p>
        </p:txBody>
      </p:sp>
      <p:sp>
        <p:nvSpPr>
          <p:cNvPr id="27" name="TextBox 26"/>
          <p:cNvSpPr txBox="1"/>
          <p:nvPr/>
        </p:nvSpPr>
        <p:spPr>
          <a:xfrm>
            <a:off x="4526280" y="4526280"/>
            <a:ext cx="3136392"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Үстү, асты жана тик кырлар.</a:t>
            </a:r>
          </a:p>
        </p:txBody>
      </p:sp>
      <p:sp>
        <p:nvSpPr>
          <p:cNvPr id="28" name="Rounded Rectangle 27"/>
          <p:cNvSpPr/>
          <p:nvPr/>
        </p:nvSpPr>
        <p:spPr>
          <a:xfrm>
            <a:off x="8165592" y="1280160"/>
            <a:ext cx="3593592" cy="4160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348472" y="1444752"/>
            <a:ext cx="457200" cy="45720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3</a:t>
            </a:r>
          </a:p>
        </p:txBody>
      </p:sp>
      <p:sp>
        <p:nvSpPr>
          <p:cNvPr id="30" name="TextBox 29"/>
          <p:cNvSpPr txBox="1"/>
          <p:nvPr/>
        </p:nvSpPr>
        <p:spPr>
          <a:xfrm>
            <a:off x="8942832" y="1371600"/>
            <a:ext cx="2679192" cy="685800"/>
          </a:xfrm>
          <a:prstGeom prst="rect">
            <a:avLst/>
          </a:prstGeom>
          <a:noFill/>
        </p:spPr>
        <p:txBody>
          <a:bodyPr wrap="square" anchor="ctr" lIns="45720" rIns="45720" tIns="27432" bIns="27432">
            <a:spAutoFit/>
          </a:bodyPr>
          <a:lstStyle/>
          <a:p>
            <a:pPr algn="l">
              <a:lnSpc>
                <a:spcPct val="105000"/>
              </a:lnSpc>
            </a:pPr>
            <a:r>
              <a:rPr sz="2000" b="1" i="0">
                <a:solidFill>
                  <a:srgbClr val="1D3557"/>
                </a:solidFill>
                <a:latin typeface="PT Sans"/>
              </a:rPr>
              <a:t>Жак = чоку</a:t>
            </a:r>
          </a:p>
        </p:txBody>
      </p:sp>
      <p:sp>
        <p:nvSpPr>
          <p:cNvPr id="31" name="TextBox 30"/>
          <p:cNvSpPr txBox="1"/>
          <p:nvPr/>
        </p:nvSpPr>
        <p:spPr>
          <a:xfrm>
            <a:off x="8394192" y="2194560"/>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Беш бурчтук:</a:t>
            </a:r>
          </a:p>
        </p:txBody>
      </p:sp>
      <p:sp>
        <p:nvSpPr>
          <p:cNvPr id="32" name="TextBox 31"/>
          <p:cNvSpPr txBox="1"/>
          <p:nvPr/>
        </p:nvSpPr>
        <p:spPr>
          <a:xfrm>
            <a:off x="8394192" y="2761488"/>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5 жак → 5 чоку</a:t>
            </a:r>
          </a:p>
        </p:txBody>
      </p:sp>
      <p:sp>
        <p:nvSpPr>
          <p:cNvPr id="33" name="TextBox 32"/>
          <p:cNvSpPr txBox="1"/>
          <p:nvPr/>
        </p:nvSpPr>
        <p:spPr>
          <a:xfrm>
            <a:off x="8394192" y="3328415"/>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Алты бурчтук:</a:t>
            </a:r>
          </a:p>
        </p:txBody>
      </p:sp>
      <p:sp>
        <p:nvSpPr>
          <p:cNvPr id="34" name="TextBox 33"/>
          <p:cNvSpPr txBox="1"/>
          <p:nvPr/>
        </p:nvSpPr>
        <p:spPr>
          <a:xfrm>
            <a:off x="8394192" y="3895344"/>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24418C"/>
                </a:solidFill>
                <a:latin typeface="PT Sans"/>
              </a:rPr>
              <a:t>6 жак → 6 чоку</a:t>
            </a:r>
          </a:p>
        </p:txBody>
      </p:sp>
      <p:sp>
        <p:nvSpPr>
          <p:cNvPr id="35" name="TextBox 34"/>
          <p:cNvSpPr txBox="1"/>
          <p:nvPr/>
        </p:nvSpPr>
        <p:spPr>
          <a:xfrm>
            <a:off x="8394192" y="4526280"/>
            <a:ext cx="3136392"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Тегиз фигурада жак менен чоку бирдей.</a:t>
            </a:r>
          </a:p>
        </p:txBody>
      </p:sp>
      <p:sp>
        <p:nvSpPr>
          <p:cNvPr id="36" name="Rounded Rectangle 35"/>
          <p:cNvSpPr/>
          <p:nvPr/>
        </p:nvSpPr>
        <p:spPr>
          <a:xfrm>
            <a:off x="429768" y="5577840"/>
            <a:ext cx="11329416" cy="502920"/>
          </a:xfrm>
          <a:prstGeom prst="roundRect">
            <a:avLst>
              <a:gd name="adj" fmla="val 40000"/>
            </a:avLst>
          </a:prstGeom>
          <a:solidFill>
            <a:srgbClr val="FFFFFF"/>
          </a:solidFill>
          <a:ln w="2222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700" b="1">
                <a:solidFill>
                  <a:srgbClr val="007A5A"/>
                </a:solidFill>
                <a:latin typeface="PT Sans"/>
              </a:rPr>
              <a:t>Ыкмаңды айт: «Мен ... деп санадым».</a:t>
            </a:r>
          </a:p>
        </p:txBody>
      </p:sp>
      <p:sp>
        <p:nvSpPr>
          <p:cNvPr id="37" name="Rounded Rectangle 36"/>
          <p:cNvSpPr/>
          <p:nvPr/>
        </p:nvSpPr>
        <p:spPr>
          <a:xfrm>
            <a:off x="4449927" y="6327648"/>
            <a:ext cx="3291840" cy="411480"/>
          </a:xfrm>
          <a:prstGeom prst="roundRect">
            <a:avLst>
              <a:gd name="adj" fmla="val 50000"/>
            </a:avLst>
          </a:prstGeom>
          <a:no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007A5A"/>
                </a:solidFill>
                <a:latin typeface="PT Sans"/>
              </a:rPr>
              <a:t>3C · Сынчыл ой</a:t>
            </a:r>
          </a:p>
        </p:txBody>
      </p:sp>
      <p:sp>
        <p:nvSpPr>
          <p:cNvPr id="38" name="Rounded Rectangle 37"/>
          <p:cNvSpPr/>
          <p:nvPr/>
        </p:nvSpPr>
        <p:spPr>
          <a:xfrm>
            <a:off x="8412480"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К</a:t>
            </a:r>
          </a:p>
        </p:txBody>
      </p:sp>
      <p:sp>
        <p:nvSpPr>
          <p:cNvPr id="39" name="Rounded Rectangle 38"/>
          <p:cNvSpPr/>
          <p:nvPr/>
        </p:nvSpPr>
        <p:spPr>
          <a:xfrm>
            <a:off x="896111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С</a:t>
            </a:r>
          </a:p>
        </p:txBody>
      </p:sp>
      <p:sp>
        <p:nvSpPr>
          <p:cNvPr id="40" name="Rounded Rectangle 39"/>
          <p:cNvSpPr/>
          <p:nvPr/>
        </p:nvSpPr>
        <p:spPr>
          <a:xfrm>
            <a:off x="9509759"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А</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Чечүүчү суроо</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Тегиз жана көлөмдүү фигуралар</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17/26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200" b="0" i="0">
                <a:solidFill>
                  <a:srgbClr val="1F2430"/>
                </a:solidFill>
                <a:latin typeface="PT Sans"/>
              </a:rPr>
              <a:t>Кубдун канча кыры бар? (Кыр – эки бет кошулган сызык.)</a:t>
            </a:r>
          </a:p>
        </p:txBody>
      </p:sp>
      <p:sp>
        <p:nvSpPr>
          <p:cNvPr id="12" name="Rounded Rectangle 11"/>
          <p:cNvSpPr/>
          <p:nvPr/>
        </p:nvSpPr>
        <p:spPr>
          <a:xfrm>
            <a:off x="429768" y="2286000"/>
            <a:ext cx="5550408" cy="150876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04088" y="2743200"/>
            <a:ext cx="594360" cy="59436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1D3557"/>
                </a:solidFill>
                <a:latin typeface="PT Sans"/>
              </a:rPr>
              <a:t>А</a:t>
            </a:r>
          </a:p>
        </p:txBody>
      </p:sp>
      <p:sp>
        <p:nvSpPr>
          <p:cNvPr id="14" name="TextBox 13"/>
          <p:cNvSpPr txBox="1"/>
          <p:nvPr/>
        </p:nvSpPr>
        <p:spPr>
          <a:xfrm>
            <a:off x="1527048" y="2286000"/>
            <a:ext cx="4297680" cy="1508760"/>
          </a:xfrm>
          <a:prstGeom prst="rect">
            <a:avLst/>
          </a:prstGeom>
          <a:noFill/>
        </p:spPr>
        <p:txBody>
          <a:bodyPr wrap="square" anchor="ctr" lIns="45720" rIns="45720" tIns="27432" bIns="27432">
            <a:spAutoFit/>
          </a:bodyPr>
          <a:lstStyle/>
          <a:p>
            <a:pPr algn="l">
              <a:lnSpc>
                <a:spcPct val="105000"/>
              </a:lnSpc>
            </a:pPr>
            <a:r>
              <a:rPr sz="3000" b="1" i="0">
                <a:solidFill>
                  <a:srgbClr val="1F2430"/>
                </a:solidFill>
                <a:latin typeface="PT Sans"/>
              </a:rPr>
              <a:t>8</a:t>
            </a:r>
          </a:p>
        </p:txBody>
      </p:sp>
      <p:sp>
        <p:nvSpPr>
          <p:cNvPr id="15" name="Rounded Rectangle 14"/>
          <p:cNvSpPr/>
          <p:nvPr/>
        </p:nvSpPr>
        <p:spPr>
          <a:xfrm>
            <a:off x="6208776" y="2286000"/>
            <a:ext cx="5550408" cy="150876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83096" y="2743200"/>
            <a:ext cx="594360" cy="59436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1D3557"/>
                </a:solidFill>
                <a:latin typeface="PT Sans"/>
              </a:rPr>
              <a:t>Б</a:t>
            </a:r>
          </a:p>
        </p:txBody>
      </p:sp>
      <p:sp>
        <p:nvSpPr>
          <p:cNvPr id="17" name="TextBox 16"/>
          <p:cNvSpPr txBox="1"/>
          <p:nvPr/>
        </p:nvSpPr>
        <p:spPr>
          <a:xfrm>
            <a:off x="7306056" y="2286000"/>
            <a:ext cx="4297680" cy="1508760"/>
          </a:xfrm>
          <a:prstGeom prst="rect">
            <a:avLst/>
          </a:prstGeom>
          <a:noFill/>
        </p:spPr>
        <p:txBody>
          <a:bodyPr wrap="square" anchor="ctr" lIns="45720" rIns="45720" tIns="27432" bIns="27432">
            <a:spAutoFit/>
          </a:bodyPr>
          <a:lstStyle/>
          <a:p>
            <a:pPr algn="l">
              <a:lnSpc>
                <a:spcPct val="105000"/>
              </a:lnSpc>
            </a:pPr>
            <a:r>
              <a:rPr sz="3000" b="1" i="0">
                <a:solidFill>
                  <a:srgbClr val="1F2430"/>
                </a:solidFill>
                <a:latin typeface="PT Sans"/>
              </a:rPr>
              <a:t>12</a:t>
            </a:r>
          </a:p>
        </p:txBody>
      </p:sp>
      <p:sp>
        <p:nvSpPr>
          <p:cNvPr id="18" name="Rounded Rectangle 17"/>
          <p:cNvSpPr/>
          <p:nvPr/>
        </p:nvSpPr>
        <p:spPr>
          <a:xfrm>
            <a:off x="429768" y="4023360"/>
            <a:ext cx="5550408" cy="150876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04088" y="4480560"/>
            <a:ext cx="594360" cy="59436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1D3557"/>
                </a:solidFill>
                <a:latin typeface="PT Sans"/>
              </a:rPr>
              <a:t>В</a:t>
            </a:r>
          </a:p>
        </p:txBody>
      </p:sp>
      <p:sp>
        <p:nvSpPr>
          <p:cNvPr id="20" name="TextBox 19"/>
          <p:cNvSpPr txBox="1"/>
          <p:nvPr/>
        </p:nvSpPr>
        <p:spPr>
          <a:xfrm>
            <a:off x="1527048" y="4023360"/>
            <a:ext cx="4297680" cy="1508760"/>
          </a:xfrm>
          <a:prstGeom prst="rect">
            <a:avLst/>
          </a:prstGeom>
          <a:noFill/>
        </p:spPr>
        <p:txBody>
          <a:bodyPr wrap="square" anchor="ctr" lIns="45720" rIns="45720" tIns="27432" bIns="27432">
            <a:spAutoFit/>
          </a:bodyPr>
          <a:lstStyle/>
          <a:p>
            <a:pPr algn="l">
              <a:lnSpc>
                <a:spcPct val="105000"/>
              </a:lnSpc>
            </a:pPr>
            <a:r>
              <a:rPr sz="3000" b="1" i="0">
                <a:solidFill>
                  <a:srgbClr val="1F2430"/>
                </a:solidFill>
                <a:latin typeface="PT Sans"/>
              </a:rPr>
              <a:t>9</a:t>
            </a:r>
          </a:p>
        </p:txBody>
      </p:sp>
      <p:sp>
        <p:nvSpPr>
          <p:cNvPr id="21" name="Rounded Rectangle 20"/>
          <p:cNvSpPr/>
          <p:nvPr/>
        </p:nvSpPr>
        <p:spPr>
          <a:xfrm>
            <a:off x="6208776" y="4023360"/>
            <a:ext cx="5550408" cy="150876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83096" y="4480560"/>
            <a:ext cx="594360" cy="59436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1D3557"/>
                </a:solidFill>
                <a:latin typeface="PT Sans"/>
              </a:rPr>
              <a:t>Г</a:t>
            </a:r>
          </a:p>
        </p:txBody>
      </p:sp>
      <p:sp>
        <p:nvSpPr>
          <p:cNvPr id="23" name="TextBox 22"/>
          <p:cNvSpPr txBox="1"/>
          <p:nvPr/>
        </p:nvSpPr>
        <p:spPr>
          <a:xfrm>
            <a:off x="7306056" y="4023360"/>
            <a:ext cx="4297680" cy="1508760"/>
          </a:xfrm>
          <a:prstGeom prst="rect">
            <a:avLst/>
          </a:prstGeom>
          <a:noFill/>
        </p:spPr>
        <p:txBody>
          <a:bodyPr wrap="square" anchor="ctr" lIns="45720" rIns="45720" tIns="27432" bIns="27432">
            <a:spAutoFit/>
          </a:bodyPr>
          <a:lstStyle/>
          <a:p>
            <a:pPr algn="l">
              <a:lnSpc>
                <a:spcPct val="105000"/>
              </a:lnSpc>
            </a:pPr>
            <a:r>
              <a:rPr sz="3000" b="1" i="0">
                <a:solidFill>
                  <a:srgbClr val="1F2430"/>
                </a:solidFill>
                <a:latin typeface="PT Sans"/>
              </a:rPr>
              <a:t>4</a:t>
            </a:r>
          </a:p>
        </p:txBody>
      </p:sp>
      <p:sp>
        <p:nvSpPr>
          <p:cNvPr id="24" name="Rounded Rectangle 23"/>
          <p:cNvSpPr/>
          <p:nvPr/>
        </p:nvSpPr>
        <p:spPr>
          <a:xfrm>
            <a:off x="4449927" y="6327648"/>
            <a:ext cx="3291840" cy="411480"/>
          </a:xfrm>
          <a:prstGeom prst="roundRect">
            <a:avLst>
              <a:gd name="adj" fmla="val 50000"/>
            </a:avLst>
          </a:prstGeom>
          <a:no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007A5A"/>
                </a:solidFill>
                <a:latin typeface="PT Sans"/>
              </a:rPr>
              <a:t>3C · Сынчыл ой</a:t>
            </a:r>
          </a:p>
        </p:txBody>
      </p:sp>
      <p:sp>
        <p:nvSpPr>
          <p:cNvPr id="25" name="g2fig"/>
          <p:cNvSpPr/>
          <p:nvPr/>
        </p:nvSpPr>
        <p:spPr>
          <a:xfrm>
            <a:off x="11009376" y="1446532"/>
            <a:ext cx="418844" cy="418844"/>
          </a:xfrm>
          <a:custGeom>
            <a:avLst/>
            <a:gdLst/>
            <a:ahLst/>
            <a:cxnLst/>
            <a:rect l="l" t="t" r="r" b="b"/>
            <a:pathLst>
              <a:path w="418844" h="418844">
                <a:moveTo>
                  <a:pt x="0" y="418844"/>
                </a:moveTo>
                <a:lnTo>
                  <a:pt x="418844" y="418844"/>
                </a:lnTo>
                <a:lnTo>
                  <a:pt x="418844" y="0"/>
                </a:lnTo>
                <a:lnTo>
                  <a:pt x="0" y="0"/>
                </a:lnTo>
                <a:close/>
              </a:path>
            </a:pathLst>
          </a:custGeom>
          <a:solidFill>
            <a:srgbClr val="C9D4EE"/>
          </a:solidFill>
          <a:ln w="5080" cap="rnd">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g2fig"/>
          <p:cNvSpPr/>
          <p:nvPr/>
        </p:nvSpPr>
        <p:spPr>
          <a:xfrm>
            <a:off x="11009376" y="1298448"/>
            <a:ext cx="566928" cy="148084"/>
          </a:xfrm>
          <a:custGeom>
            <a:avLst/>
            <a:gdLst/>
            <a:ahLst/>
            <a:cxnLst/>
            <a:rect l="l" t="t" r="r" b="b"/>
            <a:pathLst>
              <a:path w="566928" h="148084">
                <a:moveTo>
                  <a:pt x="0" y="148084"/>
                </a:moveTo>
                <a:lnTo>
                  <a:pt x="418844" y="148084"/>
                </a:lnTo>
                <a:lnTo>
                  <a:pt x="566928" y="0"/>
                </a:lnTo>
                <a:lnTo>
                  <a:pt x="148084" y="0"/>
                </a:lnTo>
                <a:close/>
              </a:path>
            </a:pathLst>
          </a:custGeom>
          <a:solidFill>
            <a:srgbClr val="E6EBF7"/>
          </a:solidFill>
          <a:ln w="5080" cap="rnd">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g2fig"/>
          <p:cNvSpPr/>
          <p:nvPr/>
        </p:nvSpPr>
        <p:spPr>
          <a:xfrm>
            <a:off x="11428220" y="1298448"/>
            <a:ext cx="148084" cy="566928"/>
          </a:xfrm>
          <a:custGeom>
            <a:avLst/>
            <a:gdLst/>
            <a:ahLst/>
            <a:cxnLst/>
            <a:rect l="l" t="t" r="r" b="b"/>
            <a:pathLst>
              <a:path w="148084" h="566928">
                <a:moveTo>
                  <a:pt x="0" y="566928"/>
                </a:moveTo>
                <a:lnTo>
                  <a:pt x="0" y="148084"/>
                </a:lnTo>
                <a:lnTo>
                  <a:pt x="148084" y="0"/>
                </a:lnTo>
                <a:lnTo>
                  <a:pt x="148084" y="418844"/>
                </a:lnTo>
                <a:close/>
              </a:path>
            </a:pathLst>
          </a:custGeom>
          <a:solidFill>
            <a:srgbClr val="C9D4EE"/>
          </a:solidFill>
          <a:ln w="5080" cap="rnd">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g2fig"/>
          <p:cNvCxnSpPr/>
          <p:nvPr/>
        </p:nvCxnSpPr>
        <p:spPr>
          <a:xfrm flipV="1">
            <a:off x="11009376" y="1717292"/>
            <a:ext cx="148083" cy="148084"/>
          </a:xfrm>
          <a:prstGeom prst="line">
            <a:avLst/>
          </a:prstGeom>
          <a:ln w="9525" cap="rnd">
            <a:solidFill>
              <a:srgbClr val="4A5A70"/>
            </a:solidFill>
            <a:prstDash val="dash"/>
          </a:ln>
        </p:spPr>
        <p:style>
          <a:lnRef idx="2">
            <a:schemeClr val="accent1"/>
          </a:lnRef>
          <a:fillRef idx="0">
            <a:schemeClr val="accent1"/>
          </a:fillRef>
          <a:effectRef idx="1">
            <a:schemeClr val="accent1"/>
          </a:effectRef>
          <a:fontRef idx="minor">
            <a:schemeClr val="tx1"/>
          </a:fontRef>
        </p:style>
      </p:cxnSp>
      <p:cxnSp>
        <p:nvCxnSpPr>
          <p:cNvPr id="29" name="g2fig"/>
          <p:cNvCxnSpPr/>
          <p:nvPr/>
        </p:nvCxnSpPr>
        <p:spPr>
          <a:xfrm>
            <a:off x="11157459" y="1717292"/>
            <a:ext cx="418844" cy="0"/>
          </a:xfrm>
          <a:prstGeom prst="line">
            <a:avLst/>
          </a:prstGeom>
          <a:ln w="9525" cap="rnd">
            <a:solidFill>
              <a:srgbClr val="4A5A70"/>
            </a:solidFill>
            <a:prstDash val="dash"/>
          </a:ln>
        </p:spPr>
        <p:style>
          <a:lnRef idx="2">
            <a:schemeClr val="accent1"/>
          </a:lnRef>
          <a:fillRef idx="0">
            <a:schemeClr val="accent1"/>
          </a:fillRef>
          <a:effectRef idx="1">
            <a:schemeClr val="accent1"/>
          </a:effectRef>
          <a:fontRef idx="minor">
            <a:schemeClr val="tx1"/>
          </a:fontRef>
        </p:style>
      </p:cxnSp>
      <p:cxnSp>
        <p:nvCxnSpPr>
          <p:cNvPr id="30" name="g2fig"/>
          <p:cNvCxnSpPr/>
          <p:nvPr/>
        </p:nvCxnSpPr>
        <p:spPr>
          <a:xfrm flipV="1">
            <a:off x="11157459" y="1298448"/>
            <a:ext cx="0" cy="418844"/>
          </a:xfrm>
          <a:prstGeom prst="line">
            <a:avLst/>
          </a:prstGeom>
          <a:ln w="9525" cap="rnd">
            <a:solidFill>
              <a:srgbClr val="4A5A70"/>
            </a:solidFill>
            <a:prstDash val="dash"/>
          </a:ln>
        </p:spPr>
        <p:style>
          <a:lnRef idx="2">
            <a:schemeClr val="accent1"/>
          </a:lnRef>
          <a:fillRef idx="0">
            <a:schemeClr val="accent1"/>
          </a:fillRef>
          <a:effectRef idx="1">
            <a:schemeClr val="accent1"/>
          </a:effectRef>
          <a:fontRef idx="minor">
            <a:schemeClr val="tx1"/>
          </a:fontRef>
        </p:style>
      </p:cxnSp>
      <p:cxnSp>
        <p:nvCxnSpPr>
          <p:cNvPr id="31" name="g2fig"/>
          <p:cNvCxnSpPr/>
          <p:nvPr/>
        </p:nvCxnSpPr>
        <p:spPr>
          <a:xfrm>
            <a:off x="11009376" y="1865376"/>
            <a:ext cx="418844" cy="0"/>
          </a:xfrm>
          <a:prstGeom prst="line">
            <a:avLst/>
          </a:prstGeom>
          <a:ln w="1270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32" name="g2fig"/>
          <p:cNvCxnSpPr/>
          <p:nvPr/>
        </p:nvCxnSpPr>
        <p:spPr>
          <a:xfrm flipV="1">
            <a:off x="11009376" y="1446531"/>
            <a:ext cx="0" cy="418845"/>
          </a:xfrm>
          <a:prstGeom prst="line">
            <a:avLst/>
          </a:prstGeom>
          <a:ln w="1270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33" name="g2fig"/>
          <p:cNvCxnSpPr/>
          <p:nvPr/>
        </p:nvCxnSpPr>
        <p:spPr>
          <a:xfrm flipV="1">
            <a:off x="11428220" y="1446531"/>
            <a:ext cx="0" cy="418845"/>
          </a:xfrm>
          <a:prstGeom prst="line">
            <a:avLst/>
          </a:prstGeom>
          <a:ln w="1270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34" name="g2fig"/>
          <p:cNvCxnSpPr/>
          <p:nvPr/>
        </p:nvCxnSpPr>
        <p:spPr>
          <a:xfrm flipV="1">
            <a:off x="11428220" y="1717292"/>
            <a:ext cx="148083" cy="148084"/>
          </a:xfrm>
          <a:prstGeom prst="line">
            <a:avLst/>
          </a:prstGeom>
          <a:ln w="1270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35" name="g2fig"/>
          <p:cNvCxnSpPr/>
          <p:nvPr/>
        </p:nvCxnSpPr>
        <p:spPr>
          <a:xfrm flipH="1">
            <a:off x="11009376" y="1446531"/>
            <a:ext cx="418844" cy="0"/>
          </a:xfrm>
          <a:prstGeom prst="line">
            <a:avLst/>
          </a:prstGeom>
          <a:ln w="1270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36" name="g2fig"/>
          <p:cNvCxnSpPr/>
          <p:nvPr/>
        </p:nvCxnSpPr>
        <p:spPr>
          <a:xfrm flipV="1">
            <a:off x="11428220" y="1298448"/>
            <a:ext cx="148083" cy="148083"/>
          </a:xfrm>
          <a:prstGeom prst="line">
            <a:avLst/>
          </a:prstGeom>
          <a:ln w="1270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37" name="g2fig"/>
          <p:cNvCxnSpPr/>
          <p:nvPr/>
        </p:nvCxnSpPr>
        <p:spPr>
          <a:xfrm flipV="1">
            <a:off x="11009376" y="1298448"/>
            <a:ext cx="148083" cy="148083"/>
          </a:xfrm>
          <a:prstGeom prst="line">
            <a:avLst/>
          </a:prstGeom>
          <a:ln w="1270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38" name="g2fig"/>
          <p:cNvCxnSpPr/>
          <p:nvPr/>
        </p:nvCxnSpPr>
        <p:spPr>
          <a:xfrm flipV="1">
            <a:off x="11576303" y="1298448"/>
            <a:ext cx="0" cy="418844"/>
          </a:xfrm>
          <a:prstGeom prst="line">
            <a:avLst/>
          </a:prstGeom>
          <a:ln w="12700"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39" name="g2fig"/>
          <p:cNvCxnSpPr/>
          <p:nvPr/>
        </p:nvCxnSpPr>
        <p:spPr>
          <a:xfrm flipH="1">
            <a:off x="11157459" y="1298448"/>
            <a:ext cx="418844" cy="0"/>
          </a:xfrm>
          <a:prstGeom prst="line">
            <a:avLst/>
          </a:prstGeom>
          <a:ln w="12700" cap="rnd">
            <a:solidFill>
              <a:srgbClr val="1D3557"/>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Тилке машыгуусу: чий, анан эсепте</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Тегиз жана көлөмдүү фигуралар</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18/26</a:t>
            </a:r>
          </a:p>
        </p:txBody>
      </p:sp>
      <p:sp>
        <p:nvSpPr>
          <p:cNvPr id="10" name="Rounded Rectangle 9"/>
          <p:cNvSpPr/>
          <p:nvPr/>
        </p:nvSpPr>
        <p:spPr>
          <a:xfrm>
            <a:off x="429768" y="1691640"/>
            <a:ext cx="3624072" cy="44348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66928" y="1828800"/>
            <a:ext cx="384048" cy="384048"/>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2" name="TextBox 11"/>
          <p:cNvSpPr txBox="1"/>
          <p:nvPr/>
        </p:nvSpPr>
        <p:spPr>
          <a:xfrm>
            <a:off x="1024128" y="1755648"/>
            <a:ext cx="2892552" cy="1051560"/>
          </a:xfrm>
          <a:prstGeom prst="rect">
            <a:avLst/>
          </a:prstGeom>
          <a:noFill/>
        </p:spPr>
        <p:txBody>
          <a:bodyPr wrap="square" anchor="t" lIns="45720" rIns="45720" tIns="27432" bIns="27432">
            <a:spAutoFit/>
          </a:bodyPr>
          <a:lstStyle/>
          <a:p>
            <a:pPr algn="l">
              <a:lnSpc>
                <a:spcPct val="105000"/>
              </a:lnSpc>
            </a:pPr>
            <a:r>
              <a:rPr sz="1700" b="0" i="0">
                <a:solidFill>
                  <a:srgbClr val="1F2430"/>
                </a:solidFill>
                <a:latin typeface="PT Sans"/>
              </a:rPr>
              <a:t>Нуриза таякчалардан 1 үч бурчтук жана 1 квадрат курду. Канча таякча колдонду?</a:t>
            </a:r>
          </a:p>
        </p:txBody>
      </p:sp>
      <p:sp>
        <p:nvSpPr>
          <p:cNvPr id="13" name="TextBox 12"/>
          <p:cNvSpPr txBox="1"/>
          <p:nvPr/>
        </p:nvSpPr>
        <p:spPr>
          <a:xfrm>
            <a:off x="704088" y="3429000"/>
            <a:ext cx="3075432" cy="1005840"/>
          </a:xfrm>
          <a:prstGeom prst="rect">
            <a:avLst/>
          </a:prstGeom>
          <a:noFill/>
        </p:spPr>
        <p:txBody>
          <a:bodyPr wrap="square" anchor="t" lIns="45720" rIns="45720" tIns="27432" bIns="27432">
            <a:spAutoFit/>
          </a:bodyPr>
          <a:lstStyle/>
          <a:p>
            <a:pPr algn="l">
              <a:lnSpc>
                <a:spcPct val="105000"/>
              </a:lnSpc>
            </a:pPr>
            <a:r>
              <a:rPr sz="1400" b="0" i="1">
                <a:solidFill>
                  <a:srgbClr val="6B7280"/>
                </a:solidFill>
                <a:latin typeface="PT Sans"/>
              </a:rPr>
              <a:t>Тилкени бул жерге чий</a:t>
            </a:r>
          </a:p>
        </p:txBody>
      </p:sp>
      <p:sp>
        <p:nvSpPr>
          <p:cNvPr id="14" name="TextBox 13"/>
          <p:cNvSpPr txBox="1"/>
          <p:nvPr/>
        </p:nvSpPr>
        <p:spPr>
          <a:xfrm>
            <a:off x="612647" y="4572000"/>
            <a:ext cx="1554480" cy="411480"/>
          </a:xfrm>
          <a:prstGeom prst="rect">
            <a:avLst/>
          </a:prstGeom>
          <a:noFill/>
        </p:spPr>
        <p:txBody>
          <a:bodyPr wrap="square" anchor="b" lIns="45720" rIns="45720" tIns="27432" bIns="27432">
            <a:spAutoFit/>
          </a:bodyPr>
          <a:lstStyle/>
          <a:p>
            <a:pPr algn="l">
              <a:lnSpc>
                <a:spcPct val="105000"/>
              </a:lnSpc>
            </a:pPr>
            <a:r>
              <a:rPr sz="1800" b="0" i="0">
                <a:solidFill>
                  <a:srgbClr val="6B7280"/>
                </a:solidFill>
                <a:latin typeface="PT Sans"/>
              </a:rPr>
              <a:t>Туюнтма:</a:t>
            </a:r>
          </a:p>
        </p:txBody>
      </p:sp>
      <p:cxnSp>
        <p:nvCxnSpPr>
          <p:cNvPr id="15" name="Connector 14"/>
          <p:cNvCxnSpPr/>
          <p:nvPr/>
        </p:nvCxnSpPr>
        <p:spPr>
          <a:xfrm>
            <a:off x="2167128" y="4956048"/>
            <a:ext cx="1703832"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12647" y="5257800"/>
            <a:ext cx="1005840" cy="411480"/>
          </a:xfrm>
          <a:prstGeom prst="rect">
            <a:avLst/>
          </a:prstGeom>
          <a:noFill/>
        </p:spPr>
        <p:txBody>
          <a:bodyPr wrap="square" anchor="b" lIns="45720" rIns="45720" tIns="27432" bIns="27432">
            <a:spAutoFit/>
          </a:bodyPr>
          <a:lstStyle/>
          <a:p>
            <a:pPr algn="l">
              <a:lnSpc>
                <a:spcPct val="105000"/>
              </a:lnSpc>
            </a:pPr>
            <a:r>
              <a:rPr sz="1800" b="0" i="0">
                <a:solidFill>
                  <a:srgbClr val="6B7280"/>
                </a:solidFill>
                <a:latin typeface="PT Sans"/>
              </a:rPr>
              <a:t>Жообу:</a:t>
            </a:r>
          </a:p>
        </p:txBody>
      </p:sp>
      <p:cxnSp>
        <p:nvCxnSpPr>
          <p:cNvPr id="17" name="Connector 16"/>
          <p:cNvCxnSpPr/>
          <p:nvPr/>
        </p:nvCxnSpPr>
        <p:spPr>
          <a:xfrm>
            <a:off x="1618488" y="5641848"/>
            <a:ext cx="2252472"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282439" y="1691640"/>
            <a:ext cx="3624072" cy="44348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419600" y="1828800"/>
            <a:ext cx="384048" cy="384048"/>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20" name="TextBox 19"/>
          <p:cNvSpPr txBox="1"/>
          <p:nvPr/>
        </p:nvSpPr>
        <p:spPr>
          <a:xfrm>
            <a:off x="4876800" y="1755648"/>
            <a:ext cx="2892552" cy="1051560"/>
          </a:xfrm>
          <a:prstGeom prst="rect">
            <a:avLst/>
          </a:prstGeom>
          <a:noFill/>
        </p:spPr>
        <p:txBody>
          <a:bodyPr wrap="square" anchor="t" lIns="45720" rIns="45720" tIns="27432" bIns="27432">
            <a:spAutoFit/>
          </a:bodyPr>
          <a:lstStyle/>
          <a:p>
            <a:pPr algn="l">
              <a:lnSpc>
                <a:spcPct val="105000"/>
              </a:lnSpc>
            </a:pPr>
            <a:r>
              <a:rPr sz="1700" b="0" i="0">
                <a:solidFill>
                  <a:srgbClr val="1F2430"/>
                </a:solidFill>
                <a:latin typeface="PT Sans"/>
              </a:rPr>
              <a:t>Асан ата 2 кубиктин бардык беттерин боёду. Канча бетти боёду?</a:t>
            </a:r>
          </a:p>
        </p:txBody>
      </p:sp>
      <p:sp>
        <p:nvSpPr>
          <p:cNvPr id="21" name="TextBox 20"/>
          <p:cNvSpPr txBox="1"/>
          <p:nvPr/>
        </p:nvSpPr>
        <p:spPr>
          <a:xfrm>
            <a:off x="4556759" y="3429000"/>
            <a:ext cx="3075432" cy="1005840"/>
          </a:xfrm>
          <a:prstGeom prst="rect">
            <a:avLst/>
          </a:prstGeom>
          <a:noFill/>
        </p:spPr>
        <p:txBody>
          <a:bodyPr wrap="square" anchor="t" lIns="45720" rIns="45720" tIns="27432" bIns="27432">
            <a:spAutoFit/>
          </a:bodyPr>
          <a:lstStyle/>
          <a:p>
            <a:pPr algn="l">
              <a:lnSpc>
                <a:spcPct val="105000"/>
              </a:lnSpc>
            </a:pPr>
            <a:r>
              <a:rPr sz="1400" b="0" i="1">
                <a:solidFill>
                  <a:srgbClr val="6B7280"/>
                </a:solidFill>
                <a:latin typeface="PT Sans"/>
              </a:rPr>
              <a:t>Тилкени бул жерге чий</a:t>
            </a:r>
          </a:p>
        </p:txBody>
      </p:sp>
      <p:sp>
        <p:nvSpPr>
          <p:cNvPr id="22" name="TextBox 21"/>
          <p:cNvSpPr txBox="1"/>
          <p:nvPr/>
        </p:nvSpPr>
        <p:spPr>
          <a:xfrm>
            <a:off x="4465320" y="4572000"/>
            <a:ext cx="1554480" cy="411480"/>
          </a:xfrm>
          <a:prstGeom prst="rect">
            <a:avLst/>
          </a:prstGeom>
          <a:noFill/>
        </p:spPr>
        <p:txBody>
          <a:bodyPr wrap="square" anchor="b" lIns="45720" rIns="45720" tIns="27432" bIns="27432">
            <a:spAutoFit/>
          </a:bodyPr>
          <a:lstStyle/>
          <a:p>
            <a:pPr algn="l">
              <a:lnSpc>
                <a:spcPct val="105000"/>
              </a:lnSpc>
            </a:pPr>
            <a:r>
              <a:rPr sz="1800" b="0" i="0">
                <a:solidFill>
                  <a:srgbClr val="6B7280"/>
                </a:solidFill>
                <a:latin typeface="PT Sans"/>
              </a:rPr>
              <a:t>Туюнтма:</a:t>
            </a:r>
          </a:p>
        </p:txBody>
      </p:sp>
      <p:cxnSp>
        <p:nvCxnSpPr>
          <p:cNvPr id="23" name="Connector 22"/>
          <p:cNvCxnSpPr/>
          <p:nvPr/>
        </p:nvCxnSpPr>
        <p:spPr>
          <a:xfrm>
            <a:off x="6019800" y="4956048"/>
            <a:ext cx="1703831"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465320" y="5257800"/>
            <a:ext cx="1005840" cy="411480"/>
          </a:xfrm>
          <a:prstGeom prst="rect">
            <a:avLst/>
          </a:prstGeom>
          <a:noFill/>
        </p:spPr>
        <p:txBody>
          <a:bodyPr wrap="square" anchor="b" lIns="45720" rIns="45720" tIns="27432" bIns="27432">
            <a:spAutoFit/>
          </a:bodyPr>
          <a:lstStyle/>
          <a:p>
            <a:pPr algn="l">
              <a:lnSpc>
                <a:spcPct val="105000"/>
              </a:lnSpc>
            </a:pPr>
            <a:r>
              <a:rPr sz="1800" b="0" i="0">
                <a:solidFill>
                  <a:srgbClr val="6B7280"/>
                </a:solidFill>
                <a:latin typeface="PT Sans"/>
              </a:rPr>
              <a:t>Жообу:</a:t>
            </a:r>
          </a:p>
        </p:txBody>
      </p:sp>
      <p:cxnSp>
        <p:nvCxnSpPr>
          <p:cNvPr id="25" name="Connector 24"/>
          <p:cNvCxnSpPr/>
          <p:nvPr/>
        </p:nvCxnSpPr>
        <p:spPr>
          <a:xfrm>
            <a:off x="5471159" y="5641848"/>
            <a:ext cx="2252472"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8135112" y="1691640"/>
            <a:ext cx="3624072" cy="44348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72272" y="1828800"/>
            <a:ext cx="384048" cy="384048"/>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28" name="TextBox 27"/>
          <p:cNvSpPr txBox="1"/>
          <p:nvPr/>
        </p:nvSpPr>
        <p:spPr>
          <a:xfrm>
            <a:off x="8729472" y="1755648"/>
            <a:ext cx="2892552" cy="1051560"/>
          </a:xfrm>
          <a:prstGeom prst="rect">
            <a:avLst/>
          </a:prstGeom>
          <a:noFill/>
        </p:spPr>
        <p:txBody>
          <a:bodyPr wrap="square" anchor="t" lIns="45720" rIns="45720" tIns="27432" bIns="27432">
            <a:spAutoFit/>
          </a:bodyPr>
          <a:lstStyle/>
          <a:p>
            <a:pPr algn="l">
              <a:lnSpc>
                <a:spcPct val="105000"/>
              </a:lnSpc>
            </a:pPr>
            <a:r>
              <a:rPr sz="1700" b="0" i="0">
                <a:solidFill>
                  <a:srgbClr val="1F2430"/>
                </a:solidFill>
                <a:latin typeface="PT Sans"/>
              </a:rPr>
              <a:t>Нуризада 20 таякча бар. Ал 1 куб каркасын курду. Канча таякча калды?</a:t>
            </a:r>
          </a:p>
        </p:txBody>
      </p:sp>
      <p:sp>
        <p:nvSpPr>
          <p:cNvPr id="29" name="TextBox 28"/>
          <p:cNvSpPr txBox="1"/>
          <p:nvPr/>
        </p:nvSpPr>
        <p:spPr>
          <a:xfrm>
            <a:off x="8409432" y="3429000"/>
            <a:ext cx="3075432" cy="1005840"/>
          </a:xfrm>
          <a:prstGeom prst="rect">
            <a:avLst/>
          </a:prstGeom>
          <a:noFill/>
        </p:spPr>
        <p:txBody>
          <a:bodyPr wrap="square" anchor="t" lIns="45720" rIns="45720" tIns="27432" bIns="27432">
            <a:spAutoFit/>
          </a:bodyPr>
          <a:lstStyle/>
          <a:p>
            <a:pPr algn="l">
              <a:lnSpc>
                <a:spcPct val="105000"/>
              </a:lnSpc>
            </a:pPr>
            <a:r>
              <a:rPr sz="1400" b="0" i="1">
                <a:solidFill>
                  <a:srgbClr val="6B7280"/>
                </a:solidFill>
                <a:latin typeface="PT Sans"/>
              </a:rPr>
              <a:t>Тилкени бул жерге чий</a:t>
            </a:r>
          </a:p>
        </p:txBody>
      </p:sp>
      <p:sp>
        <p:nvSpPr>
          <p:cNvPr id="30" name="TextBox 29"/>
          <p:cNvSpPr txBox="1"/>
          <p:nvPr/>
        </p:nvSpPr>
        <p:spPr>
          <a:xfrm>
            <a:off x="8317991" y="4572000"/>
            <a:ext cx="1554480" cy="411480"/>
          </a:xfrm>
          <a:prstGeom prst="rect">
            <a:avLst/>
          </a:prstGeom>
          <a:noFill/>
        </p:spPr>
        <p:txBody>
          <a:bodyPr wrap="square" anchor="b" lIns="45720" rIns="45720" tIns="27432" bIns="27432">
            <a:spAutoFit/>
          </a:bodyPr>
          <a:lstStyle/>
          <a:p>
            <a:pPr algn="l">
              <a:lnSpc>
                <a:spcPct val="105000"/>
              </a:lnSpc>
            </a:pPr>
            <a:r>
              <a:rPr sz="1800" b="0" i="0">
                <a:solidFill>
                  <a:srgbClr val="6B7280"/>
                </a:solidFill>
                <a:latin typeface="PT Sans"/>
              </a:rPr>
              <a:t>Туюнтма:</a:t>
            </a:r>
          </a:p>
        </p:txBody>
      </p:sp>
      <p:cxnSp>
        <p:nvCxnSpPr>
          <p:cNvPr id="31" name="Connector 30"/>
          <p:cNvCxnSpPr/>
          <p:nvPr/>
        </p:nvCxnSpPr>
        <p:spPr>
          <a:xfrm>
            <a:off x="9872471" y="4956048"/>
            <a:ext cx="1703833"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317991" y="5257800"/>
            <a:ext cx="1005840" cy="411480"/>
          </a:xfrm>
          <a:prstGeom prst="rect">
            <a:avLst/>
          </a:prstGeom>
          <a:noFill/>
        </p:spPr>
        <p:txBody>
          <a:bodyPr wrap="square" anchor="b" lIns="45720" rIns="45720" tIns="27432" bIns="27432">
            <a:spAutoFit/>
          </a:bodyPr>
          <a:lstStyle/>
          <a:p>
            <a:pPr algn="l">
              <a:lnSpc>
                <a:spcPct val="105000"/>
              </a:lnSpc>
            </a:pPr>
            <a:r>
              <a:rPr sz="1800" b="0" i="0">
                <a:solidFill>
                  <a:srgbClr val="6B7280"/>
                </a:solidFill>
                <a:latin typeface="PT Sans"/>
              </a:rPr>
              <a:t>Жообу:</a:t>
            </a:r>
          </a:p>
        </p:txBody>
      </p:sp>
      <p:cxnSp>
        <p:nvCxnSpPr>
          <p:cNvPr id="33" name="Connector 32"/>
          <p:cNvCxnSpPr/>
          <p:nvPr/>
        </p:nvCxnSpPr>
        <p:spPr>
          <a:xfrm>
            <a:off x="9323831" y="5641848"/>
            <a:ext cx="2252473"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8412480"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К</a:t>
            </a:r>
          </a:p>
        </p:txBody>
      </p:sp>
      <p:sp>
        <p:nvSpPr>
          <p:cNvPr id="35" name="Rounded Rectangle 34"/>
          <p:cNvSpPr/>
          <p:nvPr/>
        </p:nvSpPr>
        <p:spPr>
          <a:xfrm>
            <a:off x="8961119"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С</a:t>
            </a:r>
          </a:p>
        </p:txBody>
      </p:sp>
      <p:sp>
        <p:nvSpPr>
          <p:cNvPr id="36" name="Rounded Rectangle 35"/>
          <p:cNvSpPr/>
          <p:nvPr/>
        </p:nvSpPr>
        <p:spPr>
          <a:xfrm>
            <a:off x="950975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А</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Тилке машыгуусу: жооптор</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Тегиз жана көлөмдүү фигуралар</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19/26</a:t>
            </a:r>
          </a:p>
        </p:txBody>
      </p:sp>
      <p:sp>
        <p:nvSpPr>
          <p:cNvPr id="10" name="Rounded Rectangle 9"/>
          <p:cNvSpPr/>
          <p:nvPr/>
        </p:nvSpPr>
        <p:spPr>
          <a:xfrm>
            <a:off x="429768" y="1280160"/>
            <a:ext cx="3624072" cy="48463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66928" y="1417319"/>
            <a:ext cx="384048" cy="384048"/>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2" name="TextBox 11"/>
          <p:cNvSpPr txBox="1"/>
          <p:nvPr/>
        </p:nvSpPr>
        <p:spPr>
          <a:xfrm>
            <a:off x="1024128" y="1344168"/>
            <a:ext cx="2892552" cy="1463040"/>
          </a:xfrm>
          <a:prstGeom prst="rect">
            <a:avLst/>
          </a:prstGeom>
          <a:noFill/>
        </p:spPr>
        <p:txBody>
          <a:bodyPr wrap="square" anchor="t" lIns="45720" rIns="45720" tIns="27432" bIns="27432">
            <a:spAutoFit/>
          </a:bodyPr>
          <a:lstStyle/>
          <a:p>
            <a:pPr algn="l">
              <a:lnSpc>
                <a:spcPct val="105000"/>
              </a:lnSpc>
            </a:pPr>
            <a:r>
              <a:rPr sz="1400" b="0" i="0">
                <a:solidFill>
                  <a:srgbClr val="1F2430"/>
                </a:solidFill>
                <a:latin typeface="PT Sans"/>
              </a:rPr>
              <a:t>Нуриза таякчалардан 1 үч бурчтук жана 1 квадрат курду. Канча таякча колдонду?</a:t>
            </a:r>
          </a:p>
        </p:txBody>
      </p:sp>
      <p:sp>
        <p:nvSpPr>
          <p:cNvPr id="13" name="Rectangle 12"/>
          <p:cNvSpPr/>
          <p:nvPr/>
        </p:nvSpPr>
        <p:spPr>
          <a:xfrm>
            <a:off x="566928" y="3017520"/>
            <a:ext cx="1004533" cy="384048"/>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3</a:t>
            </a:r>
          </a:p>
        </p:txBody>
      </p:sp>
      <p:sp>
        <p:nvSpPr>
          <p:cNvPr id="14" name="Rectangle 13"/>
          <p:cNvSpPr/>
          <p:nvPr/>
        </p:nvSpPr>
        <p:spPr>
          <a:xfrm>
            <a:off x="1571461" y="3017520"/>
            <a:ext cx="1339378" cy="384048"/>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4</a:t>
            </a:r>
          </a:p>
        </p:txBody>
      </p:sp>
      <p:cxnSp>
        <p:nvCxnSpPr>
          <p:cNvPr id="15" name="Connector 14"/>
          <p:cNvCxnSpPr/>
          <p:nvPr/>
        </p:nvCxnSpPr>
        <p:spPr>
          <a:xfrm>
            <a:off x="3002280" y="3017520"/>
            <a:ext cx="13716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139440" y="3017520"/>
            <a:ext cx="0" cy="384048"/>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002280" y="3401568"/>
            <a:ext cx="13716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185160" y="2935224"/>
            <a:ext cx="1005840" cy="548640"/>
          </a:xfrm>
          <a:prstGeom prst="rect">
            <a:avLst/>
          </a:prstGeom>
          <a:noFill/>
        </p:spPr>
        <p:txBody>
          <a:bodyPr wrap="square" anchor="ctr" lIns="45720" rIns="45720" tIns="27432" bIns="27432">
            <a:spAutoFit/>
          </a:bodyPr>
          <a:lstStyle/>
          <a:p>
            <a:pPr algn="l">
              <a:lnSpc>
                <a:spcPct val="105000"/>
              </a:lnSpc>
            </a:pPr>
            <a:r>
              <a:rPr sz="1500" b="1" i="0">
                <a:solidFill>
                  <a:srgbClr val="A84400"/>
                </a:solidFill>
                <a:latin typeface="PT Sans"/>
              </a:rPr>
              <a:t>7</a:t>
            </a:r>
          </a:p>
        </p:txBody>
      </p:sp>
      <p:sp>
        <p:nvSpPr>
          <p:cNvPr id="19" name="TextBox 18"/>
          <p:cNvSpPr txBox="1"/>
          <p:nvPr/>
        </p:nvSpPr>
        <p:spPr>
          <a:xfrm>
            <a:off x="612647" y="5120640"/>
            <a:ext cx="3258312" cy="822960"/>
          </a:xfrm>
          <a:prstGeom prst="rect">
            <a:avLst/>
          </a:prstGeom>
          <a:noFill/>
        </p:spPr>
        <p:txBody>
          <a:bodyPr wrap="square" anchor="t" lIns="45720" rIns="45720" tIns="27432" bIns="27432">
            <a:spAutoFit/>
          </a:bodyPr>
          <a:lstStyle/>
          <a:p>
            <a:pPr algn="ctr">
              <a:lnSpc>
                <a:spcPct val="105000"/>
              </a:lnSpc>
            </a:pPr>
            <a:r>
              <a:rPr sz="1700" b="1" i="0">
                <a:solidFill>
                  <a:srgbClr val="24418C"/>
                </a:solidFill>
                <a:latin typeface="PT Sans"/>
              </a:rPr>
              <a:t>3 + 4 = 7 таякча</a:t>
            </a:r>
          </a:p>
        </p:txBody>
      </p:sp>
      <p:sp>
        <p:nvSpPr>
          <p:cNvPr id="20" name="Rounded Rectangle 19"/>
          <p:cNvSpPr/>
          <p:nvPr/>
        </p:nvSpPr>
        <p:spPr>
          <a:xfrm>
            <a:off x="4282439" y="1280160"/>
            <a:ext cx="3624072" cy="48463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419600" y="1417319"/>
            <a:ext cx="384048" cy="384048"/>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22" name="TextBox 21"/>
          <p:cNvSpPr txBox="1"/>
          <p:nvPr/>
        </p:nvSpPr>
        <p:spPr>
          <a:xfrm>
            <a:off x="4876800" y="1344168"/>
            <a:ext cx="2892552" cy="1463040"/>
          </a:xfrm>
          <a:prstGeom prst="rect">
            <a:avLst/>
          </a:prstGeom>
          <a:noFill/>
        </p:spPr>
        <p:txBody>
          <a:bodyPr wrap="square" anchor="t" lIns="45720" rIns="45720" tIns="27432" bIns="27432">
            <a:spAutoFit/>
          </a:bodyPr>
          <a:lstStyle/>
          <a:p>
            <a:pPr algn="l">
              <a:lnSpc>
                <a:spcPct val="105000"/>
              </a:lnSpc>
            </a:pPr>
            <a:r>
              <a:rPr sz="1400" b="0" i="0">
                <a:solidFill>
                  <a:srgbClr val="1F2430"/>
                </a:solidFill>
                <a:latin typeface="PT Sans"/>
              </a:rPr>
              <a:t>Асан ата 2 кубиктин бардык беттерин боёду. Канча бетти боёду?</a:t>
            </a:r>
          </a:p>
        </p:txBody>
      </p:sp>
      <p:sp>
        <p:nvSpPr>
          <p:cNvPr id="23" name="Rectangle 22"/>
          <p:cNvSpPr/>
          <p:nvPr/>
        </p:nvSpPr>
        <p:spPr>
          <a:xfrm>
            <a:off x="4419600" y="3017520"/>
            <a:ext cx="1171956" cy="384048"/>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6</a:t>
            </a:r>
          </a:p>
        </p:txBody>
      </p:sp>
      <p:sp>
        <p:nvSpPr>
          <p:cNvPr id="24" name="Rectangle 23"/>
          <p:cNvSpPr/>
          <p:nvPr/>
        </p:nvSpPr>
        <p:spPr>
          <a:xfrm>
            <a:off x="5591556" y="3017520"/>
            <a:ext cx="1171956" cy="384048"/>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6</a:t>
            </a:r>
          </a:p>
        </p:txBody>
      </p:sp>
      <p:cxnSp>
        <p:nvCxnSpPr>
          <p:cNvPr id="25" name="Connector 24"/>
          <p:cNvCxnSpPr/>
          <p:nvPr/>
        </p:nvCxnSpPr>
        <p:spPr>
          <a:xfrm>
            <a:off x="6854951" y="3017520"/>
            <a:ext cx="137161"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6992112" y="3017520"/>
            <a:ext cx="0" cy="384048"/>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854951" y="3401568"/>
            <a:ext cx="137161"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7037832" y="2935224"/>
            <a:ext cx="1005840" cy="548640"/>
          </a:xfrm>
          <a:prstGeom prst="rect">
            <a:avLst/>
          </a:prstGeom>
          <a:noFill/>
        </p:spPr>
        <p:txBody>
          <a:bodyPr wrap="square" anchor="ctr" lIns="45720" rIns="45720" tIns="27432" bIns="27432">
            <a:spAutoFit/>
          </a:bodyPr>
          <a:lstStyle/>
          <a:p>
            <a:pPr algn="l">
              <a:lnSpc>
                <a:spcPct val="105000"/>
              </a:lnSpc>
            </a:pPr>
            <a:r>
              <a:rPr sz="1500" b="1" i="0">
                <a:solidFill>
                  <a:srgbClr val="A84400"/>
                </a:solidFill>
                <a:latin typeface="PT Sans"/>
              </a:rPr>
              <a:t>12</a:t>
            </a:r>
          </a:p>
        </p:txBody>
      </p:sp>
      <p:sp>
        <p:nvSpPr>
          <p:cNvPr id="29" name="TextBox 28"/>
          <p:cNvSpPr txBox="1"/>
          <p:nvPr/>
        </p:nvSpPr>
        <p:spPr>
          <a:xfrm>
            <a:off x="4465320" y="5120640"/>
            <a:ext cx="3258312" cy="822960"/>
          </a:xfrm>
          <a:prstGeom prst="rect">
            <a:avLst/>
          </a:prstGeom>
          <a:noFill/>
        </p:spPr>
        <p:txBody>
          <a:bodyPr wrap="square" anchor="t" lIns="45720" rIns="45720" tIns="27432" bIns="27432">
            <a:spAutoFit/>
          </a:bodyPr>
          <a:lstStyle/>
          <a:p>
            <a:pPr algn="ctr">
              <a:lnSpc>
                <a:spcPct val="105000"/>
              </a:lnSpc>
            </a:pPr>
            <a:r>
              <a:rPr sz="1700" b="1" i="0">
                <a:solidFill>
                  <a:srgbClr val="24418C"/>
                </a:solidFill>
                <a:latin typeface="PT Sans"/>
              </a:rPr>
              <a:t>6 + 6 = 12 бет</a:t>
            </a:r>
          </a:p>
        </p:txBody>
      </p:sp>
      <p:sp>
        <p:nvSpPr>
          <p:cNvPr id="30" name="Rounded Rectangle 29"/>
          <p:cNvSpPr/>
          <p:nvPr/>
        </p:nvSpPr>
        <p:spPr>
          <a:xfrm>
            <a:off x="8135112" y="1280160"/>
            <a:ext cx="3624072" cy="48463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272272" y="1417319"/>
            <a:ext cx="384048" cy="384048"/>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32" name="TextBox 31"/>
          <p:cNvSpPr txBox="1"/>
          <p:nvPr/>
        </p:nvSpPr>
        <p:spPr>
          <a:xfrm>
            <a:off x="8729472" y="1344168"/>
            <a:ext cx="2892552" cy="1463040"/>
          </a:xfrm>
          <a:prstGeom prst="rect">
            <a:avLst/>
          </a:prstGeom>
          <a:noFill/>
        </p:spPr>
        <p:txBody>
          <a:bodyPr wrap="square" anchor="t" lIns="45720" rIns="45720" tIns="27432" bIns="27432">
            <a:spAutoFit/>
          </a:bodyPr>
          <a:lstStyle/>
          <a:p>
            <a:pPr algn="l">
              <a:lnSpc>
                <a:spcPct val="105000"/>
              </a:lnSpc>
            </a:pPr>
            <a:r>
              <a:rPr sz="1400" b="0" i="0">
                <a:solidFill>
                  <a:srgbClr val="1F2430"/>
                </a:solidFill>
                <a:latin typeface="PT Sans"/>
              </a:rPr>
              <a:t>Нуризада 20 таякча бар. Ал 1 куб каркасын курду. Канча таякча калды?</a:t>
            </a:r>
          </a:p>
        </p:txBody>
      </p:sp>
      <p:sp>
        <p:nvSpPr>
          <p:cNvPr id="33" name="Rectangle 32"/>
          <p:cNvSpPr/>
          <p:nvPr/>
        </p:nvSpPr>
        <p:spPr>
          <a:xfrm>
            <a:off x="8272272" y="3017520"/>
            <a:ext cx="1406347" cy="384048"/>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12</a:t>
            </a:r>
          </a:p>
        </p:txBody>
      </p:sp>
      <p:sp>
        <p:nvSpPr>
          <p:cNvPr id="34" name="Rectangle 33"/>
          <p:cNvSpPr/>
          <p:nvPr/>
        </p:nvSpPr>
        <p:spPr>
          <a:xfrm>
            <a:off x="9678619" y="3017520"/>
            <a:ext cx="937564" cy="384048"/>
          </a:xfrm>
          <a:prstGeom prst="rect">
            <a:avLst/>
          </a:prstGeom>
          <a:solidFill>
            <a:srgbClr val="FFFFFF"/>
          </a:solidFill>
          <a:ln w="20320">
            <a:solidFill>
              <a:srgbClr val="4A5A7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6B7280"/>
                </a:solidFill>
                <a:latin typeface="PT Sans"/>
              </a:rPr>
              <a:t>?</a:t>
            </a:r>
          </a:p>
        </p:txBody>
      </p:sp>
      <p:cxnSp>
        <p:nvCxnSpPr>
          <p:cNvPr id="35" name="Connector 34"/>
          <p:cNvCxnSpPr/>
          <p:nvPr/>
        </p:nvCxnSpPr>
        <p:spPr>
          <a:xfrm>
            <a:off x="10707624" y="3017520"/>
            <a:ext cx="13716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0844784" y="3017520"/>
            <a:ext cx="0" cy="384048"/>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0707624" y="3401568"/>
            <a:ext cx="13716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10890503" y="2935224"/>
            <a:ext cx="1005840" cy="548640"/>
          </a:xfrm>
          <a:prstGeom prst="rect">
            <a:avLst/>
          </a:prstGeom>
          <a:noFill/>
        </p:spPr>
        <p:txBody>
          <a:bodyPr wrap="square" anchor="ctr" lIns="45720" rIns="45720" tIns="27432" bIns="27432">
            <a:spAutoFit/>
          </a:bodyPr>
          <a:lstStyle/>
          <a:p>
            <a:pPr algn="l">
              <a:lnSpc>
                <a:spcPct val="105000"/>
              </a:lnSpc>
            </a:pPr>
            <a:r>
              <a:rPr sz="1500" b="1" i="0">
                <a:solidFill>
                  <a:srgbClr val="A84400"/>
                </a:solidFill>
                <a:latin typeface="PT Sans"/>
              </a:rPr>
              <a:t>20</a:t>
            </a:r>
          </a:p>
        </p:txBody>
      </p:sp>
      <p:sp>
        <p:nvSpPr>
          <p:cNvPr id="39" name="TextBox 38"/>
          <p:cNvSpPr txBox="1"/>
          <p:nvPr/>
        </p:nvSpPr>
        <p:spPr>
          <a:xfrm>
            <a:off x="8317991" y="5120640"/>
            <a:ext cx="3258312" cy="822960"/>
          </a:xfrm>
          <a:prstGeom prst="rect">
            <a:avLst/>
          </a:prstGeom>
          <a:noFill/>
        </p:spPr>
        <p:txBody>
          <a:bodyPr wrap="square" anchor="t" lIns="45720" rIns="45720" tIns="27432" bIns="27432">
            <a:spAutoFit/>
          </a:bodyPr>
          <a:lstStyle/>
          <a:p>
            <a:pPr algn="ctr">
              <a:lnSpc>
                <a:spcPct val="105000"/>
              </a:lnSpc>
            </a:pPr>
            <a:r>
              <a:rPr sz="1700" b="1" i="0">
                <a:solidFill>
                  <a:srgbClr val="24418C"/>
                </a:solidFill>
                <a:latin typeface="PT Sans"/>
              </a:rPr>
              <a:t>20 − 12 = 8 таякча</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Өз алдынча иш</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Тегиз жана көлөмдүү фигуралар</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20/26</a:t>
            </a:r>
          </a:p>
        </p:txBody>
      </p:sp>
      <p:sp>
        <p:nvSpPr>
          <p:cNvPr id="10" name="TextBox 9"/>
          <p:cNvSpPr txBox="1"/>
          <p:nvPr/>
        </p:nvSpPr>
        <p:spPr>
          <a:xfrm>
            <a:off x="429768" y="1143000"/>
            <a:ext cx="11329416" cy="457200"/>
          </a:xfrm>
          <a:prstGeom prst="rect">
            <a:avLst/>
          </a:prstGeom>
          <a:noFill/>
        </p:spPr>
        <p:txBody>
          <a:bodyPr wrap="square" anchor="t" lIns="45720" rIns="45720" tIns="27432" bIns="27432">
            <a:spAutoFit/>
          </a:bodyPr>
          <a:lstStyle/>
          <a:p>
            <a:pPr algn="l">
              <a:lnSpc>
                <a:spcPct val="105000"/>
              </a:lnSpc>
            </a:pPr>
            <a:r>
              <a:rPr sz="2200" b="0" i="1">
                <a:solidFill>
                  <a:srgbClr val="6B7280"/>
                </a:solidFill>
                <a:latin typeface="PT Sans"/>
              </a:rPr>
              <a:t>Дептериңе чыгар. Кыйын болсо – жакшы! Мээң өсүп жатат.</a:t>
            </a:r>
          </a:p>
        </p:txBody>
      </p:sp>
      <p:sp>
        <p:nvSpPr>
          <p:cNvPr id="11" name="Rounded Rectangle 10"/>
          <p:cNvSpPr/>
          <p:nvPr/>
        </p:nvSpPr>
        <p:spPr>
          <a:xfrm>
            <a:off x="429768" y="1691640"/>
            <a:ext cx="5550408"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12647" y="215036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1</a:t>
            </a:r>
          </a:p>
        </p:txBody>
      </p:sp>
      <p:sp>
        <p:nvSpPr>
          <p:cNvPr id="13" name="TextBox 12"/>
          <p:cNvSpPr txBox="1"/>
          <p:nvPr/>
        </p:nvSpPr>
        <p:spPr>
          <a:xfrm>
            <a:off x="1207007" y="1691640"/>
            <a:ext cx="4636008" cy="1356359"/>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Аты эмне? Жагы канча?</a:t>
            </a:r>
          </a:p>
        </p:txBody>
      </p:sp>
      <p:sp>
        <p:nvSpPr>
          <p:cNvPr id="14" name="Rounded Rectangle 13"/>
          <p:cNvSpPr/>
          <p:nvPr/>
        </p:nvSpPr>
        <p:spPr>
          <a:xfrm>
            <a:off x="6208776" y="1691640"/>
            <a:ext cx="5550408"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391656" y="215036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2</a:t>
            </a:r>
          </a:p>
        </p:txBody>
      </p:sp>
      <p:sp>
        <p:nvSpPr>
          <p:cNvPr id="16" name="TextBox 15"/>
          <p:cNvSpPr txBox="1"/>
          <p:nvPr/>
        </p:nvSpPr>
        <p:spPr>
          <a:xfrm>
            <a:off x="6986016" y="1691640"/>
            <a:ext cx="4636008" cy="1356359"/>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Канча тик бурчу бар?</a:t>
            </a:r>
          </a:p>
        </p:txBody>
      </p:sp>
      <p:sp>
        <p:nvSpPr>
          <p:cNvPr id="17" name="Rounded Rectangle 16"/>
          <p:cNvSpPr/>
          <p:nvPr/>
        </p:nvSpPr>
        <p:spPr>
          <a:xfrm>
            <a:off x="429768" y="3230880"/>
            <a:ext cx="5550408"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12647" y="3689603"/>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3</a:t>
            </a:r>
          </a:p>
        </p:txBody>
      </p:sp>
      <p:sp>
        <p:nvSpPr>
          <p:cNvPr id="19" name="TextBox 18"/>
          <p:cNvSpPr txBox="1"/>
          <p:nvPr/>
        </p:nvSpPr>
        <p:spPr>
          <a:xfrm>
            <a:off x="1207007" y="3230880"/>
            <a:ext cx="4636008" cy="1356359"/>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Цилиндрдин канча жалпак бети бар?</a:t>
            </a:r>
          </a:p>
        </p:txBody>
      </p:sp>
      <p:sp>
        <p:nvSpPr>
          <p:cNvPr id="20" name="Rounded Rectangle 19"/>
          <p:cNvSpPr/>
          <p:nvPr/>
        </p:nvSpPr>
        <p:spPr>
          <a:xfrm>
            <a:off x="6208776" y="3230880"/>
            <a:ext cx="5550408"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91656" y="3689603"/>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4</a:t>
            </a:r>
          </a:p>
        </p:txBody>
      </p:sp>
      <p:sp>
        <p:nvSpPr>
          <p:cNvPr id="22" name="TextBox 21"/>
          <p:cNvSpPr txBox="1"/>
          <p:nvPr/>
        </p:nvSpPr>
        <p:spPr>
          <a:xfrm>
            <a:off x="6986016" y="3230880"/>
            <a:ext cx="4636008" cy="1356359"/>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Үч бурчтуу призманын канча бети, канча чокусу бар?</a:t>
            </a:r>
          </a:p>
        </p:txBody>
      </p:sp>
      <p:sp>
        <p:nvSpPr>
          <p:cNvPr id="23" name="Rounded Rectangle 22"/>
          <p:cNvSpPr/>
          <p:nvPr/>
        </p:nvSpPr>
        <p:spPr>
          <a:xfrm>
            <a:off x="429768" y="4770120"/>
            <a:ext cx="5550408"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12647" y="522884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5</a:t>
            </a:r>
          </a:p>
        </p:txBody>
      </p:sp>
      <p:sp>
        <p:nvSpPr>
          <p:cNvPr id="25" name="TextBox 24"/>
          <p:cNvSpPr txBox="1"/>
          <p:nvPr/>
        </p:nvSpPr>
        <p:spPr>
          <a:xfrm>
            <a:off x="1207007" y="4770120"/>
            <a:ext cx="4636008" cy="1356359"/>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3 квадрат курууга канча таякча керек?</a:t>
            </a:r>
          </a:p>
        </p:txBody>
      </p:sp>
      <p:sp>
        <p:nvSpPr>
          <p:cNvPr id="26" name="Rounded Rectangle 25"/>
          <p:cNvSpPr/>
          <p:nvPr/>
        </p:nvSpPr>
        <p:spPr>
          <a:xfrm>
            <a:off x="6208776" y="4770120"/>
            <a:ext cx="5550408"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91656" y="522884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6</a:t>
            </a:r>
          </a:p>
        </p:txBody>
      </p:sp>
      <p:sp>
        <p:nvSpPr>
          <p:cNvPr id="28" name="TextBox 27"/>
          <p:cNvSpPr txBox="1"/>
          <p:nvPr/>
        </p:nvSpPr>
        <p:spPr>
          <a:xfrm>
            <a:off x="6986016" y="4770120"/>
            <a:ext cx="4636008" cy="1356359"/>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Кайсынысы тоголонот: куб, шар, конус, пирамида?</a:t>
            </a:r>
          </a:p>
        </p:txBody>
      </p:sp>
      <p:sp>
        <p:nvSpPr>
          <p:cNvPr id="29" name="Rounded Rectangle 28"/>
          <p:cNvSpPr/>
          <p:nvPr/>
        </p:nvSpPr>
        <p:spPr>
          <a:xfrm>
            <a:off x="8412480"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К</a:t>
            </a:r>
          </a:p>
        </p:txBody>
      </p:sp>
      <p:sp>
        <p:nvSpPr>
          <p:cNvPr id="30" name="Rounded Rectangle 29"/>
          <p:cNvSpPr/>
          <p:nvPr/>
        </p:nvSpPr>
        <p:spPr>
          <a:xfrm>
            <a:off x="896111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С</a:t>
            </a:r>
          </a:p>
        </p:txBody>
      </p:sp>
      <p:sp>
        <p:nvSpPr>
          <p:cNvPr id="31" name="Rounded Rectangle 30"/>
          <p:cNvSpPr/>
          <p:nvPr/>
        </p:nvSpPr>
        <p:spPr>
          <a:xfrm>
            <a:off x="9509759"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А</a:t>
            </a:r>
          </a:p>
        </p:txBody>
      </p:sp>
      <p:sp>
        <p:nvSpPr>
          <p:cNvPr id="32" name="g2fig"/>
          <p:cNvSpPr/>
          <p:nvPr/>
        </p:nvSpPr>
        <p:spPr>
          <a:xfrm>
            <a:off x="4928616" y="1973873"/>
            <a:ext cx="914400" cy="791894"/>
          </a:xfrm>
          <a:custGeom>
            <a:avLst/>
            <a:gdLst/>
            <a:ahLst/>
            <a:cxnLst/>
            <a:rect l="l" t="t" r="r" b="b"/>
            <a:pathLst>
              <a:path w="914400" h="791894">
                <a:moveTo>
                  <a:pt x="914400" y="395947"/>
                </a:moveTo>
                <a:lnTo>
                  <a:pt x="685800" y="791894"/>
                </a:lnTo>
                <a:lnTo>
                  <a:pt x="228600" y="791894"/>
                </a:lnTo>
                <a:lnTo>
                  <a:pt x="0" y="395947"/>
                </a:lnTo>
                <a:lnTo>
                  <a:pt x="228600" y="0"/>
                </a:lnTo>
                <a:lnTo>
                  <a:pt x="685800" y="0"/>
                </a:lnTo>
                <a:close/>
              </a:path>
            </a:pathLst>
          </a:custGeom>
          <a:solidFill>
            <a:srgbClr val="B5E2D3"/>
          </a:solidFill>
          <a:ln w="13144" cap="rnd">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g2fig"/>
          <p:cNvSpPr/>
          <p:nvPr/>
        </p:nvSpPr>
        <p:spPr>
          <a:xfrm>
            <a:off x="10707624" y="2053297"/>
            <a:ext cx="914400" cy="633046"/>
          </a:xfrm>
          <a:custGeom>
            <a:avLst/>
            <a:gdLst/>
            <a:ahLst/>
            <a:cxnLst/>
            <a:rect l="l" t="t" r="r" b="b"/>
            <a:pathLst>
              <a:path w="914400" h="633046">
                <a:moveTo>
                  <a:pt x="0" y="0"/>
                </a:moveTo>
                <a:lnTo>
                  <a:pt x="562708" y="0"/>
                </a:lnTo>
                <a:lnTo>
                  <a:pt x="914400" y="633046"/>
                </a:lnTo>
                <a:lnTo>
                  <a:pt x="0" y="633046"/>
                </a:lnTo>
                <a:close/>
              </a:path>
            </a:pathLst>
          </a:custGeom>
          <a:solidFill>
            <a:srgbClr val="B5E2D3"/>
          </a:solidFill>
          <a:ln w="13144" cap="rnd">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Өз алдынча иш: жооптор</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Тегиз жана көлөмдүү фигуралар</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21/26</a:t>
            </a:r>
          </a:p>
        </p:txBody>
      </p:sp>
      <p:sp>
        <p:nvSpPr>
          <p:cNvPr id="10" name="Rounded Rectangle 9"/>
          <p:cNvSpPr/>
          <p:nvPr/>
        </p:nvSpPr>
        <p:spPr>
          <a:xfrm>
            <a:off x="429768" y="1325880"/>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66928" y="1581912"/>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2" name="TextBox 11"/>
          <p:cNvSpPr txBox="1"/>
          <p:nvPr/>
        </p:nvSpPr>
        <p:spPr>
          <a:xfrm>
            <a:off x="1115568" y="1325880"/>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Аты эмне? Жагы канча?</a:t>
            </a:r>
          </a:p>
        </p:txBody>
      </p:sp>
      <p:sp>
        <p:nvSpPr>
          <p:cNvPr id="13" name="TextBox 12"/>
          <p:cNvSpPr txBox="1"/>
          <p:nvPr/>
        </p:nvSpPr>
        <p:spPr>
          <a:xfrm>
            <a:off x="4334804" y="1325880"/>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Алты бурчтук; 6</a:t>
            </a:r>
          </a:p>
        </p:txBody>
      </p:sp>
      <p:sp>
        <p:nvSpPr>
          <p:cNvPr id="14" name="Rounded Rectangle 13"/>
          <p:cNvSpPr/>
          <p:nvPr/>
        </p:nvSpPr>
        <p:spPr>
          <a:xfrm>
            <a:off x="6208776" y="1325880"/>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345936" y="1581912"/>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16" name="TextBox 15"/>
          <p:cNvSpPr txBox="1"/>
          <p:nvPr/>
        </p:nvSpPr>
        <p:spPr>
          <a:xfrm>
            <a:off x="6894576" y="1325880"/>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Канча тик бурчу бар?</a:t>
            </a:r>
          </a:p>
        </p:txBody>
      </p:sp>
      <p:sp>
        <p:nvSpPr>
          <p:cNvPr id="17" name="TextBox 16"/>
          <p:cNvSpPr txBox="1"/>
          <p:nvPr/>
        </p:nvSpPr>
        <p:spPr>
          <a:xfrm>
            <a:off x="10113812" y="1325880"/>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2</a:t>
            </a:r>
          </a:p>
        </p:txBody>
      </p:sp>
      <p:sp>
        <p:nvSpPr>
          <p:cNvPr id="18" name="Rounded Rectangle 17"/>
          <p:cNvSpPr/>
          <p:nvPr/>
        </p:nvSpPr>
        <p:spPr>
          <a:xfrm>
            <a:off x="429768" y="2350008"/>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66928" y="2606040"/>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20" name="TextBox 19"/>
          <p:cNvSpPr txBox="1"/>
          <p:nvPr/>
        </p:nvSpPr>
        <p:spPr>
          <a:xfrm>
            <a:off x="1115568" y="2350008"/>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Цилиндрдин канча жалпак бети бар?</a:t>
            </a:r>
          </a:p>
        </p:txBody>
      </p:sp>
      <p:sp>
        <p:nvSpPr>
          <p:cNvPr id="21" name="TextBox 20"/>
          <p:cNvSpPr txBox="1"/>
          <p:nvPr/>
        </p:nvSpPr>
        <p:spPr>
          <a:xfrm>
            <a:off x="4334804" y="2350008"/>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2</a:t>
            </a:r>
          </a:p>
        </p:txBody>
      </p:sp>
      <p:sp>
        <p:nvSpPr>
          <p:cNvPr id="22" name="Rounded Rectangle 21"/>
          <p:cNvSpPr/>
          <p:nvPr/>
        </p:nvSpPr>
        <p:spPr>
          <a:xfrm>
            <a:off x="6208776" y="2350008"/>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345936" y="2606040"/>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4</a:t>
            </a:r>
          </a:p>
        </p:txBody>
      </p:sp>
      <p:sp>
        <p:nvSpPr>
          <p:cNvPr id="24" name="TextBox 23"/>
          <p:cNvSpPr txBox="1"/>
          <p:nvPr/>
        </p:nvSpPr>
        <p:spPr>
          <a:xfrm>
            <a:off x="6894576" y="2350008"/>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Үч бурчтуу призманын канча бети, канча чокусу бар?</a:t>
            </a:r>
          </a:p>
        </p:txBody>
      </p:sp>
      <p:sp>
        <p:nvSpPr>
          <p:cNvPr id="25" name="TextBox 24"/>
          <p:cNvSpPr txBox="1"/>
          <p:nvPr/>
        </p:nvSpPr>
        <p:spPr>
          <a:xfrm>
            <a:off x="10113812" y="2350008"/>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5 бет, 6 чоку</a:t>
            </a:r>
          </a:p>
        </p:txBody>
      </p:sp>
      <p:sp>
        <p:nvSpPr>
          <p:cNvPr id="26" name="Rounded Rectangle 25"/>
          <p:cNvSpPr/>
          <p:nvPr/>
        </p:nvSpPr>
        <p:spPr>
          <a:xfrm>
            <a:off x="429768" y="3374136"/>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66928" y="3630168"/>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5</a:t>
            </a:r>
          </a:p>
        </p:txBody>
      </p:sp>
      <p:sp>
        <p:nvSpPr>
          <p:cNvPr id="28" name="TextBox 27"/>
          <p:cNvSpPr txBox="1"/>
          <p:nvPr/>
        </p:nvSpPr>
        <p:spPr>
          <a:xfrm>
            <a:off x="1115568" y="3374136"/>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3 квадрат курууга канча таякча керек?</a:t>
            </a:r>
          </a:p>
        </p:txBody>
      </p:sp>
      <p:sp>
        <p:nvSpPr>
          <p:cNvPr id="29" name="TextBox 28"/>
          <p:cNvSpPr txBox="1"/>
          <p:nvPr/>
        </p:nvSpPr>
        <p:spPr>
          <a:xfrm>
            <a:off x="4334804" y="3374136"/>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4 + 4 + 4 = 12</a:t>
            </a:r>
          </a:p>
        </p:txBody>
      </p:sp>
      <p:sp>
        <p:nvSpPr>
          <p:cNvPr id="30" name="Rounded Rectangle 29"/>
          <p:cNvSpPr/>
          <p:nvPr/>
        </p:nvSpPr>
        <p:spPr>
          <a:xfrm>
            <a:off x="6208776" y="3374136"/>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345936" y="3630168"/>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6</a:t>
            </a:r>
          </a:p>
        </p:txBody>
      </p:sp>
      <p:sp>
        <p:nvSpPr>
          <p:cNvPr id="32" name="TextBox 31"/>
          <p:cNvSpPr txBox="1"/>
          <p:nvPr/>
        </p:nvSpPr>
        <p:spPr>
          <a:xfrm>
            <a:off x="6894576" y="3374136"/>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Кайсынысы тоголонот: куб, шар, конус, пирамида?</a:t>
            </a:r>
          </a:p>
        </p:txBody>
      </p:sp>
      <p:sp>
        <p:nvSpPr>
          <p:cNvPr id="33" name="TextBox 32"/>
          <p:cNvSpPr txBox="1"/>
          <p:nvPr/>
        </p:nvSpPr>
        <p:spPr>
          <a:xfrm>
            <a:off x="10113812" y="3374136"/>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Шар жана конус</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Окуяга кайтабыз</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Тегиз жана көлөмдүү фигуралар</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22/26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Асан ата 3 жыгач кубик жасады. Нуриза ар бир кубиктин бардык беттерине бирден жылдызча чаптайт. Канча жылдызча керек?</a:t>
            </a:r>
          </a:p>
        </p:txBody>
      </p:sp>
      <p:sp>
        <p:nvSpPr>
          <p:cNvPr id="12" name="TextBox 11"/>
          <p:cNvSpPr txBox="1"/>
          <p:nvPr/>
        </p:nvSpPr>
        <p:spPr>
          <a:xfrm>
            <a:off x="914400" y="2240280"/>
            <a:ext cx="1371600" cy="548640"/>
          </a:xfrm>
          <a:prstGeom prst="rect">
            <a:avLst/>
          </a:prstGeom>
          <a:noFill/>
        </p:spPr>
        <p:txBody>
          <a:bodyPr wrap="square" anchor="ctr" lIns="45720" rIns="45720" tIns="27432" bIns="27432">
            <a:spAutoFit/>
          </a:bodyPr>
          <a:lstStyle/>
          <a:p>
            <a:pPr algn="r">
              <a:lnSpc>
                <a:spcPct val="105000"/>
              </a:lnSpc>
            </a:pPr>
            <a:r>
              <a:rPr sz="1800" b="1" i="0">
                <a:solidFill>
                  <a:srgbClr val="1F2430"/>
                </a:solidFill>
                <a:latin typeface="PT Sans"/>
              </a:rPr>
              <a:t>Кубиктер</a:t>
            </a:r>
          </a:p>
        </p:txBody>
      </p:sp>
      <p:sp>
        <p:nvSpPr>
          <p:cNvPr id="13" name="Rectangle 12"/>
          <p:cNvSpPr/>
          <p:nvPr/>
        </p:nvSpPr>
        <p:spPr>
          <a:xfrm>
            <a:off x="2377440" y="2240280"/>
            <a:ext cx="2529839" cy="548640"/>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F2430"/>
                </a:solidFill>
                <a:latin typeface="PT Sans"/>
              </a:rPr>
              <a:t>6</a:t>
            </a:r>
          </a:p>
        </p:txBody>
      </p:sp>
      <p:sp>
        <p:nvSpPr>
          <p:cNvPr id="14" name="Rectangle 13"/>
          <p:cNvSpPr/>
          <p:nvPr/>
        </p:nvSpPr>
        <p:spPr>
          <a:xfrm>
            <a:off x="4907280" y="2240280"/>
            <a:ext cx="2529839" cy="548640"/>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F2430"/>
                </a:solidFill>
                <a:latin typeface="PT Sans"/>
              </a:rPr>
              <a:t>6</a:t>
            </a:r>
          </a:p>
        </p:txBody>
      </p:sp>
      <p:sp>
        <p:nvSpPr>
          <p:cNvPr id="15" name="Rectangle 14"/>
          <p:cNvSpPr/>
          <p:nvPr/>
        </p:nvSpPr>
        <p:spPr>
          <a:xfrm>
            <a:off x="7437120" y="2240280"/>
            <a:ext cx="2529839" cy="548640"/>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F2430"/>
                </a:solidFill>
                <a:latin typeface="PT Sans"/>
              </a:rPr>
              <a:t>6</a:t>
            </a:r>
          </a:p>
        </p:txBody>
      </p:sp>
      <p:cxnSp>
        <p:nvCxnSpPr>
          <p:cNvPr id="16" name="Connector 15"/>
          <p:cNvCxnSpPr/>
          <p:nvPr/>
        </p:nvCxnSpPr>
        <p:spPr>
          <a:xfrm>
            <a:off x="10058399" y="2240280"/>
            <a:ext cx="13716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195559" y="2240280"/>
            <a:ext cx="0" cy="54864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058399" y="2788920"/>
            <a:ext cx="13716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0241279" y="2240280"/>
            <a:ext cx="1005840" cy="548640"/>
          </a:xfrm>
          <a:prstGeom prst="rect">
            <a:avLst/>
          </a:prstGeom>
          <a:noFill/>
        </p:spPr>
        <p:txBody>
          <a:bodyPr wrap="square" anchor="ctr" lIns="45720" rIns="45720" tIns="27432" bIns="27432">
            <a:spAutoFit/>
          </a:bodyPr>
          <a:lstStyle/>
          <a:p>
            <a:pPr algn="l">
              <a:lnSpc>
                <a:spcPct val="105000"/>
              </a:lnSpc>
            </a:pPr>
            <a:r>
              <a:rPr sz="2200" b="1" i="0">
                <a:solidFill>
                  <a:srgbClr val="A84400"/>
                </a:solidFill>
                <a:latin typeface="PT Sans"/>
              </a:rPr>
              <a:t>18</a:t>
            </a:r>
          </a:p>
        </p:txBody>
      </p:sp>
      <p:sp>
        <p:nvSpPr>
          <p:cNvPr id="20" name="TextBox 19"/>
          <p:cNvSpPr txBox="1"/>
          <p:nvPr/>
        </p:nvSpPr>
        <p:spPr>
          <a:xfrm>
            <a:off x="731520" y="3127248"/>
            <a:ext cx="7498079" cy="566928"/>
          </a:xfrm>
          <a:prstGeom prst="rect">
            <a:avLst/>
          </a:prstGeom>
          <a:noFill/>
        </p:spPr>
        <p:txBody>
          <a:bodyPr wrap="square" anchor="ctr" lIns="45720" rIns="45720" tIns="27432" bIns="27432">
            <a:spAutoFit/>
          </a:bodyPr>
          <a:lstStyle/>
          <a:p>
            <a:pPr algn="r">
              <a:lnSpc>
                <a:spcPct val="105000"/>
              </a:lnSpc>
            </a:pPr>
            <a:r>
              <a:rPr sz="2600" b="1" i="0">
                <a:solidFill>
                  <a:srgbClr val="1F2430"/>
                </a:solidFill>
                <a:latin typeface="PT Sans"/>
              </a:rPr>
              <a:t>1 кубикте = 6 бет</a:t>
            </a:r>
          </a:p>
        </p:txBody>
      </p:sp>
      <p:sp>
        <p:nvSpPr>
          <p:cNvPr id="21" name="TextBox 20"/>
          <p:cNvSpPr txBox="1"/>
          <p:nvPr/>
        </p:nvSpPr>
        <p:spPr>
          <a:xfrm>
            <a:off x="731520" y="3694176"/>
            <a:ext cx="7498079" cy="566928"/>
          </a:xfrm>
          <a:prstGeom prst="rect">
            <a:avLst/>
          </a:prstGeom>
          <a:noFill/>
        </p:spPr>
        <p:txBody>
          <a:bodyPr wrap="square" anchor="ctr" lIns="45720" rIns="45720" tIns="27432" bIns="27432">
            <a:spAutoFit/>
          </a:bodyPr>
          <a:lstStyle/>
          <a:p>
            <a:pPr algn="r">
              <a:lnSpc>
                <a:spcPct val="105000"/>
              </a:lnSpc>
            </a:pPr>
            <a:r>
              <a:rPr sz="2600" b="1" i="0">
                <a:solidFill>
                  <a:srgbClr val="1F2430"/>
                </a:solidFill>
                <a:latin typeface="PT Sans"/>
              </a:rPr>
              <a:t>6 + 6 + 6</a:t>
            </a:r>
          </a:p>
        </p:txBody>
      </p:sp>
      <p:sp>
        <p:nvSpPr>
          <p:cNvPr id="22" name="TextBox 21"/>
          <p:cNvSpPr txBox="1"/>
          <p:nvPr/>
        </p:nvSpPr>
        <p:spPr>
          <a:xfrm>
            <a:off x="8366760" y="3694176"/>
            <a:ext cx="3108960" cy="566928"/>
          </a:xfrm>
          <a:prstGeom prst="rect">
            <a:avLst/>
          </a:prstGeom>
          <a:noFill/>
        </p:spPr>
        <p:txBody>
          <a:bodyPr wrap="square" anchor="ctr" lIns="45720" rIns="45720" tIns="27432" bIns="27432">
            <a:spAutoFit/>
          </a:bodyPr>
          <a:lstStyle/>
          <a:p>
            <a:pPr algn="l">
              <a:lnSpc>
                <a:spcPct val="105000"/>
              </a:lnSpc>
            </a:pPr>
            <a:r>
              <a:rPr sz="1800" b="1" i="0">
                <a:solidFill>
                  <a:srgbClr val="A84400"/>
                </a:solidFill>
                <a:latin typeface="PT Sans"/>
              </a:rPr>
              <a:t>3 кубик</a:t>
            </a:r>
          </a:p>
        </p:txBody>
      </p:sp>
      <p:sp>
        <p:nvSpPr>
          <p:cNvPr id="23" name="TextBox 22"/>
          <p:cNvSpPr txBox="1"/>
          <p:nvPr/>
        </p:nvSpPr>
        <p:spPr>
          <a:xfrm>
            <a:off x="731520" y="4261104"/>
            <a:ext cx="7498079" cy="566928"/>
          </a:xfrm>
          <a:prstGeom prst="rect">
            <a:avLst/>
          </a:prstGeom>
          <a:noFill/>
        </p:spPr>
        <p:txBody>
          <a:bodyPr wrap="square" anchor="ctr" lIns="45720" rIns="45720" tIns="27432" bIns="27432">
            <a:spAutoFit/>
          </a:bodyPr>
          <a:lstStyle/>
          <a:p>
            <a:pPr algn="r">
              <a:lnSpc>
                <a:spcPct val="105000"/>
              </a:lnSpc>
            </a:pPr>
            <a:r>
              <a:rPr sz="2600" b="1" i="0">
                <a:solidFill>
                  <a:srgbClr val="24418C"/>
                </a:solidFill>
                <a:latin typeface="PT Sans"/>
              </a:rPr>
              <a:t>= 18</a:t>
            </a:r>
          </a:p>
        </p:txBody>
      </p:sp>
      <p:sp>
        <p:nvSpPr>
          <p:cNvPr id="24" name="TextBox 23"/>
          <p:cNvSpPr txBox="1"/>
          <p:nvPr/>
        </p:nvSpPr>
        <p:spPr>
          <a:xfrm>
            <a:off x="8366760" y="4261104"/>
            <a:ext cx="3108960" cy="566928"/>
          </a:xfrm>
          <a:prstGeom prst="rect">
            <a:avLst/>
          </a:prstGeom>
          <a:noFill/>
        </p:spPr>
        <p:txBody>
          <a:bodyPr wrap="square" anchor="ctr" lIns="45720" rIns="45720" tIns="27432" bIns="27432">
            <a:spAutoFit/>
          </a:bodyPr>
          <a:lstStyle/>
          <a:p>
            <a:pPr algn="l">
              <a:lnSpc>
                <a:spcPct val="105000"/>
              </a:lnSpc>
            </a:pPr>
            <a:r>
              <a:rPr sz="1800" b="1" i="0">
                <a:solidFill>
                  <a:srgbClr val="A84400"/>
                </a:solidFill>
                <a:latin typeface="PT Sans"/>
              </a:rPr>
              <a:t>жылдызча</a:t>
            </a:r>
          </a:p>
        </p:txBody>
      </p:sp>
      <p:sp>
        <p:nvSpPr>
          <p:cNvPr id="25" name="Rounded Rectangle 24"/>
          <p:cNvSpPr/>
          <p:nvPr/>
        </p:nvSpPr>
        <p:spPr>
          <a:xfrm>
            <a:off x="1874519" y="5486400"/>
            <a:ext cx="8449056" cy="640080"/>
          </a:xfrm>
          <a:prstGeom prst="roundRect">
            <a:avLst>
              <a:gd name="adj" fmla="val 24400"/>
            </a:avLst>
          </a:prstGeom>
          <a:solidFill>
            <a:srgbClr val="FFFFFF"/>
          </a:solidFill>
          <a:ln w="285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A84400"/>
                </a:solidFill>
                <a:latin typeface="PT Sans"/>
              </a:rPr>
              <a:t>18 жылдызча керек (9 эмес: ар бир кубиктин 6 бети бар).</a:t>
            </a:r>
          </a:p>
        </p:txBody>
      </p:sp>
      <p:sp>
        <p:nvSpPr>
          <p:cNvPr id="26" name="Rounded Rectangle 25"/>
          <p:cNvSpPr/>
          <p:nvPr/>
        </p:nvSpPr>
        <p:spPr>
          <a:xfrm>
            <a:off x="4449927" y="6327648"/>
            <a:ext cx="3291840" cy="411480"/>
          </a:xfrm>
          <a:prstGeom prst="roundRect">
            <a:avLst>
              <a:gd name="adj" fmla="val 50000"/>
            </a:avLst>
          </a:prstGeom>
          <a:noFill/>
          <a:ln w="15875">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24418C"/>
                </a:solidFill>
                <a:latin typeface="PT Sans"/>
              </a:rPr>
              <a:t>3C · Байланыштыруу</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Түз: өзүң маселе түз</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Тегиз жана көлөмдүү фигуралар</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23/26</a:t>
            </a:r>
          </a:p>
        </p:txBody>
      </p:sp>
      <p:sp>
        <p:nvSpPr>
          <p:cNvPr id="10" name="Rounded Rectangle 9"/>
          <p:cNvSpPr/>
          <p:nvPr/>
        </p:nvSpPr>
        <p:spPr>
          <a:xfrm>
            <a:off x="429768" y="1225296"/>
            <a:ext cx="11329416" cy="48920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371600"/>
            <a:ext cx="10780776" cy="914400"/>
          </a:xfrm>
          <a:prstGeom prst="rect">
            <a:avLst/>
          </a:prstGeom>
          <a:noFill/>
        </p:spPr>
        <p:txBody>
          <a:bodyPr wrap="square" anchor="t" lIns="45720" rIns="45720" tIns="27432" bIns="27432">
            <a:spAutoFit/>
          </a:bodyPr>
          <a:lstStyle/>
          <a:p>
            <a:pPr algn="l">
              <a:lnSpc>
                <a:spcPct val="105000"/>
              </a:lnSpc>
            </a:pPr>
            <a:r>
              <a:rPr sz="2400" b="1" i="0">
                <a:solidFill>
                  <a:srgbClr val="1F2430"/>
                </a:solidFill>
                <a:latin typeface="PT Sans"/>
              </a:rPr>
              <a:t>Каракол устаканасы жөнүндө фигура маселесин же табышмагын түз: «Менин ... бетим, ... кырым бар».</a:t>
            </a:r>
          </a:p>
        </p:txBody>
      </p:sp>
      <p:sp>
        <p:nvSpPr>
          <p:cNvPr id="12" name="Oval 11"/>
          <p:cNvSpPr/>
          <p:nvPr/>
        </p:nvSpPr>
        <p:spPr>
          <a:xfrm>
            <a:off x="704088" y="2560320"/>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3" name="TextBox 12"/>
          <p:cNvSpPr txBox="1"/>
          <p:nvPr/>
        </p:nvSpPr>
        <p:spPr>
          <a:xfrm>
            <a:off x="1234440" y="2542032"/>
            <a:ext cx="10049256" cy="822960"/>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Окуядагы каармандарды колдон: Нуриза, Айбек, Асан ата.</a:t>
            </a:r>
          </a:p>
        </p:txBody>
      </p:sp>
      <p:sp>
        <p:nvSpPr>
          <p:cNvPr id="14" name="Oval 13"/>
          <p:cNvSpPr/>
          <p:nvPr/>
        </p:nvSpPr>
        <p:spPr>
          <a:xfrm>
            <a:off x="704088" y="3383279"/>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15" name="TextBox 14"/>
          <p:cNvSpPr txBox="1"/>
          <p:nvPr/>
        </p:nvSpPr>
        <p:spPr>
          <a:xfrm>
            <a:off x="1234440" y="3364991"/>
            <a:ext cx="10049256" cy="822960"/>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Тилкесин чий жана туюнтмасын жаз.</a:t>
            </a:r>
          </a:p>
        </p:txBody>
      </p:sp>
      <p:sp>
        <p:nvSpPr>
          <p:cNvPr id="16" name="Oval 15"/>
          <p:cNvSpPr/>
          <p:nvPr/>
        </p:nvSpPr>
        <p:spPr>
          <a:xfrm>
            <a:off x="704088" y="4206240"/>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17" name="TextBox 16"/>
          <p:cNvSpPr txBox="1"/>
          <p:nvPr/>
        </p:nvSpPr>
        <p:spPr>
          <a:xfrm>
            <a:off x="1234440" y="4187952"/>
            <a:ext cx="10049256" cy="822960"/>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Жупуңа бер: ал чыгарсын, сен текшер.</a:t>
            </a:r>
          </a:p>
        </p:txBody>
      </p:sp>
      <p:sp>
        <p:nvSpPr>
          <p:cNvPr id="18" name="Rounded Rectangle 17"/>
          <p:cNvSpPr/>
          <p:nvPr/>
        </p:nvSpPr>
        <p:spPr>
          <a:xfrm>
            <a:off x="4449927" y="6327648"/>
            <a:ext cx="3291840" cy="411480"/>
          </a:xfrm>
          <a:prstGeom prst="roundRect">
            <a:avLst>
              <a:gd name="adj" fmla="val 50000"/>
            </a:avLst>
          </a:prstGeom>
          <a:noFill/>
          <a:ln w="158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A84400"/>
                </a:solidFill>
                <a:latin typeface="PT Sans"/>
              </a:rPr>
              <a:t>3C · Кызматташуу</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Чыгуу билети</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Тегиз жана көлөмдүү фигуралар</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24/26</a:t>
            </a:r>
          </a:p>
        </p:txBody>
      </p:sp>
      <p:sp>
        <p:nvSpPr>
          <p:cNvPr id="10" name="TextBox 9"/>
          <p:cNvSpPr txBox="1"/>
          <p:nvPr/>
        </p:nvSpPr>
        <p:spPr>
          <a:xfrm>
            <a:off x="429768" y="1143000"/>
            <a:ext cx="11329416" cy="457200"/>
          </a:xfrm>
          <a:prstGeom prst="rect">
            <a:avLst/>
          </a:prstGeom>
          <a:noFill/>
        </p:spPr>
        <p:txBody>
          <a:bodyPr wrap="square" anchor="t" lIns="45720" rIns="45720" tIns="27432" bIns="27432">
            <a:spAutoFit/>
          </a:bodyPr>
          <a:lstStyle/>
          <a:p>
            <a:pPr algn="l">
              <a:lnSpc>
                <a:spcPct val="105000"/>
              </a:lnSpc>
            </a:pPr>
            <a:r>
              <a:rPr sz="2200" b="0" i="1">
                <a:solidFill>
                  <a:srgbClr val="6B7280"/>
                </a:solidFill>
                <a:latin typeface="PT Sans"/>
              </a:rPr>
              <a:t>Өз алдынча, 3 мүнөт. Кагазыңа жазып бер.</a:t>
            </a:r>
          </a:p>
        </p:txBody>
      </p:sp>
      <p:sp>
        <p:nvSpPr>
          <p:cNvPr id="11" name="Rounded Rectangle 10"/>
          <p:cNvSpPr/>
          <p:nvPr/>
        </p:nvSpPr>
        <p:spPr>
          <a:xfrm>
            <a:off x="429768" y="1691640"/>
            <a:ext cx="11329416"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12647" y="215036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1</a:t>
            </a:r>
          </a:p>
        </p:txBody>
      </p:sp>
      <p:sp>
        <p:nvSpPr>
          <p:cNvPr id="13" name="TextBox 12"/>
          <p:cNvSpPr txBox="1"/>
          <p:nvPr/>
        </p:nvSpPr>
        <p:spPr>
          <a:xfrm>
            <a:off x="1207007" y="1691640"/>
            <a:ext cx="10415016" cy="1356359"/>
          </a:xfrm>
          <a:prstGeom prst="rect">
            <a:avLst/>
          </a:prstGeom>
          <a:noFill/>
        </p:spPr>
        <p:txBody>
          <a:bodyPr wrap="square" anchor="ctr" lIns="45720" rIns="45720" tIns="27432" bIns="27432">
            <a:spAutoFit/>
          </a:bodyPr>
          <a:lstStyle/>
          <a:p>
            <a:pPr algn="l">
              <a:lnSpc>
                <a:spcPct val="105000"/>
              </a:lnSpc>
            </a:pPr>
            <a:r>
              <a:rPr sz="2400" b="1" i="0">
                <a:solidFill>
                  <a:srgbClr val="1F2430"/>
                </a:solidFill>
                <a:latin typeface="PT Sans"/>
              </a:rPr>
              <a:t>Беш бурчтуктун канча жагы, канча чокусу бар?</a:t>
            </a:r>
          </a:p>
        </p:txBody>
      </p:sp>
      <p:sp>
        <p:nvSpPr>
          <p:cNvPr id="14" name="Rounded Rectangle 13"/>
          <p:cNvSpPr/>
          <p:nvPr/>
        </p:nvSpPr>
        <p:spPr>
          <a:xfrm>
            <a:off x="429768" y="3230880"/>
            <a:ext cx="11329416"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12647" y="3689603"/>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2</a:t>
            </a:r>
          </a:p>
        </p:txBody>
      </p:sp>
      <p:sp>
        <p:nvSpPr>
          <p:cNvPr id="16" name="TextBox 15"/>
          <p:cNvSpPr txBox="1"/>
          <p:nvPr/>
        </p:nvSpPr>
        <p:spPr>
          <a:xfrm>
            <a:off x="1207007" y="3230880"/>
            <a:ext cx="10415016" cy="1356359"/>
          </a:xfrm>
          <a:prstGeom prst="rect">
            <a:avLst/>
          </a:prstGeom>
          <a:noFill/>
        </p:spPr>
        <p:txBody>
          <a:bodyPr wrap="square" anchor="ctr" lIns="45720" rIns="45720" tIns="27432" bIns="27432">
            <a:spAutoFit/>
          </a:bodyPr>
          <a:lstStyle/>
          <a:p>
            <a:pPr algn="l">
              <a:lnSpc>
                <a:spcPct val="105000"/>
              </a:lnSpc>
            </a:pPr>
            <a:r>
              <a:rPr sz="2400" b="1" i="0">
                <a:solidFill>
                  <a:srgbClr val="1F2430"/>
                </a:solidFill>
                <a:latin typeface="PT Sans"/>
              </a:rPr>
              <a:t>Параллелепипеддин канча бети, канча кыры бар?</a:t>
            </a:r>
          </a:p>
        </p:txBody>
      </p:sp>
      <p:sp>
        <p:nvSpPr>
          <p:cNvPr id="17" name="Rounded Rectangle 16"/>
          <p:cNvSpPr/>
          <p:nvPr/>
        </p:nvSpPr>
        <p:spPr>
          <a:xfrm>
            <a:off x="429768" y="4770120"/>
            <a:ext cx="11329416"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12647" y="522884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3</a:t>
            </a:r>
          </a:p>
        </p:txBody>
      </p:sp>
      <p:sp>
        <p:nvSpPr>
          <p:cNvPr id="19" name="TextBox 18"/>
          <p:cNvSpPr txBox="1"/>
          <p:nvPr/>
        </p:nvSpPr>
        <p:spPr>
          <a:xfrm>
            <a:off x="1207007" y="4770120"/>
            <a:ext cx="10415016" cy="1356359"/>
          </a:xfrm>
          <a:prstGeom prst="rect">
            <a:avLst/>
          </a:prstGeom>
          <a:noFill/>
        </p:spPr>
        <p:txBody>
          <a:bodyPr wrap="square" anchor="ctr" lIns="45720" rIns="45720" tIns="27432" bIns="27432">
            <a:spAutoFit/>
          </a:bodyPr>
          <a:lstStyle/>
          <a:p>
            <a:pPr algn="l">
              <a:lnSpc>
                <a:spcPct val="105000"/>
              </a:lnSpc>
            </a:pPr>
            <a:r>
              <a:rPr sz="2400" b="1" i="0">
                <a:solidFill>
                  <a:srgbClr val="1F2430"/>
                </a:solidFill>
                <a:latin typeface="PT Sans"/>
              </a:rPr>
              <a:t>4 жагы бар, бирок тик бурчу жок фигура тик бурчтукпу?</a:t>
            </a:r>
          </a:p>
        </p:txBody>
      </p:sp>
      <p:sp>
        <p:nvSpPr>
          <p:cNvPr id="20" name="g2fig"/>
          <p:cNvSpPr/>
          <p:nvPr/>
        </p:nvSpPr>
        <p:spPr>
          <a:xfrm>
            <a:off x="10200506" y="1844040"/>
            <a:ext cx="1105676" cy="1051560"/>
          </a:xfrm>
          <a:custGeom>
            <a:avLst/>
            <a:gdLst/>
            <a:ahLst/>
            <a:cxnLst/>
            <a:rect l="l" t="t" r="r" b="b"/>
            <a:pathLst>
              <a:path w="1105676" h="1051560">
                <a:moveTo>
                  <a:pt x="552838" y="0"/>
                </a:moveTo>
                <a:lnTo>
                  <a:pt x="1105676" y="401660"/>
                </a:lnTo>
                <a:lnTo>
                  <a:pt x="894511" y="1051560"/>
                </a:lnTo>
                <a:lnTo>
                  <a:pt x="211165" y="1051560"/>
                </a:lnTo>
                <a:lnTo>
                  <a:pt x="0" y="401660"/>
                </a:lnTo>
                <a:close/>
              </a:path>
            </a:pathLst>
          </a:custGeom>
          <a:solidFill>
            <a:srgbClr val="B5E2D3"/>
          </a:solidFill>
          <a:ln w="16795" cap="rnd">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g2fig"/>
          <p:cNvSpPr/>
          <p:nvPr/>
        </p:nvSpPr>
        <p:spPr>
          <a:xfrm>
            <a:off x="10067544" y="3712899"/>
            <a:ext cx="1175948" cy="587974"/>
          </a:xfrm>
          <a:custGeom>
            <a:avLst/>
            <a:gdLst/>
            <a:ahLst/>
            <a:cxnLst/>
            <a:rect l="l" t="t" r="r" b="b"/>
            <a:pathLst>
              <a:path w="1175948" h="587974">
                <a:moveTo>
                  <a:pt x="0" y="587974"/>
                </a:moveTo>
                <a:lnTo>
                  <a:pt x="1175948" y="587974"/>
                </a:lnTo>
                <a:lnTo>
                  <a:pt x="1175948" y="0"/>
                </a:lnTo>
                <a:lnTo>
                  <a:pt x="0" y="0"/>
                </a:lnTo>
                <a:close/>
              </a:path>
            </a:pathLst>
          </a:custGeom>
          <a:solidFill>
            <a:srgbClr val="C9D4EE"/>
          </a:solidFill>
          <a:ln w="6718" cap="rnd">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g2fig"/>
          <p:cNvSpPr/>
          <p:nvPr/>
        </p:nvSpPr>
        <p:spPr>
          <a:xfrm>
            <a:off x="10067544" y="3517247"/>
            <a:ext cx="1371600" cy="195652"/>
          </a:xfrm>
          <a:custGeom>
            <a:avLst/>
            <a:gdLst/>
            <a:ahLst/>
            <a:cxnLst/>
            <a:rect l="l" t="t" r="r" b="b"/>
            <a:pathLst>
              <a:path w="1371600" h="195652">
                <a:moveTo>
                  <a:pt x="0" y="195652"/>
                </a:moveTo>
                <a:lnTo>
                  <a:pt x="1175948" y="195652"/>
                </a:lnTo>
                <a:lnTo>
                  <a:pt x="1371600" y="0"/>
                </a:lnTo>
                <a:lnTo>
                  <a:pt x="195652" y="0"/>
                </a:lnTo>
                <a:close/>
              </a:path>
            </a:pathLst>
          </a:custGeom>
          <a:solidFill>
            <a:srgbClr val="E6EBF7"/>
          </a:solidFill>
          <a:ln w="6718" cap="rnd">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g2fig"/>
          <p:cNvSpPr/>
          <p:nvPr/>
        </p:nvSpPr>
        <p:spPr>
          <a:xfrm>
            <a:off x="11243492" y="3517247"/>
            <a:ext cx="195652" cy="783626"/>
          </a:xfrm>
          <a:custGeom>
            <a:avLst/>
            <a:gdLst/>
            <a:ahLst/>
            <a:cxnLst/>
            <a:rect l="l" t="t" r="r" b="b"/>
            <a:pathLst>
              <a:path w="195652" h="783626">
                <a:moveTo>
                  <a:pt x="0" y="783626"/>
                </a:moveTo>
                <a:lnTo>
                  <a:pt x="0" y="195652"/>
                </a:lnTo>
                <a:lnTo>
                  <a:pt x="195652" y="0"/>
                </a:lnTo>
                <a:lnTo>
                  <a:pt x="195652" y="587974"/>
                </a:lnTo>
                <a:close/>
              </a:path>
            </a:pathLst>
          </a:custGeom>
          <a:solidFill>
            <a:srgbClr val="C9D4EE"/>
          </a:solidFill>
          <a:ln w="6718" cap="rnd">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g2fig"/>
          <p:cNvCxnSpPr/>
          <p:nvPr/>
        </p:nvCxnSpPr>
        <p:spPr>
          <a:xfrm flipV="1">
            <a:off x="10067544" y="4105221"/>
            <a:ext cx="195651" cy="195651"/>
          </a:xfrm>
          <a:prstGeom prst="line">
            <a:avLst/>
          </a:prstGeom>
          <a:ln w="10077" cap="rnd">
            <a:solidFill>
              <a:srgbClr val="4A5A70"/>
            </a:solidFill>
            <a:prstDash val="dash"/>
          </a:ln>
        </p:spPr>
        <p:style>
          <a:lnRef idx="2">
            <a:schemeClr val="accent1"/>
          </a:lnRef>
          <a:fillRef idx="0">
            <a:schemeClr val="accent1"/>
          </a:fillRef>
          <a:effectRef idx="1">
            <a:schemeClr val="accent1"/>
          </a:effectRef>
          <a:fontRef idx="minor">
            <a:schemeClr val="tx1"/>
          </a:fontRef>
        </p:style>
      </p:cxnSp>
      <p:cxnSp>
        <p:nvCxnSpPr>
          <p:cNvPr id="25" name="g2fig"/>
          <p:cNvCxnSpPr/>
          <p:nvPr/>
        </p:nvCxnSpPr>
        <p:spPr>
          <a:xfrm>
            <a:off x="10263195" y="4105221"/>
            <a:ext cx="1175949" cy="0"/>
          </a:xfrm>
          <a:prstGeom prst="line">
            <a:avLst/>
          </a:prstGeom>
          <a:ln w="10077" cap="rnd">
            <a:solidFill>
              <a:srgbClr val="4A5A70"/>
            </a:solidFill>
            <a:prstDash val="dash"/>
          </a:ln>
        </p:spPr>
        <p:style>
          <a:lnRef idx="2">
            <a:schemeClr val="accent1"/>
          </a:lnRef>
          <a:fillRef idx="0">
            <a:schemeClr val="accent1"/>
          </a:fillRef>
          <a:effectRef idx="1">
            <a:schemeClr val="accent1"/>
          </a:effectRef>
          <a:fontRef idx="minor">
            <a:schemeClr val="tx1"/>
          </a:fontRef>
        </p:style>
      </p:cxnSp>
      <p:cxnSp>
        <p:nvCxnSpPr>
          <p:cNvPr id="26" name="g2fig"/>
          <p:cNvCxnSpPr/>
          <p:nvPr/>
        </p:nvCxnSpPr>
        <p:spPr>
          <a:xfrm flipV="1">
            <a:off x="10263195" y="3517247"/>
            <a:ext cx="0" cy="587974"/>
          </a:xfrm>
          <a:prstGeom prst="line">
            <a:avLst/>
          </a:prstGeom>
          <a:ln w="10077" cap="rnd">
            <a:solidFill>
              <a:srgbClr val="4A5A70"/>
            </a:solidFill>
            <a:prstDash val="dash"/>
          </a:ln>
        </p:spPr>
        <p:style>
          <a:lnRef idx="2">
            <a:schemeClr val="accent1"/>
          </a:lnRef>
          <a:fillRef idx="0">
            <a:schemeClr val="accent1"/>
          </a:fillRef>
          <a:effectRef idx="1">
            <a:schemeClr val="accent1"/>
          </a:effectRef>
          <a:fontRef idx="minor">
            <a:schemeClr val="tx1"/>
          </a:fontRef>
        </p:style>
      </p:cxnSp>
      <p:cxnSp>
        <p:nvCxnSpPr>
          <p:cNvPr id="27" name="g2fig"/>
          <p:cNvCxnSpPr/>
          <p:nvPr/>
        </p:nvCxnSpPr>
        <p:spPr>
          <a:xfrm>
            <a:off x="10067544" y="4300872"/>
            <a:ext cx="1175948" cy="0"/>
          </a:xfrm>
          <a:prstGeom prst="line">
            <a:avLst/>
          </a:prstGeom>
          <a:ln w="16795"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28" name="g2fig"/>
          <p:cNvCxnSpPr/>
          <p:nvPr/>
        </p:nvCxnSpPr>
        <p:spPr>
          <a:xfrm flipV="1">
            <a:off x="10067544" y="3712898"/>
            <a:ext cx="0" cy="587974"/>
          </a:xfrm>
          <a:prstGeom prst="line">
            <a:avLst/>
          </a:prstGeom>
          <a:ln w="16795"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29" name="g2fig"/>
          <p:cNvCxnSpPr/>
          <p:nvPr/>
        </p:nvCxnSpPr>
        <p:spPr>
          <a:xfrm flipV="1">
            <a:off x="11243492" y="3712898"/>
            <a:ext cx="0" cy="587974"/>
          </a:xfrm>
          <a:prstGeom prst="line">
            <a:avLst/>
          </a:prstGeom>
          <a:ln w="16795"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30" name="g2fig"/>
          <p:cNvCxnSpPr/>
          <p:nvPr/>
        </p:nvCxnSpPr>
        <p:spPr>
          <a:xfrm flipV="1">
            <a:off x="11243492" y="4105221"/>
            <a:ext cx="195652" cy="195651"/>
          </a:xfrm>
          <a:prstGeom prst="line">
            <a:avLst/>
          </a:prstGeom>
          <a:ln w="16795"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31" name="g2fig"/>
          <p:cNvCxnSpPr/>
          <p:nvPr/>
        </p:nvCxnSpPr>
        <p:spPr>
          <a:xfrm flipH="1">
            <a:off x="10067544" y="3712898"/>
            <a:ext cx="1175948" cy="0"/>
          </a:xfrm>
          <a:prstGeom prst="line">
            <a:avLst/>
          </a:prstGeom>
          <a:ln w="16795"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32" name="g2fig"/>
          <p:cNvCxnSpPr/>
          <p:nvPr/>
        </p:nvCxnSpPr>
        <p:spPr>
          <a:xfrm flipV="1">
            <a:off x="11243492" y="3517247"/>
            <a:ext cx="195652" cy="195651"/>
          </a:xfrm>
          <a:prstGeom prst="line">
            <a:avLst/>
          </a:prstGeom>
          <a:ln w="16795"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33" name="g2fig"/>
          <p:cNvCxnSpPr/>
          <p:nvPr/>
        </p:nvCxnSpPr>
        <p:spPr>
          <a:xfrm flipV="1">
            <a:off x="10067544" y="3517247"/>
            <a:ext cx="195651" cy="195651"/>
          </a:xfrm>
          <a:prstGeom prst="line">
            <a:avLst/>
          </a:prstGeom>
          <a:ln w="16795"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34" name="g2fig"/>
          <p:cNvCxnSpPr/>
          <p:nvPr/>
        </p:nvCxnSpPr>
        <p:spPr>
          <a:xfrm flipV="1">
            <a:off x="11439144" y="3517247"/>
            <a:ext cx="0" cy="587974"/>
          </a:xfrm>
          <a:prstGeom prst="line">
            <a:avLst/>
          </a:prstGeom>
          <a:ln w="16795" cap="rnd">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35" name="g2fig"/>
          <p:cNvCxnSpPr/>
          <p:nvPr/>
        </p:nvCxnSpPr>
        <p:spPr>
          <a:xfrm flipH="1">
            <a:off x="10263195" y="3517247"/>
            <a:ext cx="1175949" cy="0"/>
          </a:xfrm>
          <a:prstGeom prst="line">
            <a:avLst/>
          </a:prstGeom>
          <a:ln w="16795" cap="rnd">
            <a:solidFill>
              <a:srgbClr val="1D3557"/>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Оозеки талкуу</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Тегиз жана көлөмдүү фигуралар</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25/26</a:t>
            </a:r>
          </a:p>
        </p:txBody>
      </p:sp>
      <p:sp>
        <p:nvSpPr>
          <p:cNvPr id="10" name="Rounded Rectangle 9"/>
          <p:cNvSpPr/>
          <p:nvPr/>
        </p:nvSpPr>
        <p:spPr>
          <a:xfrm>
            <a:off x="429768" y="1225296"/>
            <a:ext cx="11329416" cy="32461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80160"/>
            <a:ext cx="10780776" cy="548640"/>
          </a:xfrm>
          <a:prstGeom prst="rect">
            <a:avLst/>
          </a:prstGeom>
          <a:noFill/>
        </p:spPr>
        <p:txBody>
          <a:bodyPr wrap="square" anchor="t" lIns="45720" rIns="45720" tIns="27432" bIns="27432">
            <a:spAutoFit/>
          </a:bodyPr>
          <a:lstStyle/>
          <a:p>
            <a:pPr algn="l">
              <a:lnSpc>
                <a:spcPct val="105000"/>
              </a:lnSpc>
            </a:pPr>
            <a:r>
              <a:rPr sz="2400" b="1" i="0">
                <a:solidFill>
                  <a:srgbClr val="1D3557"/>
                </a:solidFill>
                <a:latin typeface="PT Sans"/>
              </a:rPr>
              <a:t>Оозеки талкуу</a:t>
            </a:r>
          </a:p>
        </p:txBody>
      </p:sp>
      <p:sp>
        <p:nvSpPr>
          <p:cNvPr id="12" name="Oval 11"/>
          <p:cNvSpPr/>
          <p:nvPr/>
        </p:nvSpPr>
        <p:spPr>
          <a:xfrm>
            <a:off x="704088" y="1920240"/>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3" name="TextBox 12"/>
          <p:cNvSpPr txBox="1"/>
          <p:nvPr/>
        </p:nvSpPr>
        <p:spPr>
          <a:xfrm>
            <a:off x="1234440" y="1901952"/>
            <a:ext cx="10049256" cy="621792"/>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Тегиз фигура менен көлөмдүү фигуранын айырмасы эмнеде?</a:t>
            </a:r>
          </a:p>
        </p:txBody>
      </p:sp>
      <p:sp>
        <p:nvSpPr>
          <p:cNvPr id="14" name="Oval 13"/>
          <p:cNvSpPr/>
          <p:nvPr/>
        </p:nvSpPr>
        <p:spPr>
          <a:xfrm>
            <a:off x="704088" y="2542032"/>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15" name="TextBox 14"/>
          <p:cNvSpPr txBox="1"/>
          <p:nvPr/>
        </p:nvSpPr>
        <p:spPr>
          <a:xfrm>
            <a:off x="1234440" y="2523744"/>
            <a:ext cx="10049256" cy="621792"/>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Эмне үчүн сүрөттө кубдун 3 гана бети көрүнөт?</a:t>
            </a:r>
          </a:p>
        </p:txBody>
      </p:sp>
      <p:sp>
        <p:nvSpPr>
          <p:cNvPr id="16" name="Oval 15"/>
          <p:cNvSpPr/>
          <p:nvPr/>
        </p:nvSpPr>
        <p:spPr>
          <a:xfrm>
            <a:off x="704088" y="3163824"/>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17" name="TextBox 16"/>
          <p:cNvSpPr txBox="1"/>
          <p:nvPr/>
        </p:nvSpPr>
        <p:spPr>
          <a:xfrm>
            <a:off x="1234440" y="3145536"/>
            <a:ext cx="10049256" cy="621792"/>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Үйүңдө кайсы буюм цилиндрге окшош?</a:t>
            </a:r>
          </a:p>
        </p:txBody>
      </p:sp>
      <p:sp>
        <p:nvSpPr>
          <p:cNvPr id="18" name="TextBox 17"/>
          <p:cNvSpPr txBox="1"/>
          <p:nvPr/>
        </p:nvSpPr>
        <p:spPr>
          <a:xfrm>
            <a:off x="429768" y="4617720"/>
            <a:ext cx="11329416" cy="457200"/>
          </a:xfrm>
          <a:prstGeom prst="rect">
            <a:avLst/>
          </a:prstGeom>
          <a:noFill/>
        </p:spPr>
        <p:txBody>
          <a:bodyPr wrap="square" anchor="t" lIns="45720" rIns="45720" tIns="27432" bIns="27432">
            <a:spAutoFit/>
          </a:bodyPr>
          <a:lstStyle/>
          <a:p>
            <a:pPr algn="ctr">
              <a:lnSpc>
                <a:spcPct val="105000"/>
              </a:lnSpc>
            </a:pPr>
            <a:r>
              <a:rPr sz="2000" b="0" i="1">
                <a:solidFill>
                  <a:srgbClr val="6B7280"/>
                </a:solidFill>
                <a:latin typeface="PT Sans"/>
              </a:rPr>
              <a:t>Өзүңдү баала: колуңду көтөр.</a:t>
            </a:r>
          </a:p>
        </p:txBody>
      </p:sp>
      <p:sp>
        <p:nvSpPr>
          <p:cNvPr id="19" name="Rounded Rectangle 18"/>
          <p:cNvSpPr/>
          <p:nvPr/>
        </p:nvSpPr>
        <p:spPr>
          <a:xfrm>
            <a:off x="978407" y="5120640"/>
            <a:ext cx="3291840" cy="731520"/>
          </a:xfrm>
          <a:prstGeom prst="roundRect">
            <a:avLst>
              <a:gd name="adj" fmla="val 50000"/>
            </a:avLst>
          </a:prstGeom>
          <a:noFill/>
          <a:ln w="254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007A5A"/>
                </a:solidFill>
                <a:latin typeface="PT Sans"/>
              </a:rPr>
              <a:t>Түшүндүм</a:t>
            </a:r>
          </a:p>
        </p:txBody>
      </p:sp>
      <p:sp>
        <p:nvSpPr>
          <p:cNvPr id="20" name="Rounded Rectangle 19"/>
          <p:cNvSpPr/>
          <p:nvPr/>
        </p:nvSpPr>
        <p:spPr>
          <a:xfrm>
            <a:off x="4636008" y="5120640"/>
            <a:ext cx="3291840" cy="731520"/>
          </a:xfrm>
          <a:prstGeom prst="roundRect">
            <a:avLst>
              <a:gd name="adj" fmla="val 50000"/>
            </a:avLst>
          </a:prstGeom>
          <a:noFill/>
          <a:ln w="2540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A84400"/>
                </a:solidFill>
                <a:latin typeface="PT Sans"/>
              </a:rPr>
              <a:t>Дагы машыгам</a:t>
            </a:r>
          </a:p>
        </p:txBody>
      </p:sp>
      <p:sp>
        <p:nvSpPr>
          <p:cNvPr id="21" name="Rounded Rectangle 20"/>
          <p:cNvSpPr/>
          <p:nvPr/>
        </p:nvSpPr>
        <p:spPr>
          <a:xfrm>
            <a:off x="8293608" y="5120640"/>
            <a:ext cx="3291840" cy="731520"/>
          </a:xfrm>
          <a:prstGeom prst="roundRect">
            <a:avLst>
              <a:gd name="adj" fmla="val 50000"/>
            </a:avLst>
          </a:prstGeom>
          <a:noFill/>
          <a:ln w="2540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24418C"/>
                </a:solidFill>
                <a:latin typeface="PT Sans"/>
              </a:rPr>
              <a:t>Жардам керек</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Мугалим үчүн</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Тегиз жана көлөмдүү фигуралар</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26/26</a:t>
            </a:r>
          </a:p>
        </p:txBody>
      </p:sp>
      <p:sp>
        <p:nvSpPr>
          <p:cNvPr id="10" name="Rounded Rectangle 9"/>
          <p:cNvSpPr/>
          <p:nvPr/>
        </p:nvSpPr>
        <p:spPr>
          <a:xfrm>
            <a:off x="429768" y="1225296"/>
            <a:ext cx="5120640"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80160"/>
            <a:ext cx="4663440" cy="502920"/>
          </a:xfrm>
          <a:prstGeom prst="rect">
            <a:avLst/>
          </a:prstGeom>
          <a:noFill/>
        </p:spPr>
        <p:txBody>
          <a:bodyPr wrap="square" anchor="t" lIns="45720" rIns="45720" tIns="27432" bIns="27432">
            <a:spAutoFit/>
          </a:bodyPr>
          <a:lstStyle/>
          <a:p>
            <a:pPr algn="l">
              <a:lnSpc>
                <a:spcPct val="105000"/>
              </a:lnSpc>
            </a:pPr>
            <a:r>
              <a:rPr sz="2000" b="1" i="0">
                <a:solidFill>
                  <a:srgbClr val="1D3557"/>
                </a:solidFill>
                <a:latin typeface="PT Sans"/>
              </a:rPr>
              <a:t>Тилке моделин кантип үйрөтөбүз</a:t>
            </a:r>
          </a:p>
        </p:txBody>
      </p:sp>
      <p:sp>
        <p:nvSpPr>
          <p:cNvPr id="12" name="Oval 11"/>
          <p:cNvSpPr/>
          <p:nvPr/>
        </p:nvSpPr>
        <p:spPr>
          <a:xfrm>
            <a:off x="658368" y="1874519"/>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3" name="TextBox 12"/>
          <p:cNvSpPr txBox="1"/>
          <p:nvPr/>
        </p:nvSpPr>
        <p:spPr>
          <a:xfrm>
            <a:off x="1188719" y="1856231"/>
            <a:ext cx="4114800" cy="1024128"/>
          </a:xfrm>
          <a:prstGeom prst="rect">
            <a:avLst/>
          </a:prstGeom>
          <a:noFill/>
        </p:spPr>
        <p:txBody>
          <a:bodyPr wrap="square" anchor="t" lIns="45720" rIns="45720" tIns="27432" bIns="27432">
            <a:spAutoFit/>
          </a:bodyPr>
          <a:lstStyle/>
          <a:p>
            <a:pPr algn="l">
              <a:lnSpc>
                <a:spcPct val="105000"/>
              </a:lnSpc>
            </a:pPr>
            <a:r>
              <a:rPr sz="1500" b="0" i="0">
                <a:solidFill>
                  <a:srgbClr val="1F2430"/>
                </a:solidFill>
                <a:latin typeface="PT Sans"/>
              </a:rPr>
              <a:t>Адегенде буюм: кутуну, банканы колго алып, беттерин сыйпап санашат (К → С).</a:t>
            </a:r>
          </a:p>
        </p:txBody>
      </p:sp>
      <p:sp>
        <p:nvSpPr>
          <p:cNvPr id="14" name="Oval 13"/>
          <p:cNvSpPr/>
          <p:nvPr/>
        </p:nvSpPr>
        <p:spPr>
          <a:xfrm>
            <a:off x="658368" y="2898648"/>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15" name="TextBox 14"/>
          <p:cNvSpPr txBox="1"/>
          <p:nvPr/>
        </p:nvSpPr>
        <p:spPr>
          <a:xfrm>
            <a:off x="1188719" y="2880360"/>
            <a:ext cx="4114800" cy="1024128"/>
          </a:xfrm>
          <a:prstGeom prst="rect">
            <a:avLst/>
          </a:prstGeom>
          <a:noFill/>
        </p:spPr>
        <p:txBody>
          <a:bodyPr wrap="square" anchor="t" lIns="45720" rIns="45720" tIns="27432" bIns="27432">
            <a:spAutoFit/>
          </a:bodyPr>
          <a:lstStyle/>
          <a:p>
            <a:pPr algn="l">
              <a:lnSpc>
                <a:spcPct val="105000"/>
              </a:lnSpc>
            </a:pPr>
            <a:r>
              <a:rPr sz="1500" b="0" i="0">
                <a:solidFill>
                  <a:srgbClr val="1F2430"/>
                </a:solidFill>
                <a:latin typeface="PT Sans"/>
              </a:rPr>
              <a:t>«Белгилеп сана»: санаган чокуга чекит коёт (М2).</a:t>
            </a:r>
          </a:p>
        </p:txBody>
      </p:sp>
      <p:sp>
        <p:nvSpPr>
          <p:cNvPr id="16" name="Oval 15"/>
          <p:cNvSpPr/>
          <p:nvPr/>
        </p:nvSpPr>
        <p:spPr>
          <a:xfrm>
            <a:off x="658368" y="3922776"/>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17" name="TextBox 16"/>
          <p:cNvSpPr txBox="1"/>
          <p:nvPr/>
        </p:nvSpPr>
        <p:spPr>
          <a:xfrm>
            <a:off x="1188719" y="3904488"/>
            <a:ext cx="4114800" cy="1024128"/>
          </a:xfrm>
          <a:prstGeom prst="rect">
            <a:avLst/>
          </a:prstGeom>
          <a:noFill/>
        </p:spPr>
        <p:txBody>
          <a:bodyPr wrap="square" anchor="t" lIns="45720" rIns="45720" tIns="27432" bIns="27432">
            <a:spAutoFit/>
          </a:bodyPr>
          <a:lstStyle/>
          <a:p>
            <a:pPr algn="l">
              <a:lnSpc>
                <a:spcPct val="105000"/>
              </a:lnSpc>
            </a:pPr>
            <a:r>
              <a:rPr sz="1500" b="0" i="0">
                <a:solidFill>
                  <a:srgbClr val="1F2430"/>
                </a:solidFill>
                <a:latin typeface="PT Sans"/>
              </a:rPr>
              <a:t>Тик бурчту бүктөлгөн кагаз менен текшерет, көз менен эмес (М6).</a:t>
            </a:r>
          </a:p>
        </p:txBody>
      </p:sp>
      <p:sp>
        <p:nvSpPr>
          <p:cNvPr id="18" name="Oval 17"/>
          <p:cNvSpPr/>
          <p:nvPr/>
        </p:nvSpPr>
        <p:spPr>
          <a:xfrm>
            <a:off x="658368" y="4946904"/>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4</a:t>
            </a:r>
          </a:p>
        </p:txBody>
      </p:sp>
      <p:sp>
        <p:nvSpPr>
          <p:cNvPr id="19" name="TextBox 18"/>
          <p:cNvSpPr txBox="1"/>
          <p:nvPr/>
        </p:nvSpPr>
        <p:spPr>
          <a:xfrm>
            <a:off x="1188719" y="4928616"/>
            <a:ext cx="4114800" cy="1024128"/>
          </a:xfrm>
          <a:prstGeom prst="rect">
            <a:avLst/>
          </a:prstGeom>
          <a:noFill/>
        </p:spPr>
        <p:txBody>
          <a:bodyPr wrap="square" anchor="t" lIns="45720" rIns="45720" tIns="27432" bIns="27432">
            <a:spAutoFit/>
          </a:bodyPr>
          <a:lstStyle/>
          <a:p>
            <a:pPr algn="l">
              <a:lnSpc>
                <a:spcPct val="105000"/>
              </a:lnSpc>
            </a:pPr>
            <a:r>
              <a:rPr sz="1500" b="0" i="0">
                <a:solidFill>
                  <a:srgbClr val="1F2430"/>
                </a:solidFill>
                <a:latin typeface="PT Sans"/>
              </a:rPr>
              <a:t>Фигураны буруп көрсөтөм: аты өзгөрбөйт (М1); куб квадрат эмес (М4).</a:t>
            </a:r>
          </a:p>
        </p:txBody>
      </p:sp>
      <p:sp>
        <p:nvSpPr>
          <p:cNvPr id="20" name="Rounded Rectangle 19"/>
          <p:cNvSpPr/>
          <p:nvPr/>
        </p:nvSpPr>
        <p:spPr>
          <a:xfrm>
            <a:off x="5779007" y="1225296"/>
            <a:ext cx="5980176"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07607" y="1280160"/>
            <a:ext cx="5486400" cy="502920"/>
          </a:xfrm>
          <a:prstGeom prst="rect">
            <a:avLst/>
          </a:prstGeom>
          <a:noFill/>
        </p:spPr>
        <p:txBody>
          <a:bodyPr wrap="square" anchor="t" lIns="45720" rIns="45720" tIns="27432" bIns="27432">
            <a:spAutoFit/>
          </a:bodyPr>
          <a:lstStyle/>
          <a:p>
            <a:pPr algn="l">
              <a:lnSpc>
                <a:spcPct val="105000"/>
              </a:lnSpc>
            </a:pPr>
            <a:r>
              <a:rPr sz="2000" b="1" i="0">
                <a:solidFill>
                  <a:srgbClr val="1D3557"/>
                </a:solidFill>
                <a:latin typeface="PT Sans"/>
              </a:rPr>
              <a:t>Ой жүгүртүү: эмне деп айтабыз?</a:t>
            </a:r>
          </a:p>
        </p:txBody>
      </p:sp>
      <p:sp>
        <p:nvSpPr>
          <p:cNvPr id="22" name="TextBox 21"/>
          <p:cNvSpPr txBox="1"/>
          <p:nvPr/>
        </p:nvSpPr>
        <p:spPr>
          <a:xfrm>
            <a:off x="6007607" y="1783080"/>
            <a:ext cx="2651760" cy="365760"/>
          </a:xfrm>
          <a:prstGeom prst="rect">
            <a:avLst/>
          </a:prstGeom>
          <a:noFill/>
        </p:spPr>
        <p:txBody>
          <a:bodyPr wrap="square" anchor="t" lIns="45720" rIns="45720" tIns="27432" bIns="27432">
            <a:spAutoFit/>
          </a:bodyPr>
          <a:lstStyle/>
          <a:p>
            <a:pPr algn="l">
              <a:lnSpc>
                <a:spcPct val="105000"/>
              </a:lnSpc>
            </a:pPr>
            <a:r>
              <a:rPr sz="1500" b="1" i="0">
                <a:solidFill>
                  <a:srgbClr val="6B7280"/>
                </a:solidFill>
                <a:latin typeface="PT Sans"/>
              </a:rPr>
              <a:t>Айтпайбыз</a:t>
            </a:r>
          </a:p>
        </p:txBody>
      </p:sp>
      <p:sp>
        <p:nvSpPr>
          <p:cNvPr id="23" name="TextBox 22"/>
          <p:cNvSpPr txBox="1"/>
          <p:nvPr/>
        </p:nvSpPr>
        <p:spPr>
          <a:xfrm>
            <a:off x="8796528" y="1783080"/>
            <a:ext cx="2926080" cy="365760"/>
          </a:xfrm>
          <a:prstGeom prst="rect">
            <a:avLst/>
          </a:prstGeom>
          <a:noFill/>
        </p:spPr>
        <p:txBody>
          <a:bodyPr wrap="square" anchor="t" lIns="45720" rIns="45720" tIns="27432" bIns="27432">
            <a:spAutoFit/>
          </a:bodyPr>
          <a:lstStyle/>
          <a:p>
            <a:pPr algn="l">
              <a:lnSpc>
                <a:spcPct val="105000"/>
              </a:lnSpc>
            </a:pPr>
            <a:r>
              <a:rPr sz="1500" b="1" i="0">
                <a:solidFill>
                  <a:srgbClr val="007A5A"/>
                </a:solidFill>
                <a:latin typeface="PT Sans"/>
              </a:rPr>
              <a:t>Айтабыз</a:t>
            </a:r>
          </a:p>
        </p:txBody>
      </p:sp>
      <p:sp>
        <p:nvSpPr>
          <p:cNvPr id="24" name="TextBox 23"/>
          <p:cNvSpPr txBox="1"/>
          <p:nvPr/>
        </p:nvSpPr>
        <p:spPr>
          <a:xfrm>
            <a:off x="6007607" y="2194560"/>
            <a:ext cx="2651760"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«Бул оңой эмеспи?»</a:t>
            </a:r>
          </a:p>
        </p:txBody>
      </p:sp>
      <p:cxnSp>
        <p:nvCxnSpPr>
          <p:cNvPr id="25" name="Connector 24"/>
          <p:cNvCxnSpPr/>
          <p:nvPr/>
        </p:nvCxnSpPr>
        <p:spPr>
          <a:xfrm>
            <a:off x="8567928" y="2468879"/>
            <a:ext cx="18288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796528" y="2194560"/>
            <a:ext cx="2880360" cy="868680"/>
          </a:xfrm>
          <a:prstGeom prst="rect">
            <a:avLst/>
          </a:prstGeom>
          <a:noFill/>
        </p:spPr>
        <p:txBody>
          <a:bodyPr wrap="square" anchor="t" lIns="45720" rIns="45720" tIns="27432" bIns="27432">
            <a:spAutoFit/>
          </a:bodyPr>
          <a:lstStyle/>
          <a:p>
            <a:pPr algn="l">
              <a:lnSpc>
                <a:spcPct val="105000"/>
              </a:lnSpc>
            </a:pPr>
            <a:r>
              <a:rPr sz="1500" b="1" i="0">
                <a:solidFill>
                  <a:srgbClr val="1F2430"/>
                </a:solidFill>
                <a:latin typeface="PT Sans"/>
              </a:rPr>
              <a:t>«Кадамдарды бирге карайлы.»</a:t>
            </a:r>
          </a:p>
        </p:txBody>
      </p:sp>
      <p:sp>
        <p:nvSpPr>
          <p:cNvPr id="27" name="TextBox 26"/>
          <p:cNvSpPr txBox="1"/>
          <p:nvPr/>
        </p:nvSpPr>
        <p:spPr>
          <a:xfrm>
            <a:off x="6007607" y="3154680"/>
            <a:ext cx="2651760"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«Туура эмес!»</a:t>
            </a:r>
          </a:p>
        </p:txBody>
      </p:sp>
      <p:cxnSp>
        <p:nvCxnSpPr>
          <p:cNvPr id="28" name="Connector 27"/>
          <p:cNvCxnSpPr/>
          <p:nvPr/>
        </p:nvCxnSpPr>
        <p:spPr>
          <a:xfrm>
            <a:off x="8567928" y="3429000"/>
            <a:ext cx="18288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8796528" y="3154680"/>
            <a:ext cx="2880360" cy="868680"/>
          </a:xfrm>
          <a:prstGeom prst="rect">
            <a:avLst/>
          </a:prstGeom>
          <a:noFill/>
        </p:spPr>
        <p:txBody>
          <a:bodyPr wrap="square" anchor="t" lIns="45720" rIns="45720" tIns="27432" bIns="27432">
            <a:spAutoFit/>
          </a:bodyPr>
          <a:lstStyle/>
          <a:p>
            <a:pPr algn="l">
              <a:lnSpc>
                <a:spcPct val="105000"/>
              </a:lnSpc>
            </a:pPr>
            <a:r>
              <a:rPr sz="1500" b="1" i="0">
                <a:solidFill>
                  <a:srgbClr val="1F2430"/>
                </a:solidFill>
                <a:latin typeface="PT Sans"/>
              </a:rPr>
              <a:t>«Кантип таптың? Текшерип көрөлүчү.»</a:t>
            </a:r>
          </a:p>
        </p:txBody>
      </p:sp>
      <p:sp>
        <p:nvSpPr>
          <p:cNvPr id="30" name="TextBox 29"/>
          <p:cNvSpPr txBox="1"/>
          <p:nvPr/>
        </p:nvSpPr>
        <p:spPr>
          <a:xfrm>
            <a:off x="6007607" y="4114800"/>
            <a:ext cx="2651760"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«Сен математикага жөндөмсүзсүң»</a:t>
            </a:r>
          </a:p>
        </p:txBody>
      </p:sp>
      <p:cxnSp>
        <p:nvCxnSpPr>
          <p:cNvPr id="31" name="Connector 30"/>
          <p:cNvCxnSpPr/>
          <p:nvPr/>
        </p:nvCxnSpPr>
        <p:spPr>
          <a:xfrm>
            <a:off x="8567928" y="4389120"/>
            <a:ext cx="18288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796528" y="4114800"/>
            <a:ext cx="2880360" cy="868680"/>
          </a:xfrm>
          <a:prstGeom prst="rect">
            <a:avLst/>
          </a:prstGeom>
          <a:noFill/>
        </p:spPr>
        <p:txBody>
          <a:bodyPr wrap="square" anchor="t" lIns="45720" rIns="45720" tIns="27432" bIns="27432">
            <a:spAutoFit/>
          </a:bodyPr>
          <a:lstStyle/>
          <a:p>
            <a:pPr algn="l">
              <a:lnSpc>
                <a:spcPct val="105000"/>
              </a:lnSpc>
            </a:pPr>
            <a:r>
              <a:rPr sz="1500" b="1" i="0">
                <a:solidFill>
                  <a:srgbClr val="1F2430"/>
                </a:solidFill>
                <a:latin typeface="PT Sans"/>
              </a:rPr>
              <a:t>«Азырынча. Машыксаң, үйрөнөсүң.»</a:t>
            </a:r>
          </a:p>
        </p:txBody>
      </p:sp>
      <p:sp>
        <p:nvSpPr>
          <p:cNvPr id="33" name="TextBox 32"/>
          <p:cNvSpPr txBox="1"/>
          <p:nvPr/>
        </p:nvSpPr>
        <p:spPr>
          <a:xfrm>
            <a:off x="6007607" y="5074920"/>
            <a:ext cx="2651760"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«Тез чыгар»</a:t>
            </a:r>
          </a:p>
        </p:txBody>
      </p:sp>
      <p:cxnSp>
        <p:nvCxnSpPr>
          <p:cNvPr id="34" name="Connector 33"/>
          <p:cNvCxnSpPr/>
          <p:nvPr/>
        </p:nvCxnSpPr>
        <p:spPr>
          <a:xfrm>
            <a:off x="8567928" y="5349240"/>
            <a:ext cx="18288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796528" y="5074920"/>
            <a:ext cx="2880360" cy="868680"/>
          </a:xfrm>
          <a:prstGeom prst="rect">
            <a:avLst/>
          </a:prstGeom>
          <a:noFill/>
        </p:spPr>
        <p:txBody>
          <a:bodyPr wrap="square" anchor="t" lIns="45720" rIns="45720" tIns="27432" bIns="27432">
            <a:spAutoFit/>
          </a:bodyPr>
          <a:lstStyle/>
          <a:p>
            <a:pPr algn="l">
              <a:lnSpc>
                <a:spcPct val="105000"/>
              </a:lnSpc>
            </a:pPr>
            <a:r>
              <a:rPr sz="1500" b="1" i="0">
                <a:solidFill>
                  <a:srgbClr val="1F2430"/>
                </a:solidFill>
                <a:latin typeface="PT Sans"/>
              </a:rPr>
              <a:t>«Шашпа, адегенде тилке чий.»</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