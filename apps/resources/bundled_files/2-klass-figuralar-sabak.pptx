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аталышы жана бүгүнкү окуя.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жолу: ар бир бөлүк өз слайды менен ачылат.</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Окуяны окуп берем. Окуучулар болжолдошот: жылдызча 10дон көппү, азбы? Жоопту сабактын аягында (22-слайд) текшеребиз. Колумда чыныгы кубик же ширеңке кутусу болот.</a:t>
            </a:r>
          </a:p>
          <a:p>
            <a:r>
              <a:t>3C (Байланыштыруу): Окуя турмуштан: бул суроого сабактын аягында кайтабыз.</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Ой жүгүртүү маданияты (Wenxi Lee, 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Ийгилик критерийлери: сабактын аягында ар бирине ✓ коёбуз.</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Спираль: тема класстан класска тереңдейт.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Мини-тактага жазышат.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Жоопту дароо айтпайбыз. Жупта талкуулашат. Жооп: Айбек: кубдун 6 бети бар; Нуриза сүрөттө көрүнгөнүн гана санады (М3).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жупка 12 таякча (ширеңке чийи, санак таякча же кургак макарон) жана 8 пластилин шарча берем (пластилин жок болсо, нымдуу чопо же нан камыры). Адегенде квадрат курушат: 4 таякча, 4 шарча. Анан экинчи квадрат жана 4 тик таякча: куб каркасы. «Канча шарча? Канча таякча?» деп сурайм. Тик бурч текшергичти ар бир окуучу кагазды эки жолу бүктөп өзү жасайт жана партанын, китептин бурчун текшерет. Проектор жок болсо, ушул сүрөттү доскага чийем.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Кубду доскага чийем: көрүнбөгөн кырлар үзүк сызык менен. Анан кутуну кесип жазып көрсөтөм: 6 бет. Ар бир бетке номер жазабыз 1ден 6га чейин. Үч кубик: 6 + 6 + 6. «3 + 3 + 3 = 9» деген жоопту талкуулайбыз (М3).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Тегиз фигурада жак жана чоку, көлөмдүү фигурада бет, кыр жана чоку. Тик бурчту көз менен эмес, текшергич менен табабыз (М6). Фигураны бурсак, аты өзгөрбөйт (М1). Куб – квадрат эмес: кубду колго алабыз, квадратты кагазга чийебиз (М4).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ыкманы окуучу үн чыгарып айтат: «кубдун беттерин жуп-жуп санадым: алды-арты, үстү-асты, оң-сол». «Оозеки беш мүнөт» (класста колдонуу картасы) эки апта кайталайт.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Баары бир убакта манжа менен көрсөтөт (1–4). Туура эмес жооптун коду: А = М5; Б = ✓; В = М3; Г = М4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деңгээл: эки бөлүк → бирдей бөлүктөр → бүтүн жана белгисиз. Жооптор: 3 + 4 = 7 таякча; 6 + 6 = 12 бет; 20 − 12 = 8 таякча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Жеңилден баштап, мүмкүн болушунча алдыга.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кубиктин 6 бети: 6 + 6 + 6 = 18. Кимдир бирөө 9 десе (3 + 3 + 3), кубикти колго алып астын, артын жана сол жагын көрсөтөм: сүрөттө алар көрүнбөйт (М3).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Блум: Түзүү. Жупта алмашып, бири-биринин маселесин чыгарышат.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Жооптор: 5 жак, 5 чоку; 6 бет, 12 кыр; Жок: тик бурчтукта 4 тик бурч бар</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Бул слайд окуучуларга көрсөтүлбөйт.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3" name="TextBox 2"/>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1/26</a:t>
            </a:r>
          </a:p>
        </p:txBody>
      </p:sp>
      <p:sp>
        <p:nvSpPr>
          <p:cNvPr id="4" name="Rounded Rectangle 3"/>
          <p:cNvSpPr/>
          <p:nvPr/>
        </p:nvSpPr>
        <p:spPr>
          <a:xfrm>
            <a:off x="822960" y="1371600"/>
            <a:ext cx="164592" cy="128016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97280" y="1371600"/>
            <a:ext cx="164592" cy="128016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371600" y="1371600"/>
            <a:ext cx="164592" cy="128016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1188720"/>
            <a:ext cx="9601200" cy="548640"/>
          </a:xfrm>
          <a:prstGeom prst="rect">
            <a:avLst/>
          </a:prstGeom>
          <a:noFill/>
        </p:spPr>
        <p:txBody>
          <a:bodyPr wrap="square" anchor="t" lIns="45720" rIns="45720" tIns="27432" bIns="27432">
            <a:spAutoFit/>
          </a:bodyPr>
          <a:lstStyle/>
          <a:p>
            <a:pPr algn="l">
              <a:lnSpc>
                <a:spcPct val="105000"/>
              </a:lnSpc>
            </a:pPr>
            <a:r>
              <a:rPr sz="2200" b="0" i="0">
                <a:solidFill>
                  <a:srgbClr val="4A5A70"/>
                </a:solidFill>
                <a:latin typeface="PT Sans"/>
              </a:rPr>
              <a:t/>
            </a:r>
          </a:p>
        </p:txBody>
      </p:sp>
      <p:sp>
        <p:nvSpPr>
          <p:cNvPr id="8" name="TextBox 7"/>
          <p:cNvSpPr txBox="1"/>
          <p:nvPr/>
        </p:nvSpPr>
        <p:spPr>
          <a:xfrm>
            <a:off x="1828800" y="1691640"/>
            <a:ext cx="9601200" cy="1737360"/>
          </a:xfrm>
          <a:prstGeom prst="rect">
            <a:avLst/>
          </a:prstGeom>
          <a:noFill/>
        </p:spPr>
        <p:txBody>
          <a:bodyPr wrap="square" anchor="t" lIns="45720" rIns="45720" tIns="27432" bIns="27432">
            <a:spAutoFit/>
          </a:bodyPr>
          <a:lstStyle/>
          <a:p>
            <a:pPr algn="l">
              <a:lnSpc>
                <a:spcPct val="105000"/>
              </a:lnSpc>
            </a:pPr>
            <a:r>
              <a:rPr sz="4000" b="1" i="0">
                <a:solidFill>
                  <a:srgbClr val="1D3557"/>
                </a:solidFill>
                <a:latin typeface="PT Sans"/>
              </a:rPr>
              <a:t>Тегиз жана көлөмдүү фигуралар</a:t>
            </a:r>
          </a:p>
        </p:txBody>
      </p:sp>
      <p:sp>
        <p:nvSpPr>
          <p:cNvPr id="9" name="Rounded Rectangle 8"/>
          <p:cNvSpPr/>
          <p:nvPr/>
        </p:nvSpPr>
        <p:spPr>
          <a:xfrm>
            <a:off x="1828800" y="3611880"/>
            <a:ext cx="8778240" cy="1463040"/>
          </a:xfrm>
          <a:prstGeom prst="roundRect">
            <a:avLst>
              <a:gd name="adj" fmla="val 12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0"/>
            <a:ext cx="8321040" cy="457200"/>
          </a:xfrm>
          <a:prstGeom prst="rect">
            <a:avLst/>
          </a:prstGeom>
          <a:noFill/>
        </p:spPr>
        <p:txBody>
          <a:bodyPr wrap="square" anchor="t" lIns="45720" rIns="45720" tIns="27432" bIns="27432">
            <a:spAutoFit/>
          </a:bodyPr>
          <a:lstStyle/>
          <a:p>
            <a:pPr algn="l">
              <a:lnSpc>
                <a:spcPct val="105000"/>
              </a:lnSpc>
            </a:pPr>
            <a:r>
              <a:rPr sz="2400" b="1" i="0">
                <a:solidFill>
                  <a:srgbClr val="A84400"/>
                </a:solidFill>
                <a:latin typeface="PT Sans"/>
              </a:rPr>
              <a:t>Бүгүнкү окуя: Каракол: чоң атанын устаканасы</a:t>
            </a:r>
          </a:p>
        </p:txBody>
      </p:sp>
      <p:sp>
        <p:nvSpPr>
          <p:cNvPr id="11" name="TextBox 10"/>
          <p:cNvSpPr txBox="1"/>
          <p:nvPr/>
        </p:nvSpPr>
        <p:spPr>
          <a:xfrm>
            <a:off x="2057400" y="4160520"/>
            <a:ext cx="8321040" cy="914400"/>
          </a:xfrm>
          <a:prstGeom prst="rect">
            <a:avLst/>
          </a:prstGeom>
          <a:noFill/>
        </p:spPr>
        <p:txBody>
          <a:bodyPr wrap="square" anchor="t" lIns="45720" rIns="45720" tIns="27432" bIns="27432">
            <a:spAutoFit/>
          </a:bodyPr>
          <a:lstStyle/>
          <a:p>
            <a:pPr algn="l">
              <a:lnSpc>
                <a:spcPct val="105000"/>
              </a:lnSpc>
            </a:pPr>
            <a:r>
              <a:rPr sz="1900" b="0" i="0">
                <a:solidFill>
                  <a:srgbClr val="1F2430"/>
                </a:solidFill>
                <a:latin typeface="PT Sans"/>
              </a:rPr>
              <a:t>Нуриза менен Айбек Асан чоң аталарынын жыгач устаканасында фигуралардан оюнчук жасашат.</a:t>
            </a:r>
          </a:p>
        </p:txBody>
      </p:sp>
      <p:sp>
        <p:nvSpPr>
          <p:cNvPr id="12" name="TextBox 11"/>
          <p:cNvSpPr txBox="1"/>
          <p:nvPr/>
        </p:nvSpPr>
        <p:spPr>
          <a:xfrm>
            <a:off x="1828800" y="5349240"/>
            <a:ext cx="9601200" cy="457200"/>
          </a:xfrm>
          <a:prstGeom prst="rect">
            <a:avLst/>
          </a:prstGeom>
          <a:noFill/>
        </p:spPr>
        <p:txBody>
          <a:bodyPr wrap="square" anchor="t" lIns="45720" rIns="45720" tIns="27432" bIns="27432">
            <a:spAutoFit/>
          </a:bodyPr>
          <a:lstStyle/>
          <a:p>
            <a:pPr algn="l">
              <a:lnSpc>
                <a:spcPct val="105000"/>
              </a:lnSpc>
            </a:pPr>
            <a:r>
              <a:rPr sz="1300" b="0" i="1">
                <a:solidFill>
                  <a:srgbClr val="6B7280"/>
                </a:solidFill>
                <a:latin typeface="PT Sans"/>
              </a:rPr>
              <a:t>Китеп: 2025–26 КТП, 2-класс: «2D/3D фигуралар»; 2011-стандарт 2.1.5 (тик бурчтук, квадрат). Кыргызча окуу китеби папкада жок; мазмуну толук жаңы.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Сабактын мазмуну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2/26</a:t>
            </a:r>
          </a:p>
        </p:txBody>
      </p:sp>
      <p:sp>
        <p:nvSpPr>
          <p:cNvPr id="10" name="Rounded Rectangle 9"/>
          <p:cNvSpPr/>
          <p:nvPr/>
        </p:nvSpPr>
        <p:spPr>
          <a:xfrm>
            <a:off x="429768" y="1280160"/>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080" y="1463039"/>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80160" y="1280160"/>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Кириш</a:t>
            </a:r>
          </a:p>
        </p:txBody>
      </p:sp>
      <p:sp>
        <p:nvSpPr>
          <p:cNvPr id="13" name="TextBox 12"/>
          <p:cNvSpPr txBox="1"/>
          <p:nvPr/>
        </p:nvSpPr>
        <p:spPr>
          <a:xfrm>
            <a:off x="4480560" y="1280160"/>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 эрежелер, максаттар</a:t>
            </a:r>
          </a:p>
        </p:txBody>
      </p:sp>
      <p:sp>
        <p:nvSpPr>
          <p:cNvPr id="14" name="Rounded Rectangle 13"/>
          <p:cNvSpPr/>
          <p:nvPr/>
        </p:nvSpPr>
        <p:spPr>
          <a:xfrm>
            <a:off x="429768" y="2212848"/>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2395728"/>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80160" y="2212848"/>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Даярдык</a:t>
            </a:r>
          </a:p>
        </p:txBody>
      </p:sp>
      <p:sp>
        <p:nvSpPr>
          <p:cNvPr id="17" name="TextBox 16"/>
          <p:cNvSpPr txBox="1"/>
          <p:nvPr/>
        </p:nvSpPr>
        <p:spPr>
          <a:xfrm>
            <a:off x="4480560" y="2212848"/>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Эстейбиз, «Ким туура?»</a:t>
            </a:r>
          </a:p>
        </p:txBody>
      </p:sp>
      <p:sp>
        <p:nvSpPr>
          <p:cNvPr id="18" name="Rounded Rectangle 17"/>
          <p:cNvSpPr/>
          <p:nvPr/>
        </p:nvSpPr>
        <p:spPr>
          <a:xfrm>
            <a:off x="429768" y="3145536"/>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0080" y="3328416"/>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0" name="TextBox 19"/>
          <p:cNvSpPr txBox="1"/>
          <p:nvPr/>
        </p:nvSpPr>
        <p:spPr>
          <a:xfrm>
            <a:off x="1280160" y="3145536"/>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Түшүнөбүз</a:t>
            </a:r>
          </a:p>
        </p:txBody>
      </p:sp>
      <p:sp>
        <p:nvSpPr>
          <p:cNvPr id="21" name="TextBox 20"/>
          <p:cNvSpPr txBox="1"/>
          <p:nvPr/>
        </p:nvSpPr>
        <p:spPr>
          <a:xfrm>
            <a:off x="4480560" y="3145536"/>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К → С → А: буюм, тилке, эреже</a:t>
            </a:r>
          </a:p>
        </p:txBody>
      </p:sp>
      <p:sp>
        <p:nvSpPr>
          <p:cNvPr id="22" name="Rounded Rectangle 21"/>
          <p:cNvSpPr/>
          <p:nvPr/>
        </p:nvSpPr>
        <p:spPr>
          <a:xfrm>
            <a:off x="429768" y="4078224"/>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 y="426110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4" name="TextBox 23"/>
          <p:cNvSpPr txBox="1"/>
          <p:nvPr/>
        </p:nvSpPr>
        <p:spPr>
          <a:xfrm>
            <a:off x="1280160" y="4078224"/>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Машыгабыз</a:t>
            </a:r>
          </a:p>
        </p:txBody>
      </p:sp>
      <p:sp>
        <p:nvSpPr>
          <p:cNvPr id="25" name="TextBox 24"/>
          <p:cNvSpPr txBox="1"/>
          <p:nvPr/>
        </p:nvSpPr>
        <p:spPr>
          <a:xfrm>
            <a:off x="4480560" y="4078224"/>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Чечүүчү суроо, тилке, өз алдынча иш</a:t>
            </a:r>
          </a:p>
        </p:txBody>
      </p:sp>
      <p:sp>
        <p:nvSpPr>
          <p:cNvPr id="26" name="Rounded Rectangle 25"/>
          <p:cNvSpPr/>
          <p:nvPr/>
        </p:nvSpPr>
        <p:spPr>
          <a:xfrm>
            <a:off x="429768" y="5010912"/>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0080" y="5193792"/>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8" name="TextBox 27"/>
          <p:cNvSpPr txBox="1"/>
          <p:nvPr/>
        </p:nvSpPr>
        <p:spPr>
          <a:xfrm>
            <a:off x="1280160" y="5010912"/>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Жыйынтык</a:t>
            </a:r>
          </a:p>
        </p:txBody>
      </p:sp>
      <p:sp>
        <p:nvSpPr>
          <p:cNvPr id="29" name="TextBox 28"/>
          <p:cNvSpPr txBox="1"/>
          <p:nvPr/>
        </p:nvSpPr>
        <p:spPr>
          <a:xfrm>
            <a:off x="4480560" y="5010912"/>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Окуяга кайтуу, түзүү, чыгуу билети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 Каракол: чоң атанын устаканасы</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3/26</a:t>
            </a:r>
          </a:p>
        </p:txBody>
      </p:sp>
      <p:sp>
        <p:nvSpPr>
          <p:cNvPr id="10" name="Rounded Rectangle 9"/>
          <p:cNvSpPr/>
          <p:nvPr/>
        </p:nvSpPr>
        <p:spPr>
          <a:xfrm>
            <a:off x="429768" y="1225296"/>
            <a:ext cx="6766560" cy="45720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25880"/>
            <a:ext cx="6217920" cy="4389120"/>
          </a:xfrm>
          <a:prstGeom prst="rect">
            <a:avLst/>
          </a:prstGeom>
          <a:noFill/>
        </p:spPr>
        <p:txBody>
          <a:bodyPr wrap="square" anchor="t" lIns="45720" rIns="45720" tIns="27432" bIns="27432">
            <a:spAutoFit/>
          </a:bodyPr>
          <a:lstStyle/>
          <a:p>
            <a:pPr algn="l">
              <a:lnSpc>
                <a:spcPct val="105000"/>
              </a:lnSpc>
            </a:pPr>
            <a:r>
              <a:rPr sz="2100" b="0" i="0">
                <a:solidFill>
                  <a:srgbClr val="1F2430"/>
                </a:solidFill>
                <a:latin typeface="PT Sans"/>
              </a:rPr>
              <a:t>Күзгү каникул. Нуриза менен Айбек Караколго, Асан чоң аталарына барышты.</a:t>
            </a:r>
          </a:p>
          <a:p>
            <a:pPr algn="l">
              <a:lnSpc>
                <a:spcPct val="105000"/>
              </a:lnSpc>
              <a:spcBef>
                <a:spcPts val="800"/>
              </a:spcBef>
            </a:pPr>
            <a:r>
              <a:rPr sz="2100" b="0" i="0">
                <a:solidFill>
                  <a:srgbClr val="1F2430"/>
                </a:solidFill>
                <a:latin typeface="PT Sans"/>
              </a:rPr>
              <a:t>Асан ата – жыгач уста. Ал кубик, цилиндр, конус жана пирамида формасындагы оюнчуктарды жасайт.</a:t>
            </a:r>
          </a:p>
          <a:p>
            <a:pPr algn="l">
              <a:lnSpc>
                <a:spcPct val="105000"/>
              </a:lnSpc>
              <a:spcBef>
                <a:spcPts val="800"/>
              </a:spcBef>
            </a:pPr>
            <a:r>
              <a:rPr sz="2100" b="0" i="0">
                <a:solidFill>
                  <a:srgbClr val="1F2430"/>
                </a:solidFill>
                <a:latin typeface="PT Sans"/>
              </a:rPr>
              <a:t>Балдар Караколдун эски жыгач үйлөрүн карап басышты: терезелери тик бурчтук! Анан ашлянфу жешти.</a:t>
            </a:r>
          </a:p>
          <a:p>
            <a:pPr algn="l">
              <a:lnSpc>
                <a:spcPct val="105000"/>
              </a:lnSpc>
              <a:spcBef>
                <a:spcPts val="800"/>
              </a:spcBef>
            </a:pPr>
            <a:r>
              <a:rPr sz="2100" b="0" i="0">
                <a:solidFill>
                  <a:srgbClr val="1F2430"/>
                </a:solidFill>
                <a:latin typeface="PT Sans"/>
              </a:rPr>
              <a:t>Устаканада Нуриза ар бир оюнчуктун ар бир бетине бирден жылдызча чаптайт.</a:t>
            </a:r>
          </a:p>
        </p:txBody>
      </p:sp>
      <p:sp>
        <p:nvSpPr>
          <p:cNvPr id="12" name="Rounded Rectangle 11"/>
          <p:cNvSpPr/>
          <p:nvPr/>
        </p:nvSpPr>
        <p:spPr>
          <a:xfrm>
            <a:off x="7406640" y="1225296"/>
            <a:ext cx="4352544" cy="45720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325880"/>
            <a:ext cx="3931920" cy="457200"/>
          </a:xfrm>
          <a:prstGeom prst="rect">
            <a:avLst/>
          </a:prstGeom>
          <a:noFill/>
        </p:spPr>
        <p:txBody>
          <a:bodyPr wrap="square" anchor="t" lIns="45720" rIns="45720" tIns="27432" bIns="27432">
            <a:spAutoFit/>
          </a:bodyPr>
          <a:lstStyle/>
          <a:p>
            <a:pPr algn="l">
              <a:lnSpc>
                <a:spcPct val="105000"/>
              </a:lnSpc>
            </a:pPr>
            <a:r>
              <a:rPr sz="2200" b="1" i="0">
                <a:solidFill>
                  <a:srgbClr val="A84400"/>
                </a:solidFill>
                <a:latin typeface="PT Sans"/>
              </a:rPr>
              <a:t>Суроо</a:t>
            </a:r>
          </a:p>
        </p:txBody>
      </p:sp>
      <p:sp>
        <p:nvSpPr>
          <p:cNvPr id="14" name="TextBox 13"/>
          <p:cNvSpPr txBox="1"/>
          <p:nvPr/>
        </p:nvSpPr>
        <p:spPr>
          <a:xfrm>
            <a:off x="7635240" y="1828800"/>
            <a:ext cx="3931920" cy="2743200"/>
          </a:xfrm>
          <a:prstGeom prst="rect">
            <a:avLst/>
          </a:prstGeom>
          <a:noFill/>
        </p:spPr>
        <p:txBody>
          <a:bodyPr wrap="square" anchor="t" lIns="45720" rIns="45720" tIns="27432" bIns="27432">
            <a:spAutoFit/>
          </a:bodyPr>
          <a:lstStyle/>
          <a:p>
            <a:pPr algn="l">
              <a:lnSpc>
                <a:spcPct val="105000"/>
              </a:lnSpc>
            </a:pPr>
            <a:r>
              <a:rPr sz="2200" b="1" i="0">
                <a:solidFill>
                  <a:srgbClr val="1F2430"/>
                </a:solidFill>
                <a:latin typeface="PT Sans"/>
              </a:rPr>
              <a:t>Асан ата 3 жыгач кубик жасады. Нуриза ар бир кубиктин бардык беттерине бирден жылдызча чаптайт. Канча жылдызча керек?</a:t>
            </a:r>
          </a:p>
        </p:txBody>
      </p:sp>
      <p:sp>
        <p:nvSpPr>
          <p:cNvPr id="15" name="TextBox 14"/>
          <p:cNvSpPr txBox="1"/>
          <p:nvPr/>
        </p:nvSpPr>
        <p:spPr>
          <a:xfrm>
            <a:off x="7635240" y="4572000"/>
            <a:ext cx="3931920" cy="1097280"/>
          </a:xfrm>
          <a:prstGeom prst="rect">
            <a:avLst/>
          </a:prstGeom>
          <a:noFill/>
        </p:spPr>
        <p:txBody>
          <a:bodyPr wrap="square" anchor="t" lIns="45720" rIns="45720" tIns="27432" bIns="27432">
            <a:spAutoFit/>
          </a:bodyPr>
          <a:lstStyle/>
          <a:p>
            <a:pPr algn="l">
              <a:lnSpc>
                <a:spcPct val="105000"/>
              </a:lnSpc>
            </a:pPr>
            <a:r>
              <a:rPr sz="1700" b="0" i="1">
                <a:solidFill>
                  <a:srgbClr val="6B7280"/>
                </a:solidFill>
                <a:latin typeface="PT Sans"/>
              </a:rPr>
              <a:t>Азыр жообун айтпайбыз. Ойлон: кантип билебиз?</a:t>
            </a:r>
          </a:p>
        </p:txBody>
      </p:sp>
      <p:sp>
        <p:nvSpPr>
          <p:cNvPr id="16" name="Rounded Rectangle 15"/>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Математикада биз…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4/26</a:t>
            </a:r>
          </a:p>
        </p:txBody>
      </p:sp>
      <p:sp>
        <p:nvSpPr>
          <p:cNvPr id="10" name="Rounded Rectangle 9"/>
          <p:cNvSpPr/>
          <p:nvPr/>
        </p:nvSpPr>
        <p:spPr>
          <a:xfrm>
            <a:off x="429768"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58368" y="1600200"/>
            <a:ext cx="3166872" cy="1463040"/>
          </a:xfrm>
          <a:prstGeom prst="roundRect">
            <a:avLst>
              <a:gd name="adj" fmla="val 15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Ката – үйрөнүүнүн бир бөлүгү</a:t>
            </a:r>
          </a:p>
        </p:txBody>
      </p:sp>
      <p:sp>
        <p:nvSpPr>
          <p:cNvPr id="12" name="TextBox 11"/>
          <p:cNvSpPr txBox="1"/>
          <p:nvPr/>
        </p:nvSpPr>
        <p:spPr>
          <a:xfrm>
            <a:off x="658368"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Ката кетсе, эмне үчүн кеткенин издейбиз.</a:t>
            </a:r>
          </a:p>
        </p:txBody>
      </p:sp>
      <p:sp>
        <p:nvSpPr>
          <p:cNvPr id="13" name="Rounded Rectangle 12"/>
          <p:cNvSpPr/>
          <p:nvPr/>
        </p:nvSpPr>
        <p:spPr>
          <a:xfrm>
            <a:off x="4282439"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11039" y="1600200"/>
            <a:ext cx="3166872" cy="1463040"/>
          </a:xfrm>
          <a:prstGeom prst="roundRect">
            <a:avLst>
              <a:gd name="adj" fmla="val 15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«Азырынча билбейм»</a:t>
            </a:r>
          </a:p>
        </p:txBody>
      </p:sp>
      <p:sp>
        <p:nvSpPr>
          <p:cNvPr id="15" name="TextBox 14"/>
          <p:cNvSpPr txBox="1"/>
          <p:nvPr/>
        </p:nvSpPr>
        <p:spPr>
          <a:xfrm>
            <a:off x="4511039"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«Билбейм» эмес, «азырынча». Машыксак, үйрөнөбүз.</a:t>
            </a:r>
          </a:p>
        </p:txBody>
      </p:sp>
      <p:sp>
        <p:nvSpPr>
          <p:cNvPr id="16" name="Rounded Rectangle 15"/>
          <p:cNvSpPr/>
          <p:nvPr/>
        </p:nvSpPr>
        <p:spPr>
          <a:xfrm>
            <a:off x="8135112"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63712" y="1600200"/>
            <a:ext cx="3166872" cy="1463040"/>
          </a:xfrm>
          <a:prstGeom prst="roundRect">
            <a:avLst>
              <a:gd name="adj" fmla="val 15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Адегенде түшүн, анан эсепте</a:t>
            </a:r>
          </a:p>
        </p:txBody>
      </p:sp>
      <p:sp>
        <p:nvSpPr>
          <p:cNvPr id="18" name="TextBox 17"/>
          <p:cNvSpPr txBox="1"/>
          <p:nvPr/>
        </p:nvSpPr>
        <p:spPr>
          <a:xfrm>
            <a:off x="8363712"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Сүрөт же тилке чийип, анан сан менен жазабыз.</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Максаттар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5/26</a:t>
            </a:r>
          </a:p>
        </p:txBody>
      </p:sp>
      <p:sp>
        <p:nvSpPr>
          <p:cNvPr id="10" name="Rounded Rectangle 9"/>
          <p:cNvSpPr/>
          <p:nvPr/>
        </p:nvSpPr>
        <p:spPr>
          <a:xfrm>
            <a:off x="429768" y="1225296"/>
            <a:ext cx="6409944"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429768" y="1865376"/>
            <a:ext cx="6409944"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12648" y="1225296"/>
            <a:ext cx="6044184"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Бүгүн биз үйрөнөбүз</a:t>
            </a:r>
          </a:p>
        </p:txBody>
      </p:sp>
      <p:sp>
        <p:nvSpPr>
          <p:cNvPr id="13" name="Oval 12"/>
          <p:cNvSpPr/>
          <p:nvPr/>
        </p:nvSpPr>
        <p:spPr>
          <a:xfrm>
            <a:off x="722376" y="21488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4" name="TextBox 13"/>
          <p:cNvSpPr txBox="1"/>
          <p:nvPr/>
        </p:nvSpPr>
        <p:spPr>
          <a:xfrm>
            <a:off x="1261872" y="211226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Тегиз фигуранын жактарын, чокуларын, тик бурчтарын санайм.</a:t>
            </a:r>
          </a:p>
        </p:txBody>
      </p:sp>
      <p:sp>
        <p:nvSpPr>
          <p:cNvPr id="15" name="Oval 14"/>
          <p:cNvSpPr/>
          <p:nvPr/>
        </p:nvSpPr>
        <p:spPr>
          <a:xfrm>
            <a:off x="722376" y="342900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61872" y="339242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Көлөмдүү фигуранын беттерин, кырларын, чокуларын санайм.</a:t>
            </a:r>
          </a:p>
        </p:txBody>
      </p:sp>
      <p:sp>
        <p:nvSpPr>
          <p:cNvPr id="17" name="Oval 16"/>
          <p:cNvSpPr/>
          <p:nvPr/>
        </p:nvSpPr>
        <p:spPr>
          <a:xfrm>
            <a:off x="722376" y="470916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8" name="TextBox 17"/>
          <p:cNvSpPr txBox="1"/>
          <p:nvPr/>
        </p:nvSpPr>
        <p:spPr>
          <a:xfrm>
            <a:off x="1261872" y="467258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Фигураларды атайм, топторго бөлөм жана турмуштан табам.</a:t>
            </a:r>
          </a:p>
        </p:txBody>
      </p:sp>
      <p:sp>
        <p:nvSpPr>
          <p:cNvPr id="19" name="Rounded Rectangle 18"/>
          <p:cNvSpPr/>
          <p:nvPr/>
        </p:nvSpPr>
        <p:spPr>
          <a:xfrm>
            <a:off x="7132320" y="1225296"/>
            <a:ext cx="4636008"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7132320" y="1865376"/>
            <a:ext cx="46360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06056" y="1225296"/>
            <a:ext cx="4270248"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Деңгээлдер</a:t>
            </a:r>
          </a:p>
        </p:txBody>
      </p:sp>
      <p:sp>
        <p:nvSpPr>
          <p:cNvPr id="22" name="Rounded Rectangle 21"/>
          <p:cNvSpPr/>
          <p:nvPr/>
        </p:nvSpPr>
        <p:spPr>
          <a:xfrm>
            <a:off x="7360920" y="2103120"/>
            <a:ext cx="1143000" cy="731520"/>
          </a:xfrm>
          <a:prstGeom prst="roundRect">
            <a:avLst>
              <a:gd name="adj" fmla="val 20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007A5A"/>
                </a:solidFill>
                <a:latin typeface="PT Sans"/>
              </a:rPr>
              <a:t>Жеңил</a:t>
            </a:r>
          </a:p>
        </p:txBody>
      </p:sp>
      <p:sp>
        <p:nvSpPr>
          <p:cNvPr id="23" name="TextBox 22"/>
          <p:cNvSpPr txBox="1"/>
          <p:nvPr/>
        </p:nvSpPr>
        <p:spPr>
          <a:xfrm>
            <a:off x="8641080" y="2057400"/>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Атайм жана санайм</a:t>
            </a:r>
          </a:p>
        </p:txBody>
      </p:sp>
      <p:sp>
        <p:nvSpPr>
          <p:cNvPr id="24" name="Rounded Rectangle 23"/>
          <p:cNvSpPr/>
          <p:nvPr/>
        </p:nvSpPr>
        <p:spPr>
          <a:xfrm>
            <a:off x="7360920" y="3127248"/>
            <a:ext cx="1143000" cy="731520"/>
          </a:xfrm>
          <a:prstGeom prst="roundRect">
            <a:avLst>
              <a:gd name="adj" fmla="val 20000"/>
            </a:avLst>
          </a:prstGeom>
          <a:solidFill>
            <a:srgbClr val="FFFFFF"/>
          </a:solid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Орто</a:t>
            </a:r>
          </a:p>
        </p:txBody>
      </p:sp>
      <p:sp>
        <p:nvSpPr>
          <p:cNvPr id="25" name="TextBox 24"/>
          <p:cNvSpPr txBox="1"/>
          <p:nvPr/>
        </p:nvSpPr>
        <p:spPr>
          <a:xfrm>
            <a:off x="8641080" y="3081528"/>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Тик бурч, бет, кыр</a:t>
            </a:r>
          </a:p>
        </p:txBody>
      </p:sp>
      <p:sp>
        <p:nvSpPr>
          <p:cNvPr id="26" name="Rounded Rectangle 25"/>
          <p:cNvSpPr/>
          <p:nvPr/>
        </p:nvSpPr>
        <p:spPr>
          <a:xfrm>
            <a:off x="7360920" y="4151376"/>
            <a:ext cx="1143000" cy="731520"/>
          </a:xfrm>
          <a:prstGeom prst="roundRect">
            <a:avLst>
              <a:gd name="adj" fmla="val 20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4A5A70"/>
                </a:solidFill>
                <a:latin typeface="PT Sans"/>
              </a:rPr>
              <a:t>Оор</a:t>
            </a:r>
          </a:p>
        </p:txBody>
      </p:sp>
      <p:sp>
        <p:nvSpPr>
          <p:cNvPr id="27" name="TextBox 26"/>
          <p:cNvSpPr txBox="1"/>
          <p:nvPr/>
        </p:nvSpPr>
        <p:spPr>
          <a:xfrm>
            <a:off x="8641080" y="4105656"/>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6B7280"/>
                </a:solidFill>
                <a:latin typeface="PT Sans"/>
              </a:rPr>
              <a:t>Каркас, табышмак</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3C: бүгүн кантип ойлонобуз?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6/26</a:t>
            </a:r>
          </a:p>
        </p:txBody>
      </p:sp>
      <p:sp>
        <p:nvSpPr>
          <p:cNvPr id="10" name="Rounded Rectangle 9"/>
          <p:cNvSpPr/>
          <p:nvPr/>
        </p:nvSpPr>
        <p:spPr>
          <a:xfrm>
            <a:off x="429768"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04088" y="1463040"/>
            <a:ext cx="3044952" cy="64008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Сынчыл ой</a:t>
            </a:r>
          </a:p>
        </p:txBody>
      </p:sp>
      <p:sp>
        <p:nvSpPr>
          <p:cNvPr id="12" name="TextBox 11"/>
          <p:cNvSpPr txBox="1"/>
          <p:nvPr/>
        </p:nvSpPr>
        <p:spPr>
          <a:xfrm>
            <a:off x="658368"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Текшеребиз, далилдейбиз, катаны издейбиз.</a:t>
            </a:r>
          </a:p>
        </p:txBody>
      </p:sp>
      <p:cxnSp>
        <p:nvCxnSpPr>
          <p:cNvPr id="13" name="Connector 12"/>
          <p:cNvCxnSpPr/>
          <p:nvPr/>
        </p:nvCxnSpPr>
        <p:spPr>
          <a:xfrm>
            <a:off x="704088"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15" name="TextBox 14"/>
          <p:cNvSpPr txBox="1"/>
          <p:nvPr/>
        </p:nvSpPr>
        <p:spPr>
          <a:xfrm>
            <a:off x="658368"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«Ким туура?»</a:t>
            </a:r>
          </a:p>
          <a:p>
            <a:pPr algn="l">
              <a:lnSpc>
                <a:spcPct val="105000"/>
              </a:lnSpc>
            </a:pPr>
            <a:r>
              <a:rPr sz="1800" b="0" i="0">
                <a:solidFill>
                  <a:srgbClr val="1F2430"/>
                </a:solidFill>
                <a:latin typeface="PT Sans"/>
              </a:rPr>
              <a:t>• Тик бурчту текшерүү</a:t>
            </a:r>
          </a:p>
        </p:txBody>
      </p:sp>
      <p:sp>
        <p:nvSpPr>
          <p:cNvPr id="16" name="Rounded Rectangle 15"/>
          <p:cNvSpPr/>
          <p:nvPr/>
        </p:nvSpPr>
        <p:spPr>
          <a:xfrm>
            <a:off x="4297680"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0" y="1463040"/>
            <a:ext cx="3044952" cy="64008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Кызматташуу</a:t>
            </a:r>
          </a:p>
        </p:txBody>
      </p:sp>
      <p:sp>
        <p:nvSpPr>
          <p:cNvPr id="18" name="TextBox 17"/>
          <p:cNvSpPr txBox="1"/>
          <p:nvPr/>
        </p:nvSpPr>
        <p:spPr>
          <a:xfrm>
            <a:off x="4526280"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Жупта жана топто сүйлөшөбүз.</a:t>
            </a:r>
          </a:p>
        </p:txBody>
      </p:sp>
      <p:cxnSp>
        <p:nvCxnSpPr>
          <p:cNvPr id="19" name="Connector 18"/>
          <p:cNvCxnSpPr/>
          <p:nvPr/>
        </p:nvCxnSpPr>
        <p:spPr>
          <a:xfrm>
            <a:off x="4572000"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26280"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1" name="TextBox 20"/>
          <p:cNvSpPr txBox="1"/>
          <p:nvPr/>
        </p:nvSpPr>
        <p:spPr>
          <a:xfrm>
            <a:off x="4526280"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Жупта: каркас куруу</a:t>
            </a:r>
          </a:p>
          <a:p>
            <a:pPr algn="l">
              <a:lnSpc>
                <a:spcPct val="105000"/>
              </a:lnSpc>
            </a:pPr>
            <a:r>
              <a:rPr sz="1800" b="0" i="0">
                <a:solidFill>
                  <a:srgbClr val="1F2430"/>
                </a:solidFill>
                <a:latin typeface="PT Sans"/>
              </a:rPr>
              <a:t>• Карта сорттоо</a:t>
            </a:r>
          </a:p>
        </p:txBody>
      </p:sp>
      <p:sp>
        <p:nvSpPr>
          <p:cNvPr id="22" name="Rounded Rectangle 21"/>
          <p:cNvSpPr/>
          <p:nvPr/>
        </p:nvSpPr>
        <p:spPr>
          <a:xfrm>
            <a:off x="8165592"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39912" y="1463040"/>
            <a:ext cx="3044952" cy="64008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Байланыштыруу</a:t>
            </a:r>
          </a:p>
        </p:txBody>
      </p:sp>
      <p:sp>
        <p:nvSpPr>
          <p:cNvPr id="24" name="TextBox 23"/>
          <p:cNvSpPr txBox="1"/>
          <p:nvPr/>
        </p:nvSpPr>
        <p:spPr>
          <a:xfrm>
            <a:off x="8394192"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Математиканы турмуш менен байланыштырабыз.</a:t>
            </a:r>
          </a:p>
        </p:txBody>
      </p:sp>
      <p:cxnSp>
        <p:nvCxnSpPr>
          <p:cNvPr id="25" name="Connector 24"/>
          <p:cNvCxnSpPr/>
          <p:nvPr/>
        </p:nvCxnSpPr>
        <p:spPr>
          <a:xfrm>
            <a:off x="8439912"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394192"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7" name="TextBox 26"/>
          <p:cNvSpPr txBox="1"/>
          <p:nvPr/>
        </p:nvSpPr>
        <p:spPr>
          <a:xfrm>
            <a:off x="8394192"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Каракол устаканасы</a:t>
            </a:r>
          </a:p>
          <a:p>
            <a:pPr algn="l">
              <a:lnSpc>
                <a:spcPct val="105000"/>
              </a:lnSpc>
            </a:pPr>
            <a:r>
              <a:rPr sz="1800" b="0" i="0">
                <a:solidFill>
                  <a:srgbClr val="1F2430"/>
                </a:solidFill>
                <a:latin typeface="PT Sans"/>
              </a:rPr>
              <a:t>• Үйдөгү буюмдар</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Мурун – бүгүн – кийин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7/26</a:t>
            </a:r>
          </a:p>
        </p:txBody>
      </p:sp>
      <p:sp>
        <p:nvSpPr>
          <p:cNvPr id="10" name="Rounded Rectangle 9"/>
          <p:cNvSpPr/>
          <p:nvPr/>
        </p:nvSpPr>
        <p:spPr>
          <a:xfrm>
            <a:off x="429768" y="3017520"/>
            <a:ext cx="2660904" cy="2743200"/>
          </a:xfrm>
          <a:prstGeom prst="roundRect">
            <a:avLst>
              <a:gd name="adj" fmla="val 6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31089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007A5A"/>
                </a:solidFill>
                <a:latin typeface="PT Sans"/>
              </a:rPr>
              <a:t/>
            </a:r>
          </a:p>
        </p:txBody>
      </p:sp>
      <p:cxnSp>
        <p:nvCxnSpPr>
          <p:cNvPr id="12" name="Connector 11"/>
          <p:cNvCxnSpPr/>
          <p:nvPr/>
        </p:nvCxnSpPr>
        <p:spPr>
          <a:xfrm>
            <a:off x="704088" y="3657600"/>
            <a:ext cx="2112264" cy="0"/>
          </a:xfrm>
          <a:prstGeom prst="line">
            <a:avLst/>
          </a:prstGeom>
          <a:ln w="12700">
            <a:solidFill>
              <a:srgbClr val="007A5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12647" y="3749039"/>
            <a:ext cx="2295144" cy="19202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Тегерек, үч бурчтук</a:t>
            </a:r>
          </a:p>
          <a:p>
            <a:pPr algn="l">
              <a:lnSpc>
                <a:spcPct val="105000"/>
              </a:lnSpc>
              <a:spcBef>
                <a:spcPts val="400"/>
              </a:spcBef>
            </a:pPr>
            <a:r>
              <a:rPr sz="1500" b="0" i="0">
                <a:solidFill>
                  <a:srgbClr val="1F2430"/>
                </a:solidFill>
                <a:latin typeface="PT Sans"/>
              </a:rPr>
              <a:t>• Куб, шар</a:t>
            </a:r>
          </a:p>
        </p:txBody>
      </p:sp>
      <p:sp>
        <p:nvSpPr>
          <p:cNvPr id="14" name="Rounded Rectangle 13"/>
          <p:cNvSpPr/>
          <p:nvPr/>
        </p:nvSpPr>
        <p:spPr>
          <a:xfrm>
            <a:off x="3319272" y="2560320"/>
            <a:ext cx="2660904" cy="32004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6432" y="26517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A84400"/>
                </a:solidFill>
                <a:latin typeface="PT Sans"/>
              </a:rPr>
              <a:t/>
            </a:r>
          </a:p>
        </p:txBody>
      </p:sp>
      <p:cxnSp>
        <p:nvCxnSpPr>
          <p:cNvPr id="16" name="Connector 15"/>
          <p:cNvCxnSpPr/>
          <p:nvPr/>
        </p:nvCxnSpPr>
        <p:spPr>
          <a:xfrm>
            <a:off x="3593591" y="3200400"/>
            <a:ext cx="2112265" cy="0"/>
          </a:xfrm>
          <a:prstGeom prst="line">
            <a:avLst/>
          </a:prstGeom>
          <a:ln w="12700">
            <a:solidFill>
              <a:srgbClr val="A844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502152" y="3291839"/>
            <a:ext cx="2295144" cy="23774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Жак, чоку, тик бурч</a:t>
            </a:r>
          </a:p>
          <a:p>
            <a:pPr algn="l">
              <a:lnSpc>
                <a:spcPct val="105000"/>
              </a:lnSpc>
              <a:spcBef>
                <a:spcPts val="400"/>
              </a:spcBef>
            </a:pPr>
            <a:r>
              <a:rPr sz="1500" b="0" i="0">
                <a:solidFill>
                  <a:srgbClr val="1F2430"/>
                </a:solidFill>
                <a:latin typeface="PT Sans"/>
              </a:rPr>
              <a:t>• Бет, кыр</a:t>
            </a:r>
          </a:p>
        </p:txBody>
      </p:sp>
      <p:sp>
        <p:nvSpPr>
          <p:cNvPr id="18" name="Rounded Rectangle 17"/>
          <p:cNvSpPr/>
          <p:nvPr/>
        </p:nvSpPr>
        <p:spPr>
          <a:xfrm>
            <a:off x="3918204" y="2057400"/>
            <a:ext cx="1463040" cy="384048"/>
          </a:xfrm>
          <a:prstGeom prst="roundRect">
            <a:avLst>
              <a:gd name="adj" fmla="val 50000"/>
            </a:avLst>
          </a:prstGeom>
          <a:no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Бүгүн</a:t>
            </a:r>
          </a:p>
        </p:txBody>
      </p:sp>
      <p:sp>
        <p:nvSpPr>
          <p:cNvPr id="19" name="Rounded Rectangle 18"/>
          <p:cNvSpPr/>
          <p:nvPr/>
        </p:nvSpPr>
        <p:spPr>
          <a:xfrm>
            <a:off x="6208776" y="2103120"/>
            <a:ext cx="2660904" cy="3657600"/>
          </a:xfrm>
          <a:prstGeom prst="roundRect">
            <a:avLst>
              <a:gd name="adj" fmla="val 6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21945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4A5A70"/>
                </a:solidFill>
                <a:latin typeface="PT Sans"/>
              </a:rPr>
              <a:t/>
            </a:r>
          </a:p>
        </p:txBody>
      </p:sp>
      <p:cxnSp>
        <p:nvCxnSpPr>
          <p:cNvPr id="21" name="Connector 20"/>
          <p:cNvCxnSpPr/>
          <p:nvPr/>
        </p:nvCxnSpPr>
        <p:spPr>
          <a:xfrm>
            <a:off x="6483096" y="2743200"/>
            <a:ext cx="2112263" cy="0"/>
          </a:xfrm>
          <a:prstGeom prst="line">
            <a:avLst/>
          </a:prstGeom>
          <a:ln w="12700">
            <a:solidFill>
              <a:srgbClr val="4A5A7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391656" y="2834639"/>
            <a:ext cx="2295144" cy="2834640"/>
          </a:xfrm>
          <a:prstGeom prst="rect">
            <a:avLst/>
          </a:prstGeom>
          <a:noFill/>
        </p:spPr>
        <p:txBody>
          <a:bodyPr wrap="square" anchor="t" lIns="45720" rIns="45720" tIns="27432" bIns="27432">
            <a:spAutoFit/>
          </a:bodyPr>
          <a:lstStyle/>
          <a:p>
            <a:pPr algn="l">
              <a:lnSpc>
                <a:spcPct val="105000"/>
              </a:lnSpc>
            </a:pPr>
            <a:r>
              <a:rPr sz="1500" b="0" i="0">
                <a:solidFill>
                  <a:srgbClr val="6B7280"/>
                </a:solidFill>
                <a:latin typeface="PT Sans"/>
              </a:rPr>
              <a:t>• Периметр</a:t>
            </a:r>
          </a:p>
          <a:p>
            <a:pPr algn="l">
              <a:lnSpc>
                <a:spcPct val="105000"/>
              </a:lnSpc>
              <a:spcBef>
                <a:spcPts val="400"/>
              </a:spcBef>
            </a:pPr>
            <a:r>
              <a:rPr sz="1500" b="0" i="0">
                <a:solidFill>
                  <a:srgbClr val="6B7280"/>
                </a:solidFill>
                <a:latin typeface="PT Sans"/>
              </a:rPr>
              <a:t>• Симметрия</a:t>
            </a:r>
          </a:p>
        </p:txBody>
      </p:sp>
      <p:sp>
        <p:nvSpPr>
          <p:cNvPr id="23" name="Rounded Rectangle 22"/>
          <p:cNvSpPr/>
          <p:nvPr/>
        </p:nvSpPr>
        <p:spPr>
          <a:xfrm>
            <a:off x="9098280" y="1645919"/>
            <a:ext cx="2660904" cy="4114800"/>
          </a:xfrm>
          <a:prstGeom prst="roundRect">
            <a:avLst>
              <a:gd name="adj" fmla="val 6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0" y="17373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4A5A70"/>
                </a:solidFill>
                <a:latin typeface="PT Sans"/>
              </a:rPr>
              <a:t/>
            </a:r>
          </a:p>
        </p:txBody>
      </p:sp>
      <p:cxnSp>
        <p:nvCxnSpPr>
          <p:cNvPr id="25" name="Connector 24"/>
          <p:cNvCxnSpPr/>
          <p:nvPr/>
        </p:nvCxnSpPr>
        <p:spPr>
          <a:xfrm>
            <a:off x="9372600" y="2286000"/>
            <a:ext cx="2112264" cy="0"/>
          </a:xfrm>
          <a:prstGeom prst="line">
            <a:avLst/>
          </a:prstGeom>
          <a:ln w="12700">
            <a:solidFill>
              <a:srgbClr val="4A5A7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281160" y="2377439"/>
            <a:ext cx="2295144" cy="3291840"/>
          </a:xfrm>
          <a:prstGeom prst="rect">
            <a:avLst/>
          </a:prstGeom>
          <a:noFill/>
        </p:spPr>
        <p:txBody>
          <a:bodyPr wrap="square" anchor="t" lIns="45720" rIns="45720" tIns="27432" bIns="27432">
            <a:spAutoFit/>
          </a:bodyPr>
          <a:lstStyle/>
          <a:p>
            <a:pPr algn="l">
              <a:lnSpc>
                <a:spcPct val="105000"/>
              </a:lnSpc>
            </a:pPr>
            <a:r>
              <a:rPr sz="1500" b="0" i="0">
                <a:solidFill>
                  <a:srgbClr val="6B7280"/>
                </a:solidFill>
                <a:latin typeface="PT Sans"/>
              </a:rPr>
              <a:t>• Аянт</a:t>
            </a:r>
          </a:p>
          <a:p>
            <a:pPr algn="l">
              <a:lnSpc>
                <a:spcPct val="105000"/>
              </a:lnSpc>
              <a:spcBef>
                <a:spcPts val="400"/>
              </a:spcBef>
            </a:pPr>
            <a:r>
              <a:rPr sz="1500" b="0" i="0">
                <a:solidFill>
                  <a:srgbClr val="6B7280"/>
                </a:solidFill>
                <a:latin typeface="PT Sans"/>
              </a:rPr>
              <a:t>• Пирамида, призма</a:t>
            </a:r>
          </a:p>
        </p:txBody>
      </p:sp>
      <p:sp>
        <p:nvSpPr>
          <p:cNvPr id="27" name="TextBox 26"/>
          <p:cNvSpPr txBox="1"/>
          <p:nvPr/>
        </p:nvSpPr>
        <p:spPr>
          <a:xfrm>
            <a:off x="429768" y="5806440"/>
            <a:ext cx="11329416" cy="365760"/>
          </a:xfrm>
          <a:prstGeom prst="rect">
            <a:avLst/>
          </a:prstGeom>
          <a:noFill/>
        </p:spPr>
        <p:txBody>
          <a:bodyPr wrap="square" anchor="t" lIns="45720" rIns="45720" tIns="27432" bIns="27432">
            <a:spAutoFit/>
          </a:bodyPr>
          <a:lstStyle/>
          <a:p>
            <a:pPr algn="ctr">
              <a:lnSpc>
                <a:spcPct val="105000"/>
              </a:lnSpc>
            </a:pPr>
            <a:r>
              <a:rPr sz="1800" b="0" i="1">
                <a:solidFill>
                  <a:srgbClr val="6B7280"/>
                </a:solidFill>
                <a:latin typeface="PT Sans"/>
              </a:rPr>
              <a:t>Ар бир класс мурункусунун үстүнө курулат.</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эстейли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8/26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Мини-тактага жаз. 2 мүнөт.</a:t>
            </a:r>
          </a:p>
        </p:txBody>
      </p:sp>
      <p:sp>
        <p:nvSpPr>
          <p:cNvPr id="11" name="Rounded Rectangle 10"/>
          <p:cNvSpPr/>
          <p:nvPr/>
        </p:nvSpPr>
        <p:spPr>
          <a:xfrm>
            <a:off x="429768"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Үч бурчтуктун канча бурчу бар?</a:t>
            </a:r>
          </a:p>
        </p:txBody>
      </p:sp>
      <p:sp>
        <p:nvSpPr>
          <p:cNvPr id="14" name="Rounded Rectangle 13"/>
          <p:cNvSpPr/>
          <p:nvPr/>
        </p:nvSpPr>
        <p:spPr>
          <a:xfrm>
            <a:off x="6208776"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6 + 6 =</a:t>
            </a:r>
          </a:p>
        </p:txBody>
      </p:sp>
      <p:sp>
        <p:nvSpPr>
          <p:cNvPr id="17" name="Rounded Rectangle 16"/>
          <p:cNvSpPr/>
          <p:nvPr/>
        </p:nvSpPr>
        <p:spPr>
          <a:xfrm>
            <a:off x="429768"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4 + 4 + 4 =</a:t>
            </a:r>
          </a:p>
        </p:txBody>
      </p:sp>
      <p:sp>
        <p:nvSpPr>
          <p:cNvPr id="20" name="Rounded Rectangle 19"/>
          <p:cNvSpPr/>
          <p:nvPr/>
        </p:nvSpPr>
        <p:spPr>
          <a:xfrm>
            <a:off x="6208776"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Тегерек буюмду ата.</a:t>
            </a:r>
          </a:p>
        </p:txBody>
      </p:sp>
      <p:sp>
        <p:nvSpPr>
          <p:cNvPr id="23" name="Rounded Rectangle 22"/>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24" name="Rounded Rectangle 23"/>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25" name="Rounded Rectangle 24"/>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9/26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Үч бурчтуктун канча бурчу бар?</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3</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6 + 6 =</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12</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4 + 4 + 4 =</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12</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Тегерек буюмду ата.</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Мис.: нан, табак, тыйын</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Ким туура?</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10/26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Асан ата жыгач кубикти столго койду. Нуриза менен Айбек кубиктин беттерин санашты.</a:t>
            </a:r>
          </a:p>
        </p:txBody>
      </p:sp>
      <p:sp>
        <p:nvSpPr>
          <p:cNvPr id="12" name="Rounded Rectangle 11"/>
          <p:cNvSpPr/>
          <p:nvPr/>
        </p:nvSpPr>
        <p:spPr>
          <a:xfrm>
            <a:off x="429768"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429768"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9768"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Нуриза</a:t>
            </a:r>
          </a:p>
        </p:txBody>
      </p:sp>
      <p:sp>
        <p:nvSpPr>
          <p:cNvPr id="15" name="TextBox 14"/>
          <p:cNvSpPr txBox="1"/>
          <p:nvPr/>
        </p:nvSpPr>
        <p:spPr>
          <a:xfrm>
            <a:off x="704088"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Мен 3 бетин көрүп турам.</a:t>
            </a:r>
          </a:p>
          <a:p>
            <a:pPr algn="l">
              <a:lnSpc>
                <a:spcPct val="105000"/>
              </a:lnSpc>
            </a:pPr>
            <a:r>
              <a:rPr sz="2600" b="0" i="0">
                <a:solidFill>
                  <a:srgbClr val="1F2430"/>
                </a:solidFill>
                <a:latin typeface="PT Sans"/>
              </a:rPr>
              <a:t>Демек, кубдун 3 бети бар.</a:t>
            </a:r>
          </a:p>
        </p:txBody>
      </p:sp>
      <p:sp>
        <p:nvSpPr>
          <p:cNvPr id="16" name="Rounded Rectangle 15"/>
          <p:cNvSpPr/>
          <p:nvPr/>
        </p:nvSpPr>
        <p:spPr>
          <a:xfrm>
            <a:off x="6208776"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208776"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208776"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Айбек</a:t>
            </a:r>
          </a:p>
        </p:txBody>
      </p:sp>
      <p:sp>
        <p:nvSpPr>
          <p:cNvPr id="19" name="TextBox 18"/>
          <p:cNvSpPr txBox="1"/>
          <p:nvPr/>
        </p:nvSpPr>
        <p:spPr>
          <a:xfrm>
            <a:off x="6483096"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Асты, арты, сол жагы</a:t>
            </a:r>
          </a:p>
          <a:p>
            <a:pPr algn="l">
              <a:lnSpc>
                <a:spcPct val="105000"/>
              </a:lnSpc>
            </a:pPr>
            <a:r>
              <a:rPr sz="2600" b="0" i="0">
                <a:solidFill>
                  <a:srgbClr val="1F2430"/>
                </a:solidFill>
                <a:latin typeface="PT Sans"/>
              </a:rPr>
              <a:t>да бар. Кубдун 6 бети бар.</a:t>
            </a:r>
          </a:p>
        </p:txBody>
      </p:sp>
      <p:sp>
        <p:nvSpPr>
          <p:cNvPr id="20" name="TextBox 19"/>
          <p:cNvSpPr txBox="1"/>
          <p:nvPr/>
        </p:nvSpPr>
        <p:spPr>
          <a:xfrm>
            <a:off x="429768" y="5349240"/>
            <a:ext cx="11329416" cy="548640"/>
          </a:xfrm>
          <a:prstGeom prst="rect">
            <a:avLst/>
          </a:prstGeom>
          <a:noFill/>
        </p:spPr>
        <p:txBody>
          <a:bodyPr wrap="square" anchor="t" lIns="45720" rIns="45720" tIns="27432" bIns="27432">
            <a:spAutoFit/>
          </a:bodyPr>
          <a:lstStyle/>
          <a:p>
            <a:pPr algn="ctr">
              <a:lnSpc>
                <a:spcPct val="105000"/>
              </a:lnSpc>
            </a:pPr>
            <a:r>
              <a:rPr sz="2600" b="1" i="0">
                <a:solidFill>
                  <a:srgbClr val="A84400"/>
                </a:solidFill>
                <a:latin typeface="PT Sans"/>
              </a:rPr>
              <a:t>Ким туура? Кубикти колуңа алып текшер.</a:t>
            </a:r>
          </a:p>
        </p:txBody>
      </p:sp>
      <p:sp>
        <p:nvSpPr>
          <p:cNvPr id="21" name="Rounded Rectangle 20"/>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
        <p:nvSpPr>
          <p:cNvPr id="22" name="g2fig"/>
          <p:cNvSpPr/>
          <p:nvPr/>
        </p:nvSpPr>
        <p:spPr>
          <a:xfrm>
            <a:off x="4475988" y="4183732"/>
            <a:ext cx="776888" cy="776888"/>
          </a:xfrm>
          <a:custGeom>
            <a:avLst/>
            <a:gdLst/>
            <a:ahLst/>
            <a:cxnLst/>
            <a:rect l="l" t="t" r="r" b="b"/>
            <a:pathLst>
              <a:path w="776888" h="776888">
                <a:moveTo>
                  <a:pt x="0" y="776888"/>
                </a:moveTo>
                <a:lnTo>
                  <a:pt x="776888" y="776888"/>
                </a:lnTo>
                <a:lnTo>
                  <a:pt x="776888" y="0"/>
                </a:lnTo>
                <a:lnTo>
                  <a:pt x="0" y="0"/>
                </a:lnTo>
                <a:close/>
              </a:path>
            </a:pathLst>
          </a:custGeom>
          <a:solidFill>
            <a:srgbClr val="C9D4EE"/>
          </a:solidFill>
          <a:ln w="6718"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g2fig"/>
          <p:cNvSpPr/>
          <p:nvPr/>
        </p:nvSpPr>
        <p:spPr>
          <a:xfrm>
            <a:off x="4475988" y="3909060"/>
            <a:ext cx="1051560" cy="274672"/>
          </a:xfrm>
          <a:custGeom>
            <a:avLst/>
            <a:gdLst/>
            <a:ahLst/>
            <a:cxnLst/>
            <a:rect l="l" t="t" r="r" b="b"/>
            <a:pathLst>
              <a:path w="1051560" h="274672">
                <a:moveTo>
                  <a:pt x="0" y="274672"/>
                </a:moveTo>
                <a:lnTo>
                  <a:pt x="776888" y="274672"/>
                </a:lnTo>
                <a:lnTo>
                  <a:pt x="1051560" y="0"/>
                </a:lnTo>
                <a:lnTo>
                  <a:pt x="274672" y="0"/>
                </a:lnTo>
                <a:close/>
              </a:path>
            </a:pathLst>
          </a:custGeom>
          <a:solidFill>
            <a:srgbClr val="E6EBF7"/>
          </a:solidFill>
          <a:ln w="6718"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g2fig"/>
          <p:cNvSpPr/>
          <p:nvPr/>
        </p:nvSpPr>
        <p:spPr>
          <a:xfrm>
            <a:off x="5252876" y="3909060"/>
            <a:ext cx="274672" cy="1051560"/>
          </a:xfrm>
          <a:custGeom>
            <a:avLst/>
            <a:gdLst/>
            <a:ahLst/>
            <a:cxnLst/>
            <a:rect l="l" t="t" r="r" b="b"/>
            <a:pathLst>
              <a:path w="274672" h="1051560">
                <a:moveTo>
                  <a:pt x="0" y="1051560"/>
                </a:moveTo>
                <a:lnTo>
                  <a:pt x="0" y="274672"/>
                </a:lnTo>
                <a:lnTo>
                  <a:pt x="274672" y="0"/>
                </a:lnTo>
                <a:lnTo>
                  <a:pt x="274672" y="776888"/>
                </a:lnTo>
                <a:close/>
              </a:path>
            </a:pathLst>
          </a:custGeom>
          <a:solidFill>
            <a:srgbClr val="C9D4EE"/>
          </a:solidFill>
          <a:ln w="6718"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g2fig"/>
          <p:cNvCxnSpPr/>
          <p:nvPr/>
        </p:nvCxnSpPr>
        <p:spPr>
          <a:xfrm flipV="1">
            <a:off x="4475988" y="4685948"/>
            <a:ext cx="274671" cy="274672"/>
          </a:xfrm>
          <a:prstGeom prst="line">
            <a:avLst/>
          </a:prstGeom>
          <a:ln w="10077"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26" name="g2fig"/>
          <p:cNvCxnSpPr/>
          <p:nvPr/>
        </p:nvCxnSpPr>
        <p:spPr>
          <a:xfrm>
            <a:off x="4750659" y="4685948"/>
            <a:ext cx="776889" cy="0"/>
          </a:xfrm>
          <a:prstGeom prst="line">
            <a:avLst/>
          </a:prstGeom>
          <a:ln w="10077"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27" name="g2fig"/>
          <p:cNvCxnSpPr/>
          <p:nvPr/>
        </p:nvCxnSpPr>
        <p:spPr>
          <a:xfrm flipV="1">
            <a:off x="4750659" y="3909060"/>
            <a:ext cx="0" cy="776888"/>
          </a:xfrm>
          <a:prstGeom prst="line">
            <a:avLst/>
          </a:prstGeom>
          <a:ln w="10077"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28" name="g2fig"/>
          <p:cNvCxnSpPr/>
          <p:nvPr/>
        </p:nvCxnSpPr>
        <p:spPr>
          <a:xfrm>
            <a:off x="4475988" y="4960620"/>
            <a:ext cx="776888" cy="0"/>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9" name="g2fig"/>
          <p:cNvCxnSpPr/>
          <p:nvPr/>
        </p:nvCxnSpPr>
        <p:spPr>
          <a:xfrm flipV="1">
            <a:off x="4475988" y="4183731"/>
            <a:ext cx="0" cy="776889"/>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0" name="g2fig"/>
          <p:cNvCxnSpPr/>
          <p:nvPr/>
        </p:nvCxnSpPr>
        <p:spPr>
          <a:xfrm flipV="1">
            <a:off x="5252876" y="4183731"/>
            <a:ext cx="0" cy="776889"/>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1" name="g2fig"/>
          <p:cNvCxnSpPr/>
          <p:nvPr/>
        </p:nvCxnSpPr>
        <p:spPr>
          <a:xfrm flipV="1">
            <a:off x="5252876" y="4685948"/>
            <a:ext cx="274672" cy="274672"/>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2" name="g2fig"/>
          <p:cNvCxnSpPr/>
          <p:nvPr/>
        </p:nvCxnSpPr>
        <p:spPr>
          <a:xfrm flipH="1">
            <a:off x="4475988" y="4183731"/>
            <a:ext cx="776888" cy="0"/>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3" name="g2fig"/>
          <p:cNvCxnSpPr/>
          <p:nvPr/>
        </p:nvCxnSpPr>
        <p:spPr>
          <a:xfrm flipV="1">
            <a:off x="5252876" y="3909060"/>
            <a:ext cx="274672" cy="274671"/>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4" name="g2fig"/>
          <p:cNvCxnSpPr/>
          <p:nvPr/>
        </p:nvCxnSpPr>
        <p:spPr>
          <a:xfrm flipV="1">
            <a:off x="4475988" y="3909060"/>
            <a:ext cx="274671" cy="274671"/>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5" name="g2fig"/>
          <p:cNvCxnSpPr/>
          <p:nvPr/>
        </p:nvCxnSpPr>
        <p:spPr>
          <a:xfrm flipV="1">
            <a:off x="5527548" y="3909060"/>
            <a:ext cx="0" cy="776888"/>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6" name="g2fig"/>
          <p:cNvCxnSpPr/>
          <p:nvPr/>
        </p:nvCxnSpPr>
        <p:spPr>
          <a:xfrm flipH="1">
            <a:off x="4750659" y="3909060"/>
            <a:ext cx="776889" cy="0"/>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37" name="g2fig"/>
          <p:cNvSpPr/>
          <p:nvPr/>
        </p:nvSpPr>
        <p:spPr>
          <a:xfrm>
            <a:off x="10254996" y="4183732"/>
            <a:ext cx="776888" cy="776888"/>
          </a:xfrm>
          <a:custGeom>
            <a:avLst/>
            <a:gdLst/>
            <a:ahLst/>
            <a:cxnLst/>
            <a:rect l="l" t="t" r="r" b="b"/>
            <a:pathLst>
              <a:path w="776888" h="776888">
                <a:moveTo>
                  <a:pt x="0" y="776888"/>
                </a:moveTo>
                <a:lnTo>
                  <a:pt x="776888" y="776888"/>
                </a:lnTo>
                <a:lnTo>
                  <a:pt x="776888" y="0"/>
                </a:lnTo>
                <a:lnTo>
                  <a:pt x="0" y="0"/>
                </a:lnTo>
                <a:close/>
              </a:path>
            </a:pathLst>
          </a:custGeom>
          <a:solidFill>
            <a:srgbClr val="C9D4EE"/>
          </a:solidFill>
          <a:ln w="6718"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g2fig"/>
          <p:cNvSpPr/>
          <p:nvPr/>
        </p:nvSpPr>
        <p:spPr>
          <a:xfrm>
            <a:off x="10254996" y="3909060"/>
            <a:ext cx="1051560" cy="274672"/>
          </a:xfrm>
          <a:custGeom>
            <a:avLst/>
            <a:gdLst/>
            <a:ahLst/>
            <a:cxnLst/>
            <a:rect l="l" t="t" r="r" b="b"/>
            <a:pathLst>
              <a:path w="1051560" h="274672">
                <a:moveTo>
                  <a:pt x="0" y="274672"/>
                </a:moveTo>
                <a:lnTo>
                  <a:pt x="776888" y="274672"/>
                </a:lnTo>
                <a:lnTo>
                  <a:pt x="1051560" y="0"/>
                </a:lnTo>
                <a:lnTo>
                  <a:pt x="274672" y="0"/>
                </a:lnTo>
                <a:close/>
              </a:path>
            </a:pathLst>
          </a:custGeom>
          <a:solidFill>
            <a:srgbClr val="E6EBF7"/>
          </a:solidFill>
          <a:ln w="6718"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g2fig"/>
          <p:cNvSpPr/>
          <p:nvPr/>
        </p:nvSpPr>
        <p:spPr>
          <a:xfrm>
            <a:off x="11031884" y="3909060"/>
            <a:ext cx="274672" cy="1051560"/>
          </a:xfrm>
          <a:custGeom>
            <a:avLst/>
            <a:gdLst/>
            <a:ahLst/>
            <a:cxnLst/>
            <a:rect l="l" t="t" r="r" b="b"/>
            <a:pathLst>
              <a:path w="274672" h="1051560">
                <a:moveTo>
                  <a:pt x="0" y="1051560"/>
                </a:moveTo>
                <a:lnTo>
                  <a:pt x="0" y="274672"/>
                </a:lnTo>
                <a:lnTo>
                  <a:pt x="274672" y="0"/>
                </a:lnTo>
                <a:lnTo>
                  <a:pt x="274672" y="776888"/>
                </a:lnTo>
                <a:close/>
              </a:path>
            </a:pathLst>
          </a:custGeom>
          <a:solidFill>
            <a:srgbClr val="C9D4EE"/>
          </a:solidFill>
          <a:ln w="6718"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 name="g2fig"/>
          <p:cNvCxnSpPr/>
          <p:nvPr/>
        </p:nvCxnSpPr>
        <p:spPr>
          <a:xfrm flipV="1">
            <a:off x="10254996" y="4685948"/>
            <a:ext cx="274671" cy="274672"/>
          </a:xfrm>
          <a:prstGeom prst="line">
            <a:avLst/>
          </a:prstGeom>
          <a:ln w="10077"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41" name="g2fig"/>
          <p:cNvCxnSpPr/>
          <p:nvPr/>
        </p:nvCxnSpPr>
        <p:spPr>
          <a:xfrm>
            <a:off x="10529667" y="4685948"/>
            <a:ext cx="776889" cy="0"/>
          </a:xfrm>
          <a:prstGeom prst="line">
            <a:avLst/>
          </a:prstGeom>
          <a:ln w="10077"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42" name="g2fig"/>
          <p:cNvCxnSpPr/>
          <p:nvPr/>
        </p:nvCxnSpPr>
        <p:spPr>
          <a:xfrm flipV="1">
            <a:off x="10529667" y="3909060"/>
            <a:ext cx="0" cy="776888"/>
          </a:xfrm>
          <a:prstGeom prst="line">
            <a:avLst/>
          </a:prstGeom>
          <a:ln w="10077"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43" name="g2fig"/>
          <p:cNvCxnSpPr/>
          <p:nvPr/>
        </p:nvCxnSpPr>
        <p:spPr>
          <a:xfrm>
            <a:off x="10254996" y="4960620"/>
            <a:ext cx="776888" cy="0"/>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4" name="g2fig"/>
          <p:cNvCxnSpPr/>
          <p:nvPr/>
        </p:nvCxnSpPr>
        <p:spPr>
          <a:xfrm flipV="1">
            <a:off x="10254996" y="4183731"/>
            <a:ext cx="0" cy="776889"/>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5" name="g2fig"/>
          <p:cNvCxnSpPr/>
          <p:nvPr/>
        </p:nvCxnSpPr>
        <p:spPr>
          <a:xfrm flipV="1">
            <a:off x="11031884" y="4183731"/>
            <a:ext cx="0" cy="776889"/>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6" name="g2fig"/>
          <p:cNvCxnSpPr/>
          <p:nvPr/>
        </p:nvCxnSpPr>
        <p:spPr>
          <a:xfrm flipV="1">
            <a:off x="11031884" y="4685948"/>
            <a:ext cx="274672" cy="274672"/>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7" name="g2fig"/>
          <p:cNvCxnSpPr/>
          <p:nvPr/>
        </p:nvCxnSpPr>
        <p:spPr>
          <a:xfrm flipH="1">
            <a:off x="10254996" y="4183731"/>
            <a:ext cx="776888" cy="0"/>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8" name="g2fig"/>
          <p:cNvCxnSpPr/>
          <p:nvPr/>
        </p:nvCxnSpPr>
        <p:spPr>
          <a:xfrm flipV="1">
            <a:off x="11031884" y="3909060"/>
            <a:ext cx="274672" cy="274671"/>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9" name="g2fig"/>
          <p:cNvCxnSpPr/>
          <p:nvPr/>
        </p:nvCxnSpPr>
        <p:spPr>
          <a:xfrm flipV="1">
            <a:off x="10254996" y="3909060"/>
            <a:ext cx="274671" cy="274671"/>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50" name="g2fig"/>
          <p:cNvCxnSpPr/>
          <p:nvPr/>
        </p:nvCxnSpPr>
        <p:spPr>
          <a:xfrm flipV="1">
            <a:off x="11306556" y="3909060"/>
            <a:ext cx="0" cy="776888"/>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51" name="g2fig"/>
          <p:cNvCxnSpPr/>
          <p:nvPr/>
        </p:nvCxnSpPr>
        <p:spPr>
          <a:xfrm flipH="1">
            <a:off x="10529667" y="3909060"/>
            <a:ext cx="776889" cy="0"/>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 буюм менен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11/26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Жупта: таякча жана пластилин менен куб каркасын кургула. Шарча – чоку, таякча – кыр.</a:t>
            </a:r>
          </a:p>
        </p:txBody>
      </p:sp>
      <p:sp>
        <p:nvSpPr>
          <p:cNvPr id="12" name="TextBox 11"/>
          <p:cNvSpPr txBox="1"/>
          <p:nvPr/>
        </p:nvSpPr>
        <p:spPr>
          <a:xfrm>
            <a:off x="274320" y="2042160"/>
            <a:ext cx="4206240" cy="304800"/>
          </a:xfrm>
          <a:prstGeom prst="rect">
            <a:avLst/>
          </a:prstGeom>
          <a:noFill/>
        </p:spPr>
        <p:txBody>
          <a:bodyPr wrap="none" lIns="0" rIns="0" tIns="0" bIns="0" anchor="ctr">
            <a:spAutoFit/>
          </a:bodyPr>
          <a:lstStyle/>
          <a:p>
            <a:pPr algn="ctr"/>
            <a:r>
              <a:rPr sz="1500" b="1" i="0">
                <a:solidFill>
                  <a:srgbClr val="1D3557"/>
                </a:solidFill>
                <a:latin typeface="PT Sans"/>
              </a:rPr>
              <a:t>Таякча + пластилин: куб каркасы</a:t>
            </a:r>
          </a:p>
        </p:txBody>
      </p:sp>
      <p:cxnSp>
        <p:nvCxnSpPr>
          <p:cNvPr id="13" name="Connector 12"/>
          <p:cNvCxnSpPr/>
          <p:nvPr/>
        </p:nvCxnSpPr>
        <p:spPr>
          <a:xfrm>
            <a:off x="1051560" y="5120640"/>
            <a:ext cx="1823998" cy="0"/>
          </a:xfrm>
          <a:prstGeom prst="line">
            <a:avLst/>
          </a:prstGeom>
          <a:ln w="109728"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051560" y="3296641"/>
            <a:ext cx="0" cy="1823999"/>
          </a:xfrm>
          <a:prstGeom prst="line">
            <a:avLst/>
          </a:prstGeom>
          <a:ln w="109728"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051560" y="4475758"/>
            <a:ext cx="644881" cy="644882"/>
          </a:xfrm>
          <a:prstGeom prst="line">
            <a:avLst/>
          </a:prstGeom>
          <a:ln w="109728"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875558" y="3296641"/>
            <a:ext cx="0" cy="1823999"/>
          </a:xfrm>
          <a:prstGeom prst="line">
            <a:avLst/>
          </a:prstGeom>
          <a:ln w="109728"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75558" y="4475758"/>
            <a:ext cx="644882" cy="644882"/>
          </a:xfrm>
          <a:prstGeom prst="line">
            <a:avLst/>
          </a:prstGeom>
          <a:ln w="109728"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1051560" y="3296641"/>
            <a:ext cx="1823998" cy="0"/>
          </a:xfrm>
          <a:prstGeom prst="line">
            <a:avLst/>
          </a:prstGeom>
          <a:ln w="109728"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875558" y="2651759"/>
            <a:ext cx="644882" cy="644882"/>
          </a:xfrm>
          <a:prstGeom prst="line">
            <a:avLst/>
          </a:prstGeom>
          <a:ln w="109728"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1051560" y="2651759"/>
            <a:ext cx="644881" cy="644882"/>
          </a:xfrm>
          <a:prstGeom prst="line">
            <a:avLst/>
          </a:prstGeom>
          <a:ln w="109728"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696441" y="4475758"/>
            <a:ext cx="1823999" cy="0"/>
          </a:xfrm>
          <a:prstGeom prst="line">
            <a:avLst/>
          </a:prstGeom>
          <a:ln w="109728"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1696441" y="2651759"/>
            <a:ext cx="0" cy="1823999"/>
          </a:xfrm>
          <a:prstGeom prst="line">
            <a:avLst/>
          </a:prstGeom>
          <a:ln w="109728"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520440" y="2651759"/>
            <a:ext cx="0" cy="1823999"/>
          </a:xfrm>
          <a:prstGeom prst="line">
            <a:avLst/>
          </a:prstGeom>
          <a:ln w="109728"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696441" y="2651759"/>
            <a:ext cx="1823999" cy="0"/>
          </a:xfrm>
          <a:prstGeom prst="line">
            <a:avLst/>
          </a:prstGeom>
          <a:ln w="109728" cap="rnd">
            <a:solidFill>
              <a:srgbClr val="B07A4A"/>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915771" y="4984851"/>
            <a:ext cx="271576" cy="27157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2739770" y="4984851"/>
            <a:ext cx="271576" cy="27157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2739770" y="3160852"/>
            <a:ext cx="271576" cy="27157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15771" y="3160852"/>
            <a:ext cx="271576" cy="27157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560652" y="4339970"/>
            <a:ext cx="271576" cy="27157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84651" y="4339970"/>
            <a:ext cx="271576" cy="27157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384651" y="2515971"/>
            <a:ext cx="271576" cy="27157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560652" y="2515971"/>
            <a:ext cx="271576" cy="27157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2880" y="5298440"/>
            <a:ext cx="4389120" cy="284480"/>
          </a:xfrm>
          <a:prstGeom prst="rect">
            <a:avLst/>
          </a:prstGeom>
          <a:noFill/>
        </p:spPr>
        <p:txBody>
          <a:bodyPr wrap="none" lIns="0" rIns="0" tIns="0" bIns="0" anchor="ctr">
            <a:spAutoFit/>
          </a:bodyPr>
          <a:lstStyle/>
          <a:p>
            <a:pPr algn="ctr"/>
            <a:r>
              <a:rPr sz="1400" b="1" i="0">
                <a:solidFill>
                  <a:srgbClr val="A84400"/>
                </a:solidFill>
                <a:latin typeface="PT Sans"/>
              </a:rPr>
              <a:t>8 шарча = 8 чоку   ·   12 таякча = 12 кыр</a:t>
            </a:r>
          </a:p>
        </p:txBody>
      </p:sp>
      <p:sp>
        <p:nvSpPr>
          <p:cNvPr id="34" name="TextBox 33"/>
          <p:cNvSpPr txBox="1"/>
          <p:nvPr/>
        </p:nvSpPr>
        <p:spPr>
          <a:xfrm>
            <a:off x="4709160" y="2042160"/>
            <a:ext cx="3291840" cy="304800"/>
          </a:xfrm>
          <a:prstGeom prst="rect">
            <a:avLst/>
          </a:prstGeom>
          <a:noFill/>
        </p:spPr>
        <p:txBody>
          <a:bodyPr wrap="none" lIns="0" rIns="0" tIns="0" bIns="0" anchor="ctr">
            <a:spAutoFit/>
          </a:bodyPr>
          <a:lstStyle/>
          <a:p>
            <a:pPr algn="ctr"/>
            <a:r>
              <a:rPr sz="1500" b="1" i="0">
                <a:solidFill>
                  <a:srgbClr val="1D3557"/>
                </a:solidFill>
                <a:latin typeface="PT Sans"/>
              </a:rPr>
              <a:t>Тик бурч текшергич</a:t>
            </a:r>
          </a:p>
        </p:txBody>
      </p:sp>
      <p:sp>
        <p:nvSpPr>
          <p:cNvPr id="35" name="Freeform 34"/>
          <p:cNvSpPr/>
          <p:nvPr/>
        </p:nvSpPr>
        <p:spPr>
          <a:xfrm>
            <a:off x="4617720" y="2606040"/>
            <a:ext cx="1051560" cy="1051560"/>
          </a:xfrm>
          <a:custGeom>
            <a:avLst/>
            <a:gdLst/>
            <a:ahLst/>
            <a:cxnLst/>
            <a:rect l="l" t="t" r="r" b="b"/>
            <a:pathLst>
              <a:path w="1051560" h="1051560">
                <a:moveTo>
                  <a:pt x="0" y="91440"/>
                </a:moveTo>
                <a:lnTo>
                  <a:pt x="914400" y="0"/>
                </a:lnTo>
                <a:lnTo>
                  <a:pt x="1051560" y="960120"/>
                </a:lnTo>
                <a:lnTo>
                  <a:pt x="45720" y="1051560"/>
                </a:lnTo>
                <a:close/>
              </a:path>
            </a:pathLst>
          </a:custGeom>
          <a:solidFill>
            <a:srgbClr val="FFFFFF"/>
          </a:solidFill>
          <a:ln w="15875" cap="rnd">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26279" y="3809999"/>
            <a:ext cx="1188720" cy="243840"/>
          </a:xfrm>
          <a:prstGeom prst="rect">
            <a:avLst/>
          </a:prstGeom>
          <a:noFill/>
        </p:spPr>
        <p:txBody>
          <a:bodyPr wrap="none" lIns="0" rIns="0" tIns="0" bIns="0" anchor="ctr">
            <a:spAutoFit/>
          </a:bodyPr>
          <a:lstStyle/>
          <a:p>
            <a:pPr algn="ctr"/>
            <a:r>
              <a:rPr sz="1200" b="1" i="0">
                <a:solidFill>
                  <a:srgbClr val="4A5A70"/>
                </a:solidFill>
                <a:latin typeface="PT Sans"/>
              </a:rPr>
              <a:t>1. Кагаз</a:t>
            </a:r>
          </a:p>
        </p:txBody>
      </p:sp>
      <p:sp>
        <p:nvSpPr>
          <p:cNvPr id="37" name="Freeform 36"/>
          <p:cNvSpPr/>
          <p:nvPr/>
        </p:nvSpPr>
        <p:spPr>
          <a:xfrm>
            <a:off x="5852160" y="3108960"/>
            <a:ext cx="1051560" cy="548640"/>
          </a:xfrm>
          <a:custGeom>
            <a:avLst/>
            <a:gdLst/>
            <a:ahLst/>
            <a:cxnLst/>
            <a:rect l="l" t="t" r="r" b="b"/>
            <a:pathLst>
              <a:path w="1051560" h="548640">
                <a:moveTo>
                  <a:pt x="0" y="0"/>
                </a:moveTo>
                <a:lnTo>
                  <a:pt x="1051560" y="0"/>
                </a:lnTo>
                <a:lnTo>
                  <a:pt x="1051560" y="548640"/>
                </a:lnTo>
                <a:lnTo>
                  <a:pt x="45720" y="548640"/>
                </a:lnTo>
                <a:close/>
              </a:path>
            </a:pathLst>
          </a:custGeom>
          <a:solidFill>
            <a:srgbClr val="FFFFFF"/>
          </a:solidFill>
          <a:ln w="15875" cap="rnd">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5852160" y="3108960"/>
            <a:ext cx="1051560" cy="0"/>
          </a:xfrm>
          <a:prstGeom prst="line">
            <a:avLst/>
          </a:prstGeom>
          <a:ln w="28575" cap="rnd">
            <a:solidFill>
              <a:srgbClr val="A8440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760720" y="3809999"/>
            <a:ext cx="1188720" cy="243840"/>
          </a:xfrm>
          <a:prstGeom prst="rect">
            <a:avLst/>
          </a:prstGeom>
          <a:noFill/>
        </p:spPr>
        <p:txBody>
          <a:bodyPr wrap="none" lIns="0" rIns="0" tIns="0" bIns="0" anchor="ctr">
            <a:spAutoFit/>
          </a:bodyPr>
          <a:lstStyle/>
          <a:p>
            <a:pPr algn="ctr"/>
            <a:r>
              <a:rPr sz="1200" b="1" i="0">
                <a:solidFill>
                  <a:srgbClr val="4A5A70"/>
                </a:solidFill>
                <a:latin typeface="PT Sans"/>
              </a:rPr>
              <a:t>2. Бүктө</a:t>
            </a:r>
          </a:p>
        </p:txBody>
      </p:sp>
      <p:sp>
        <p:nvSpPr>
          <p:cNvPr id="40" name="Freeform 39"/>
          <p:cNvSpPr/>
          <p:nvPr/>
        </p:nvSpPr>
        <p:spPr>
          <a:xfrm>
            <a:off x="7315200" y="3108960"/>
            <a:ext cx="594360" cy="548640"/>
          </a:xfrm>
          <a:custGeom>
            <a:avLst/>
            <a:gdLst/>
            <a:ahLst/>
            <a:cxnLst/>
            <a:rect l="l" t="t" r="r" b="b"/>
            <a:pathLst>
              <a:path w="594360" h="548640">
                <a:moveTo>
                  <a:pt x="0" y="0"/>
                </a:moveTo>
                <a:lnTo>
                  <a:pt x="594360" y="0"/>
                </a:lnTo>
                <a:lnTo>
                  <a:pt x="548640" y="502920"/>
                </a:lnTo>
                <a:lnTo>
                  <a:pt x="0" y="548640"/>
                </a:lnTo>
                <a:close/>
              </a:path>
            </a:pathLst>
          </a:custGeom>
          <a:solidFill>
            <a:srgbClr val="FFFFFF"/>
          </a:solidFill>
          <a:ln w="15875" cap="rnd">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7315200" y="3108960"/>
            <a:ext cx="594360" cy="0"/>
          </a:xfrm>
          <a:prstGeom prst="line">
            <a:avLst/>
          </a:prstGeom>
          <a:ln w="28575" cap="rnd">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315200" y="3108960"/>
            <a:ext cx="0" cy="548640"/>
          </a:xfrm>
          <a:prstGeom prst="line">
            <a:avLst/>
          </a:prstGeom>
          <a:ln w="28575" cap="rnd">
            <a:solidFill>
              <a:srgbClr val="A84400"/>
            </a:solidFill>
          </a:ln>
        </p:spPr>
        <p:style>
          <a:lnRef idx="2">
            <a:schemeClr val="accent1"/>
          </a:lnRef>
          <a:fillRef idx="0">
            <a:schemeClr val="accent1"/>
          </a:fillRef>
          <a:effectRef idx="1">
            <a:schemeClr val="accent1"/>
          </a:effectRef>
          <a:fontRef idx="minor">
            <a:schemeClr val="tx1"/>
          </a:fontRef>
        </p:style>
      </p:cxnSp>
      <p:sp>
        <p:nvSpPr>
          <p:cNvPr id="43" name="Freeform 42"/>
          <p:cNvSpPr/>
          <p:nvPr/>
        </p:nvSpPr>
        <p:spPr>
          <a:xfrm>
            <a:off x="7315200" y="3108960"/>
            <a:ext cx="128016" cy="128016"/>
          </a:xfrm>
          <a:custGeom>
            <a:avLst/>
            <a:gdLst/>
            <a:ahLst/>
            <a:cxnLst/>
            <a:rect l="l" t="t" r="r" b="b"/>
            <a:pathLst>
              <a:path w="128016" h="128016">
                <a:moveTo>
                  <a:pt x="128016" y="0"/>
                </a:moveTo>
                <a:lnTo>
                  <a:pt x="128016" y="128016"/>
                </a:lnTo>
                <a:lnTo>
                  <a:pt x="0" y="128016"/>
                </a:lnTo>
              </a:path>
            </a:pathLst>
          </a:custGeom>
          <a:noFill/>
          <a:ln w="19050" cap="rnd">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95160" y="3809999"/>
            <a:ext cx="1188720" cy="243840"/>
          </a:xfrm>
          <a:prstGeom prst="rect">
            <a:avLst/>
          </a:prstGeom>
          <a:noFill/>
        </p:spPr>
        <p:txBody>
          <a:bodyPr wrap="none" lIns="0" rIns="0" tIns="0" bIns="0" anchor="ctr">
            <a:spAutoFit/>
          </a:bodyPr>
          <a:lstStyle/>
          <a:p>
            <a:pPr algn="ctr"/>
            <a:r>
              <a:rPr sz="1200" b="1" i="0">
                <a:solidFill>
                  <a:srgbClr val="4A5A70"/>
                </a:solidFill>
                <a:latin typeface="PT Sans"/>
              </a:rPr>
              <a:t>3. Дагы бүктө</a:t>
            </a:r>
          </a:p>
        </p:txBody>
      </p:sp>
      <p:sp>
        <p:nvSpPr>
          <p:cNvPr id="45" name="Freeform 44"/>
          <p:cNvSpPr/>
          <p:nvPr/>
        </p:nvSpPr>
        <p:spPr>
          <a:xfrm>
            <a:off x="4937760" y="4343400"/>
            <a:ext cx="2926080" cy="1097280"/>
          </a:xfrm>
          <a:custGeom>
            <a:avLst/>
            <a:gdLst/>
            <a:ahLst/>
            <a:cxnLst/>
            <a:rect l="l" t="t" r="r" b="b"/>
            <a:pathLst>
              <a:path w="2926080" h="1097280">
                <a:moveTo>
                  <a:pt x="0" y="0"/>
                </a:moveTo>
                <a:lnTo>
                  <a:pt x="2926080" y="0"/>
                </a:lnTo>
                <a:lnTo>
                  <a:pt x="2926080" y="1097280"/>
                </a:lnTo>
                <a:lnTo>
                  <a:pt x="0" y="1097280"/>
                </a:lnTo>
                <a:close/>
              </a:path>
            </a:pathLst>
          </a:custGeom>
          <a:solidFill>
            <a:srgbClr val="F5E9E0"/>
          </a:solidFill>
          <a:ln w="19050"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94960" y="4770119"/>
            <a:ext cx="2011680" cy="243840"/>
          </a:xfrm>
          <a:prstGeom prst="rect">
            <a:avLst/>
          </a:prstGeom>
          <a:noFill/>
        </p:spPr>
        <p:txBody>
          <a:bodyPr wrap="none" lIns="0" rIns="0" tIns="0" bIns="0" anchor="ctr">
            <a:spAutoFit/>
          </a:bodyPr>
          <a:lstStyle/>
          <a:p>
            <a:pPr algn="ctr"/>
            <a:r>
              <a:rPr sz="1200" b="0" i="1">
                <a:solidFill>
                  <a:srgbClr val="4A5A70"/>
                </a:solidFill>
                <a:latin typeface="PT Sans"/>
              </a:rPr>
              <a:t>Китептин бурчу</a:t>
            </a:r>
          </a:p>
        </p:txBody>
      </p:sp>
      <p:sp>
        <p:nvSpPr>
          <p:cNvPr id="47" name="Freeform 46"/>
          <p:cNvSpPr/>
          <p:nvPr/>
        </p:nvSpPr>
        <p:spPr>
          <a:xfrm>
            <a:off x="4937760" y="4343400"/>
            <a:ext cx="685800" cy="685800"/>
          </a:xfrm>
          <a:custGeom>
            <a:avLst/>
            <a:gdLst/>
            <a:ahLst/>
            <a:cxnLst/>
            <a:rect l="l" t="t" r="r" b="b"/>
            <a:pathLst>
              <a:path w="685800" h="685800">
                <a:moveTo>
                  <a:pt x="0" y="0"/>
                </a:moveTo>
                <a:lnTo>
                  <a:pt x="685800" y="0"/>
                </a:lnTo>
                <a:lnTo>
                  <a:pt x="685800" y="685800"/>
                </a:lnTo>
                <a:lnTo>
                  <a:pt x="0" y="685800"/>
                </a:lnTo>
                <a:close/>
              </a:path>
            </a:pathLst>
          </a:custGeom>
          <a:solidFill>
            <a:srgbClr val="FFFFFF"/>
          </a:solidFill>
          <a:ln w="22225" cap="rnd">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102352" y="4498848"/>
            <a:ext cx="365760" cy="365760"/>
          </a:xfrm>
          <a:prstGeom prst="rect">
            <a:avLst/>
          </a:prstGeom>
          <a:noFill/>
        </p:spPr>
        <p:txBody>
          <a:bodyPr wrap="none" lIns="0" rIns="0" tIns="0" bIns="0" anchor="ctr">
            <a:spAutoFit/>
          </a:bodyPr>
          <a:lstStyle/>
          <a:p>
            <a:pPr algn="ctr"/>
            <a:r>
              <a:rPr sz="1800" b="1" i="0">
                <a:solidFill>
                  <a:srgbClr val="007A5A"/>
                </a:solidFill>
                <a:latin typeface="PT Sans"/>
              </a:rPr>
              <a:t>✓</a:t>
            </a:r>
          </a:p>
        </p:txBody>
      </p:sp>
      <p:sp>
        <p:nvSpPr>
          <p:cNvPr id="49" name="Rounded Rectangle 48"/>
          <p:cNvSpPr/>
          <p:nvPr/>
        </p:nvSpPr>
        <p:spPr>
          <a:xfrm>
            <a:off x="9006840" y="2057400"/>
            <a:ext cx="2743200" cy="3703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44000" y="2121408"/>
            <a:ext cx="2514600" cy="3566160"/>
          </a:xfrm>
          <a:prstGeom prst="rect">
            <a:avLst/>
          </a:prstGeom>
          <a:noFill/>
        </p:spPr>
        <p:txBody>
          <a:bodyPr wrap="square" anchor="t" lIns="45720" rIns="45720" tIns="27432" bIns="27432">
            <a:spAutoFit/>
          </a:bodyPr>
          <a:lstStyle/>
          <a:p>
            <a:pPr algn="l">
              <a:lnSpc>
                <a:spcPct val="110000"/>
              </a:lnSpc>
            </a:pPr>
            <a:r>
              <a:rPr sz="1800" b="1" i="0">
                <a:solidFill>
                  <a:srgbClr val="1F2430"/>
                </a:solidFill>
                <a:latin typeface="PT Sans"/>
              </a:rPr>
              <a:t>Ар бир жупта:</a:t>
            </a:r>
          </a:p>
          <a:p>
            <a:pPr algn="l">
              <a:lnSpc>
                <a:spcPct val="110000"/>
              </a:lnSpc>
            </a:pPr>
            <a:r>
              <a:rPr sz="1500" b="0" i="0">
                <a:solidFill>
                  <a:srgbClr val="1F2430"/>
                </a:solidFill>
                <a:latin typeface="PT Sans"/>
              </a:rPr>
              <a:t>• 12 таякча</a:t>
            </a:r>
          </a:p>
          <a:p>
            <a:pPr algn="l">
              <a:lnSpc>
                <a:spcPct val="110000"/>
              </a:lnSpc>
            </a:pPr>
            <a:r>
              <a:rPr sz="1500" b="0" i="0">
                <a:solidFill>
                  <a:srgbClr val="1F2430"/>
                </a:solidFill>
                <a:latin typeface="PT Sans"/>
              </a:rPr>
              <a:t>• 8 пластилин шарча</a:t>
            </a:r>
          </a:p>
          <a:p>
            <a:pPr algn="l">
              <a:lnSpc>
                <a:spcPct val="110000"/>
              </a:lnSpc>
            </a:pPr>
            <a:r>
              <a:rPr sz="1500" b="0" i="0">
                <a:solidFill>
                  <a:srgbClr val="1F2430"/>
                </a:solidFill>
                <a:latin typeface="PT Sans"/>
              </a:rPr>
              <a:t>• 1 барак кагаз</a:t>
            </a:r>
          </a:p>
          <a:p>
            <a:pPr algn="l">
              <a:lnSpc>
                <a:spcPct val="110000"/>
              </a:lnSpc>
            </a:pPr>
            <a:r>
              <a:rPr sz="1500" b="0" i="0">
                <a:solidFill>
                  <a:srgbClr val="1F2430"/>
                </a:solidFill>
                <a:latin typeface="PT Sans"/>
              </a:rPr>
              <a:t>Топко: кутуча, банка, топ, кагаз мүйүз</a:t>
            </a:r>
          </a:p>
          <a:p>
            <a:pPr algn="l">
              <a:lnSpc>
                <a:spcPct val="110000"/>
              </a:lnSpc>
            </a:pPr>
            <a:r>
              <a:rPr sz="1700" b="1" i="0">
                <a:solidFill>
                  <a:srgbClr val="24418C"/>
                </a:solidFill>
                <a:latin typeface="PT Sans"/>
              </a:rPr>
              <a:t>Кармай алсак – көлөмдүү</a:t>
            </a:r>
          </a:p>
        </p:txBody>
      </p:sp>
      <p:sp>
        <p:nvSpPr>
          <p:cNvPr id="51" name="Rounded Rectangle 50"/>
          <p:cNvSpPr/>
          <p:nvPr/>
        </p:nvSpPr>
        <p:spPr>
          <a:xfrm>
            <a:off x="8412480"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К</a:t>
            </a:r>
          </a:p>
        </p:txBody>
      </p:sp>
      <p:sp>
        <p:nvSpPr>
          <p:cNvPr id="52" name="Rounded Rectangle 51"/>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53" name="Rounded Rectangle 52"/>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 сүрөт менен: бет, кыр, чоку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Кубдун сүрөтүндө 3 гана бет көрүнөт. Калган беттер кайда?</a:t>
            </a:r>
          </a:p>
        </p:txBody>
      </p:sp>
      <p:sp>
        <p:nvSpPr>
          <p:cNvPr id="12" name="Freeform 11"/>
          <p:cNvSpPr/>
          <p:nvPr/>
        </p:nvSpPr>
        <p:spPr>
          <a:xfrm>
            <a:off x="982980" y="3237954"/>
            <a:ext cx="1722666" cy="1722666"/>
          </a:xfrm>
          <a:custGeom>
            <a:avLst/>
            <a:gdLst/>
            <a:ahLst/>
            <a:cxnLst/>
            <a:rect l="l" t="t" r="r" b="b"/>
            <a:pathLst>
              <a:path w="1722666" h="1722666">
                <a:moveTo>
                  <a:pt x="0" y="1722666"/>
                </a:moveTo>
                <a:lnTo>
                  <a:pt x="1722666" y="1722666"/>
                </a:lnTo>
                <a:lnTo>
                  <a:pt x="1722666" y="0"/>
                </a:lnTo>
                <a:lnTo>
                  <a:pt x="0" y="0"/>
                </a:lnTo>
                <a:close/>
              </a:path>
            </a:pathLst>
          </a:custGeom>
          <a:solidFill>
            <a:srgbClr val="C9D4EE"/>
          </a:solidFill>
          <a:ln w="13970"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82980" y="2628900"/>
            <a:ext cx="2331720" cy="609054"/>
          </a:xfrm>
          <a:custGeom>
            <a:avLst/>
            <a:gdLst/>
            <a:ahLst/>
            <a:cxnLst/>
            <a:rect l="l" t="t" r="r" b="b"/>
            <a:pathLst>
              <a:path w="2331720" h="609054">
                <a:moveTo>
                  <a:pt x="0" y="609054"/>
                </a:moveTo>
                <a:lnTo>
                  <a:pt x="1722666" y="609054"/>
                </a:lnTo>
                <a:lnTo>
                  <a:pt x="2331720" y="0"/>
                </a:lnTo>
                <a:lnTo>
                  <a:pt x="609054" y="0"/>
                </a:lnTo>
                <a:close/>
              </a:path>
            </a:pathLst>
          </a:custGeom>
          <a:solidFill>
            <a:srgbClr val="E6EBF7"/>
          </a:solidFill>
          <a:ln w="13970"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2705646" y="2628900"/>
            <a:ext cx="609054" cy="2331720"/>
          </a:xfrm>
          <a:custGeom>
            <a:avLst/>
            <a:gdLst/>
            <a:ahLst/>
            <a:cxnLst/>
            <a:rect l="l" t="t" r="r" b="b"/>
            <a:pathLst>
              <a:path w="609054" h="2331720">
                <a:moveTo>
                  <a:pt x="0" y="2331720"/>
                </a:moveTo>
                <a:lnTo>
                  <a:pt x="0" y="609054"/>
                </a:lnTo>
                <a:lnTo>
                  <a:pt x="609054" y="0"/>
                </a:lnTo>
                <a:lnTo>
                  <a:pt x="609054" y="1722666"/>
                </a:lnTo>
                <a:close/>
              </a:path>
            </a:pathLst>
          </a:custGeom>
          <a:solidFill>
            <a:srgbClr val="C9D4EE"/>
          </a:solidFill>
          <a:ln w="13970"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flipV="1">
            <a:off x="982980" y="4351565"/>
            <a:ext cx="609054" cy="609055"/>
          </a:xfrm>
          <a:prstGeom prst="line">
            <a:avLst/>
          </a:prstGeom>
          <a:ln w="2095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592034" y="4351565"/>
            <a:ext cx="1722666" cy="0"/>
          </a:xfrm>
          <a:prstGeom prst="line">
            <a:avLst/>
          </a:prstGeom>
          <a:ln w="2095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592034" y="2628900"/>
            <a:ext cx="0" cy="1722665"/>
          </a:xfrm>
          <a:prstGeom prst="line">
            <a:avLst/>
          </a:prstGeom>
          <a:ln w="2095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82980" y="4960620"/>
            <a:ext cx="1722665" cy="0"/>
          </a:xfrm>
          <a:prstGeom prst="line">
            <a:avLst/>
          </a:prstGeom>
          <a:ln w="3492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82980" y="3237954"/>
            <a:ext cx="0" cy="1722666"/>
          </a:xfrm>
          <a:prstGeom prst="line">
            <a:avLst/>
          </a:prstGeom>
          <a:ln w="3492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705645" y="3237954"/>
            <a:ext cx="0" cy="1722666"/>
          </a:xfrm>
          <a:prstGeom prst="line">
            <a:avLst/>
          </a:prstGeom>
          <a:ln w="3492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705645" y="4351565"/>
            <a:ext cx="609055" cy="609055"/>
          </a:xfrm>
          <a:prstGeom prst="line">
            <a:avLst/>
          </a:prstGeom>
          <a:ln w="3492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982980" y="3237954"/>
            <a:ext cx="1722665" cy="0"/>
          </a:xfrm>
          <a:prstGeom prst="line">
            <a:avLst/>
          </a:prstGeom>
          <a:ln w="3492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705645" y="2628900"/>
            <a:ext cx="609055" cy="609054"/>
          </a:xfrm>
          <a:prstGeom prst="line">
            <a:avLst/>
          </a:prstGeom>
          <a:ln w="3492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82980" y="2628900"/>
            <a:ext cx="609054" cy="609054"/>
          </a:xfrm>
          <a:prstGeom prst="line">
            <a:avLst/>
          </a:prstGeom>
          <a:ln w="3492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314700" y="2628900"/>
            <a:ext cx="0" cy="1722665"/>
          </a:xfrm>
          <a:prstGeom prst="line">
            <a:avLst/>
          </a:prstGeom>
          <a:ln w="3492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1592034" y="2628900"/>
            <a:ext cx="1722666" cy="0"/>
          </a:xfrm>
          <a:prstGeom prst="line">
            <a:avLst/>
          </a:prstGeom>
          <a:ln w="3492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5800" y="2331720"/>
            <a:ext cx="1067072" cy="1676127"/>
          </a:xfrm>
          <a:prstGeom prst="line">
            <a:avLst/>
          </a:prstGeom>
          <a:ln w="22225" cap="rnd">
            <a:solidFill>
              <a:srgbClr val="A844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60247" y="2032000"/>
            <a:ext cx="451104" cy="325120"/>
          </a:xfrm>
          <a:prstGeom prst="rect">
            <a:avLst/>
          </a:prstGeom>
          <a:noFill/>
        </p:spPr>
        <p:txBody>
          <a:bodyPr wrap="none" lIns="0" rIns="0" tIns="0" bIns="0" anchor="ctr">
            <a:spAutoFit/>
          </a:bodyPr>
          <a:lstStyle/>
          <a:p>
            <a:pPr algn="ctr"/>
            <a:r>
              <a:rPr sz="1600" b="1" i="0">
                <a:solidFill>
                  <a:srgbClr val="A84400"/>
                </a:solidFill>
                <a:latin typeface="PT Sans"/>
              </a:rPr>
              <a:t>бет</a:t>
            </a:r>
          </a:p>
        </p:txBody>
      </p:sp>
      <p:cxnSp>
        <p:nvCxnSpPr>
          <p:cNvPr id="29" name="Connector 28"/>
          <p:cNvCxnSpPr/>
          <p:nvPr/>
        </p:nvCxnSpPr>
        <p:spPr>
          <a:xfrm flipH="1">
            <a:off x="3055892" y="2240280"/>
            <a:ext cx="876028" cy="665715"/>
          </a:xfrm>
          <a:prstGeom prst="line">
            <a:avLst/>
          </a:prstGeom>
          <a:ln w="22225" cap="rnd">
            <a:solidFill>
              <a:srgbClr val="A844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843528" y="1986280"/>
            <a:ext cx="451104" cy="325120"/>
          </a:xfrm>
          <a:prstGeom prst="rect">
            <a:avLst/>
          </a:prstGeom>
          <a:noFill/>
        </p:spPr>
        <p:txBody>
          <a:bodyPr wrap="none" lIns="0" rIns="0" tIns="0" bIns="0" anchor="ctr">
            <a:spAutoFit/>
          </a:bodyPr>
          <a:lstStyle/>
          <a:p>
            <a:pPr algn="ctr"/>
            <a:r>
              <a:rPr sz="1600" b="1" i="0">
                <a:solidFill>
                  <a:srgbClr val="A84400"/>
                </a:solidFill>
                <a:latin typeface="PT Sans"/>
              </a:rPr>
              <a:t>кыр</a:t>
            </a:r>
          </a:p>
        </p:txBody>
      </p:sp>
      <p:cxnSp>
        <p:nvCxnSpPr>
          <p:cNvPr id="31" name="Connector 30"/>
          <p:cNvCxnSpPr/>
          <p:nvPr/>
        </p:nvCxnSpPr>
        <p:spPr>
          <a:xfrm flipH="1" flipV="1">
            <a:off x="2769653" y="5006340"/>
            <a:ext cx="1207986" cy="251460"/>
          </a:xfrm>
          <a:prstGeom prst="line">
            <a:avLst/>
          </a:prstGeom>
          <a:ln w="22225" cap="rnd">
            <a:solidFill>
              <a:srgbClr val="A844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832351" y="5186679"/>
            <a:ext cx="564896" cy="325120"/>
          </a:xfrm>
          <a:prstGeom prst="rect">
            <a:avLst/>
          </a:prstGeom>
          <a:noFill/>
        </p:spPr>
        <p:txBody>
          <a:bodyPr wrap="none" lIns="0" rIns="0" tIns="0" bIns="0" anchor="ctr">
            <a:spAutoFit/>
          </a:bodyPr>
          <a:lstStyle/>
          <a:p>
            <a:pPr algn="ctr"/>
            <a:r>
              <a:rPr sz="1600" b="1" i="0">
                <a:solidFill>
                  <a:srgbClr val="A84400"/>
                </a:solidFill>
                <a:latin typeface="PT Sans"/>
              </a:rPr>
              <a:t>чоку</a:t>
            </a:r>
          </a:p>
        </p:txBody>
      </p:sp>
      <p:sp>
        <p:nvSpPr>
          <p:cNvPr id="33" name="TextBox 32"/>
          <p:cNvSpPr txBox="1"/>
          <p:nvPr/>
        </p:nvSpPr>
        <p:spPr>
          <a:xfrm>
            <a:off x="640080" y="5227319"/>
            <a:ext cx="2743200" cy="243840"/>
          </a:xfrm>
          <a:prstGeom prst="rect">
            <a:avLst/>
          </a:prstGeom>
          <a:noFill/>
        </p:spPr>
        <p:txBody>
          <a:bodyPr wrap="none" lIns="0" rIns="0" tIns="0" bIns="0" anchor="ctr">
            <a:spAutoFit/>
          </a:bodyPr>
          <a:lstStyle/>
          <a:p>
            <a:pPr algn="ctr"/>
            <a:r>
              <a:rPr sz="1200" b="0" i="1">
                <a:solidFill>
                  <a:srgbClr val="4A5A70"/>
                </a:solidFill>
                <a:latin typeface="PT Sans"/>
              </a:rPr>
              <a:t>Үзүк сызык – көрүнбөгөн кыр</a:t>
            </a:r>
          </a:p>
        </p:txBody>
      </p:sp>
      <p:sp>
        <p:nvSpPr>
          <p:cNvPr id="34" name="Rectangle 33"/>
          <p:cNvSpPr/>
          <p:nvPr/>
        </p:nvSpPr>
        <p:spPr>
          <a:xfrm>
            <a:off x="6126480" y="2240280"/>
            <a:ext cx="502920" cy="502920"/>
          </a:xfrm>
          <a:prstGeom prst="rect">
            <a:avLst/>
          </a:prstGeom>
          <a:solidFill>
            <a:srgbClr val="C9D4EE"/>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40780" y="2339340"/>
            <a:ext cx="274320" cy="304800"/>
          </a:xfrm>
          <a:prstGeom prst="rect">
            <a:avLst/>
          </a:prstGeom>
          <a:noFill/>
        </p:spPr>
        <p:txBody>
          <a:bodyPr wrap="none" lIns="0" rIns="0" tIns="0" bIns="0" anchor="ctr">
            <a:spAutoFit/>
          </a:bodyPr>
          <a:lstStyle/>
          <a:p>
            <a:pPr algn="ctr"/>
            <a:r>
              <a:rPr sz="1500" b="1" i="0">
                <a:solidFill>
                  <a:srgbClr val="1D3557"/>
                </a:solidFill>
                <a:latin typeface="PT Sans"/>
              </a:rPr>
              <a:t>1</a:t>
            </a:r>
          </a:p>
        </p:txBody>
      </p:sp>
      <p:sp>
        <p:nvSpPr>
          <p:cNvPr id="36" name="Rectangle 35"/>
          <p:cNvSpPr/>
          <p:nvPr/>
        </p:nvSpPr>
        <p:spPr>
          <a:xfrm>
            <a:off x="5623560" y="2743200"/>
            <a:ext cx="502920" cy="502920"/>
          </a:xfrm>
          <a:prstGeom prst="rect">
            <a:avLst/>
          </a:prstGeom>
          <a:solidFill>
            <a:srgbClr val="E6EBF7"/>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737860" y="2842260"/>
            <a:ext cx="274320" cy="304800"/>
          </a:xfrm>
          <a:prstGeom prst="rect">
            <a:avLst/>
          </a:prstGeom>
          <a:noFill/>
        </p:spPr>
        <p:txBody>
          <a:bodyPr wrap="none" lIns="0" rIns="0" tIns="0" bIns="0" anchor="ctr">
            <a:spAutoFit/>
          </a:bodyPr>
          <a:lstStyle/>
          <a:p>
            <a:pPr algn="ctr"/>
            <a:r>
              <a:rPr sz="1500" b="1" i="0">
                <a:solidFill>
                  <a:srgbClr val="1D3557"/>
                </a:solidFill>
                <a:latin typeface="PT Sans"/>
              </a:rPr>
              <a:t>2</a:t>
            </a:r>
          </a:p>
        </p:txBody>
      </p:sp>
      <p:sp>
        <p:nvSpPr>
          <p:cNvPr id="38" name="Rectangle 37"/>
          <p:cNvSpPr/>
          <p:nvPr/>
        </p:nvSpPr>
        <p:spPr>
          <a:xfrm>
            <a:off x="6126480" y="2743200"/>
            <a:ext cx="502920" cy="502920"/>
          </a:xfrm>
          <a:prstGeom prst="rect">
            <a:avLst/>
          </a:prstGeom>
          <a:solidFill>
            <a:srgbClr val="C9D4EE"/>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40780" y="2842260"/>
            <a:ext cx="274320" cy="304800"/>
          </a:xfrm>
          <a:prstGeom prst="rect">
            <a:avLst/>
          </a:prstGeom>
          <a:noFill/>
        </p:spPr>
        <p:txBody>
          <a:bodyPr wrap="none" lIns="0" rIns="0" tIns="0" bIns="0" anchor="ctr">
            <a:spAutoFit/>
          </a:bodyPr>
          <a:lstStyle/>
          <a:p>
            <a:pPr algn="ctr"/>
            <a:r>
              <a:rPr sz="1500" b="1" i="0">
                <a:solidFill>
                  <a:srgbClr val="1D3557"/>
                </a:solidFill>
                <a:latin typeface="PT Sans"/>
              </a:rPr>
              <a:t>3</a:t>
            </a:r>
          </a:p>
        </p:txBody>
      </p:sp>
      <p:sp>
        <p:nvSpPr>
          <p:cNvPr id="40" name="Rectangle 39"/>
          <p:cNvSpPr/>
          <p:nvPr/>
        </p:nvSpPr>
        <p:spPr>
          <a:xfrm>
            <a:off x="6629400" y="2743200"/>
            <a:ext cx="502920" cy="502920"/>
          </a:xfrm>
          <a:prstGeom prst="rect">
            <a:avLst/>
          </a:prstGeom>
          <a:solidFill>
            <a:srgbClr val="E6EBF7"/>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43700" y="2842260"/>
            <a:ext cx="274320" cy="304800"/>
          </a:xfrm>
          <a:prstGeom prst="rect">
            <a:avLst/>
          </a:prstGeom>
          <a:noFill/>
        </p:spPr>
        <p:txBody>
          <a:bodyPr wrap="none" lIns="0" rIns="0" tIns="0" bIns="0" anchor="ctr">
            <a:spAutoFit/>
          </a:bodyPr>
          <a:lstStyle/>
          <a:p>
            <a:pPr algn="ctr"/>
            <a:r>
              <a:rPr sz="1500" b="1" i="0">
                <a:solidFill>
                  <a:srgbClr val="1D3557"/>
                </a:solidFill>
                <a:latin typeface="PT Sans"/>
              </a:rPr>
              <a:t>4</a:t>
            </a:r>
          </a:p>
        </p:txBody>
      </p:sp>
      <p:sp>
        <p:nvSpPr>
          <p:cNvPr id="42" name="Rectangle 41"/>
          <p:cNvSpPr/>
          <p:nvPr/>
        </p:nvSpPr>
        <p:spPr>
          <a:xfrm>
            <a:off x="6126480" y="3246120"/>
            <a:ext cx="502920" cy="502920"/>
          </a:xfrm>
          <a:prstGeom prst="rect">
            <a:avLst/>
          </a:prstGeom>
          <a:solidFill>
            <a:srgbClr val="C9D4EE"/>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40780" y="3345180"/>
            <a:ext cx="274320" cy="304800"/>
          </a:xfrm>
          <a:prstGeom prst="rect">
            <a:avLst/>
          </a:prstGeom>
          <a:noFill/>
        </p:spPr>
        <p:txBody>
          <a:bodyPr wrap="none" lIns="0" rIns="0" tIns="0" bIns="0" anchor="ctr">
            <a:spAutoFit/>
          </a:bodyPr>
          <a:lstStyle/>
          <a:p>
            <a:pPr algn="ctr"/>
            <a:r>
              <a:rPr sz="1500" b="1" i="0">
                <a:solidFill>
                  <a:srgbClr val="1D3557"/>
                </a:solidFill>
                <a:latin typeface="PT Sans"/>
              </a:rPr>
              <a:t>5</a:t>
            </a:r>
          </a:p>
        </p:txBody>
      </p:sp>
      <p:sp>
        <p:nvSpPr>
          <p:cNvPr id="44" name="Rectangle 43"/>
          <p:cNvSpPr/>
          <p:nvPr/>
        </p:nvSpPr>
        <p:spPr>
          <a:xfrm>
            <a:off x="6126480" y="3749040"/>
            <a:ext cx="502920" cy="502920"/>
          </a:xfrm>
          <a:prstGeom prst="rect">
            <a:avLst/>
          </a:prstGeom>
          <a:solidFill>
            <a:srgbClr val="E6EBF7"/>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40780" y="3848099"/>
            <a:ext cx="274320" cy="304800"/>
          </a:xfrm>
          <a:prstGeom prst="rect">
            <a:avLst/>
          </a:prstGeom>
          <a:noFill/>
        </p:spPr>
        <p:txBody>
          <a:bodyPr wrap="none" lIns="0" rIns="0" tIns="0" bIns="0" anchor="ctr">
            <a:spAutoFit/>
          </a:bodyPr>
          <a:lstStyle/>
          <a:p>
            <a:pPr algn="ctr"/>
            <a:r>
              <a:rPr sz="1500" b="1" i="0">
                <a:solidFill>
                  <a:srgbClr val="1D3557"/>
                </a:solidFill>
                <a:latin typeface="PT Sans"/>
              </a:rPr>
              <a:t>6</a:t>
            </a:r>
          </a:p>
        </p:txBody>
      </p:sp>
      <p:sp>
        <p:nvSpPr>
          <p:cNvPr id="46" name="TextBox 45"/>
          <p:cNvSpPr txBox="1"/>
          <p:nvPr/>
        </p:nvSpPr>
        <p:spPr>
          <a:xfrm>
            <a:off x="5006340" y="4384040"/>
            <a:ext cx="2743200" cy="284480"/>
          </a:xfrm>
          <a:prstGeom prst="rect">
            <a:avLst/>
          </a:prstGeom>
          <a:noFill/>
        </p:spPr>
        <p:txBody>
          <a:bodyPr wrap="none" lIns="0" rIns="0" tIns="0" bIns="0" anchor="ctr">
            <a:spAutoFit/>
          </a:bodyPr>
          <a:lstStyle/>
          <a:p>
            <a:pPr algn="ctr"/>
            <a:r>
              <a:rPr sz="1400" b="1" i="0">
                <a:solidFill>
                  <a:srgbClr val="1D3557"/>
                </a:solidFill>
                <a:latin typeface="PT Sans"/>
              </a:rPr>
              <a:t>Кутуну жазсак: 6 бет</a:t>
            </a:r>
          </a:p>
        </p:txBody>
      </p:sp>
      <p:sp>
        <p:nvSpPr>
          <p:cNvPr id="47" name="Freeform 46"/>
          <p:cNvSpPr/>
          <p:nvPr/>
        </p:nvSpPr>
        <p:spPr>
          <a:xfrm>
            <a:off x="8001000" y="3027765"/>
            <a:ext cx="675555" cy="675555"/>
          </a:xfrm>
          <a:custGeom>
            <a:avLst/>
            <a:gdLst/>
            <a:ahLst/>
            <a:cxnLst/>
            <a:rect l="l" t="t" r="r" b="b"/>
            <a:pathLst>
              <a:path w="675555" h="675555">
                <a:moveTo>
                  <a:pt x="0" y="675555"/>
                </a:moveTo>
                <a:lnTo>
                  <a:pt x="675555" y="675555"/>
                </a:lnTo>
                <a:lnTo>
                  <a:pt x="675555" y="0"/>
                </a:lnTo>
                <a:lnTo>
                  <a:pt x="0" y="0"/>
                </a:lnTo>
                <a:close/>
              </a:path>
            </a:pathLst>
          </a:custGeom>
          <a:solidFill>
            <a:srgbClr val="C9D4EE"/>
          </a:solidFill>
          <a:ln w="5842"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Freeform 47"/>
          <p:cNvSpPr/>
          <p:nvPr/>
        </p:nvSpPr>
        <p:spPr>
          <a:xfrm>
            <a:off x="8001000" y="2788920"/>
            <a:ext cx="914400" cy="238845"/>
          </a:xfrm>
          <a:custGeom>
            <a:avLst/>
            <a:gdLst/>
            <a:ahLst/>
            <a:cxnLst/>
            <a:rect l="l" t="t" r="r" b="b"/>
            <a:pathLst>
              <a:path w="914400" h="238845">
                <a:moveTo>
                  <a:pt x="0" y="238845"/>
                </a:moveTo>
                <a:lnTo>
                  <a:pt x="675555" y="238845"/>
                </a:lnTo>
                <a:lnTo>
                  <a:pt x="914400" y="0"/>
                </a:lnTo>
                <a:lnTo>
                  <a:pt x="238845" y="0"/>
                </a:lnTo>
                <a:close/>
              </a:path>
            </a:pathLst>
          </a:custGeom>
          <a:solidFill>
            <a:srgbClr val="E6EBF7"/>
          </a:solidFill>
          <a:ln w="5842"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Freeform 48"/>
          <p:cNvSpPr/>
          <p:nvPr/>
        </p:nvSpPr>
        <p:spPr>
          <a:xfrm>
            <a:off x="8676555" y="2788920"/>
            <a:ext cx="238845" cy="914400"/>
          </a:xfrm>
          <a:custGeom>
            <a:avLst/>
            <a:gdLst/>
            <a:ahLst/>
            <a:cxnLst/>
            <a:rect l="l" t="t" r="r" b="b"/>
            <a:pathLst>
              <a:path w="238845" h="914400">
                <a:moveTo>
                  <a:pt x="0" y="914400"/>
                </a:moveTo>
                <a:lnTo>
                  <a:pt x="0" y="238845"/>
                </a:lnTo>
                <a:lnTo>
                  <a:pt x="238845" y="0"/>
                </a:lnTo>
                <a:lnTo>
                  <a:pt x="238845" y="675555"/>
                </a:lnTo>
                <a:close/>
              </a:path>
            </a:pathLst>
          </a:custGeom>
          <a:solidFill>
            <a:srgbClr val="C9D4EE"/>
          </a:solidFill>
          <a:ln w="5842"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flipV="1">
            <a:off x="8001000" y="3464475"/>
            <a:ext cx="238844" cy="238845"/>
          </a:xfrm>
          <a:prstGeom prst="line">
            <a:avLst/>
          </a:prstGeom>
          <a:ln w="952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239844" y="3464475"/>
            <a:ext cx="675556" cy="0"/>
          </a:xfrm>
          <a:prstGeom prst="line">
            <a:avLst/>
          </a:prstGeom>
          <a:ln w="952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8239844" y="2788920"/>
            <a:ext cx="0" cy="675555"/>
          </a:xfrm>
          <a:prstGeom prst="line">
            <a:avLst/>
          </a:prstGeom>
          <a:ln w="952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001000" y="3703320"/>
            <a:ext cx="675555" cy="0"/>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8001000" y="3027764"/>
            <a:ext cx="0" cy="675556"/>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8676555" y="3027764"/>
            <a:ext cx="0" cy="675556"/>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8676555" y="3464475"/>
            <a:ext cx="238845" cy="238845"/>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8001000" y="3027764"/>
            <a:ext cx="675555" cy="0"/>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8676555" y="2788920"/>
            <a:ext cx="238845" cy="238844"/>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001000" y="2788920"/>
            <a:ext cx="238844" cy="238844"/>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915400" y="2788920"/>
            <a:ext cx="0" cy="675555"/>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8239844" y="2788920"/>
            <a:ext cx="675556" cy="0"/>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8321040" y="3820160"/>
            <a:ext cx="274320" cy="406400"/>
          </a:xfrm>
          <a:prstGeom prst="rect">
            <a:avLst/>
          </a:prstGeom>
          <a:noFill/>
        </p:spPr>
        <p:txBody>
          <a:bodyPr wrap="none" lIns="0" rIns="0" tIns="0" bIns="0" anchor="ctr">
            <a:spAutoFit/>
          </a:bodyPr>
          <a:lstStyle/>
          <a:p>
            <a:pPr algn="ctr"/>
            <a:r>
              <a:rPr sz="2000" b="1" i="0">
                <a:solidFill>
                  <a:srgbClr val="007A5A"/>
                </a:solidFill>
                <a:latin typeface="PT Sans"/>
              </a:rPr>
              <a:t>6</a:t>
            </a:r>
          </a:p>
        </p:txBody>
      </p:sp>
      <p:sp>
        <p:nvSpPr>
          <p:cNvPr id="63" name="Freeform 62"/>
          <p:cNvSpPr/>
          <p:nvPr/>
        </p:nvSpPr>
        <p:spPr>
          <a:xfrm>
            <a:off x="9189720" y="3027765"/>
            <a:ext cx="675555" cy="675555"/>
          </a:xfrm>
          <a:custGeom>
            <a:avLst/>
            <a:gdLst/>
            <a:ahLst/>
            <a:cxnLst/>
            <a:rect l="l" t="t" r="r" b="b"/>
            <a:pathLst>
              <a:path w="675555" h="675555">
                <a:moveTo>
                  <a:pt x="0" y="675555"/>
                </a:moveTo>
                <a:lnTo>
                  <a:pt x="675555" y="675555"/>
                </a:lnTo>
                <a:lnTo>
                  <a:pt x="675555" y="0"/>
                </a:lnTo>
                <a:lnTo>
                  <a:pt x="0" y="0"/>
                </a:lnTo>
                <a:close/>
              </a:path>
            </a:pathLst>
          </a:custGeom>
          <a:solidFill>
            <a:srgbClr val="C9D4EE"/>
          </a:solidFill>
          <a:ln w="5842"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Freeform 63"/>
          <p:cNvSpPr/>
          <p:nvPr/>
        </p:nvSpPr>
        <p:spPr>
          <a:xfrm>
            <a:off x="9189720" y="2788920"/>
            <a:ext cx="914400" cy="238845"/>
          </a:xfrm>
          <a:custGeom>
            <a:avLst/>
            <a:gdLst/>
            <a:ahLst/>
            <a:cxnLst/>
            <a:rect l="l" t="t" r="r" b="b"/>
            <a:pathLst>
              <a:path w="914400" h="238845">
                <a:moveTo>
                  <a:pt x="0" y="238845"/>
                </a:moveTo>
                <a:lnTo>
                  <a:pt x="675555" y="238845"/>
                </a:lnTo>
                <a:lnTo>
                  <a:pt x="914400" y="0"/>
                </a:lnTo>
                <a:lnTo>
                  <a:pt x="238845" y="0"/>
                </a:lnTo>
                <a:close/>
              </a:path>
            </a:pathLst>
          </a:custGeom>
          <a:solidFill>
            <a:srgbClr val="E6EBF7"/>
          </a:solidFill>
          <a:ln w="5842"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Freeform 64"/>
          <p:cNvSpPr/>
          <p:nvPr/>
        </p:nvSpPr>
        <p:spPr>
          <a:xfrm>
            <a:off x="9865275" y="2788920"/>
            <a:ext cx="238845" cy="914400"/>
          </a:xfrm>
          <a:custGeom>
            <a:avLst/>
            <a:gdLst/>
            <a:ahLst/>
            <a:cxnLst/>
            <a:rect l="l" t="t" r="r" b="b"/>
            <a:pathLst>
              <a:path w="238845" h="914400">
                <a:moveTo>
                  <a:pt x="0" y="914400"/>
                </a:moveTo>
                <a:lnTo>
                  <a:pt x="0" y="238845"/>
                </a:lnTo>
                <a:lnTo>
                  <a:pt x="238845" y="0"/>
                </a:lnTo>
                <a:lnTo>
                  <a:pt x="238845" y="675555"/>
                </a:lnTo>
                <a:close/>
              </a:path>
            </a:pathLst>
          </a:custGeom>
          <a:solidFill>
            <a:srgbClr val="C9D4EE"/>
          </a:solidFill>
          <a:ln w="5842"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6" name="Connector 65"/>
          <p:cNvCxnSpPr/>
          <p:nvPr/>
        </p:nvCxnSpPr>
        <p:spPr>
          <a:xfrm flipV="1">
            <a:off x="9189720" y="3464475"/>
            <a:ext cx="238844" cy="238845"/>
          </a:xfrm>
          <a:prstGeom prst="line">
            <a:avLst/>
          </a:prstGeom>
          <a:ln w="952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428564" y="3464475"/>
            <a:ext cx="675556" cy="0"/>
          </a:xfrm>
          <a:prstGeom prst="line">
            <a:avLst/>
          </a:prstGeom>
          <a:ln w="952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9428564" y="2788920"/>
            <a:ext cx="0" cy="675555"/>
          </a:xfrm>
          <a:prstGeom prst="line">
            <a:avLst/>
          </a:prstGeom>
          <a:ln w="952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9189720" y="3703320"/>
            <a:ext cx="675555" cy="0"/>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9189720" y="3027764"/>
            <a:ext cx="0" cy="675556"/>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9865275" y="3027764"/>
            <a:ext cx="0" cy="675556"/>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9865275" y="3464475"/>
            <a:ext cx="238845" cy="238845"/>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a:off x="9189720" y="3027764"/>
            <a:ext cx="675555" cy="0"/>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9865275" y="2788920"/>
            <a:ext cx="238845" cy="238844"/>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9189720" y="2788920"/>
            <a:ext cx="238844" cy="238844"/>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10104120" y="2788920"/>
            <a:ext cx="0" cy="675555"/>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a:off x="9428564" y="2788920"/>
            <a:ext cx="675556" cy="0"/>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9509760" y="3820160"/>
            <a:ext cx="274320" cy="406400"/>
          </a:xfrm>
          <a:prstGeom prst="rect">
            <a:avLst/>
          </a:prstGeom>
          <a:noFill/>
        </p:spPr>
        <p:txBody>
          <a:bodyPr wrap="none" lIns="0" rIns="0" tIns="0" bIns="0" anchor="ctr">
            <a:spAutoFit/>
          </a:bodyPr>
          <a:lstStyle/>
          <a:p>
            <a:pPr algn="ctr"/>
            <a:r>
              <a:rPr sz="2000" b="1" i="0">
                <a:solidFill>
                  <a:srgbClr val="007A5A"/>
                </a:solidFill>
                <a:latin typeface="PT Sans"/>
              </a:rPr>
              <a:t>6</a:t>
            </a:r>
          </a:p>
        </p:txBody>
      </p:sp>
      <p:sp>
        <p:nvSpPr>
          <p:cNvPr id="79" name="Freeform 78"/>
          <p:cNvSpPr/>
          <p:nvPr/>
        </p:nvSpPr>
        <p:spPr>
          <a:xfrm>
            <a:off x="10378440" y="3027765"/>
            <a:ext cx="675555" cy="675555"/>
          </a:xfrm>
          <a:custGeom>
            <a:avLst/>
            <a:gdLst/>
            <a:ahLst/>
            <a:cxnLst/>
            <a:rect l="l" t="t" r="r" b="b"/>
            <a:pathLst>
              <a:path w="675555" h="675555">
                <a:moveTo>
                  <a:pt x="0" y="675555"/>
                </a:moveTo>
                <a:lnTo>
                  <a:pt x="675555" y="675555"/>
                </a:lnTo>
                <a:lnTo>
                  <a:pt x="675555" y="0"/>
                </a:lnTo>
                <a:lnTo>
                  <a:pt x="0" y="0"/>
                </a:lnTo>
                <a:close/>
              </a:path>
            </a:pathLst>
          </a:custGeom>
          <a:solidFill>
            <a:srgbClr val="C9D4EE"/>
          </a:solidFill>
          <a:ln w="5842"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Freeform 79"/>
          <p:cNvSpPr/>
          <p:nvPr/>
        </p:nvSpPr>
        <p:spPr>
          <a:xfrm>
            <a:off x="10378440" y="2788920"/>
            <a:ext cx="914400" cy="238845"/>
          </a:xfrm>
          <a:custGeom>
            <a:avLst/>
            <a:gdLst/>
            <a:ahLst/>
            <a:cxnLst/>
            <a:rect l="l" t="t" r="r" b="b"/>
            <a:pathLst>
              <a:path w="914400" h="238845">
                <a:moveTo>
                  <a:pt x="0" y="238845"/>
                </a:moveTo>
                <a:lnTo>
                  <a:pt x="675555" y="238845"/>
                </a:lnTo>
                <a:lnTo>
                  <a:pt x="914400" y="0"/>
                </a:lnTo>
                <a:lnTo>
                  <a:pt x="238845" y="0"/>
                </a:lnTo>
                <a:close/>
              </a:path>
            </a:pathLst>
          </a:custGeom>
          <a:solidFill>
            <a:srgbClr val="E6EBF7"/>
          </a:solidFill>
          <a:ln w="5842"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Freeform 80"/>
          <p:cNvSpPr/>
          <p:nvPr/>
        </p:nvSpPr>
        <p:spPr>
          <a:xfrm>
            <a:off x="11053995" y="2788920"/>
            <a:ext cx="238845" cy="914400"/>
          </a:xfrm>
          <a:custGeom>
            <a:avLst/>
            <a:gdLst/>
            <a:ahLst/>
            <a:cxnLst/>
            <a:rect l="l" t="t" r="r" b="b"/>
            <a:pathLst>
              <a:path w="238845" h="914400">
                <a:moveTo>
                  <a:pt x="0" y="914400"/>
                </a:moveTo>
                <a:lnTo>
                  <a:pt x="0" y="238845"/>
                </a:lnTo>
                <a:lnTo>
                  <a:pt x="238845" y="0"/>
                </a:lnTo>
                <a:lnTo>
                  <a:pt x="238845" y="675555"/>
                </a:lnTo>
                <a:close/>
              </a:path>
            </a:pathLst>
          </a:custGeom>
          <a:solidFill>
            <a:srgbClr val="C9D4EE"/>
          </a:solidFill>
          <a:ln w="5842"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2" name="Connector 81"/>
          <p:cNvCxnSpPr/>
          <p:nvPr/>
        </p:nvCxnSpPr>
        <p:spPr>
          <a:xfrm flipV="1">
            <a:off x="10378440" y="3464475"/>
            <a:ext cx="238844" cy="238845"/>
          </a:xfrm>
          <a:prstGeom prst="line">
            <a:avLst/>
          </a:prstGeom>
          <a:ln w="952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617284" y="3464475"/>
            <a:ext cx="675556" cy="0"/>
          </a:xfrm>
          <a:prstGeom prst="line">
            <a:avLst/>
          </a:prstGeom>
          <a:ln w="952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10617284" y="2788920"/>
            <a:ext cx="0" cy="675555"/>
          </a:xfrm>
          <a:prstGeom prst="line">
            <a:avLst/>
          </a:prstGeom>
          <a:ln w="952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10378440" y="3703320"/>
            <a:ext cx="675555" cy="0"/>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10378440" y="3027764"/>
            <a:ext cx="0" cy="675556"/>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11053995" y="3027764"/>
            <a:ext cx="0" cy="675556"/>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1053995" y="3464475"/>
            <a:ext cx="238845" cy="238845"/>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H="1">
            <a:off x="10378440" y="3027764"/>
            <a:ext cx="675555" cy="0"/>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1053995" y="2788920"/>
            <a:ext cx="238845" cy="238844"/>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10378440" y="2788920"/>
            <a:ext cx="238844" cy="238844"/>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11292840" y="2788920"/>
            <a:ext cx="0" cy="675555"/>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H="1">
            <a:off x="10617284" y="2788920"/>
            <a:ext cx="675556" cy="0"/>
          </a:xfrm>
          <a:prstGeom prst="line">
            <a:avLst/>
          </a:prstGeom>
          <a:ln w="14604"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10698480" y="3820160"/>
            <a:ext cx="274320" cy="406400"/>
          </a:xfrm>
          <a:prstGeom prst="rect">
            <a:avLst/>
          </a:prstGeom>
          <a:noFill/>
        </p:spPr>
        <p:txBody>
          <a:bodyPr wrap="none" lIns="0" rIns="0" tIns="0" bIns="0" anchor="ctr">
            <a:spAutoFit/>
          </a:bodyPr>
          <a:lstStyle/>
          <a:p>
            <a:pPr algn="ctr"/>
            <a:r>
              <a:rPr sz="2000" b="1" i="0">
                <a:solidFill>
                  <a:srgbClr val="007A5A"/>
                </a:solidFill>
                <a:latin typeface="PT Sans"/>
              </a:rPr>
              <a:t>6</a:t>
            </a:r>
          </a:p>
        </p:txBody>
      </p:sp>
      <p:sp>
        <p:nvSpPr>
          <p:cNvPr id="95" name="TextBox 94"/>
          <p:cNvSpPr txBox="1"/>
          <p:nvPr/>
        </p:nvSpPr>
        <p:spPr>
          <a:xfrm>
            <a:off x="8915400" y="3820160"/>
            <a:ext cx="274320" cy="406400"/>
          </a:xfrm>
          <a:prstGeom prst="rect">
            <a:avLst/>
          </a:prstGeom>
          <a:noFill/>
        </p:spPr>
        <p:txBody>
          <a:bodyPr wrap="none" lIns="0" rIns="0" tIns="0" bIns="0" anchor="ctr">
            <a:spAutoFit/>
          </a:bodyPr>
          <a:lstStyle/>
          <a:p>
            <a:pPr algn="ctr"/>
            <a:r>
              <a:rPr sz="2000" b="1" i="0">
                <a:solidFill>
                  <a:srgbClr val="1F2430"/>
                </a:solidFill>
                <a:latin typeface="PT Sans"/>
              </a:rPr>
              <a:t>+</a:t>
            </a:r>
          </a:p>
        </p:txBody>
      </p:sp>
      <p:sp>
        <p:nvSpPr>
          <p:cNvPr id="96" name="TextBox 95"/>
          <p:cNvSpPr txBox="1"/>
          <p:nvPr/>
        </p:nvSpPr>
        <p:spPr>
          <a:xfrm>
            <a:off x="10104120" y="3820160"/>
            <a:ext cx="274320" cy="406400"/>
          </a:xfrm>
          <a:prstGeom prst="rect">
            <a:avLst/>
          </a:prstGeom>
          <a:noFill/>
        </p:spPr>
        <p:txBody>
          <a:bodyPr wrap="none" lIns="0" rIns="0" tIns="0" bIns="0" anchor="ctr">
            <a:spAutoFit/>
          </a:bodyPr>
          <a:lstStyle/>
          <a:p>
            <a:pPr algn="ctr"/>
            <a:r>
              <a:rPr sz="2000" b="1" i="0">
                <a:solidFill>
                  <a:srgbClr val="1F2430"/>
                </a:solidFill>
                <a:latin typeface="PT Sans"/>
              </a:rPr>
              <a:t>+</a:t>
            </a:r>
          </a:p>
        </p:txBody>
      </p:sp>
      <p:sp>
        <p:nvSpPr>
          <p:cNvPr id="97" name="TextBox 96"/>
          <p:cNvSpPr txBox="1"/>
          <p:nvPr/>
        </p:nvSpPr>
        <p:spPr>
          <a:xfrm>
            <a:off x="8503920" y="4394200"/>
            <a:ext cx="2286000" cy="447040"/>
          </a:xfrm>
          <a:prstGeom prst="rect">
            <a:avLst/>
          </a:prstGeom>
          <a:noFill/>
        </p:spPr>
        <p:txBody>
          <a:bodyPr wrap="none" lIns="0" rIns="0" tIns="0" bIns="0" anchor="ctr">
            <a:spAutoFit/>
          </a:bodyPr>
          <a:lstStyle/>
          <a:p>
            <a:pPr algn="ctr"/>
            <a:r>
              <a:rPr sz="2200" b="1" i="0">
                <a:solidFill>
                  <a:srgbClr val="24418C"/>
                </a:solidFill>
                <a:latin typeface="PT Sans"/>
              </a:rPr>
              <a:t>= 18 бет</a:t>
            </a:r>
          </a:p>
        </p:txBody>
      </p:sp>
      <p:sp>
        <p:nvSpPr>
          <p:cNvPr id="98" name="TextBox 97"/>
          <p:cNvSpPr txBox="1"/>
          <p:nvPr/>
        </p:nvSpPr>
        <p:spPr>
          <a:xfrm>
            <a:off x="429768" y="5623560"/>
            <a:ext cx="11329416" cy="457200"/>
          </a:xfrm>
          <a:prstGeom prst="rect">
            <a:avLst/>
          </a:prstGeom>
          <a:noFill/>
        </p:spPr>
        <p:txBody>
          <a:bodyPr wrap="square" anchor="t" lIns="45720" rIns="45720" tIns="27432" bIns="27432">
            <a:spAutoFit/>
          </a:bodyPr>
          <a:lstStyle/>
          <a:p>
            <a:pPr algn="ctr">
              <a:lnSpc>
                <a:spcPct val="105000"/>
              </a:lnSpc>
            </a:pPr>
            <a:r>
              <a:rPr sz="2200" b="1" i="0">
                <a:solidFill>
                  <a:srgbClr val="24418C"/>
                </a:solidFill>
                <a:latin typeface="PT Sans"/>
              </a:rPr>
              <a:t>1 кубик = 6 бет;   3 кубик: 6 + 6 + 6 = 18</a:t>
            </a:r>
          </a:p>
        </p:txBody>
      </p:sp>
      <p:sp>
        <p:nvSpPr>
          <p:cNvPr id="99" name="Rounded Rectangle 98"/>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100" name="Rounded Rectangle 99"/>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101" name="Rounded Rectangle 100"/>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
        <p:nvSpPr>
          <p:cNvPr id="102" name="Rounded Rectangle 101"/>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А: эреже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13/26</a:t>
            </a:r>
          </a:p>
        </p:txBody>
      </p:sp>
      <p:sp>
        <p:nvSpPr>
          <p:cNvPr id="10" name="Rounded Rectangle 9"/>
          <p:cNvSpPr/>
          <p:nvPr/>
        </p:nvSpPr>
        <p:spPr>
          <a:xfrm>
            <a:off x="429768"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23035"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1</a:t>
            </a:r>
          </a:p>
        </p:txBody>
      </p:sp>
      <p:sp>
        <p:nvSpPr>
          <p:cNvPr id="12" name="TextBox 11"/>
          <p:cNvSpPr txBox="1"/>
          <p:nvPr/>
        </p:nvSpPr>
        <p:spPr>
          <a:xfrm>
            <a:off x="521207"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Жак, чоку</a:t>
            </a:r>
          </a:p>
        </p:txBody>
      </p:sp>
      <p:sp>
        <p:nvSpPr>
          <p:cNvPr id="13" name="TextBox 12"/>
          <p:cNvSpPr txBox="1"/>
          <p:nvPr/>
        </p:nvSpPr>
        <p:spPr>
          <a:xfrm>
            <a:off x="521207"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Тегиз фигура</a:t>
            </a:r>
          </a:p>
        </p:txBody>
      </p:sp>
      <p:sp>
        <p:nvSpPr>
          <p:cNvPr id="14" name="TextBox 13"/>
          <p:cNvSpPr txBox="1"/>
          <p:nvPr/>
        </p:nvSpPr>
        <p:spPr>
          <a:xfrm>
            <a:off x="566928"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Белгилеп сана, эки жолу эмес</a:t>
            </a:r>
          </a:p>
        </p:txBody>
      </p:sp>
      <p:cxnSp>
        <p:nvCxnSpPr>
          <p:cNvPr id="15" name="Connector 14"/>
          <p:cNvCxnSpPr/>
          <p:nvPr/>
        </p:nvCxnSpPr>
        <p:spPr>
          <a:xfrm>
            <a:off x="3056382"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330702"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323969"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2</a:t>
            </a:r>
          </a:p>
        </p:txBody>
      </p:sp>
      <p:sp>
        <p:nvSpPr>
          <p:cNvPr id="18" name="TextBox 17"/>
          <p:cNvSpPr txBox="1"/>
          <p:nvPr/>
        </p:nvSpPr>
        <p:spPr>
          <a:xfrm>
            <a:off x="3422142"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Тик бурч</a:t>
            </a:r>
          </a:p>
        </p:txBody>
      </p:sp>
      <p:sp>
        <p:nvSpPr>
          <p:cNvPr id="19" name="TextBox 18"/>
          <p:cNvSpPr txBox="1"/>
          <p:nvPr/>
        </p:nvSpPr>
        <p:spPr>
          <a:xfrm>
            <a:off x="3422142"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Бурчту текшер</a:t>
            </a:r>
          </a:p>
        </p:txBody>
      </p:sp>
      <p:sp>
        <p:nvSpPr>
          <p:cNvPr id="20" name="TextBox 19"/>
          <p:cNvSpPr txBox="1"/>
          <p:nvPr/>
        </p:nvSpPr>
        <p:spPr>
          <a:xfrm>
            <a:off x="3467862"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Бүктөлгөн кагаз менен</a:t>
            </a:r>
          </a:p>
        </p:txBody>
      </p:sp>
      <p:cxnSp>
        <p:nvCxnSpPr>
          <p:cNvPr id="21" name="Connector 20"/>
          <p:cNvCxnSpPr/>
          <p:nvPr/>
        </p:nvCxnSpPr>
        <p:spPr>
          <a:xfrm>
            <a:off x="5957316"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31636"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24902"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3</a:t>
            </a:r>
          </a:p>
        </p:txBody>
      </p:sp>
      <p:sp>
        <p:nvSpPr>
          <p:cNvPr id="24" name="TextBox 23"/>
          <p:cNvSpPr txBox="1"/>
          <p:nvPr/>
        </p:nvSpPr>
        <p:spPr>
          <a:xfrm>
            <a:off x="6323075"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Бет, кыр</a:t>
            </a:r>
          </a:p>
        </p:txBody>
      </p:sp>
      <p:sp>
        <p:nvSpPr>
          <p:cNvPr id="25" name="TextBox 24"/>
          <p:cNvSpPr txBox="1"/>
          <p:nvPr/>
        </p:nvSpPr>
        <p:spPr>
          <a:xfrm>
            <a:off x="6323075"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Көлөмдүү фигура</a:t>
            </a:r>
          </a:p>
        </p:txBody>
      </p:sp>
      <p:sp>
        <p:nvSpPr>
          <p:cNvPr id="26" name="TextBox 25"/>
          <p:cNvSpPr txBox="1"/>
          <p:nvPr/>
        </p:nvSpPr>
        <p:spPr>
          <a:xfrm>
            <a:off x="6368796"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Көрүнбөгөнүн да сана</a:t>
            </a:r>
          </a:p>
        </p:txBody>
      </p:sp>
      <p:cxnSp>
        <p:nvCxnSpPr>
          <p:cNvPr id="27" name="Connector 26"/>
          <p:cNvCxnSpPr/>
          <p:nvPr/>
        </p:nvCxnSpPr>
        <p:spPr>
          <a:xfrm>
            <a:off x="8858250"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32570"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25837"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4</a:t>
            </a:r>
          </a:p>
        </p:txBody>
      </p:sp>
      <p:sp>
        <p:nvSpPr>
          <p:cNvPr id="30" name="TextBox 29"/>
          <p:cNvSpPr txBox="1"/>
          <p:nvPr/>
        </p:nvSpPr>
        <p:spPr>
          <a:xfrm>
            <a:off x="9224010"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Аты</a:t>
            </a:r>
          </a:p>
        </p:txBody>
      </p:sp>
      <p:sp>
        <p:nvSpPr>
          <p:cNvPr id="31" name="TextBox 30"/>
          <p:cNvSpPr txBox="1"/>
          <p:nvPr/>
        </p:nvSpPr>
        <p:spPr>
          <a:xfrm>
            <a:off x="9224010"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Касиети боюнча ата</a:t>
            </a:r>
          </a:p>
        </p:txBody>
      </p:sp>
      <p:sp>
        <p:nvSpPr>
          <p:cNvPr id="32" name="TextBox 31"/>
          <p:cNvSpPr txBox="1"/>
          <p:nvPr/>
        </p:nvSpPr>
        <p:spPr>
          <a:xfrm>
            <a:off x="9269730"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Бурсак да, аты өзгөрбөйт</a:t>
            </a:r>
          </a:p>
        </p:txBody>
      </p:sp>
      <p:sp>
        <p:nvSpPr>
          <p:cNvPr id="33" name="Rounded Rectangle 32"/>
          <p:cNvSpPr/>
          <p:nvPr/>
        </p:nvSpPr>
        <p:spPr>
          <a:xfrm>
            <a:off x="1874519" y="4709160"/>
            <a:ext cx="8449056" cy="758952"/>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600" b="1">
                <a:solidFill>
                  <a:srgbClr val="A84400"/>
                </a:solidFill>
                <a:latin typeface="PT Sans"/>
              </a:rPr>
              <a:t>Куб: 6 бет, 12 кыр, 8 чоку</a:t>
            </a:r>
          </a:p>
        </p:txBody>
      </p: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1: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14/26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Асан ата пирамида жасады (асты квадрат). Анын беттери, кырлары, чокулары канча?</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Беттер = 1 + 4 = 5</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асты + капталы</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Кырлар = 4 + 4 = 8</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асты + капталы</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Чокулар = 4 + 1 = 5</a:t>
            </a:r>
          </a:p>
        </p:txBody>
      </p:sp>
      <p:sp>
        <p:nvSpPr>
          <p:cNvPr id="17" name="TextBox 16"/>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асты + төбөсү</a:t>
            </a:r>
          </a:p>
        </p:txBody>
      </p:sp>
      <p:sp>
        <p:nvSpPr>
          <p:cNvPr id="18" name="TextBox 17"/>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Пирамида = </a:t>
            </a:r>
            <a:r>
              <a:rPr sz="3400" b="1">
                <a:solidFill>
                  <a:srgbClr val="24418C"/>
                </a:solidFill>
                <a:latin typeface="PT Sans"/>
              </a:rPr>
              <a:t>5 бет, 8 кыр, 5 чоку</a:t>
            </a:r>
          </a:p>
        </p:txBody>
      </p:sp>
      <p:sp>
        <p:nvSpPr>
          <p:cNvPr id="19" name="g2fig"/>
          <p:cNvSpPr/>
          <p:nvPr/>
        </p:nvSpPr>
        <p:spPr>
          <a:xfrm>
            <a:off x="1280160" y="2704531"/>
            <a:ext cx="1553777" cy="1906138"/>
          </a:xfrm>
          <a:custGeom>
            <a:avLst/>
            <a:gdLst/>
            <a:ahLst/>
            <a:cxnLst/>
            <a:rect l="l" t="t" r="r" b="b"/>
            <a:pathLst>
              <a:path w="1553777" h="1906138">
                <a:moveTo>
                  <a:pt x="0" y="1906138"/>
                </a:moveTo>
                <a:lnTo>
                  <a:pt x="1553777" y="1906138"/>
                </a:lnTo>
                <a:lnTo>
                  <a:pt x="1051560" y="0"/>
                </a:lnTo>
                <a:close/>
              </a:path>
            </a:pathLst>
          </a:custGeom>
          <a:solidFill>
            <a:srgbClr val="E6EBF7"/>
          </a:solidFill>
          <a:ln w="13436"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g2fig"/>
          <p:cNvSpPr/>
          <p:nvPr/>
        </p:nvSpPr>
        <p:spPr>
          <a:xfrm>
            <a:off x="2331720" y="2704531"/>
            <a:ext cx="1051560" cy="1906138"/>
          </a:xfrm>
          <a:custGeom>
            <a:avLst/>
            <a:gdLst/>
            <a:ahLst/>
            <a:cxnLst/>
            <a:rect l="l" t="t" r="r" b="b"/>
            <a:pathLst>
              <a:path w="1051560" h="1906138">
                <a:moveTo>
                  <a:pt x="502217" y="1906138"/>
                </a:moveTo>
                <a:lnTo>
                  <a:pt x="1051560" y="1356795"/>
                </a:lnTo>
                <a:lnTo>
                  <a:pt x="0" y="0"/>
                </a:lnTo>
                <a:close/>
              </a:path>
            </a:pathLst>
          </a:custGeom>
          <a:solidFill>
            <a:srgbClr val="C9D4EE"/>
          </a:solidFill>
          <a:ln w="13436"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g2fig"/>
          <p:cNvCxnSpPr/>
          <p:nvPr/>
        </p:nvCxnSpPr>
        <p:spPr>
          <a:xfrm flipV="1">
            <a:off x="1280160" y="4061325"/>
            <a:ext cx="549343" cy="549343"/>
          </a:xfrm>
          <a:prstGeom prst="line">
            <a:avLst/>
          </a:prstGeom>
          <a:ln w="20154"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22" name="g2fig"/>
          <p:cNvCxnSpPr/>
          <p:nvPr/>
        </p:nvCxnSpPr>
        <p:spPr>
          <a:xfrm flipH="1">
            <a:off x="1829503" y="4061325"/>
            <a:ext cx="1553776" cy="0"/>
          </a:xfrm>
          <a:prstGeom prst="line">
            <a:avLst/>
          </a:prstGeom>
          <a:ln w="20154"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23" name="g2fig"/>
          <p:cNvCxnSpPr/>
          <p:nvPr/>
        </p:nvCxnSpPr>
        <p:spPr>
          <a:xfrm flipV="1">
            <a:off x="1829503" y="2704531"/>
            <a:ext cx="502217" cy="1356794"/>
          </a:xfrm>
          <a:prstGeom prst="line">
            <a:avLst/>
          </a:prstGeom>
          <a:ln w="20154"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24" name="g2fig"/>
          <p:cNvCxnSpPr/>
          <p:nvPr/>
        </p:nvCxnSpPr>
        <p:spPr>
          <a:xfrm>
            <a:off x="1280160" y="4610668"/>
            <a:ext cx="1553776" cy="0"/>
          </a:xfrm>
          <a:prstGeom prst="line">
            <a:avLst/>
          </a:prstGeom>
          <a:ln w="33591"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5" name="g2fig"/>
          <p:cNvCxnSpPr/>
          <p:nvPr/>
        </p:nvCxnSpPr>
        <p:spPr>
          <a:xfrm flipV="1">
            <a:off x="1280160" y="2704531"/>
            <a:ext cx="1051560" cy="1906137"/>
          </a:xfrm>
          <a:prstGeom prst="line">
            <a:avLst/>
          </a:prstGeom>
          <a:ln w="33591"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6" name="g2fig"/>
          <p:cNvCxnSpPr/>
          <p:nvPr/>
        </p:nvCxnSpPr>
        <p:spPr>
          <a:xfrm flipV="1">
            <a:off x="2833936" y="4061325"/>
            <a:ext cx="549343" cy="549343"/>
          </a:xfrm>
          <a:prstGeom prst="line">
            <a:avLst/>
          </a:prstGeom>
          <a:ln w="33591"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7" name="g2fig"/>
          <p:cNvCxnSpPr/>
          <p:nvPr/>
        </p:nvCxnSpPr>
        <p:spPr>
          <a:xfrm flipH="1" flipV="1">
            <a:off x="2331720" y="2704531"/>
            <a:ext cx="502216" cy="1906137"/>
          </a:xfrm>
          <a:prstGeom prst="line">
            <a:avLst/>
          </a:prstGeom>
          <a:ln w="33591"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8" name="g2fig"/>
          <p:cNvCxnSpPr/>
          <p:nvPr/>
        </p:nvCxnSpPr>
        <p:spPr>
          <a:xfrm flipH="1" flipV="1">
            <a:off x="2331720" y="2704531"/>
            <a:ext cx="1051559" cy="1356794"/>
          </a:xfrm>
          <a:prstGeom prst="line">
            <a:avLst/>
          </a:prstGeom>
          <a:ln w="33591"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29" name="g2fig"/>
          <p:cNvSpPr/>
          <p:nvPr/>
        </p:nvSpPr>
        <p:spPr>
          <a:xfrm>
            <a:off x="1206550" y="4537059"/>
            <a:ext cx="147218" cy="147218"/>
          </a:xfrm>
          <a:prstGeom prst="ellipse">
            <a:avLst/>
          </a:prstGeom>
          <a:solidFill>
            <a:srgbClr val="A84400"/>
          </a:solidFill>
          <a:ln w="127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g2fig"/>
          <p:cNvSpPr/>
          <p:nvPr/>
        </p:nvSpPr>
        <p:spPr>
          <a:xfrm>
            <a:off x="2760327" y="4537059"/>
            <a:ext cx="147218" cy="147218"/>
          </a:xfrm>
          <a:prstGeom prst="ellipse">
            <a:avLst/>
          </a:prstGeom>
          <a:solidFill>
            <a:srgbClr val="A84400"/>
          </a:solidFill>
          <a:ln w="127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g2fig"/>
          <p:cNvSpPr/>
          <p:nvPr/>
        </p:nvSpPr>
        <p:spPr>
          <a:xfrm>
            <a:off x="3309670" y="3987716"/>
            <a:ext cx="147218" cy="147218"/>
          </a:xfrm>
          <a:prstGeom prst="ellipse">
            <a:avLst/>
          </a:prstGeom>
          <a:solidFill>
            <a:srgbClr val="A84400"/>
          </a:solidFill>
          <a:ln w="127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g2fig"/>
          <p:cNvSpPr/>
          <p:nvPr/>
        </p:nvSpPr>
        <p:spPr>
          <a:xfrm>
            <a:off x="1755893" y="3987716"/>
            <a:ext cx="147218" cy="147218"/>
          </a:xfrm>
          <a:prstGeom prst="ellipse">
            <a:avLst/>
          </a:prstGeom>
          <a:solidFill>
            <a:srgbClr val="FFFFFF"/>
          </a:solidFill>
          <a:ln w="127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g2fig"/>
          <p:cNvSpPr/>
          <p:nvPr/>
        </p:nvSpPr>
        <p:spPr>
          <a:xfrm>
            <a:off x="2258110" y="2630922"/>
            <a:ext cx="147218" cy="147218"/>
          </a:xfrm>
          <a:prstGeom prst="ellipse">
            <a:avLst/>
          </a:prstGeom>
          <a:solidFill>
            <a:srgbClr val="A84400"/>
          </a:solidFill>
          <a:ln w="127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2: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15/26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Айбек таякчалардан 2 үч бурчтук жана 1 квадрат курду. Канча таякча керек болду?</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3 + 3 + 4</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2 үч бурчтук + квадрат</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 6 + 4</a:t>
            </a:r>
          </a:p>
        </p:txBody>
      </p:sp>
      <p:sp>
        <p:nvSpPr>
          <p:cNvPr id="15" name="TextBox 14"/>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 10</a:t>
            </a:r>
          </a:p>
        </p:txBody>
      </p:sp>
      <p:sp>
        <p:nvSpPr>
          <p:cNvPr id="16" name="TextBox 15"/>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таякча</a:t>
            </a:r>
          </a:p>
        </p:txBody>
      </p:sp>
      <p:sp>
        <p:nvSpPr>
          <p:cNvPr id="17" name="TextBox 16"/>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Таякча = </a:t>
            </a:r>
            <a:r>
              <a:rPr sz="3400" b="1">
                <a:solidFill>
                  <a:srgbClr val="24418C"/>
                </a:solidFill>
                <a:latin typeface="PT Sans"/>
              </a:rPr>
              <a:t>10</a:t>
            </a:r>
          </a:p>
        </p:txBody>
      </p:sp>
      <p:cxnSp>
        <p:nvCxnSpPr>
          <p:cNvPr id="18" name="g2fig"/>
          <p:cNvCxnSpPr/>
          <p:nvPr/>
        </p:nvCxnSpPr>
        <p:spPr>
          <a:xfrm>
            <a:off x="1325880" y="3116961"/>
            <a:ext cx="571500" cy="989838"/>
          </a:xfrm>
          <a:prstGeom prst="line">
            <a:avLst/>
          </a:prstGeom>
          <a:ln w="44704"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19" name="g2fig"/>
          <p:cNvCxnSpPr/>
          <p:nvPr/>
        </p:nvCxnSpPr>
        <p:spPr>
          <a:xfrm flipH="1">
            <a:off x="754380" y="4106799"/>
            <a:ext cx="1143000" cy="0"/>
          </a:xfrm>
          <a:prstGeom prst="line">
            <a:avLst/>
          </a:prstGeom>
          <a:ln w="44704"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20" name="g2fig"/>
          <p:cNvCxnSpPr/>
          <p:nvPr/>
        </p:nvCxnSpPr>
        <p:spPr>
          <a:xfrm flipV="1">
            <a:off x="754380" y="3116961"/>
            <a:ext cx="571500" cy="989838"/>
          </a:xfrm>
          <a:prstGeom prst="line">
            <a:avLst/>
          </a:prstGeom>
          <a:ln w="44704" cap="rnd">
            <a:solidFill>
              <a:srgbClr val="B07A4A"/>
            </a:solidFill>
          </a:ln>
        </p:spPr>
        <p:style>
          <a:lnRef idx="2">
            <a:schemeClr val="accent1"/>
          </a:lnRef>
          <a:fillRef idx="0">
            <a:schemeClr val="accent1"/>
          </a:fillRef>
          <a:effectRef idx="1">
            <a:schemeClr val="accent1"/>
          </a:effectRef>
          <a:fontRef idx="minor">
            <a:schemeClr val="tx1"/>
          </a:fontRef>
        </p:style>
      </p:cxnSp>
      <p:sp>
        <p:nvSpPr>
          <p:cNvPr id="21" name="g2fig"/>
          <p:cNvSpPr/>
          <p:nvPr/>
        </p:nvSpPr>
        <p:spPr>
          <a:xfrm>
            <a:off x="1270558" y="3061639"/>
            <a:ext cx="110642" cy="110642"/>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g2fig"/>
          <p:cNvSpPr/>
          <p:nvPr/>
        </p:nvSpPr>
        <p:spPr>
          <a:xfrm>
            <a:off x="1842058" y="4051477"/>
            <a:ext cx="110642" cy="110642"/>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g2fig"/>
          <p:cNvSpPr/>
          <p:nvPr/>
        </p:nvSpPr>
        <p:spPr>
          <a:xfrm>
            <a:off x="699058" y="4051477"/>
            <a:ext cx="110642" cy="110642"/>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g2fig"/>
          <p:cNvCxnSpPr/>
          <p:nvPr/>
        </p:nvCxnSpPr>
        <p:spPr>
          <a:xfrm>
            <a:off x="2697480" y="3116961"/>
            <a:ext cx="571500" cy="989838"/>
          </a:xfrm>
          <a:prstGeom prst="line">
            <a:avLst/>
          </a:prstGeom>
          <a:ln w="44704"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25" name="g2fig"/>
          <p:cNvCxnSpPr/>
          <p:nvPr/>
        </p:nvCxnSpPr>
        <p:spPr>
          <a:xfrm flipH="1">
            <a:off x="2125980" y="4106799"/>
            <a:ext cx="1143000" cy="0"/>
          </a:xfrm>
          <a:prstGeom prst="line">
            <a:avLst/>
          </a:prstGeom>
          <a:ln w="44704"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26" name="g2fig"/>
          <p:cNvCxnSpPr/>
          <p:nvPr/>
        </p:nvCxnSpPr>
        <p:spPr>
          <a:xfrm flipV="1">
            <a:off x="2125980" y="3116961"/>
            <a:ext cx="571500" cy="989838"/>
          </a:xfrm>
          <a:prstGeom prst="line">
            <a:avLst/>
          </a:prstGeom>
          <a:ln w="44704" cap="rnd">
            <a:solidFill>
              <a:srgbClr val="B07A4A"/>
            </a:solidFill>
          </a:ln>
        </p:spPr>
        <p:style>
          <a:lnRef idx="2">
            <a:schemeClr val="accent1"/>
          </a:lnRef>
          <a:fillRef idx="0">
            <a:schemeClr val="accent1"/>
          </a:fillRef>
          <a:effectRef idx="1">
            <a:schemeClr val="accent1"/>
          </a:effectRef>
          <a:fontRef idx="minor">
            <a:schemeClr val="tx1"/>
          </a:fontRef>
        </p:style>
      </p:cxnSp>
      <p:sp>
        <p:nvSpPr>
          <p:cNvPr id="27" name="g2fig"/>
          <p:cNvSpPr/>
          <p:nvPr/>
        </p:nvSpPr>
        <p:spPr>
          <a:xfrm>
            <a:off x="2642158" y="3061639"/>
            <a:ext cx="110642" cy="110642"/>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g2fig"/>
          <p:cNvSpPr/>
          <p:nvPr/>
        </p:nvSpPr>
        <p:spPr>
          <a:xfrm>
            <a:off x="3213658" y="4051477"/>
            <a:ext cx="110642" cy="110642"/>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g2fig"/>
          <p:cNvSpPr/>
          <p:nvPr/>
        </p:nvSpPr>
        <p:spPr>
          <a:xfrm>
            <a:off x="2070658" y="4051477"/>
            <a:ext cx="110642" cy="110642"/>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g2fig"/>
          <p:cNvCxnSpPr/>
          <p:nvPr/>
        </p:nvCxnSpPr>
        <p:spPr>
          <a:xfrm>
            <a:off x="3543300" y="3131820"/>
            <a:ext cx="960120" cy="0"/>
          </a:xfrm>
          <a:prstGeom prst="line">
            <a:avLst/>
          </a:prstGeom>
          <a:ln w="42672"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31" name="g2fig"/>
          <p:cNvCxnSpPr/>
          <p:nvPr/>
        </p:nvCxnSpPr>
        <p:spPr>
          <a:xfrm>
            <a:off x="4503420" y="3131820"/>
            <a:ext cx="0" cy="960120"/>
          </a:xfrm>
          <a:prstGeom prst="line">
            <a:avLst/>
          </a:prstGeom>
          <a:ln w="42672"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32" name="g2fig"/>
          <p:cNvCxnSpPr/>
          <p:nvPr/>
        </p:nvCxnSpPr>
        <p:spPr>
          <a:xfrm flipH="1">
            <a:off x="3543300" y="4091940"/>
            <a:ext cx="960120" cy="0"/>
          </a:xfrm>
          <a:prstGeom prst="line">
            <a:avLst/>
          </a:prstGeom>
          <a:ln w="42672" cap="rnd">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33" name="g2fig"/>
          <p:cNvCxnSpPr/>
          <p:nvPr/>
        </p:nvCxnSpPr>
        <p:spPr>
          <a:xfrm flipV="1">
            <a:off x="3543300" y="3131820"/>
            <a:ext cx="0" cy="960120"/>
          </a:xfrm>
          <a:prstGeom prst="line">
            <a:avLst/>
          </a:prstGeom>
          <a:ln w="42672" cap="rnd">
            <a:solidFill>
              <a:srgbClr val="B07A4A"/>
            </a:solidFill>
          </a:ln>
        </p:spPr>
        <p:style>
          <a:lnRef idx="2">
            <a:schemeClr val="accent1"/>
          </a:lnRef>
          <a:fillRef idx="0">
            <a:schemeClr val="accent1"/>
          </a:fillRef>
          <a:effectRef idx="1">
            <a:schemeClr val="accent1"/>
          </a:effectRef>
          <a:fontRef idx="minor">
            <a:schemeClr val="tx1"/>
          </a:fontRef>
        </p:style>
      </p:cxnSp>
      <p:sp>
        <p:nvSpPr>
          <p:cNvPr id="34" name="g2fig"/>
          <p:cNvSpPr/>
          <p:nvPr/>
        </p:nvSpPr>
        <p:spPr>
          <a:xfrm>
            <a:off x="3490493" y="3079013"/>
            <a:ext cx="105613" cy="105613"/>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g2fig"/>
          <p:cNvSpPr/>
          <p:nvPr/>
        </p:nvSpPr>
        <p:spPr>
          <a:xfrm>
            <a:off x="4450613" y="3079013"/>
            <a:ext cx="105613" cy="105613"/>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g2fig"/>
          <p:cNvSpPr/>
          <p:nvPr/>
        </p:nvSpPr>
        <p:spPr>
          <a:xfrm>
            <a:off x="4450613" y="4039133"/>
            <a:ext cx="105613" cy="105613"/>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g2fig"/>
          <p:cNvSpPr/>
          <p:nvPr/>
        </p:nvSpPr>
        <p:spPr>
          <a:xfrm>
            <a:off x="3490493" y="4039133"/>
            <a:ext cx="105613" cy="105613"/>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ыкма: санабай эле тап</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16/26</a:t>
            </a:r>
          </a:p>
        </p:txBody>
      </p:sp>
      <p:sp>
        <p:nvSpPr>
          <p:cNvPr id="10" name="Rounded Rectangle 9"/>
          <p:cNvSpPr/>
          <p:nvPr/>
        </p:nvSpPr>
        <p:spPr>
          <a:xfrm>
            <a:off x="429768"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12647"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07007"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Жуп-жуп сана</a:t>
            </a:r>
          </a:p>
        </p:txBody>
      </p:sp>
      <p:sp>
        <p:nvSpPr>
          <p:cNvPr id="13" name="TextBox 12"/>
          <p:cNvSpPr txBox="1"/>
          <p:nvPr/>
        </p:nvSpPr>
        <p:spPr>
          <a:xfrm>
            <a:off x="658368" y="2194560"/>
            <a:ext cx="3136392" cy="457200"/>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Кубдун беттери:</a:t>
            </a:r>
          </a:p>
        </p:txBody>
      </p:sp>
      <p:sp>
        <p:nvSpPr>
          <p:cNvPr id="14" name="TextBox 13"/>
          <p:cNvSpPr txBox="1"/>
          <p:nvPr/>
        </p:nvSpPr>
        <p:spPr>
          <a:xfrm>
            <a:off x="658368" y="2651760"/>
            <a:ext cx="3136392" cy="457200"/>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алды, арты: 2</a:t>
            </a:r>
          </a:p>
        </p:txBody>
      </p:sp>
      <p:sp>
        <p:nvSpPr>
          <p:cNvPr id="15" name="TextBox 14"/>
          <p:cNvSpPr txBox="1"/>
          <p:nvPr/>
        </p:nvSpPr>
        <p:spPr>
          <a:xfrm>
            <a:off x="658368" y="3108960"/>
            <a:ext cx="3136392" cy="457200"/>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үстү, асты: 2</a:t>
            </a:r>
          </a:p>
        </p:txBody>
      </p:sp>
      <p:sp>
        <p:nvSpPr>
          <p:cNvPr id="16" name="TextBox 15"/>
          <p:cNvSpPr txBox="1"/>
          <p:nvPr/>
        </p:nvSpPr>
        <p:spPr>
          <a:xfrm>
            <a:off x="658368" y="3566160"/>
            <a:ext cx="3136392" cy="457200"/>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оң, сол: 2</a:t>
            </a:r>
          </a:p>
        </p:txBody>
      </p:sp>
      <p:sp>
        <p:nvSpPr>
          <p:cNvPr id="17" name="TextBox 16"/>
          <p:cNvSpPr txBox="1"/>
          <p:nvPr/>
        </p:nvSpPr>
        <p:spPr>
          <a:xfrm>
            <a:off x="658368" y="4023360"/>
            <a:ext cx="3136392" cy="457200"/>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2 + 2 + 2 = 6</a:t>
            </a:r>
          </a:p>
        </p:txBody>
      </p:sp>
      <p:sp>
        <p:nvSpPr>
          <p:cNvPr id="18" name="TextBox 17"/>
          <p:cNvSpPr txBox="1"/>
          <p:nvPr/>
        </p:nvSpPr>
        <p:spPr>
          <a:xfrm>
            <a:off x="658368"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Беттерди жуп менен санайбыз.</a:t>
            </a:r>
          </a:p>
        </p:txBody>
      </p:sp>
      <p:sp>
        <p:nvSpPr>
          <p:cNvPr id="19" name="Rounded Rectangle 18"/>
          <p:cNvSpPr/>
          <p:nvPr/>
        </p:nvSpPr>
        <p:spPr>
          <a:xfrm>
            <a:off x="4297680"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480560"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21" name="TextBox 20"/>
          <p:cNvSpPr txBox="1"/>
          <p:nvPr/>
        </p:nvSpPr>
        <p:spPr>
          <a:xfrm>
            <a:off x="5074920"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Кабат-кабат</a:t>
            </a:r>
          </a:p>
        </p:txBody>
      </p:sp>
      <p:sp>
        <p:nvSpPr>
          <p:cNvPr id="22" name="TextBox 21"/>
          <p:cNvSpPr txBox="1"/>
          <p:nvPr/>
        </p:nvSpPr>
        <p:spPr>
          <a:xfrm>
            <a:off x="4526280" y="2194560"/>
            <a:ext cx="3136392" cy="457200"/>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Кубдун кырлары:</a:t>
            </a:r>
          </a:p>
        </p:txBody>
      </p:sp>
      <p:sp>
        <p:nvSpPr>
          <p:cNvPr id="23" name="TextBox 22"/>
          <p:cNvSpPr txBox="1"/>
          <p:nvPr/>
        </p:nvSpPr>
        <p:spPr>
          <a:xfrm>
            <a:off x="4526280" y="2651760"/>
            <a:ext cx="3136392" cy="457200"/>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үстүндө: 4</a:t>
            </a:r>
          </a:p>
        </p:txBody>
      </p:sp>
      <p:sp>
        <p:nvSpPr>
          <p:cNvPr id="24" name="TextBox 23"/>
          <p:cNvSpPr txBox="1"/>
          <p:nvPr/>
        </p:nvSpPr>
        <p:spPr>
          <a:xfrm>
            <a:off x="4526280" y="3108960"/>
            <a:ext cx="3136392" cy="457200"/>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астында: 4</a:t>
            </a:r>
          </a:p>
        </p:txBody>
      </p:sp>
      <p:sp>
        <p:nvSpPr>
          <p:cNvPr id="25" name="TextBox 24"/>
          <p:cNvSpPr txBox="1"/>
          <p:nvPr/>
        </p:nvSpPr>
        <p:spPr>
          <a:xfrm>
            <a:off x="4526280" y="3566160"/>
            <a:ext cx="3136392" cy="457200"/>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тик: 4</a:t>
            </a:r>
          </a:p>
        </p:txBody>
      </p:sp>
      <p:sp>
        <p:nvSpPr>
          <p:cNvPr id="26" name="TextBox 25"/>
          <p:cNvSpPr txBox="1"/>
          <p:nvPr/>
        </p:nvSpPr>
        <p:spPr>
          <a:xfrm>
            <a:off x="4526280" y="4023360"/>
            <a:ext cx="3136392" cy="457200"/>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4 + 4 + 4 = 12</a:t>
            </a:r>
          </a:p>
        </p:txBody>
      </p:sp>
      <p:sp>
        <p:nvSpPr>
          <p:cNvPr id="27" name="TextBox 26"/>
          <p:cNvSpPr txBox="1"/>
          <p:nvPr/>
        </p:nvSpPr>
        <p:spPr>
          <a:xfrm>
            <a:off x="4526280"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Үстү, асты жана тик кырлар.</a:t>
            </a:r>
          </a:p>
        </p:txBody>
      </p:sp>
      <p:sp>
        <p:nvSpPr>
          <p:cNvPr id="28" name="Rounded Rectangle 27"/>
          <p:cNvSpPr/>
          <p:nvPr/>
        </p:nvSpPr>
        <p:spPr>
          <a:xfrm>
            <a:off x="8165592"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348472"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30" name="TextBox 29"/>
          <p:cNvSpPr txBox="1"/>
          <p:nvPr/>
        </p:nvSpPr>
        <p:spPr>
          <a:xfrm>
            <a:off x="8942832"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Жак = чоку</a:t>
            </a:r>
          </a:p>
        </p:txBody>
      </p:sp>
      <p:sp>
        <p:nvSpPr>
          <p:cNvPr id="31" name="TextBox 30"/>
          <p:cNvSpPr txBox="1"/>
          <p:nvPr/>
        </p:nvSpPr>
        <p:spPr>
          <a:xfrm>
            <a:off x="8394192"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Беш бурчтук:</a:t>
            </a:r>
          </a:p>
        </p:txBody>
      </p:sp>
      <p:sp>
        <p:nvSpPr>
          <p:cNvPr id="32" name="TextBox 31"/>
          <p:cNvSpPr txBox="1"/>
          <p:nvPr/>
        </p:nvSpPr>
        <p:spPr>
          <a:xfrm>
            <a:off x="8394192"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5 жак → 5 чоку</a:t>
            </a:r>
          </a:p>
        </p:txBody>
      </p:sp>
      <p:sp>
        <p:nvSpPr>
          <p:cNvPr id="33" name="TextBox 32"/>
          <p:cNvSpPr txBox="1"/>
          <p:nvPr/>
        </p:nvSpPr>
        <p:spPr>
          <a:xfrm>
            <a:off x="8394192"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Алты бурчтук:</a:t>
            </a:r>
          </a:p>
        </p:txBody>
      </p:sp>
      <p:sp>
        <p:nvSpPr>
          <p:cNvPr id="34" name="TextBox 33"/>
          <p:cNvSpPr txBox="1"/>
          <p:nvPr/>
        </p:nvSpPr>
        <p:spPr>
          <a:xfrm>
            <a:off x="8394192" y="3895344"/>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6 жак → 6 чоку</a:t>
            </a:r>
          </a:p>
        </p:txBody>
      </p:sp>
      <p:sp>
        <p:nvSpPr>
          <p:cNvPr id="35" name="TextBox 34"/>
          <p:cNvSpPr txBox="1"/>
          <p:nvPr/>
        </p:nvSpPr>
        <p:spPr>
          <a:xfrm>
            <a:off x="8394192"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Тегиз фигурада жак менен чоку бирдей.</a:t>
            </a:r>
          </a:p>
        </p:txBody>
      </p:sp>
      <p:sp>
        <p:nvSpPr>
          <p:cNvPr id="36" name="Rounded Rectangle 35"/>
          <p:cNvSpPr/>
          <p:nvPr/>
        </p:nvSpPr>
        <p:spPr>
          <a:xfrm>
            <a:off x="429768" y="5577840"/>
            <a:ext cx="11329416" cy="502920"/>
          </a:xfrm>
          <a:prstGeom prst="roundRect">
            <a:avLst>
              <a:gd name="adj" fmla="val 40000"/>
            </a:avLst>
          </a:prstGeom>
          <a:solidFill>
            <a:srgbClr val="FFFFFF"/>
          </a:solidFill>
          <a:ln w="2222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700" b="1">
                <a:solidFill>
                  <a:srgbClr val="007A5A"/>
                </a:solidFill>
                <a:latin typeface="PT Sans"/>
              </a:rPr>
              <a:t>Ыкмаңды айт: «Мен ... деп санадым».</a:t>
            </a:r>
          </a:p>
        </p:txBody>
      </p:sp>
      <p:sp>
        <p:nvSpPr>
          <p:cNvPr id="37" name="Rounded Rectangle 36"/>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
        <p:nvSpPr>
          <p:cNvPr id="38" name="Rounded Rectangle 37"/>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9" name="Rounded Rectangle 38"/>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40" name="Rounded Rectangle 39"/>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Чечүүчү суроо</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17/26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200" b="0" i="0">
                <a:solidFill>
                  <a:srgbClr val="1F2430"/>
                </a:solidFill>
                <a:latin typeface="PT Sans"/>
              </a:rPr>
              <a:t>Кубдун канча кыры бар? (Кыр – эки бет кошулган сызык.)</a:t>
            </a:r>
          </a:p>
        </p:txBody>
      </p:sp>
      <p:sp>
        <p:nvSpPr>
          <p:cNvPr id="12" name="Rounded Rectangle 11"/>
          <p:cNvSpPr/>
          <p:nvPr/>
        </p:nvSpPr>
        <p:spPr>
          <a:xfrm>
            <a:off x="429768"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04088"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А</a:t>
            </a:r>
          </a:p>
        </p:txBody>
      </p:sp>
      <p:sp>
        <p:nvSpPr>
          <p:cNvPr id="14" name="TextBox 13"/>
          <p:cNvSpPr txBox="1"/>
          <p:nvPr/>
        </p:nvSpPr>
        <p:spPr>
          <a:xfrm>
            <a:off x="1527048"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8</a:t>
            </a:r>
          </a:p>
        </p:txBody>
      </p:sp>
      <p:sp>
        <p:nvSpPr>
          <p:cNvPr id="15" name="Rounded Rectangle 14"/>
          <p:cNvSpPr/>
          <p:nvPr/>
        </p:nvSpPr>
        <p:spPr>
          <a:xfrm>
            <a:off x="6208776"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83096"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Б</a:t>
            </a:r>
          </a:p>
        </p:txBody>
      </p:sp>
      <p:sp>
        <p:nvSpPr>
          <p:cNvPr id="17" name="TextBox 16"/>
          <p:cNvSpPr txBox="1"/>
          <p:nvPr/>
        </p:nvSpPr>
        <p:spPr>
          <a:xfrm>
            <a:off x="7306056"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12</a:t>
            </a:r>
          </a:p>
        </p:txBody>
      </p:sp>
      <p:sp>
        <p:nvSpPr>
          <p:cNvPr id="18" name="Rounded Rectangle 17"/>
          <p:cNvSpPr/>
          <p:nvPr/>
        </p:nvSpPr>
        <p:spPr>
          <a:xfrm>
            <a:off x="429768"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4088"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В</a:t>
            </a:r>
          </a:p>
        </p:txBody>
      </p:sp>
      <p:sp>
        <p:nvSpPr>
          <p:cNvPr id="20" name="TextBox 19"/>
          <p:cNvSpPr txBox="1"/>
          <p:nvPr/>
        </p:nvSpPr>
        <p:spPr>
          <a:xfrm>
            <a:off x="1527048"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9</a:t>
            </a:r>
          </a:p>
        </p:txBody>
      </p:sp>
      <p:sp>
        <p:nvSpPr>
          <p:cNvPr id="21" name="Rounded Rectangle 20"/>
          <p:cNvSpPr/>
          <p:nvPr/>
        </p:nvSpPr>
        <p:spPr>
          <a:xfrm>
            <a:off x="6208776"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83096"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Г</a:t>
            </a:r>
          </a:p>
        </p:txBody>
      </p:sp>
      <p:sp>
        <p:nvSpPr>
          <p:cNvPr id="23" name="TextBox 22"/>
          <p:cNvSpPr txBox="1"/>
          <p:nvPr/>
        </p:nvSpPr>
        <p:spPr>
          <a:xfrm>
            <a:off x="7306056"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4</a:t>
            </a:r>
          </a:p>
        </p:txBody>
      </p:sp>
      <p:sp>
        <p:nvSpPr>
          <p:cNvPr id="24" name="Rounded Rectangle 23"/>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
        <p:nvSpPr>
          <p:cNvPr id="25" name="g2fig"/>
          <p:cNvSpPr/>
          <p:nvPr/>
        </p:nvSpPr>
        <p:spPr>
          <a:xfrm>
            <a:off x="11009376" y="1446532"/>
            <a:ext cx="418844" cy="418844"/>
          </a:xfrm>
          <a:custGeom>
            <a:avLst/>
            <a:gdLst/>
            <a:ahLst/>
            <a:cxnLst/>
            <a:rect l="l" t="t" r="r" b="b"/>
            <a:pathLst>
              <a:path w="418844" h="418844">
                <a:moveTo>
                  <a:pt x="0" y="418844"/>
                </a:moveTo>
                <a:lnTo>
                  <a:pt x="418844" y="418844"/>
                </a:lnTo>
                <a:lnTo>
                  <a:pt x="418844" y="0"/>
                </a:lnTo>
                <a:lnTo>
                  <a:pt x="0" y="0"/>
                </a:lnTo>
                <a:close/>
              </a:path>
            </a:pathLst>
          </a:custGeom>
          <a:solidFill>
            <a:srgbClr val="C9D4EE"/>
          </a:solidFill>
          <a:ln w="5080"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g2fig"/>
          <p:cNvSpPr/>
          <p:nvPr/>
        </p:nvSpPr>
        <p:spPr>
          <a:xfrm>
            <a:off x="11009376" y="1298448"/>
            <a:ext cx="566928" cy="148084"/>
          </a:xfrm>
          <a:custGeom>
            <a:avLst/>
            <a:gdLst/>
            <a:ahLst/>
            <a:cxnLst/>
            <a:rect l="l" t="t" r="r" b="b"/>
            <a:pathLst>
              <a:path w="566928" h="148084">
                <a:moveTo>
                  <a:pt x="0" y="148084"/>
                </a:moveTo>
                <a:lnTo>
                  <a:pt x="418844" y="148084"/>
                </a:lnTo>
                <a:lnTo>
                  <a:pt x="566928" y="0"/>
                </a:lnTo>
                <a:lnTo>
                  <a:pt x="148084" y="0"/>
                </a:lnTo>
                <a:close/>
              </a:path>
            </a:pathLst>
          </a:custGeom>
          <a:solidFill>
            <a:srgbClr val="E6EBF7"/>
          </a:solidFill>
          <a:ln w="5080"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g2fig"/>
          <p:cNvSpPr/>
          <p:nvPr/>
        </p:nvSpPr>
        <p:spPr>
          <a:xfrm>
            <a:off x="11428220" y="1298448"/>
            <a:ext cx="148084" cy="566928"/>
          </a:xfrm>
          <a:custGeom>
            <a:avLst/>
            <a:gdLst/>
            <a:ahLst/>
            <a:cxnLst/>
            <a:rect l="l" t="t" r="r" b="b"/>
            <a:pathLst>
              <a:path w="148084" h="566928">
                <a:moveTo>
                  <a:pt x="0" y="566928"/>
                </a:moveTo>
                <a:lnTo>
                  <a:pt x="0" y="148084"/>
                </a:lnTo>
                <a:lnTo>
                  <a:pt x="148084" y="0"/>
                </a:lnTo>
                <a:lnTo>
                  <a:pt x="148084" y="418844"/>
                </a:lnTo>
                <a:close/>
              </a:path>
            </a:pathLst>
          </a:custGeom>
          <a:solidFill>
            <a:srgbClr val="C9D4EE"/>
          </a:solidFill>
          <a:ln w="5080"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g2fig"/>
          <p:cNvCxnSpPr/>
          <p:nvPr/>
        </p:nvCxnSpPr>
        <p:spPr>
          <a:xfrm flipV="1">
            <a:off x="11009376" y="1717292"/>
            <a:ext cx="148083" cy="148084"/>
          </a:xfrm>
          <a:prstGeom prst="line">
            <a:avLst/>
          </a:prstGeom>
          <a:ln w="952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29" name="g2fig"/>
          <p:cNvCxnSpPr/>
          <p:nvPr/>
        </p:nvCxnSpPr>
        <p:spPr>
          <a:xfrm>
            <a:off x="11157459" y="1717292"/>
            <a:ext cx="418844" cy="0"/>
          </a:xfrm>
          <a:prstGeom prst="line">
            <a:avLst/>
          </a:prstGeom>
          <a:ln w="952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30" name="g2fig"/>
          <p:cNvCxnSpPr/>
          <p:nvPr/>
        </p:nvCxnSpPr>
        <p:spPr>
          <a:xfrm flipV="1">
            <a:off x="11157459" y="1298448"/>
            <a:ext cx="0" cy="418844"/>
          </a:xfrm>
          <a:prstGeom prst="line">
            <a:avLst/>
          </a:prstGeom>
          <a:ln w="9525"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31" name="g2fig"/>
          <p:cNvCxnSpPr/>
          <p:nvPr/>
        </p:nvCxnSpPr>
        <p:spPr>
          <a:xfrm>
            <a:off x="11009376" y="1865376"/>
            <a:ext cx="418844" cy="0"/>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2" name="g2fig"/>
          <p:cNvCxnSpPr/>
          <p:nvPr/>
        </p:nvCxnSpPr>
        <p:spPr>
          <a:xfrm flipV="1">
            <a:off x="11009376" y="1446531"/>
            <a:ext cx="0" cy="418845"/>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3" name="g2fig"/>
          <p:cNvCxnSpPr/>
          <p:nvPr/>
        </p:nvCxnSpPr>
        <p:spPr>
          <a:xfrm flipV="1">
            <a:off x="11428220" y="1446531"/>
            <a:ext cx="0" cy="418845"/>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4" name="g2fig"/>
          <p:cNvCxnSpPr/>
          <p:nvPr/>
        </p:nvCxnSpPr>
        <p:spPr>
          <a:xfrm flipV="1">
            <a:off x="11428220" y="1717292"/>
            <a:ext cx="148083" cy="148084"/>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5" name="g2fig"/>
          <p:cNvCxnSpPr/>
          <p:nvPr/>
        </p:nvCxnSpPr>
        <p:spPr>
          <a:xfrm flipH="1">
            <a:off x="11009376" y="1446531"/>
            <a:ext cx="418844" cy="0"/>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6" name="g2fig"/>
          <p:cNvCxnSpPr/>
          <p:nvPr/>
        </p:nvCxnSpPr>
        <p:spPr>
          <a:xfrm flipV="1">
            <a:off x="11428220" y="1298448"/>
            <a:ext cx="148083" cy="148083"/>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7" name="g2fig"/>
          <p:cNvCxnSpPr/>
          <p:nvPr/>
        </p:nvCxnSpPr>
        <p:spPr>
          <a:xfrm flipV="1">
            <a:off x="11009376" y="1298448"/>
            <a:ext cx="148083" cy="148083"/>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8" name="g2fig"/>
          <p:cNvCxnSpPr/>
          <p:nvPr/>
        </p:nvCxnSpPr>
        <p:spPr>
          <a:xfrm flipV="1">
            <a:off x="11576303" y="1298448"/>
            <a:ext cx="0" cy="418844"/>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9" name="g2fig"/>
          <p:cNvCxnSpPr/>
          <p:nvPr/>
        </p:nvCxnSpPr>
        <p:spPr>
          <a:xfrm flipH="1">
            <a:off x="11157459" y="1298448"/>
            <a:ext cx="418844" cy="0"/>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чий, анан эсепте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18/26</a:t>
            </a:r>
          </a:p>
        </p:txBody>
      </p:sp>
      <p:sp>
        <p:nvSpPr>
          <p:cNvPr id="10" name="Rounded Rectangle 9"/>
          <p:cNvSpPr/>
          <p:nvPr/>
        </p:nvSpPr>
        <p:spPr>
          <a:xfrm>
            <a:off x="429768"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Нуриза таякчалардан 1 үч бурчтук жана 1 квадрат курду. Канча таякча колдонду?</a:t>
            </a:r>
          </a:p>
        </p:txBody>
      </p:sp>
      <p:sp>
        <p:nvSpPr>
          <p:cNvPr id="13" name="TextBox 12"/>
          <p:cNvSpPr txBox="1"/>
          <p:nvPr/>
        </p:nvSpPr>
        <p:spPr>
          <a:xfrm>
            <a:off x="704088"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14" name="TextBox 13"/>
          <p:cNvSpPr txBox="1"/>
          <p:nvPr/>
        </p:nvSpPr>
        <p:spPr>
          <a:xfrm>
            <a:off x="612647"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15" name="Connector 14"/>
          <p:cNvCxnSpPr/>
          <p:nvPr/>
        </p:nvCxnSpPr>
        <p:spPr>
          <a:xfrm>
            <a:off x="2167128" y="4956048"/>
            <a:ext cx="170383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2647"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17" name="Connector 16"/>
          <p:cNvCxnSpPr/>
          <p:nvPr/>
        </p:nvCxnSpPr>
        <p:spPr>
          <a:xfrm>
            <a:off x="1618488"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282439"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19600"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0" name="TextBox 19"/>
          <p:cNvSpPr txBox="1"/>
          <p:nvPr/>
        </p:nvSpPr>
        <p:spPr>
          <a:xfrm>
            <a:off x="4876800"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Асан ата 2 кубиктин бардык беттерин боёду. Канча бетти боёду?</a:t>
            </a:r>
          </a:p>
        </p:txBody>
      </p:sp>
      <p:sp>
        <p:nvSpPr>
          <p:cNvPr id="21" name="TextBox 20"/>
          <p:cNvSpPr txBox="1"/>
          <p:nvPr/>
        </p:nvSpPr>
        <p:spPr>
          <a:xfrm>
            <a:off x="4556759"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22" name="TextBox 21"/>
          <p:cNvSpPr txBox="1"/>
          <p:nvPr/>
        </p:nvSpPr>
        <p:spPr>
          <a:xfrm>
            <a:off x="4465320"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23" name="Connector 22"/>
          <p:cNvCxnSpPr/>
          <p:nvPr/>
        </p:nvCxnSpPr>
        <p:spPr>
          <a:xfrm>
            <a:off x="6019800" y="4956048"/>
            <a:ext cx="1703831"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465320"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25" name="Connector 24"/>
          <p:cNvCxnSpPr/>
          <p:nvPr/>
        </p:nvCxnSpPr>
        <p:spPr>
          <a:xfrm>
            <a:off x="5471159"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135112"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72272"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8" name="TextBox 27"/>
          <p:cNvSpPr txBox="1"/>
          <p:nvPr/>
        </p:nvSpPr>
        <p:spPr>
          <a:xfrm>
            <a:off x="8729472"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Нуризада 20 таякча бар. Ал 1 куб каркасын курду. Канча таякча калды?</a:t>
            </a:r>
          </a:p>
        </p:txBody>
      </p:sp>
      <p:sp>
        <p:nvSpPr>
          <p:cNvPr id="29" name="TextBox 28"/>
          <p:cNvSpPr txBox="1"/>
          <p:nvPr/>
        </p:nvSpPr>
        <p:spPr>
          <a:xfrm>
            <a:off x="8409432"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30" name="TextBox 29"/>
          <p:cNvSpPr txBox="1"/>
          <p:nvPr/>
        </p:nvSpPr>
        <p:spPr>
          <a:xfrm>
            <a:off x="8317991"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31" name="Connector 30"/>
          <p:cNvCxnSpPr/>
          <p:nvPr/>
        </p:nvCxnSpPr>
        <p:spPr>
          <a:xfrm>
            <a:off x="9872471" y="4956048"/>
            <a:ext cx="170383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317991"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33" name="Connector 32"/>
          <p:cNvCxnSpPr/>
          <p:nvPr/>
        </p:nvCxnSpPr>
        <p:spPr>
          <a:xfrm>
            <a:off x="9323831" y="5641848"/>
            <a:ext cx="225247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19/26</a:t>
            </a:r>
          </a:p>
        </p:txBody>
      </p:sp>
      <p:sp>
        <p:nvSpPr>
          <p:cNvPr id="10" name="Rounded Rectangle 9"/>
          <p:cNvSpPr/>
          <p:nvPr/>
        </p:nvSpPr>
        <p:spPr>
          <a:xfrm>
            <a:off x="429768"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Нуриза таякчалардан 1 үч бурчтук жана 1 квадрат курду. Канча таякча колдонду?</a:t>
            </a:r>
          </a:p>
        </p:txBody>
      </p:sp>
      <p:sp>
        <p:nvSpPr>
          <p:cNvPr id="13" name="Rectangle 12"/>
          <p:cNvSpPr/>
          <p:nvPr/>
        </p:nvSpPr>
        <p:spPr>
          <a:xfrm>
            <a:off x="566928" y="3017520"/>
            <a:ext cx="1004533"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3</a:t>
            </a:r>
          </a:p>
        </p:txBody>
      </p:sp>
      <p:sp>
        <p:nvSpPr>
          <p:cNvPr id="14" name="Rectangle 13"/>
          <p:cNvSpPr/>
          <p:nvPr/>
        </p:nvSpPr>
        <p:spPr>
          <a:xfrm>
            <a:off x="1571461" y="3017520"/>
            <a:ext cx="1339378"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4</a:t>
            </a:r>
          </a:p>
        </p:txBody>
      </p:sp>
      <p:cxnSp>
        <p:nvCxnSpPr>
          <p:cNvPr id="15" name="Connector 14"/>
          <p:cNvCxnSpPr/>
          <p:nvPr/>
        </p:nvCxnSpPr>
        <p:spPr>
          <a:xfrm>
            <a:off x="3002280"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139440"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002280"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185160"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7</a:t>
            </a:r>
          </a:p>
        </p:txBody>
      </p:sp>
      <p:sp>
        <p:nvSpPr>
          <p:cNvPr id="19" name="TextBox 18"/>
          <p:cNvSpPr txBox="1"/>
          <p:nvPr/>
        </p:nvSpPr>
        <p:spPr>
          <a:xfrm>
            <a:off x="612647"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3 + 4 = 7 таякча</a:t>
            </a:r>
          </a:p>
        </p:txBody>
      </p:sp>
      <p:sp>
        <p:nvSpPr>
          <p:cNvPr id="20" name="Rounded Rectangle 19"/>
          <p:cNvSpPr/>
          <p:nvPr/>
        </p:nvSpPr>
        <p:spPr>
          <a:xfrm>
            <a:off x="4282439"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19600"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2" name="TextBox 21"/>
          <p:cNvSpPr txBox="1"/>
          <p:nvPr/>
        </p:nvSpPr>
        <p:spPr>
          <a:xfrm>
            <a:off x="4876800"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Асан ата 2 кубиктин бардык беттерин боёду. Канча бетти боёду?</a:t>
            </a:r>
          </a:p>
        </p:txBody>
      </p:sp>
      <p:sp>
        <p:nvSpPr>
          <p:cNvPr id="23" name="Rectangle 22"/>
          <p:cNvSpPr/>
          <p:nvPr/>
        </p:nvSpPr>
        <p:spPr>
          <a:xfrm>
            <a:off x="4419600" y="3017520"/>
            <a:ext cx="1171956"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6</a:t>
            </a:r>
          </a:p>
        </p:txBody>
      </p:sp>
      <p:sp>
        <p:nvSpPr>
          <p:cNvPr id="24" name="Rectangle 23"/>
          <p:cNvSpPr/>
          <p:nvPr/>
        </p:nvSpPr>
        <p:spPr>
          <a:xfrm>
            <a:off x="5591556" y="3017520"/>
            <a:ext cx="1171956"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6</a:t>
            </a:r>
          </a:p>
        </p:txBody>
      </p:sp>
      <p:cxnSp>
        <p:nvCxnSpPr>
          <p:cNvPr id="25" name="Connector 24"/>
          <p:cNvCxnSpPr/>
          <p:nvPr/>
        </p:nvCxnSpPr>
        <p:spPr>
          <a:xfrm>
            <a:off x="6854951" y="3017520"/>
            <a:ext cx="137161"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992112"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54951" y="3401568"/>
            <a:ext cx="137161"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037832"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12</a:t>
            </a:r>
          </a:p>
        </p:txBody>
      </p:sp>
      <p:sp>
        <p:nvSpPr>
          <p:cNvPr id="29" name="TextBox 28"/>
          <p:cNvSpPr txBox="1"/>
          <p:nvPr/>
        </p:nvSpPr>
        <p:spPr>
          <a:xfrm>
            <a:off x="4465320"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6 + 6 = 12 бет</a:t>
            </a:r>
          </a:p>
        </p:txBody>
      </p:sp>
      <p:sp>
        <p:nvSpPr>
          <p:cNvPr id="30" name="Rounded Rectangle 29"/>
          <p:cNvSpPr/>
          <p:nvPr/>
        </p:nvSpPr>
        <p:spPr>
          <a:xfrm>
            <a:off x="8135112"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272272"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32" name="TextBox 31"/>
          <p:cNvSpPr txBox="1"/>
          <p:nvPr/>
        </p:nvSpPr>
        <p:spPr>
          <a:xfrm>
            <a:off x="8729472"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Нуризада 20 таякча бар. Ал 1 куб каркасын курду. Канча таякча калды?</a:t>
            </a:r>
          </a:p>
        </p:txBody>
      </p:sp>
      <p:sp>
        <p:nvSpPr>
          <p:cNvPr id="33" name="Rectangle 32"/>
          <p:cNvSpPr/>
          <p:nvPr/>
        </p:nvSpPr>
        <p:spPr>
          <a:xfrm>
            <a:off x="8272272" y="3017520"/>
            <a:ext cx="1406347"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12</a:t>
            </a:r>
          </a:p>
        </p:txBody>
      </p:sp>
      <p:sp>
        <p:nvSpPr>
          <p:cNvPr id="34" name="Rectangle 33"/>
          <p:cNvSpPr/>
          <p:nvPr/>
        </p:nvSpPr>
        <p:spPr>
          <a:xfrm>
            <a:off x="9678619" y="3017520"/>
            <a:ext cx="937564" cy="384048"/>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6B7280"/>
                </a:solidFill>
                <a:latin typeface="PT Sans"/>
              </a:rPr>
              <a:t>?</a:t>
            </a:r>
          </a:p>
        </p:txBody>
      </p:sp>
      <p:cxnSp>
        <p:nvCxnSpPr>
          <p:cNvPr id="35" name="Connector 34"/>
          <p:cNvCxnSpPr/>
          <p:nvPr/>
        </p:nvCxnSpPr>
        <p:spPr>
          <a:xfrm>
            <a:off x="10707624"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844784"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707624"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0890503"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20</a:t>
            </a:r>
          </a:p>
        </p:txBody>
      </p:sp>
      <p:sp>
        <p:nvSpPr>
          <p:cNvPr id="39" name="TextBox 38"/>
          <p:cNvSpPr txBox="1"/>
          <p:nvPr/>
        </p:nvSpPr>
        <p:spPr>
          <a:xfrm>
            <a:off x="8317991"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20 − 12 = 8 таякча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20/26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Дептериңе чыгар. Кыйын болсо – жакшы! Мээң өсүп жатат.</a:t>
            </a:r>
          </a:p>
        </p:txBody>
      </p:sp>
      <p:sp>
        <p:nvSpPr>
          <p:cNvPr id="11" name="Rounded Rectangle 10"/>
          <p:cNvSpPr/>
          <p:nvPr/>
        </p:nvSpPr>
        <p:spPr>
          <a:xfrm>
            <a:off x="429768"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Аты эмне? Жагы канча?</a:t>
            </a:r>
          </a:p>
        </p:txBody>
      </p:sp>
      <p:sp>
        <p:nvSpPr>
          <p:cNvPr id="14" name="Rounded Rectangle 13"/>
          <p:cNvSpPr/>
          <p:nvPr/>
        </p:nvSpPr>
        <p:spPr>
          <a:xfrm>
            <a:off x="6208776"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Канча тик бурчу бар?</a:t>
            </a:r>
          </a:p>
        </p:txBody>
      </p:sp>
      <p:sp>
        <p:nvSpPr>
          <p:cNvPr id="17" name="Rounded Rectangle 16"/>
          <p:cNvSpPr/>
          <p:nvPr/>
        </p:nvSpPr>
        <p:spPr>
          <a:xfrm>
            <a:off x="429768"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Цилиндрдин канча жалпак бети бар?</a:t>
            </a:r>
          </a:p>
        </p:txBody>
      </p:sp>
      <p:sp>
        <p:nvSpPr>
          <p:cNvPr id="20" name="Rounded Rectangle 19"/>
          <p:cNvSpPr/>
          <p:nvPr/>
        </p:nvSpPr>
        <p:spPr>
          <a:xfrm>
            <a:off x="6208776"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Үч бурчтуу призманын канча бети, канча чокусу бар?</a:t>
            </a:r>
          </a:p>
        </p:txBody>
      </p:sp>
      <p:sp>
        <p:nvSpPr>
          <p:cNvPr id="23" name="Rounded Rectangle 22"/>
          <p:cNvSpPr/>
          <p:nvPr/>
        </p:nvSpPr>
        <p:spPr>
          <a:xfrm>
            <a:off x="429768"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5" name="TextBox 24"/>
          <p:cNvSpPr txBox="1"/>
          <p:nvPr/>
        </p:nvSpPr>
        <p:spPr>
          <a:xfrm>
            <a:off x="1207007"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3 квадрат курууга канча таякча керек?</a:t>
            </a:r>
          </a:p>
        </p:txBody>
      </p:sp>
      <p:sp>
        <p:nvSpPr>
          <p:cNvPr id="26" name="Rounded Rectangle 25"/>
          <p:cNvSpPr/>
          <p:nvPr/>
        </p:nvSpPr>
        <p:spPr>
          <a:xfrm>
            <a:off x="6208776"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391656"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6</a:t>
            </a:r>
          </a:p>
        </p:txBody>
      </p:sp>
      <p:sp>
        <p:nvSpPr>
          <p:cNvPr id="28" name="TextBox 27"/>
          <p:cNvSpPr txBox="1"/>
          <p:nvPr/>
        </p:nvSpPr>
        <p:spPr>
          <a:xfrm>
            <a:off x="6986016"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Кайсынысы тоголонот: куб, шар, конус, пирамида?</a:t>
            </a:r>
          </a:p>
        </p:txBody>
      </p:sp>
      <p:sp>
        <p:nvSpPr>
          <p:cNvPr id="29" name="Rounded Rectangle 28"/>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0" name="Rounded Rectangle 29"/>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1" name="Rounded Rectangle 30"/>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
        <p:nvSpPr>
          <p:cNvPr id="32" name="g2fig"/>
          <p:cNvSpPr/>
          <p:nvPr/>
        </p:nvSpPr>
        <p:spPr>
          <a:xfrm>
            <a:off x="4928616" y="1973873"/>
            <a:ext cx="914400" cy="791894"/>
          </a:xfrm>
          <a:custGeom>
            <a:avLst/>
            <a:gdLst/>
            <a:ahLst/>
            <a:cxnLst/>
            <a:rect l="l" t="t" r="r" b="b"/>
            <a:pathLst>
              <a:path w="914400" h="791894">
                <a:moveTo>
                  <a:pt x="914400" y="395947"/>
                </a:moveTo>
                <a:lnTo>
                  <a:pt x="685800" y="791894"/>
                </a:lnTo>
                <a:lnTo>
                  <a:pt x="228600" y="791894"/>
                </a:lnTo>
                <a:lnTo>
                  <a:pt x="0" y="395947"/>
                </a:lnTo>
                <a:lnTo>
                  <a:pt x="228600" y="0"/>
                </a:lnTo>
                <a:lnTo>
                  <a:pt x="685800" y="0"/>
                </a:lnTo>
                <a:close/>
              </a:path>
            </a:pathLst>
          </a:custGeom>
          <a:solidFill>
            <a:srgbClr val="B5E2D3"/>
          </a:solidFill>
          <a:ln w="13144" cap="rnd">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g2fig"/>
          <p:cNvSpPr/>
          <p:nvPr/>
        </p:nvSpPr>
        <p:spPr>
          <a:xfrm>
            <a:off x="10707624" y="2053297"/>
            <a:ext cx="914400" cy="633046"/>
          </a:xfrm>
          <a:custGeom>
            <a:avLst/>
            <a:gdLst/>
            <a:ahLst/>
            <a:cxnLst/>
            <a:rect l="l" t="t" r="r" b="b"/>
            <a:pathLst>
              <a:path w="914400" h="633046">
                <a:moveTo>
                  <a:pt x="0" y="0"/>
                </a:moveTo>
                <a:lnTo>
                  <a:pt x="562708" y="0"/>
                </a:lnTo>
                <a:lnTo>
                  <a:pt x="914400" y="633046"/>
                </a:lnTo>
                <a:lnTo>
                  <a:pt x="0" y="633046"/>
                </a:lnTo>
                <a:close/>
              </a:path>
            </a:pathLst>
          </a:custGeom>
          <a:solidFill>
            <a:srgbClr val="B5E2D3"/>
          </a:solidFill>
          <a:ln w="13144" cap="rnd">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21/26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Аты эмне? Жагы канча?</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Алты бурчтук; 6</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Канча тик бурчу бар?</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2</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Цилиндрдин канча жалпак бети бар?</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2</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Үч бурчтуу призманын канча бети, канча чокусу бар?</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5 бет, 6 чоку</a:t>
            </a:r>
          </a:p>
        </p:txBody>
      </p:sp>
      <p:sp>
        <p:nvSpPr>
          <p:cNvPr id="26" name="Rounded Rectangle 25"/>
          <p:cNvSpPr/>
          <p:nvPr/>
        </p:nvSpPr>
        <p:spPr>
          <a:xfrm>
            <a:off x="429768"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66928"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5</a:t>
            </a:r>
          </a:p>
        </p:txBody>
      </p:sp>
      <p:sp>
        <p:nvSpPr>
          <p:cNvPr id="28" name="TextBox 27"/>
          <p:cNvSpPr txBox="1"/>
          <p:nvPr/>
        </p:nvSpPr>
        <p:spPr>
          <a:xfrm>
            <a:off x="1115568"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3 квадрат курууга канча таякча керек?</a:t>
            </a:r>
          </a:p>
        </p:txBody>
      </p:sp>
      <p:sp>
        <p:nvSpPr>
          <p:cNvPr id="29" name="TextBox 28"/>
          <p:cNvSpPr txBox="1"/>
          <p:nvPr/>
        </p:nvSpPr>
        <p:spPr>
          <a:xfrm>
            <a:off x="4334804"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4 + 4 + 4 = 12</a:t>
            </a:r>
          </a:p>
        </p:txBody>
      </p:sp>
      <p:sp>
        <p:nvSpPr>
          <p:cNvPr id="30" name="Rounded Rectangle 29"/>
          <p:cNvSpPr/>
          <p:nvPr/>
        </p:nvSpPr>
        <p:spPr>
          <a:xfrm>
            <a:off x="6208776"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5936"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6</a:t>
            </a:r>
          </a:p>
        </p:txBody>
      </p:sp>
      <p:sp>
        <p:nvSpPr>
          <p:cNvPr id="32" name="TextBox 31"/>
          <p:cNvSpPr txBox="1"/>
          <p:nvPr/>
        </p:nvSpPr>
        <p:spPr>
          <a:xfrm>
            <a:off x="6894576"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Кайсынысы тоголонот: куб, шар, конус, пирамида?</a:t>
            </a:r>
          </a:p>
        </p:txBody>
      </p:sp>
      <p:sp>
        <p:nvSpPr>
          <p:cNvPr id="33" name="TextBox 32"/>
          <p:cNvSpPr txBox="1"/>
          <p:nvPr/>
        </p:nvSpPr>
        <p:spPr>
          <a:xfrm>
            <a:off x="10113812"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Шар жана конус</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Окуяга кайтабыз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Асан ата 3 жыгач кубик жасады. Нуриза ар бир кубиктин бардык беттерине бирден жылдызча чаптайт. Канча жылдызча керек?</a:t>
            </a:r>
          </a:p>
        </p:txBody>
      </p:sp>
      <p:sp>
        <p:nvSpPr>
          <p:cNvPr id="12" name="TextBox 11"/>
          <p:cNvSpPr txBox="1"/>
          <p:nvPr/>
        </p:nvSpPr>
        <p:spPr>
          <a:xfrm>
            <a:off x="914400" y="2240280"/>
            <a:ext cx="1371600" cy="548640"/>
          </a:xfrm>
          <a:prstGeom prst="rect">
            <a:avLst/>
          </a:prstGeom>
          <a:noFill/>
        </p:spPr>
        <p:txBody>
          <a:bodyPr wrap="square" anchor="ctr" lIns="45720" rIns="45720" tIns="27432" bIns="27432">
            <a:spAutoFit/>
          </a:bodyPr>
          <a:lstStyle/>
          <a:p>
            <a:pPr algn="r">
              <a:lnSpc>
                <a:spcPct val="105000"/>
              </a:lnSpc>
            </a:pPr>
            <a:r>
              <a:rPr sz="1800" b="1" i="0">
                <a:solidFill>
                  <a:srgbClr val="1F2430"/>
                </a:solidFill>
                <a:latin typeface="PT Sans"/>
              </a:rPr>
              <a:t>Кубиктер</a:t>
            </a:r>
          </a:p>
        </p:txBody>
      </p:sp>
      <p:sp>
        <p:nvSpPr>
          <p:cNvPr id="13" name="Rectangle 12"/>
          <p:cNvSpPr/>
          <p:nvPr/>
        </p:nvSpPr>
        <p:spPr>
          <a:xfrm>
            <a:off x="2377440" y="2240280"/>
            <a:ext cx="2529839"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6</a:t>
            </a:r>
          </a:p>
        </p:txBody>
      </p:sp>
      <p:sp>
        <p:nvSpPr>
          <p:cNvPr id="14" name="Rectangle 13"/>
          <p:cNvSpPr/>
          <p:nvPr/>
        </p:nvSpPr>
        <p:spPr>
          <a:xfrm>
            <a:off x="4907280" y="2240280"/>
            <a:ext cx="2529839"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6</a:t>
            </a:r>
          </a:p>
        </p:txBody>
      </p:sp>
      <p:sp>
        <p:nvSpPr>
          <p:cNvPr id="15" name="Rectangle 14"/>
          <p:cNvSpPr/>
          <p:nvPr/>
        </p:nvSpPr>
        <p:spPr>
          <a:xfrm>
            <a:off x="7437120" y="2240280"/>
            <a:ext cx="2529839"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6</a:t>
            </a:r>
          </a:p>
        </p:txBody>
      </p:sp>
      <p:cxnSp>
        <p:nvCxnSpPr>
          <p:cNvPr id="16" name="Connector 15"/>
          <p:cNvCxnSpPr/>
          <p:nvPr/>
        </p:nvCxnSpPr>
        <p:spPr>
          <a:xfrm>
            <a:off x="10058399" y="224028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195559" y="2240280"/>
            <a:ext cx="0" cy="54864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058399" y="27889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241279" y="2240280"/>
            <a:ext cx="1005840" cy="548640"/>
          </a:xfrm>
          <a:prstGeom prst="rect">
            <a:avLst/>
          </a:prstGeom>
          <a:noFill/>
        </p:spPr>
        <p:txBody>
          <a:bodyPr wrap="square" anchor="ctr" lIns="45720" rIns="45720" tIns="27432" bIns="27432">
            <a:spAutoFit/>
          </a:bodyPr>
          <a:lstStyle/>
          <a:p>
            <a:pPr algn="l">
              <a:lnSpc>
                <a:spcPct val="105000"/>
              </a:lnSpc>
            </a:pPr>
            <a:r>
              <a:rPr sz="2200" b="1" i="0">
                <a:solidFill>
                  <a:srgbClr val="A84400"/>
                </a:solidFill>
                <a:latin typeface="PT Sans"/>
              </a:rPr>
              <a:t>18</a:t>
            </a:r>
          </a:p>
        </p:txBody>
      </p:sp>
      <p:sp>
        <p:nvSpPr>
          <p:cNvPr id="20" name="TextBox 19"/>
          <p:cNvSpPr txBox="1"/>
          <p:nvPr/>
        </p:nvSpPr>
        <p:spPr>
          <a:xfrm>
            <a:off x="731520" y="3127248"/>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1 кубикте = 6 бет</a:t>
            </a:r>
          </a:p>
        </p:txBody>
      </p:sp>
      <p:sp>
        <p:nvSpPr>
          <p:cNvPr id="21" name="TextBox 20"/>
          <p:cNvSpPr txBox="1"/>
          <p:nvPr/>
        </p:nvSpPr>
        <p:spPr>
          <a:xfrm>
            <a:off x="731520" y="3694176"/>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6 + 6 + 6</a:t>
            </a:r>
          </a:p>
        </p:txBody>
      </p:sp>
      <p:sp>
        <p:nvSpPr>
          <p:cNvPr id="22" name="TextBox 21"/>
          <p:cNvSpPr txBox="1"/>
          <p:nvPr/>
        </p:nvSpPr>
        <p:spPr>
          <a:xfrm>
            <a:off x="8366760" y="3694176"/>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3 кубик</a:t>
            </a:r>
          </a:p>
        </p:txBody>
      </p:sp>
      <p:sp>
        <p:nvSpPr>
          <p:cNvPr id="23" name="TextBox 22"/>
          <p:cNvSpPr txBox="1"/>
          <p:nvPr/>
        </p:nvSpPr>
        <p:spPr>
          <a:xfrm>
            <a:off x="731520" y="4261104"/>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24418C"/>
                </a:solidFill>
                <a:latin typeface="PT Sans"/>
              </a:rPr>
              <a:t>= 18</a:t>
            </a:r>
          </a:p>
        </p:txBody>
      </p:sp>
      <p:sp>
        <p:nvSpPr>
          <p:cNvPr id="24" name="TextBox 23"/>
          <p:cNvSpPr txBox="1"/>
          <p:nvPr/>
        </p:nvSpPr>
        <p:spPr>
          <a:xfrm>
            <a:off x="8366760" y="4261104"/>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жылдызча</a:t>
            </a:r>
          </a:p>
        </p:txBody>
      </p:sp>
      <p:sp>
        <p:nvSpPr>
          <p:cNvPr id="25" name="Rounded Rectangle 24"/>
          <p:cNvSpPr/>
          <p:nvPr/>
        </p:nvSpPr>
        <p:spPr>
          <a:xfrm>
            <a:off x="1874519" y="5486400"/>
            <a:ext cx="8449056" cy="640080"/>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18 жылдызча керек (9 эмес: ар бир кубиктин 6 бети бар).</a:t>
            </a:r>
          </a:p>
        </p:txBody>
      </p:sp>
      <p:sp>
        <p:nvSpPr>
          <p:cNvPr id="26" name="Rounded Rectangle 25"/>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Түз: өзүң маселе түз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23/26</a:t>
            </a:r>
          </a:p>
        </p:txBody>
      </p:sp>
      <p:sp>
        <p:nvSpPr>
          <p:cNvPr id="10" name="Rounded Rectangle 9"/>
          <p:cNvSpPr/>
          <p:nvPr/>
        </p:nvSpPr>
        <p:spPr>
          <a:xfrm>
            <a:off x="429768" y="1225296"/>
            <a:ext cx="11329416" cy="48920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71600"/>
            <a:ext cx="10780776" cy="914400"/>
          </a:xfrm>
          <a:prstGeom prst="rect">
            <a:avLst/>
          </a:prstGeom>
          <a:noFill/>
        </p:spPr>
        <p:txBody>
          <a:bodyPr wrap="square" anchor="t" lIns="45720" rIns="45720" tIns="27432" bIns="27432">
            <a:spAutoFit/>
          </a:bodyPr>
          <a:lstStyle/>
          <a:p>
            <a:pPr algn="l">
              <a:lnSpc>
                <a:spcPct val="105000"/>
              </a:lnSpc>
            </a:pPr>
            <a:r>
              <a:rPr sz="2400" b="1" i="0">
                <a:solidFill>
                  <a:srgbClr val="1F2430"/>
                </a:solidFill>
                <a:latin typeface="PT Sans"/>
              </a:rPr>
              <a:t>Каракол устаканасы жөнүндө фигура маселесин же табышмагын түз: «Менин ... бетим, ... кырым бар».</a:t>
            </a:r>
          </a:p>
        </p:txBody>
      </p:sp>
      <p:sp>
        <p:nvSpPr>
          <p:cNvPr id="12" name="Oval 11"/>
          <p:cNvSpPr/>
          <p:nvPr/>
        </p:nvSpPr>
        <p:spPr>
          <a:xfrm>
            <a:off x="704088" y="256032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254203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Окуядагы каармандарды колдон: Нуриза, Айбек, Асан ата.</a:t>
            </a:r>
          </a:p>
        </p:txBody>
      </p:sp>
      <p:sp>
        <p:nvSpPr>
          <p:cNvPr id="14" name="Oval 13"/>
          <p:cNvSpPr/>
          <p:nvPr/>
        </p:nvSpPr>
        <p:spPr>
          <a:xfrm>
            <a:off x="704088" y="338327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3364991"/>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Тилкесин чий жана туюнтмасын жаз.</a:t>
            </a:r>
          </a:p>
        </p:txBody>
      </p:sp>
      <p:sp>
        <p:nvSpPr>
          <p:cNvPr id="16" name="Oval 15"/>
          <p:cNvSpPr/>
          <p:nvPr/>
        </p:nvSpPr>
        <p:spPr>
          <a:xfrm>
            <a:off x="704088" y="4206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418795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Жупуңа бер: ал чыгарсын, сен текшер.</a:t>
            </a:r>
          </a:p>
        </p:txBody>
      </p:sp>
      <p:sp>
        <p:nvSpPr>
          <p:cNvPr id="18" name="Rounded Rectangle 17"/>
          <p:cNvSpPr/>
          <p:nvPr/>
        </p:nvSpPr>
        <p:spPr>
          <a:xfrm>
            <a:off x="4449927" y="6327648"/>
            <a:ext cx="3291840" cy="411480"/>
          </a:xfrm>
          <a:prstGeom prst="roundRect">
            <a:avLst>
              <a:gd name="adj" fmla="val 50000"/>
            </a:avLst>
          </a:prstGeom>
          <a:no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A84400"/>
                </a:solidFill>
                <a:latin typeface="PT Sans"/>
              </a:rPr>
              <a:t>3C · Кызматташуу</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Чыгуу билети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24/26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Өз алдынча, 3 мүнөт. Кагазыңа жазып бер.</a:t>
            </a:r>
          </a:p>
        </p:txBody>
      </p:sp>
      <p:sp>
        <p:nvSpPr>
          <p:cNvPr id="11" name="Rounded Rectangle 10"/>
          <p:cNvSpPr/>
          <p:nvPr/>
        </p:nvSpPr>
        <p:spPr>
          <a:xfrm>
            <a:off x="429768" y="169164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Беш бурчтуктун канча жагы, канча чокусу бар?</a:t>
            </a:r>
          </a:p>
        </p:txBody>
      </p:sp>
      <p:sp>
        <p:nvSpPr>
          <p:cNvPr id="14" name="Rounded Rectangle 13"/>
          <p:cNvSpPr/>
          <p:nvPr/>
        </p:nvSpPr>
        <p:spPr>
          <a:xfrm>
            <a:off x="429768" y="323088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07007" y="323088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Параллелепипеддин канча бети, канча кыры бар?</a:t>
            </a:r>
          </a:p>
        </p:txBody>
      </p:sp>
      <p:sp>
        <p:nvSpPr>
          <p:cNvPr id="17" name="Rounded Rectangle 16"/>
          <p:cNvSpPr/>
          <p:nvPr/>
        </p:nvSpPr>
        <p:spPr>
          <a:xfrm>
            <a:off x="429768" y="477012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77012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4 жагы бар, бирок тик бурчу жок фигура тик бурчтукпу?</a:t>
            </a:r>
          </a:p>
        </p:txBody>
      </p:sp>
      <p:sp>
        <p:nvSpPr>
          <p:cNvPr id="20" name="g2fig"/>
          <p:cNvSpPr/>
          <p:nvPr/>
        </p:nvSpPr>
        <p:spPr>
          <a:xfrm>
            <a:off x="10200506" y="1844040"/>
            <a:ext cx="1105676" cy="1051560"/>
          </a:xfrm>
          <a:custGeom>
            <a:avLst/>
            <a:gdLst/>
            <a:ahLst/>
            <a:cxnLst/>
            <a:rect l="l" t="t" r="r" b="b"/>
            <a:pathLst>
              <a:path w="1105676" h="1051560">
                <a:moveTo>
                  <a:pt x="552838" y="0"/>
                </a:moveTo>
                <a:lnTo>
                  <a:pt x="1105676" y="401660"/>
                </a:lnTo>
                <a:lnTo>
                  <a:pt x="894511" y="1051560"/>
                </a:lnTo>
                <a:lnTo>
                  <a:pt x="211165" y="1051560"/>
                </a:lnTo>
                <a:lnTo>
                  <a:pt x="0" y="401660"/>
                </a:lnTo>
                <a:close/>
              </a:path>
            </a:pathLst>
          </a:custGeom>
          <a:solidFill>
            <a:srgbClr val="B5E2D3"/>
          </a:solidFill>
          <a:ln w="16795" cap="rnd">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g2fig"/>
          <p:cNvSpPr/>
          <p:nvPr/>
        </p:nvSpPr>
        <p:spPr>
          <a:xfrm>
            <a:off x="10067544" y="3712899"/>
            <a:ext cx="1175948" cy="587974"/>
          </a:xfrm>
          <a:custGeom>
            <a:avLst/>
            <a:gdLst/>
            <a:ahLst/>
            <a:cxnLst/>
            <a:rect l="l" t="t" r="r" b="b"/>
            <a:pathLst>
              <a:path w="1175948" h="587974">
                <a:moveTo>
                  <a:pt x="0" y="587974"/>
                </a:moveTo>
                <a:lnTo>
                  <a:pt x="1175948" y="587974"/>
                </a:lnTo>
                <a:lnTo>
                  <a:pt x="1175948" y="0"/>
                </a:lnTo>
                <a:lnTo>
                  <a:pt x="0" y="0"/>
                </a:lnTo>
                <a:close/>
              </a:path>
            </a:pathLst>
          </a:custGeom>
          <a:solidFill>
            <a:srgbClr val="C9D4EE"/>
          </a:solidFill>
          <a:ln w="6718"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g2fig"/>
          <p:cNvSpPr/>
          <p:nvPr/>
        </p:nvSpPr>
        <p:spPr>
          <a:xfrm>
            <a:off x="10067544" y="3517247"/>
            <a:ext cx="1371600" cy="195652"/>
          </a:xfrm>
          <a:custGeom>
            <a:avLst/>
            <a:gdLst/>
            <a:ahLst/>
            <a:cxnLst/>
            <a:rect l="l" t="t" r="r" b="b"/>
            <a:pathLst>
              <a:path w="1371600" h="195652">
                <a:moveTo>
                  <a:pt x="0" y="195652"/>
                </a:moveTo>
                <a:lnTo>
                  <a:pt x="1175948" y="195652"/>
                </a:lnTo>
                <a:lnTo>
                  <a:pt x="1371600" y="0"/>
                </a:lnTo>
                <a:lnTo>
                  <a:pt x="195652" y="0"/>
                </a:lnTo>
                <a:close/>
              </a:path>
            </a:pathLst>
          </a:custGeom>
          <a:solidFill>
            <a:srgbClr val="E6EBF7"/>
          </a:solidFill>
          <a:ln w="6718"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g2fig"/>
          <p:cNvSpPr/>
          <p:nvPr/>
        </p:nvSpPr>
        <p:spPr>
          <a:xfrm>
            <a:off x="11243492" y="3517247"/>
            <a:ext cx="195652" cy="783626"/>
          </a:xfrm>
          <a:custGeom>
            <a:avLst/>
            <a:gdLst/>
            <a:ahLst/>
            <a:cxnLst/>
            <a:rect l="l" t="t" r="r" b="b"/>
            <a:pathLst>
              <a:path w="195652" h="783626">
                <a:moveTo>
                  <a:pt x="0" y="783626"/>
                </a:moveTo>
                <a:lnTo>
                  <a:pt x="0" y="195652"/>
                </a:lnTo>
                <a:lnTo>
                  <a:pt x="195652" y="0"/>
                </a:lnTo>
                <a:lnTo>
                  <a:pt x="195652" y="587974"/>
                </a:lnTo>
                <a:close/>
              </a:path>
            </a:pathLst>
          </a:custGeom>
          <a:solidFill>
            <a:srgbClr val="C9D4EE"/>
          </a:solidFill>
          <a:ln w="6718" cap="rnd">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g2fig"/>
          <p:cNvCxnSpPr/>
          <p:nvPr/>
        </p:nvCxnSpPr>
        <p:spPr>
          <a:xfrm flipV="1">
            <a:off x="10067544" y="4105221"/>
            <a:ext cx="195651" cy="195651"/>
          </a:xfrm>
          <a:prstGeom prst="line">
            <a:avLst/>
          </a:prstGeom>
          <a:ln w="10077"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25" name="g2fig"/>
          <p:cNvCxnSpPr/>
          <p:nvPr/>
        </p:nvCxnSpPr>
        <p:spPr>
          <a:xfrm>
            <a:off x="10263195" y="4105221"/>
            <a:ext cx="1175949" cy="0"/>
          </a:xfrm>
          <a:prstGeom prst="line">
            <a:avLst/>
          </a:prstGeom>
          <a:ln w="10077"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26" name="g2fig"/>
          <p:cNvCxnSpPr/>
          <p:nvPr/>
        </p:nvCxnSpPr>
        <p:spPr>
          <a:xfrm flipV="1">
            <a:off x="10263195" y="3517247"/>
            <a:ext cx="0" cy="587974"/>
          </a:xfrm>
          <a:prstGeom prst="line">
            <a:avLst/>
          </a:prstGeom>
          <a:ln w="10077" cap="rnd">
            <a:solidFill>
              <a:srgbClr val="4A5A70"/>
            </a:solidFill>
            <a:prstDash val="dash"/>
          </a:ln>
        </p:spPr>
        <p:style>
          <a:lnRef idx="2">
            <a:schemeClr val="accent1"/>
          </a:lnRef>
          <a:fillRef idx="0">
            <a:schemeClr val="accent1"/>
          </a:fillRef>
          <a:effectRef idx="1">
            <a:schemeClr val="accent1"/>
          </a:effectRef>
          <a:fontRef idx="minor">
            <a:schemeClr val="tx1"/>
          </a:fontRef>
        </p:style>
      </p:cxnSp>
      <p:cxnSp>
        <p:nvCxnSpPr>
          <p:cNvPr id="27" name="g2fig"/>
          <p:cNvCxnSpPr/>
          <p:nvPr/>
        </p:nvCxnSpPr>
        <p:spPr>
          <a:xfrm>
            <a:off x="10067544" y="4300872"/>
            <a:ext cx="1175948" cy="0"/>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8" name="g2fig"/>
          <p:cNvCxnSpPr/>
          <p:nvPr/>
        </p:nvCxnSpPr>
        <p:spPr>
          <a:xfrm flipV="1">
            <a:off x="10067544" y="3712898"/>
            <a:ext cx="0" cy="587974"/>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29" name="g2fig"/>
          <p:cNvCxnSpPr/>
          <p:nvPr/>
        </p:nvCxnSpPr>
        <p:spPr>
          <a:xfrm flipV="1">
            <a:off x="11243492" y="3712898"/>
            <a:ext cx="0" cy="587974"/>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0" name="g2fig"/>
          <p:cNvCxnSpPr/>
          <p:nvPr/>
        </p:nvCxnSpPr>
        <p:spPr>
          <a:xfrm flipV="1">
            <a:off x="11243492" y="4105221"/>
            <a:ext cx="195652" cy="195651"/>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1" name="g2fig"/>
          <p:cNvCxnSpPr/>
          <p:nvPr/>
        </p:nvCxnSpPr>
        <p:spPr>
          <a:xfrm flipH="1">
            <a:off x="10067544" y="3712898"/>
            <a:ext cx="1175948" cy="0"/>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2" name="g2fig"/>
          <p:cNvCxnSpPr/>
          <p:nvPr/>
        </p:nvCxnSpPr>
        <p:spPr>
          <a:xfrm flipV="1">
            <a:off x="11243492" y="3517247"/>
            <a:ext cx="195652" cy="195651"/>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3" name="g2fig"/>
          <p:cNvCxnSpPr/>
          <p:nvPr/>
        </p:nvCxnSpPr>
        <p:spPr>
          <a:xfrm flipV="1">
            <a:off x="10067544" y="3517247"/>
            <a:ext cx="195651" cy="195651"/>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4" name="g2fig"/>
          <p:cNvCxnSpPr/>
          <p:nvPr/>
        </p:nvCxnSpPr>
        <p:spPr>
          <a:xfrm flipV="1">
            <a:off x="11439144" y="3517247"/>
            <a:ext cx="0" cy="587974"/>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5" name="g2fig"/>
          <p:cNvCxnSpPr/>
          <p:nvPr/>
        </p:nvCxnSpPr>
        <p:spPr>
          <a:xfrm flipH="1">
            <a:off x="10263195" y="3517247"/>
            <a:ext cx="1175949" cy="0"/>
          </a:xfrm>
          <a:prstGeom prst="line">
            <a:avLst/>
          </a:prstGeom>
          <a:ln w="16795" cap="rnd">
            <a:solidFill>
              <a:srgbClr val="1D3557"/>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талкуу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25/26</a:t>
            </a:r>
          </a:p>
        </p:txBody>
      </p:sp>
      <p:sp>
        <p:nvSpPr>
          <p:cNvPr id="10" name="Rounded Rectangle 9"/>
          <p:cNvSpPr/>
          <p:nvPr/>
        </p:nvSpPr>
        <p:spPr>
          <a:xfrm>
            <a:off x="429768" y="1225296"/>
            <a:ext cx="11329416" cy="32461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80160"/>
            <a:ext cx="10780776" cy="548640"/>
          </a:xfrm>
          <a:prstGeom prst="rect">
            <a:avLst/>
          </a:prstGeom>
          <a:noFill/>
        </p:spPr>
        <p:txBody>
          <a:bodyPr wrap="square" anchor="t" lIns="45720" rIns="45720" tIns="27432" bIns="27432">
            <a:spAutoFit/>
          </a:bodyPr>
          <a:lstStyle/>
          <a:p>
            <a:pPr algn="l">
              <a:lnSpc>
                <a:spcPct val="105000"/>
              </a:lnSpc>
            </a:pPr>
            <a:r>
              <a:rPr sz="2400" b="1" i="0">
                <a:solidFill>
                  <a:srgbClr val="1D3557"/>
                </a:solidFill>
                <a:latin typeface="PT Sans"/>
              </a:rPr>
              <a:t>Оозеки талкуу</a:t>
            </a:r>
          </a:p>
        </p:txBody>
      </p:sp>
      <p:sp>
        <p:nvSpPr>
          <p:cNvPr id="12" name="Oval 11"/>
          <p:cNvSpPr/>
          <p:nvPr/>
        </p:nvSpPr>
        <p:spPr>
          <a:xfrm>
            <a:off x="704088" y="1920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1901952"/>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Тегиз фигура менен көлөмдүү фигуранын айырмасы эмнеде?</a:t>
            </a:r>
          </a:p>
        </p:txBody>
      </p:sp>
      <p:sp>
        <p:nvSpPr>
          <p:cNvPr id="14" name="Oval 13"/>
          <p:cNvSpPr/>
          <p:nvPr/>
        </p:nvSpPr>
        <p:spPr>
          <a:xfrm>
            <a:off x="704088" y="2542032"/>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2523744"/>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Эмне үчүн сүрөттө кубдун 3 гана бети көрүнөт?</a:t>
            </a:r>
          </a:p>
        </p:txBody>
      </p:sp>
      <p:sp>
        <p:nvSpPr>
          <p:cNvPr id="16" name="Oval 15"/>
          <p:cNvSpPr/>
          <p:nvPr/>
        </p:nvSpPr>
        <p:spPr>
          <a:xfrm>
            <a:off x="704088" y="316382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3145536"/>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Үйүңдө кайсы буюм цилиндрге окшош?</a:t>
            </a:r>
          </a:p>
        </p:txBody>
      </p:sp>
      <p:sp>
        <p:nvSpPr>
          <p:cNvPr id="18" name="TextBox 17"/>
          <p:cNvSpPr txBox="1"/>
          <p:nvPr/>
        </p:nvSpPr>
        <p:spPr>
          <a:xfrm>
            <a:off x="429768" y="4617720"/>
            <a:ext cx="11329416" cy="457200"/>
          </a:xfrm>
          <a:prstGeom prst="rect">
            <a:avLst/>
          </a:prstGeom>
          <a:noFill/>
        </p:spPr>
        <p:txBody>
          <a:bodyPr wrap="square" anchor="t" lIns="45720" rIns="45720" tIns="27432" bIns="27432">
            <a:spAutoFit/>
          </a:bodyPr>
          <a:lstStyle/>
          <a:p>
            <a:pPr algn="ctr">
              <a:lnSpc>
                <a:spcPct val="105000"/>
              </a:lnSpc>
            </a:pPr>
            <a:r>
              <a:rPr sz="2000" b="0" i="1">
                <a:solidFill>
                  <a:srgbClr val="6B7280"/>
                </a:solidFill>
                <a:latin typeface="PT Sans"/>
              </a:rPr>
              <a:t>Өзүңдү баала: колуңду көтөр.</a:t>
            </a:r>
          </a:p>
        </p:txBody>
      </p:sp>
      <p:sp>
        <p:nvSpPr>
          <p:cNvPr id="19" name="Rounded Rectangle 18"/>
          <p:cNvSpPr/>
          <p:nvPr/>
        </p:nvSpPr>
        <p:spPr>
          <a:xfrm>
            <a:off x="978407" y="5120640"/>
            <a:ext cx="3291840" cy="73152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007A5A"/>
                </a:solidFill>
                <a:latin typeface="PT Sans"/>
              </a:rPr>
              <a:t>Түшүндүм</a:t>
            </a:r>
          </a:p>
        </p:txBody>
      </p:sp>
      <p:sp>
        <p:nvSpPr>
          <p:cNvPr id="20" name="Rounded Rectangle 19"/>
          <p:cNvSpPr/>
          <p:nvPr/>
        </p:nvSpPr>
        <p:spPr>
          <a:xfrm>
            <a:off x="4636008" y="5120640"/>
            <a:ext cx="3291840" cy="73152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Дагы машыгам</a:t>
            </a:r>
          </a:p>
        </p:txBody>
      </p:sp>
      <p:sp>
        <p:nvSpPr>
          <p:cNvPr id="21" name="Rounded Rectangle 20"/>
          <p:cNvSpPr/>
          <p:nvPr/>
        </p:nvSpPr>
        <p:spPr>
          <a:xfrm>
            <a:off x="8293608" y="5120640"/>
            <a:ext cx="3291840" cy="73152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24418C"/>
                </a:solidFill>
                <a:latin typeface="PT Sans"/>
              </a:rPr>
              <a:t>Жардам керек</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Мугалим үчүн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Тегиз жана көлөмдүү фигуралар</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26/26</a:t>
            </a:r>
          </a:p>
        </p:txBody>
      </p:sp>
      <p:sp>
        <p:nvSpPr>
          <p:cNvPr id="10" name="Rounded Rectangle 9"/>
          <p:cNvSpPr/>
          <p:nvPr/>
        </p:nvSpPr>
        <p:spPr>
          <a:xfrm>
            <a:off x="429768" y="1225296"/>
            <a:ext cx="5120640"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466344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Тилке моделин кантип үйрөтөбүз</a:t>
            </a:r>
          </a:p>
        </p:txBody>
      </p:sp>
      <p:sp>
        <p:nvSpPr>
          <p:cNvPr id="12" name="Oval 11"/>
          <p:cNvSpPr/>
          <p:nvPr/>
        </p:nvSpPr>
        <p:spPr>
          <a:xfrm>
            <a:off x="658368" y="187451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188719" y="1856231"/>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Адегенде буюм: кутуну, банканы колго алып, беттерин сыйпап санашат (К → С).</a:t>
            </a:r>
          </a:p>
        </p:txBody>
      </p:sp>
      <p:sp>
        <p:nvSpPr>
          <p:cNvPr id="14" name="Oval 13"/>
          <p:cNvSpPr/>
          <p:nvPr/>
        </p:nvSpPr>
        <p:spPr>
          <a:xfrm>
            <a:off x="658368" y="2898648"/>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188719" y="2880360"/>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«Белгилеп сана»: санаган чокуга чекит коёт (М2).</a:t>
            </a:r>
          </a:p>
        </p:txBody>
      </p:sp>
      <p:sp>
        <p:nvSpPr>
          <p:cNvPr id="16" name="Oval 15"/>
          <p:cNvSpPr/>
          <p:nvPr/>
        </p:nvSpPr>
        <p:spPr>
          <a:xfrm>
            <a:off x="658368" y="3922776"/>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188719" y="3904488"/>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Тик бурчту бүктөлгөн кагаз менен текшерет, көз менен эмес (М6).</a:t>
            </a:r>
          </a:p>
        </p:txBody>
      </p:sp>
      <p:sp>
        <p:nvSpPr>
          <p:cNvPr id="18" name="Oval 17"/>
          <p:cNvSpPr/>
          <p:nvPr/>
        </p:nvSpPr>
        <p:spPr>
          <a:xfrm>
            <a:off x="658368" y="494690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19" name="TextBox 18"/>
          <p:cNvSpPr txBox="1"/>
          <p:nvPr/>
        </p:nvSpPr>
        <p:spPr>
          <a:xfrm>
            <a:off x="1188719" y="4928616"/>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Фигураны буруп көрсөтөм: аты өзгөрбөйт (М1); куб квадрат эмес (М4).</a:t>
            </a:r>
          </a:p>
        </p:txBody>
      </p:sp>
      <p:sp>
        <p:nvSpPr>
          <p:cNvPr id="20" name="Rounded Rectangle 19"/>
          <p:cNvSpPr/>
          <p:nvPr/>
        </p:nvSpPr>
        <p:spPr>
          <a:xfrm>
            <a:off x="5779007" y="1225296"/>
            <a:ext cx="5980176"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7607" y="1280160"/>
            <a:ext cx="548640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Ой жүгүртүү: эмне деп айтабыз?</a:t>
            </a:r>
          </a:p>
        </p:txBody>
      </p:sp>
      <p:sp>
        <p:nvSpPr>
          <p:cNvPr id="22" name="TextBox 21"/>
          <p:cNvSpPr txBox="1"/>
          <p:nvPr/>
        </p:nvSpPr>
        <p:spPr>
          <a:xfrm>
            <a:off x="6007607" y="1783080"/>
            <a:ext cx="2651760" cy="365760"/>
          </a:xfrm>
          <a:prstGeom prst="rect">
            <a:avLst/>
          </a:prstGeom>
          <a:noFill/>
        </p:spPr>
        <p:txBody>
          <a:bodyPr wrap="square" anchor="t" lIns="45720" rIns="45720" tIns="27432" bIns="27432">
            <a:spAutoFit/>
          </a:bodyPr>
          <a:lstStyle/>
          <a:p>
            <a:pPr algn="l">
              <a:lnSpc>
                <a:spcPct val="105000"/>
              </a:lnSpc>
            </a:pPr>
            <a:r>
              <a:rPr sz="1500" b="1" i="0">
                <a:solidFill>
                  <a:srgbClr val="6B7280"/>
                </a:solidFill>
                <a:latin typeface="PT Sans"/>
              </a:rPr>
              <a:t>Айтпайбыз</a:t>
            </a:r>
          </a:p>
        </p:txBody>
      </p:sp>
      <p:sp>
        <p:nvSpPr>
          <p:cNvPr id="23" name="TextBox 22"/>
          <p:cNvSpPr txBox="1"/>
          <p:nvPr/>
        </p:nvSpPr>
        <p:spPr>
          <a:xfrm>
            <a:off x="8796528" y="1783080"/>
            <a:ext cx="2926080" cy="365760"/>
          </a:xfrm>
          <a:prstGeom prst="rect">
            <a:avLst/>
          </a:prstGeom>
          <a:noFill/>
        </p:spPr>
        <p:txBody>
          <a:bodyPr wrap="square" anchor="t" lIns="45720" rIns="45720" tIns="27432" bIns="27432">
            <a:spAutoFit/>
          </a:bodyPr>
          <a:lstStyle/>
          <a:p>
            <a:pPr algn="l">
              <a:lnSpc>
                <a:spcPct val="105000"/>
              </a:lnSpc>
            </a:pPr>
            <a:r>
              <a:rPr sz="1500" b="1" i="0">
                <a:solidFill>
                  <a:srgbClr val="007A5A"/>
                </a:solidFill>
                <a:latin typeface="PT Sans"/>
              </a:rPr>
              <a:t>Айтабыз</a:t>
            </a:r>
          </a:p>
        </p:txBody>
      </p:sp>
      <p:sp>
        <p:nvSpPr>
          <p:cNvPr id="24" name="TextBox 23"/>
          <p:cNvSpPr txBox="1"/>
          <p:nvPr/>
        </p:nvSpPr>
        <p:spPr>
          <a:xfrm>
            <a:off x="6007607" y="219456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«Бул оңой эмеспи?»</a:t>
            </a:r>
          </a:p>
        </p:txBody>
      </p:sp>
      <p:cxnSp>
        <p:nvCxnSpPr>
          <p:cNvPr id="25" name="Connector 24"/>
          <p:cNvCxnSpPr/>
          <p:nvPr/>
        </p:nvCxnSpPr>
        <p:spPr>
          <a:xfrm>
            <a:off x="8567928" y="2468879"/>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796528" y="219456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«Кадамдарды бирге карайлы.»</a:t>
            </a:r>
          </a:p>
        </p:txBody>
      </p:sp>
      <p:sp>
        <p:nvSpPr>
          <p:cNvPr id="27" name="TextBox 26"/>
          <p:cNvSpPr txBox="1"/>
          <p:nvPr/>
        </p:nvSpPr>
        <p:spPr>
          <a:xfrm>
            <a:off x="6007607" y="315468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«Туура эмес!»</a:t>
            </a:r>
          </a:p>
        </p:txBody>
      </p:sp>
      <p:cxnSp>
        <p:nvCxnSpPr>
          <p:cNvPr id="28" name="Connector 27"/>
          <p:cNvCxnSpPr/>
          <p:nvPr/>
        </p:nvCxnSpPr>
        <p:spPr>
          <a:xfrm>
            <a:off x="8567928" y="342900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796528" y="315468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«Кантип таптың? Текшерип көрөлүчү.»</a:t>
            </a:r>
          </a:p>
        </p:txBody>
      </p:sp>
      <p:sp>
        <p:nvSpPr>
          <p:cNvPr id="30" name="TextBox 29"/>
          <p:cNvSpPr txBox="1"/>
          <p:nvPr/>
        </p:nvSpPr>
        <p:spPr>
          <a:xfrm>
            <a:off x="6007607" y="411480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«Сен математикага жөндөмсүзсүң»</a:t>
            </a:r>
          </a:p>
        </p:txBody>
      </p:sp>
      <p:cxnSp>
        <p:nvCxnSpPr>
          <p:cNvPr id="31" name="Connector 30"/>
          <p:cNvCxnSpPr/>
          <p:nvPr/>
        </p:nvCxnSpPr>
        <p:spPr>
          <a:xfrm>
            <a:off x="8567928" y="438912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796528" y="411480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«Азырынча. Машыксаң, үйрөнөсүң.»</a:t>
            </a:r>
          </a:p>
        </p:txBody>
      </p:sp>
      <p:sp>
        <p:nvSpPr>
          <p:cNvPr id="33" name="TextBox 32"/>
          <p:cNvSpPr txBox="1"/>
          <p:nvPr/>
        </p:nvSpPr>
        <p:spPr>
          <a:xfrm>
            <a:off x="6007607" y="507492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«Тез чыгар»</a:t>
            </a:r>
          </a:p>
        </p:txBody>
      </p:sp>
      <p:cxnSp>
        <p:nvCxnSpPr>
          <p:cNvPr id="34" name="Connector 33"/>
          <p:cNvCxnSpPr/>
          <p:nvPr/>
        </p:nvCxnSpPr>
        <p:spPr>
          <a:xfrm>
            <a:off x="8567928" y="534924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796528" y="507492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«Шашпа, адегенде тилке чий.»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