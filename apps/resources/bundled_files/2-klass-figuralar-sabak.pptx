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болжолдошот: жылдызча 10дон көппү, азбы? Жоопту сабактын аягында (22-слайд) текшеребиз. Колумда чыныгы кубик же ширеңке кутусу болот.</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Айбек: кубдун 6 бети бар; Нуриза сүрөттө көрүнгөнүн гана санады (М3).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12 таякча (ширеңке чийи, санак таякча же кургак макарон) жана 8 пластилин шарча берем (пластилин жок болсо, нымдуу чопо же нан камыры). Адегенде квадрат курушат: 4 таякча, 4 шарча. Анан экинчи квадрат жана 4 тик таякча: куб каркасы. «Канча шарча? Канча таякча?» деп сурайм. Тик бурч текшергичти ар бир окуучу кагазды эки жолу бүктөп өзү жасайт жана партанын, китептин бурчун текшерет.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Кубду доскага чийем: көрүнбөгөн кырлар үзүк сызык менен. Анан кутуну кесип жазып көрсөтөм: 6 бет. Ар бир бетке номер жазабыз 1ден 6га чейин. Үч кубик: 6 + 6 + 6. «3 + 3 + 3 = 9» деген жоопту талкуулайбыз (М3).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Тегиз фигурада жак жана чоку, көлөмдүү фигурада бет, кыр жана чоку. Тик бурчту көз менен эмес, текшергич менен табабыз (М6). Фигураны бурсак, аты өзгөрбөйт (М1). Куб – квадрат эмес: кубду колго алабыз, квадратты кагазга чийебиз (М4).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«кубдун беттерин жуп-жуп санадым: алды-арты, үстү-асты, оң-сол». «Оозеки беш мүнөт» (класста колдонуу картасы) эки апта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М5; Б = ✓; В = М3; Г = М4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эки бөлүк → бирдей бөлүктөр → бүтүн жана белгисиз. Жооптор: 3 + 4 = 7 таякча; 6 + 6 = 12 бет; 20 − 12 = 8 таякча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кубиктин 6 бети: 6 + 6 + 6 = 18. Кимдир бирөө 9 десе (3 + 3 + 3), кубикти колго алып астын, артын жана сол жагын көрсөтөм: сүрөттө алар көрүнбөйт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5 жак, 5 чоку; 6 бет, 12 кыр; Жок: тик бурчтукта 4 тик бурч бар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2-класс · Математика</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Тегиз жана көлөмдүү фигуралар</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Каракол: чоң атанын устаканасы</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Нуриза менен Айбек Асан чоң аталарынын жыгач устаканасында фигуралардан оюнчук жасашат.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2025–26 КТП, 2-класс (Cambridge 2): «2D/3D фигуралар»; 2011-стандарт 2.1.5 (тик бурчтук, квадрат).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Каракол: чоң атанын устаканасы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Күзгү каникул. Нуриза менен Айбек Караколго, Асан чоң аталарына барышты.</a:t>
            </a:r>
          </a:p>
          <a:p>
            <a:pPr algn="l">
              <a:lnSpc>
                <a:spcPct val="105000"/>
              </a:lnSpc>
              <a:spcBef>
                <a:spcPts val="800"/>
              </a:spcBef>
            </a:pPr>
            <a:r>
              <a:rPr sz="2100" b="0" i="0">
                <a:solidFill>
                  <a:srgbClr val="1F2430"/>
                </a:solidFill>
                <a:latin typeface="PT Sans"/>
              </a:rPr>
              <a:t>Асан ата – жыгач уста. Ал кубик, цилиндр, конус жана пирамида формасындагы оюнчуктарды жасайт.</a:t>
            </a:r>
          </a:p>
          <a:p>
            <a:pPr algn="l">
              <a:lnSpc>
                <a:spcPct val="105000"/>
              </a:lnSpc>
              <a:spcBef>
                <a:spcPts val="800"/>
              </a:spcBef>
            </a:pPr>
            <a:r>
              <a:rPr sz="2100" b="0" i="0">
                <a:solidFill>
                  <a:srgbClr val="1F2430"/>
                </a:solidFill>
                <a:latin typeface="PT Sans"/>
              </a:rPr>
              <a:t>Балдар Караколдун эски жыгач үйлөрүн карап басышты: терезелери тик бурчтук! Анан ашлянфу жешти.</a:t>
            </a:r>
          </a:p>
          <a:p>
            <a:pPr algn="l">
              <a:lnSpc>
                <a:spcPct val="105000"/>
              </a:lnSpc>
              <a:spcBef>
                <a:spcPts val="800"/>
              </a:spcBef>
            </a:pPr>
            <a:r>
              <a:rPr sz="2100" b="0" i="0">
                <a:solidFill>
                  <a:srgbClr val="1F2430"/>
                </a:solidFill>
                <a:latin typeface="PT Sans"/>
              </a:rPr>
              <a:t>Устаканада Нуриза ар бир оюнчуктун ар бир бетине бирден жылдызча чаптайт.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Асан ата 3 жыгач кубик жасады. Нуриза ар бир кубиктин бардык беттерине бирден жылдызча чаптайт. Канча жылдызча керек?</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Тегиз фигуранын жактарын, чокуларын, тик бурчтарын санайм.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Көлөмдүү фигуранын беттерин, кырларын, чокуларын санайм.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Фигураларды атайм, топторго бөлөм жана турмуштан табам.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Атайм жана санайм</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Тик бурч, бет, кыр</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Каркас, табышмак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Тик бурчту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каркас куруу</a:t>
            </a:r>
          </a:p>
          <a:p>
            <a:pPr algn="l">
              <a:lnSpc>
                <a:spcPct val="105000"/>
              </a:lnSpc>
            </a:pPr>
            <a:r>
              <a:rPr sz="1800" b="0" i="0">
                <a:solidFill>
                  <a:srgbClr val="1F2430"/>
                </a:solidFill>
                <a:latin typeface="PT Sans"/>
              </a:rPr>
              <a:t>• Карта сорттоо</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Каракол устаканасы</a:t>
            </a:r>
          </a:p>
          <a:p>
            <a:pPr algn="l">
              <a:lnSpc>
                <a:spcPct val="105000"/>
              </a:lnSpc>
            </a:pPr>
            <a:r>
              <a:rPr sz="1800" b="0" i="0">
                <a:solidFill>
                  <a:srgbClr val="1F2430"/>
                </a:solidFill>
                <a:latin typeface="PT Sans"/>
              </a:rPr>
              <a:t>• Үйдөгү буюмдар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1-класс</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Тегерек, үч бурчтук</a:t>
            </a:r>
          </a:p>
          <a:p>
            <a:pPr algn="l">
              <a:lnSpc>
                <a:spcPct val="105000"/>
              </a:lnSpc>
              <a:spcBef>
                <a:spcPts val="400"/>
              </a:spcBef>
            </a:pPr>
            <a:r>
              <a:rPr sz="1500" b="0" i="0">
                <a:solidFill>
                  <a:srgbClr val="1F2430"/>
                </a:solidFill>
                <a:latin typeface="PT Sans"/>
              </a:rPr>
              <a:t>• Куб, шар</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2-класс</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Жак, чоку, тик бурч</a:t>
            </a:r>
          </a:p>
          <a:p>
            <a:pPr algn="l">
              <a:lnSpc>
                <a:spcPct val="105000"/>
              </a:lnSpc>
              <a:spcBef>
                <a:spcPts val="400"/>
              </a:spcBef>
            </a:pPr>
            <a:r>
              <a:rPr sz="1500" b="0" i="0">
                <a:solidFill>
                  <a:srgbClr val="1F2430"/>
                </a:solidFill>
                <a:latin typeface="PT Sans"/>
              </a:rPr>
              <a:t>• Бет, кыр</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3-класс</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Периметр</a:t>
            </a:r>
          </a:p>
          <a:p>
            <a:pPr algn="l">
              <a:lnSpc>
                <a:spcPct val="105000"/>
              </a:lnSpc>
              <a:spcBef>
                <a:spcPts val="400"/>
              </a:spcBef>
            </a:pPr>
            <a:r>
              <a:rPr sz="1500" b="0" i="0">
                <a:solidFill>
                  <a:srgbClr val="6B7280"/>
                </a:solidFill>
                <a:latin typeface="PT Sans"/>
              </a:rPr>
              <a:t>• Симметрия</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4-класс</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Аянт</a:t>
            </a:r>
          </a:p>
          <a:p>
            <a:pPr algn="l">
              <a:lnSpc>
                <a:spcPct val="105000"/>
              </a:lnSpc>
              <a:spcBef>
                <a:spcPts val="400"/>
              </a:spcBef>
            </a:pPr>
            <a:r>
              <a:rPr sz="1500" b="0" i="0">
                <a:solidFill>
                  <a:srgbClr val="6B7280"/>
                </a:solidFill>
                <a:latin typeface="PT Sans"/>
              </a:rPr>
              <a:t>• Пирамида, призма</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Үч бурчтуктун канча бурчу бар?</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+ 6 =</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4 + 4 + 4 =</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Тегерек буюмду ата.</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Үч бурчтуктун канча бурчу бар?</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+ 6 =</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 + 4 + 4 =</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Тегерек буюмду ата.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Мис.: нан, табак, тыйын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жыгач кубикти столго койду. Нуриза менен Айбек кубиктин беттерин санашты.</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Нуриза</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Мен 3 бетин көрүп турам.</a:t>
            </a:r>
          </a:p>
          <a:p>
            <a:pPr algn="l">
              <a:lnSpc>
                <a:spcPct val="105000"/>
              </a:lnSpc>
            </a:pPr>
            <a:r>
              <a:rPr sz="2600" b="0" i="0">
                <a:solidFill>
                  <a:srgbClr val="1F2430"/>
                </a:solidFill>
                <a:latin typeface="PT Sans"/>
              </a:rPr>
              <a:t>Демек, кубдун 3 бети бар.</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Айбек</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Асты, арты, сол жагы</a:t>
            </a:r>
          </a:p>
          <a:p>
            <a:pPr algn="l">
              <a:lnSpc>
                <a:spcPct val="105000"/>
              </a:lnSpc>
            </a:pPr>
            <a:r>
              <a:rPr sz="2600" b="0" i="0">
                <a:solidFill>
                  <a:srgbClr val="1F2430"/>
                </a:solidFill>
                <a:latin typeface="PT Sans"/>
              </a:rPr>
              <a:t>да бар. Кубдун 6 бети бар.</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Кубикти колуңа алып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g2fig"/>
          <p:cNvSpPr/>
          <p:nvPr/>
        </p:nvSpPr>
        <p:spPr>
          <a:xfrm>
            <a:off x="4475988" y="4183732"/>
            <a:ext cx="776888" cy="776888"/>
          </a:xfrm>
          <a:custGeom>
            <a:avLst/>
            <a:gdLst/>
            <a:ahLst/>
            <a:cxnLst/>
            <a:rect l="l" t="t" r="r" b="b"/>
            <a:pathLst>
              <a:path w="776888" h="776888">
                <a:moveTo>
                  <a:pt x="0" y="776888"/>
                </a:moveTo>
                <a:lnTo>
                  <a:pt x="776888" y="776888"/>
                </a:lnTo>
                <a:lnTo>
                  <a:pt x="77688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4475988" y="3909060"/>
            <a:ext cx="1051560" cy="274672"/>
          </a:xfrm>
          <a:custGeom>
            <a:avLst/>
            <a:gdLst/>
            <a:ahLst/>
            <a:cxnLst/>
            <a:rect l="l" t="t" r="r" b="b"/>
            <a:pathLst>
              <a:path w="1051560" h="274672">
                <a:moveTo>
                  <a:pt x="0" y="274672"/>
                </a:moveTo>
                <a:lnTo>
                  <a:pt x="776888" y="274672"/>
                </a:lnTo>
                <a:lnTo>
                  <a:pt x="1051560" y="0"/>
                </a:lnTo>
                <a:lnTo>
                  <a:pt x="27467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2fig"/>
          <p:cNvSpPr/>
          <p:nvPr/>
        </p:nvSpPr>
        <p:spPr>
          <a:xfrm>
            <a:off x="5252876" y="3909060"/>
            <a:ext cx="274672" cy="1051560"/>
          </a:xfrm>
          <a:custGeom>
            <a:avLst/>
            <a:gdLst/>
            <a:ahLst/>
            <a:cxnLst/>
            <a:rect l="l" t="t" r="r" b="b"/>
            <a:pathLst>
              <a:path w="274672" h="1051560">
                <a:moveTo>
                  <a:pt x="0" y="1051560"/>
                </a:moveTo>
                <a:lnTo>
                  <a:pt x="0" y="274672"/>
                </a:lnTo>
                <a:lnTo>
                  <a:pt x="274672" y="0"/>
                </a:lnTo>
                <a:lnTo>
                  <a:pt x="274672" y="776888"/>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g2fig"/>
          <p:cNvCxnSpPr/>
          <p:nvPr/>
        </p:nvCxnSpPr>
        <p:spPr>
          <a:xfrm flipV="1">
            <a:off x="4475988" y="4685948"/>
            <a:ext cx="274671" cy="274672"/>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a:off x="4750659" y="4685948"/>
            <a:ext cx="77688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flipV="1">
            <a:off x="4750659" y="3909060"/>
            <a:ext cx="0" cy="776888"/>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a:off x="4475988" y="4960620"/>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flipV="1">
            <a:off x="4475988"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5252876"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flipV="1">
            <a:off x="5252876" y="4685948"/>
            <a:ext cx="274672" cy="274672"/>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H="1">
            <a:off x="4475988" y="4183731"/>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5252876" y="3909060"/>
            <a:ext cx="274672"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4475988" y="3909060"/>
            <a:ext cx="274671"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V="1">
            <a:off x="5527548" y="3909060"/>
            <a:ext cx="0" cy="776888"/>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fig"/>
          <p:cNvCxnSpPr/>
          <p:nvPr/>
        </p:nvCxnSpPr>
        <p:spPr>
          <a:xfrm flipH="1">
            <a:off x="4750659" y="3909060"/>
            <a:ext cx="77688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37" name="g2fig"/>
          <p:cNvSpPr/>
          <p:nvPr/>
        </p:nvSpPr>
        <p:spPr>
          <a:xfrm>
            <a:off x="10254996" y="4183732"/>
            <a:ext cx="776888" cy="776888"/>
          </a:xfrm>
          <a:custGeom>
            <a:avLst/>
            <a:gdLst/>
            <a:ahLst/>
            <a:cxnLst/>
            <a:rect l="l" t="t" r="r" b="b"/>
            <a:pathLst>
              <a:path w="776888" h="776888">
                <a:moveTo>
                  <a:pt x="0" y="776888"/>
                </a:moveTo>
                <a:lnTo>
                  <a:pt x="776888" y="776888"/>
                </a:lnTo>
                <a:lnTo>
                  <a:pt x="77688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g2fig"/>
          <p:cNvSpPr/>
          <p:nvPr/>
        </p:nvSpPr>
        <p:spPr>
          <a:xfrm>
            <a:off x="10254996" y="3909060"/>
            <a:ext cx="1051560" cy="274672"/>
          </a:xfrm>
          <a:custGeom>
            <a:avLst/>
            <a:gdLst/>
            <a:ahLst/>
            <a:cxnLst/>
            <a:rect l="l" t="t" r="r" b="b"/>
            <a:pathLst>
              <a:path w="1051560" h="274672">
                <a:moveTo>
                  <a:pt x="0" y="274672"/>
                </a:moveTo>
                <a:lnTo>
                  <a:pt x="776888" y="274672"/>
                </a:lnTo>
                <a:lnTo>
                  <a:pt x="1051560" y="0"/>
                </a:lnTo>
                <a:lnTo>
                  <a:pt x="27467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2fig"/>
          <p:cNvSpPr/>
          <p:nvPr/>
        </p:nvSpPr>
        <p:spPr>
          <a:xfrm>
            <a:off x="11031884" y="3909060"/>
            <a:ext cx="274672" cy="1051560"/>
          </a:xfrm>
          <a:custGeom>
            <a:avLst/>
            <a:gdLst/>
            <a:ahLst/>
            <a:cxnLst/>
            <a:rect l="l" t="t" r="r" b="b"/>
            <a:pathLst>
              <a:path w="274672" h="1051560">
                <a:moveTo>
                  <a:pt x="0" y="1051560"/>
                </a:moveTo>
                <a:lnTo>
                  <a:pt x="0" y="274672"/>
                </a:lnTo>
                <a:lnTo>
                  <a:pt x="274672" y="0"/>
                </a:lnTo>
                <a:lnTo>
                  <a:pt x="274672" y="776888"/>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g2fig"/>
          <p:cNvCxnSpPr/>
          <p:nvPr/>
        </p:nvCxnSpPr>
        <p:spPr>
          <a:xfrm flipV="1">
            <a:off x="10254996" y="4685948"/>
            <a:ext cx="274671" cy="274672"/>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1" name="g2fig"/>
          <p:cNvCxnSpPr/>
          <p:nvPr/>
        </p:nvCxnSpPr>
        <p:spPr>
          <a:xfrm>
            <a:off x="10529667" y="4685948"/>
            <a:ext cx="77688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2" name="g2fig"/>
          <p:cNvCxnSpPr/>
          <p:nvPr/>
        </p:nvCxnSpPr>
        <p:spPr>
          <a:xfrm flipV="1">
            <a:off x="10529667" y="3909060"/>
            <a:ext cx="0" cy="776888"/>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3" name="g2fig"/>
          <p:cNvCxnSpPr/>
          <p:nvPr/>
        </p:nvCxnSpPr>
        <p:spPr>
          <a:xfrm>
            <a:off x="10254996" y="4960620"/>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4" name="g2fig"/>
          <p:cNvCxnSpPr/>
          <p:nvPr/>
        </p:nvCxnSpPr>
        <p:spPr>
          <a:xfrm flipV="1">
            <a:off x="10254996"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5" name="g2fig"/>
          <p:cNvCxnSpPr/>
          <p:nvPr/>
        </p:nvCxnSpPr>
        <p:spPr>
          <a:xfrm flipV="1">
            <a:off x="11031884"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6" name="g2fig"/>
          <p:cNvCxnSpPr/>
          <p:nvPr/>
        </p:nvCxnSpPr>
        <p:spPr>
          <a:xfrm flipV="1">
            <a:off x="11031884" y="4685948"/>
            <a:ext cx="274672" cy="274672"/>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7" name="g2fig"/>
          <p:cNvCxnSpPr/>
          <p:nvPr/>
        </p:nvCxnSpPr>
        <p:spPr>
          <a:xfrm flipH="1">
            <a:off x="10254996" y="4183731"/>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8" name="g2fig"/>
          <p:cNvCxnSpPr/>
          <p:nvPr/>
        </p:nvCxnSpPr>
        <p:spPr>
          <a:xfrm flipV="1">
            <a:off x="11031884" y="3909060"/>
            <a:ext cx="274672"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9" name="g2fig"/>
          <p:cNvCxnSpPr/>
          <p:nvPr/>
        </p:nvCxnSpPr>
        <p:spPr>
          <a:xfrm flipV="1">
            <a:off x="10254996" y="3909060"/>
            <a:ext cx="274671"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0" name="g2fig"/>
          <p:cNvCxnSpPr/>
          <p:nvPr/>
        </p:nvCxnSpPr>
        <p:spPr>
          <a:xfrm flipV="1">
            <a:off x="11306556" y="3909060"/>
            <a:ext cx="0" cy="776888"/>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1" name="g2fig"/>
          <p:cNvCxnSpPr/>
          <p:nvPr/>
        </p:nvCxnSpPr>
        <p:spPr>
          <a:xfrm flipH="1">
            <a:off x="10529667" y="3909060"/>
            <a:ext cx="77688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таякча жана пластилин менен куб каркасын кургула. Шарча – чоку, таякча – кыр.</a:t>
            </a:r>
          </a:p>
        </p:txBody>
      </p:sp>
      <p:sp>
        <p:nvSpPr>
          <p:cNvPr id="12" name="TextBox 11"/>
          <p:cNvSpPr txBox="1"/>
          <p:nvPr/>
        </p:nvSpPr>
        <p:spPr>
          <a:xfrm>
            <a:off x="274320" y="2042160"/>
            <a:ext cx="4206240" cy="304800"/>
          </a:xfrm>
          <a:prstGeom prst="rect">
            <a:avLst/>
          </a:prstGeom>
          <a:noFill/>
        </p:spPr>
        <p:txBody>
          <a:bodyPr wrap="none" lIns="0" rIns="0" tIns="0" bIns="0" anchor="ctr">
            <a:spAutoFit/>
          </a:bodyPr>
          <a:lstStyle/>
          <a:p>
            <a:pPr algn="ctr"/>
            <a:r>
              <a:rPr sz="1500" b="1" i="0">
                <a:solidFill>
                  <a:srgbClr val="1D3557"/>
                </a:solidFill>
                <a:latin typeface="PT Sans"/>
              </a:rPr>
              <a:t>Таякча + пластилин: куб каркасы</a:t>
            </a:r>
          </a:p>
        </p:txBody>
      </p:sp>
      <p:cxnSp>
        <p:nvCxnSpPr>
          <p:cNvPr id="13" name="Connector 12"/>
          <p:cNvCxnSpPr/>
          <p:nvPr/>
        </p:nvCxnSpPr>
        <p:spPr>
          <a:xfrm>
            <a:off x="1051560" y="5120640"/>
            <a:ext cx="1823998"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051560" y="3296641"/>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051560" y="4475758"/>
            <a:ext cx="644881"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875558" y="3296641"/>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75558" y="4475758"/>
            <a:ext cx="644882"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51560" y="3296641"/>
            <a:ext cx="1823998"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875558" y="2651759"/>
            <a:ext cx="644882"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051560" y="2651759"/>
            <a:ext cx="644881"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96441" y="4475758"/>
            <a:ext cx="1823999"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696441" y="2651759"/>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520440" y="2651759"/>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696441" y="2651759"/>
            <a:ext cx="1823999"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15771" y="498485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739770" y="498485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39770" y="3160852"/>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5771" y="3160852"/>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560652" y="4339970"/>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84651" y="4339970"/>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84651" y="251597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60652" y="251597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2880" y="5298440"/>
            <a:ext cx="4389120" cy="284480"/>
          </a:xfrm>
          <a:prstGeom prst="rect">
            <a:avLst/>
          </a:prstGeom>
          <a:noFill/>
        </p:spPr>
        <p:txBody>
          <a:bodyPr wrap="none" lIns="0" rIns="0" tIns="0" bIns="0" anchor="ctr">
            <a:spAutoFit/>
          </a:bodyPr>
          <a:lstStyle/>
          <a:p>
            <a:pPr algn="ctr"/>
            <a:r>
              <a:rPr sz="1400" b="1" i="0">
                <a:solidFill>
                  <a:srgbClr val="A84400"/>
                </a:solidFill>
                <a:latin typeface="PT Sans"/>
              </a:rPr>
              <a:t>8 шарча = 8 чоку   ·   12 таякча = 12 кыр</a:t>
            </a:r>
          </a:p>
        </p:txBody>
      </p:sp>
      <p:sp>
        <p:nvSpPr>
          <p:cNvPr id="34" name="TextBox 33"/>
          <p:cNvSpPr txBox="1"/>
          <p:nvPr/>
        </p:nvSpPr>
        <p:spPr>
          <a:xfrm>
            <a:off x="4709160" y="2042160"/>
            <a:ext cx="3291840" cy="304800"/>
          </a:xfrm>
          <a:prstGeom prst="rect">
            <a:avLst/>
          </a:prstGeom>
          <a:noFill/>
        </p:spPr>
        <p:txBody>
          <a:bodyPr wrap="none" lIns="0" rIns="0" tIns="0" bIns="0" anchor="ctr">
            <a:spAutoFit/>
          </a:bodyPr>
          <a:lstStyle/>
          <a:p>
            <a:pPr algn="ctr"/>
            <a:r>
              <a:rPr sz="1500" b="1" i="0">
                <a:solidFill>
                  <a:srgbClr val="1D3557"/>
                </a:solidFill>
                <a:latin typeface="PT Sans"/>
              </a:rPr>
              <a:t>Тик бурч текшергич</a:t>
            </a:r>
          </a:p>
        </p:txBody>
      </p:sp>
      <p:sp>
        <p:nvSpPr>
          <p:cNvPr id="35" name="Freeform 34"/>
          <p:cNvSpPr/>
          <p:nvPr/>
        </p:nvSpPr>
        <p:spPr>
          <a:xfrm>
            <a:off x="4617720" y="2606040"/>
            <a:ext cx="1051560" cy="1051560"/>
          </a:xfrm>
          <a:custGeom>
            <a:avLst/>
            <a:gdLst/>
            <a:ahLst/>
            <a:cxnLst/>
            <a:rect l="l" t="t" r="r" b="b"/>
            <a:pathLst>
              <a:path w="1051560" h="1051560">
                <a:moveTo>
                  <a:pt x="0" y="91440"/>
                </a:moveTo>
                <a:lnTo>
                  <a:pt x="914400" y="0"/>
                </a:lnTo>
                <a:lnTo>
                  <a:pt x="1051560" y="960120"/>
                </a:lnTo>
                <a:lnTo>
                  <a:pt x="45720" y="105156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26279"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1. Кагаз</a:t>
            </a:r>
          </a:p>
        </p:txBody>
      </p:sp>
      <p:sp>
        <p:nvSpPr>
          <p:cNvPr id="37" name="Freeform 36"/>
          <p:cNvSpPr/>
          <p:nvPr/>
        </p:nvSpPr>
        <p:spPr>
          <a:xfrm>
            <a:off x="5852160" y="3108960"/>
            <a:ext cx="1051560" cy="548640"/>
          </a:xfrm>
          <a:custGeom>
            <a:avLst/>
            <a:gdLst/>
            <a:ahLst/>
            <a:cxnLst/>
            <a:rect l="l" t="t" r="r" b="b"/>
            <a:pathLst>
              <a:path w="1051560" h="548640">
                <a:moveTo>
                  <a:pt x="0" y="0"/>
                </a:moveTo>
                <a:lnTo>
                  <a:pt x="1051560" y="0"/>
                </a:lnTo>
                <a:lnTo>
                  <a:pt x="1051560" y="548640"/>
                </a:lnTo>
                <a:lnTo>
                  <a:pt x="45720" y="54864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52160" y="3108960"/>
            <a:ext cx="1051560" cy="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760720"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2. Бүктө</a:t>
            </a:r>
          </a:p>
        </p:txBody>
      </p:sp>
      <p:sp>
        <p:nvSpPr>
          <p:cNvPr id="40" name="Freeform 39"/>
          <p:cNvSpPr/>
          <p:nvPr/>
        </p:nvSpPr>
        <p:spPr>
          <a:xfrm>
            <a:off x="7315200" y="3108960"/>
            <a:ext cx="594360" cy="548640"/>
          </a:xfrm>
          <a:custGeom>
            <a:avLst/>
            <a:gdLst/>
            <a:ahLst/>
            <a:cxnLst/>
            <a:rect l="l" t="t" r="r" b="b"/>
            <a:pathLst>
              <a:path w="594360" h="548640">
                <a:moveTo>
                  <a:pt x="0" y="0"/>
                </a:moveTo>
                <a:lnTo>
                  <a:pt x="594360" y="0"/>
                </a:lnTo>
                <a:lnTo>
                  <a:pt x="548640" y="502920"/>
                </a:lnTo>
                <a:lnTo>
                  <a:pt x="0" y="54864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315200" y="3108960"/>
            <a:ext cx="594360" cy="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315200" y="3108960"/>
            <a:ext cx="0" cy="54864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sp>
        <p:nvSpPr>
          <p:cNvPr id="43" name="Freeform 42"/>
          <p:cNvSpPr/>
          <p:nvPr/>
        </p:nvSpPr>
        <p:spPr>
          <a:xfrm>
            <a:off x="7315200" y="3108960"/>
            <a:ext cx="128016" cy="128016"/>
          </a:xfrm>
          <a:custGeom>
            <a:avLst/>
            <a:gdLst/>
            <a:ahLst/>
            <a:cxnLst/>
            <a:rect l="l" t="t" r="r" b="b"/>
            <a:pathLst>
              <a:path w="128016" h="128016">
                <a:moveTo>
                  <a:pt x="128016" y="0"/>
                </a:moveTo>
                <a:lnTo>
                  <a:pt x="128016" y="128016"/>
                </a:lnTo>
                <a:lnTo>
                  <a:pt x="0" y="128016"/>
                </a:lnTo>
              </a:path>
            </a:pathLst>
          </a:custGeom>
          <a:noFill/>
          <a:ln w="19050" cap="rnd">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95160"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3. Дагы бүктө</a:t>
            </a:r>
          </a:p>
        </p:txBody>
      </p:sp>
      <p:sp>
        <p:nvSpPr>
          <p:cNvPr id="45" name="Freeform 44"/>
          <p:cNvSpPr/>
          <p:nvPr/>
        </p:nvSpPr>
        <p:spPr>
          <a:xfrm>
            <a:off x="4937760" y="4343400"/>
            <a:ext cx="2926080" cy="1097280"/>
          </a:xfrm>
          <a:custGeom>
            <a:avLst/>
            <a:gdLst/>
            <a:ahLst/>
            <a:cxnLst/>
            <a:rect l="l" t="t" r="r" b="b"/>
            <a:pathLst>
              <a:path w="2926080" h="1097280">
                <a:moveTo>
                  <a:pt x="0" y="0"/>
                </a:moveTo>
                <a:lnTo>
                  <a:pt x="2926080" y="0"/>
                </a:lnTo>
                <a:lnTo>
                  <a:pt x="2926080" y="1097280"/>
                </a:lnTo>
                <a:lnTo>
                  <a:pt x="0" y="1097280"/>
                </a:lnTo>
                <a:close/>
              </a:path>
            </a:pathLst>
          </a:custGeom>
          <a:solidFill>
            <a:srgbClr val="F5E9E0"/>
          </a:solidFill>
          <a:ln w="1905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94960" y="4770119"/>
            <a:ext cx="2011680" cy="243840"/>
          </a:xfrm>
          <a:prstGeom prst="rect">
            <a:avLst/>
          </a:prstGeom>
          <a:noFill/>
        </p:spPr>
        <p:txBody>
          <a:bodyPr wrap="none" lIns="0" rIns="0" tIns="0" bIns="0" anchor="ctr">
            <a:spAutoFit/>
          </a:bodyPr>
          <a:lstStyle/>
          <a:p>
            <a:pPr algn="ctr"/>
            <a:r>
              <a:rPr sz="1200" b="0" i="1">
                <a:solidFill>
                  <a:srgbClr val="4A5A70"/>
                </a:solidFill>
                <a:latin typeface="PT Sans"/>
              </a:rPr>
              <a:t>Китептин бурчу</a:t>
            </a:r>
          </a:p>
        </p:txBody>
      </p:sp>
      <p:sp>
        <p:nvSpPr>
          <p:cNvPr id="47" name="Freeform 46"/>
          <p:cNvSpPr/>
          <p:nvPr/>
        </p:nvSpPr>
        <p:spPr>
          <a:xfrm>
            <a:off x="4937760" y="4343400"/>
            <a:ext cx="685800" cy="685800"/>
          </a:xfrm>
          <a:custGeom>
            <a:avLst/>
            <a:gdLst/>
            <a:ahLst/>
            <a:cxnLst/>
            <a:rect l="l" t="t" r="r" b="b"/>
            <a:pathLst>
              <a:path w="685800" h="685800">
                <a:moveTo>
                  <a:pt x="0" y="0"/>
                </a:moveTo>
                <a:lnTo>
                  <a:pt x="685800" y="0"/>
                </a:lnTo>
                <a:lnTo>
                  <a:pt x="685800" y="685800"/>
                </a:lnTo>
                <a:lnTo>
                  <a:pt x="0" y="685800"/>
                </a:lnTo>
                <a:close/>
              </a:path>
            </a:pathLst>
          </a:custGeom>
          <a:solidFill>
            <a:srgbClr val="FFFFFF"/>
          </a:solidFill>
          <a:ln w="22225" cap="rnd">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02352" y="4498848"/>
            <a:ext cx="365760" cy="365760"/>
          </a:xfrm>
          <a:prstGeom prst="rect">
            <a:avLst/>
          </a:prstGeom>
          <a:noFill/>
        </p:spPr>
        <p:txBody>
          <a:bodyPr wrap="none" lIns="0" rIns="0" tIns="0" bIns="0" anchor="ctr">
            <a:spAutoFit/>
          </a:bodyPr>
          <a:lstStyle/>
          <a:p>
            <a:pPr algn="ctr"/>
            <a:r>
              <a:rPr sz="1800" b="1" i="0">
                <a:solidFill>
                  <a:srgbClr val="007A5A"/>
                </a:solidFill>
                <a:latin typeface="PT Sans"/>
              </a:rPr>
              <a:t>✓</a:t>
            </a:r>
          </a:p>
        </p:txBody>
      </p:sp>
      <p:sp>
        <p:nvSpPr>
          <p:cNvPr id="49" name="Rounded Rectangle 48"/>
          <p:cNvSpPr/>
          <p:nvPr/>
        </p:nvSpPr>
        <p:spPr>
          <a:xfrm>
            <a:off x="9006840" y="2057400"/>
            <a:ext cx="2743200" cy="3703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0" y="2121408"/>
            <a:ext cx="2514600" cy="356616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12 таякча</a:t>
            </a:r>
          </a:p>
          <a:p>
            <a:pPr algn="l">
              <a:lnSpc>
                <a:spcPct val="110000"/>
              </a:lnSpc>
            </a:pPr>
            <a:r>
              <a:rPr sz="1500" b="0" i="0">
                <a:solidFill>
                  <a:srgbClr val="1F2430"/>
                </a:solidFill>
                <a:latin typeface="PT Sans"/>
              </a:rPr>
              <a:t>• 8 пластилин шарча</a:t>
            </a:r>
          </a:p>
          <a:p>
            <a:pPr algn="l">
              <a:lnSpc>
                <a:spcPct val="110000"/>
              </a:lnSpc>
            </a:pPr>
            <a:r>
              <a:rPr sz="1500" b="0" i="0">
                <a:solidFill>
                  <a:srgbClr val="1F2430"/>
                </a:solidFill>
                <a:latin typeface="PT Sans"/>
              </a:rPr>
              <a:t>• 1 барак кагаз</a:t>
            </a:r>
          </a:p>
          <a:p>
            <a:pPr algn="l">
              <a:lnSpc>
                <a:spcPct val="110000"/>
              </a:lnSpc>
            </a:pPr>
            <a:r>
              <a:rPr sz="1500" b="0" i="0">
                <a:solidFill>
                  <a:srgbClr val="1F2430"/>
                </a:solidFill>
                <a:latin typeface="PT Sans"/>
              </a:rPr>
              <a:t>Топко: кутуча, банка, топ, кагаз мүйүз</a:t>
            </a:r>
          </a:p>
          <a:p>
            <a:pPr algn="l">
              <a:lnSpc>
                <a:spcPct val="110000"/>
              </a:lnSpc>
            </a:pPr>
            <a:r>
              <a:rPr sz="1700" b="1" i="0">
                <a:solidFill>
                  <a:srgbClr val="24418C"/>
                </a:solidFill>
                <a:latin typeface="PT Sans"/>
              </a:rPr>
              <a:t>Кармай алсак – көлөмдүү</a:t>
            </a:r>
          </a:p>
        </p:txBody>
      </p:sp>
      <p:sp>
        <p:nvSpPr>
          <p:cNvPr id="51" name="Rounded Rectangle 50"/>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2" name="Rounded Rectangle 51"/>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3" name="Rounded Rectangle 52"/>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сүрөт менен: бет, кыр, чоку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Кубдун сүрөтүндө 3 гана бет көрүнөт. Калган беттер кайда?</a:t>
            </a:r>
          </a:p>
        </p:txBody>
      </p:sp>
      <p:sp>
        <p:nvSpPr>
          <p:cNvPr id="12" name="Freeform 11"/>
          <p:cNvSpPr/>
          <p:nvPr/>
        </p:nvSpPr>
        <p:spPr>
          <a:xfrm>
            <a:off x="982980" y="3237954"/>
            <a:ext cx="1722666" cy="1722666"/>
          </a:xfrm>
          <a:custGeom>
            <a:avLst/>
            <a:gdLst/>
            <a:ahLst/>
            <a:cxnLst/>
            <a:rect l="l" t="t" r="r" b="b"/>
            <a:pathLst>
              <a:path w="1722666" h="1722666">
                <a:moveTo>
                  <a:pt x="0" y="1722666"/>
                </a:moveTo>
                <a:lnTo>
                  <a:pt x="1722666" y="1722666"/>
                </a:lnTo>
                <a:lnTo>
                  <a:pt x="1722666" y="0"/>
                </a:lnTo>
                <a:lnTo>
                  <a:pt x="0" y="0"/>
                </a:lnTo>
                <a:close/>
              </a:path>
            </a:pathLst>
          </a:custGeom>
          <a:solidFill>
            <a:srgbClr val="C9D4EE"/>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82980" y="2628900"/>
            <a:ext cx="2331720" cy="609054"/>
          </a:xfrm>
          <a:custGeom>
            <a:avLst/>
            <a:gdLst/>
            <a:ahLst/>
            <a:cxnLst/>
            <a:rect l="l" t="t" r="r" b="b"/>
            <a:pathLst>
              <a:path w="2331720" h="609054">
                <a:moveTo>
                  <a:pt x="0" y="609054"/>
                </a:moveTo>
                <a:lnTo>
                  <a:pt x="1722666" y="609054"/>
                </a:lnTo>
                <a:lnTo>
                  <a:pt x="2331720" y="0"/>
                </a:lnTo>
                <a:lnTo>
                  <a:pt x="609054" y="0"/>
                </a:lnTo>
                <a:close/>
              </a:path>
            </a:pathLst>
          </a:custGeom>
          <a:solidFill>
            <a:srgbClr val="E6EBF7"/>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05646" y="2628900"/>
            <a:ext cx="609054" cy="2331720"/>
          </a:xfrm>
          <a:custGeom>
            <a:avLst/>
            <a:gdLst/>
            <a:ahLst/>
            <a:cxnLst/>
            <a:rect l="l" t="t" r="r" b="b"/>
            <a:pathLst>
              <a:path w="609054" h="2331720">
                <a:moveTo>
                  <a:pt x="0" y="2331720"/>
                </a:moveTo>
                <a:lnTo>
                  <a:pt x="0" y="609054"/>
                </a:lnTo>
                <a:lnTo>
                  <a:pt x="609054" y="0"/>
                </a:lnTo>
                <a:lnTo>
                  <a:pt x="609054" y="1722666"/>
                </a:lnTo>
                <a:close/>
              </a:path>
            </a:pathLst>
          </a:custGeom>
          <a:solidFill>
            <a:srgbClr val="C9D4EE"/>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982980" y="4351565"/>
            <a:ext cx="609054" cy="609055"/>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92034" y="4351565"/>
            <a:ext cx="1722666" cy="0"/>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592034" y="2628900"/>
            <a:ext cx="0" cy="1722665"/>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2980" y="4960620"/>
            <a:ext cx="1722665"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82980" y="3237954"/>
            <a:ext cx="0" cy="1722666"/>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705645" y="3237954"/>
            <a:ext cx="0" cy="1722666"/>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705645" y="4351565"/>
            <a:ext cx="609055" cy="609055"/>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82980" y="3237954"/>
            <a:ext cx="1722665"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705645" y="2628900"/>
            <a:ext cx="609055" cy="609054"/>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2980" y="2628900"/>
            <a:ext cx="609054" cy="609054"/>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314700" y="2628900"/>
            <a:ext cx="0" cy="1722665"/>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592034" y="2628900"/>
            <a:ext cx="1722666"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800" y="2331720"/>
            <a:ext cx="1067072" cy="1676127"/>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0247" y="2032000"/>
            <a:ext cx="451104" cy="325120"/>
          </a:xfrm>
          <a:prstGeom prst="rect">
            <a:avLst/>
          </a:prstGeom>
          <a:noFill/>
        </p:spPr>
        <p:txBody>
          <a:bodyPr wrap="none" lIns="0" rIns="0" tIns="0" bIns="0" anchor="ctr">
            <a:spAutoFit/>
          </a:bodyPr>
          <a:lstStyle/>
          <a:p>
            <a:pPr algn="ctr"/>
            <a:r>
              <a:rPr sz="1600" b="1" i="0">
                <a:solidFill>
                  <a:srgbClr val="A84400"/>
                </a:solidFill>
                <a:latin typeface="PT Sans"/>
              </a:rPr>
              <a:t>бет</a:t>
            </a:r>
          </a:p>
        </p:txBody>
      </p:sp>
      <p:cxnSp>
        <p:nvCxnSpPr>
          <p:cNvPr id="29" name="Connector 28"/>
          <p:cNvCxnSpPr/>
          <p:nvPr/>
        </p:nvCxnSpPr>
        <p:spPr>
          <a:xfrm flipH="1">
            <a:off x="3055892" y="2240280"/>
            <a:ext cx="876028" cy="665715"/>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843528" y="1986280"/>
            <a:ext cx="451104" cy="325120"/>
          </a:xfrm>
          <a:prstGeom prst="rect">
            <a:avLst/>
          </a:prstGeom>
          <a:noFill/>
        </p:spPr>
        <p:txBody>
          <a:bodyPr wrap="none" lIns="0" rIns="0" tIns="0" bIns="0" anchor="ctr">
            <a:spAutoFit/>
          </a:bodyPr>
          <a:lstStyle/>
          <a:p>
            <a:pPr algn="ctr"/>
            <a:r>
              <a:rPr sz="1600" b="1" i="0">
                <a:solidFill>
                  <a:srgbClr val="A84400"/>
                </a:solidFill>
                <a:latin typeface="PT Sans"/>
              </a:rPr>
              <a:t>кыр</a:t>
            </a:r>
          </a:p>
        </p:txBody>
      </p:sp>
      <p:cxnSp>
        <p:nvCxnSpPr>
          <p:cNvPr id="31" name="Connector 30"/>
          <p:cNvCxnSpPr/>
          <p:nvPr/>
        </p:nvCxnSpPr>
        <p:spPr>
          <a:xfrm flipH="1" flipV="1">
            <a:off x="2769653" y="5006340"/>
            <a:ext cx="1207986" cy="251460"/>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32351" y="5186679"/>
            <a:ext cx="564896" cy="325120"/>
          </a:xfrm>
          <a:prstGeom prst="rect">
            <a:avLst/>
          </a:prstGeom>
          <a:noFill/>
        </p:spPr>
        <p:txBody>
          <a:bodyPr wrap="none" lIns="0" rIns="0" tIns="0" bIns="0" anchor="ctr">
            <a:spAutoFit/>
          </a:bodyPr>
          <a:lstStyle/>
          <a:p>
            <a:pPr algn="ctr"/>
            <a:r>
              <a:rPr sz="1600" b="1" i="0">
                <a:solidFill>
                  <a:srgbClr val="A84400"/>
                </a:solidFill>
                <a:latin typeface="PT Sans"/>
              </a:rPr>
              <a:t>чоку</a:t>
            </a:r>
          </a:p>
        </p:txBody>
      </p:sp>
      <p:sp>
        <p:nvSpPr>
          <p:cNvPr id="33" name="TextBox 32"/>
          <p:cNvSpPr txBox="1"/>
          <p:nvPr/>
        </p:nvSpPr>
        <p:spPr>
          <a:xfrm>
            <a:off x="640080" y="5227319"/>
            <a:ext cx="2743200" cy="243840"/>
          </a:xfrm>
          <a:prstGeom prst="rect">
            <a:avLst/>
          </a:prstGeom>
          <a:noFill/>
        </p:spPr>
        <p:txBody>
          <a:bodyPr wrap="none" lIns="0" rIns="0" tIns="0" bIns="0" anchor="ctr">
            <a:spAutoFit/>
          </a:bodyPr>
          <a:lstStyle/>
          <a:p>
            <a:pPr algn="ctr"/>
            <a:r>
              <a:rPr sz="1200" b="0" i="1">
                <a:solidFill>
                  <a:srgbClr val="4A5A70"/>
                </a:solidFill>
                <a:latin typeface="PT Sans"/>
              </a:rPr>
              <a:t>Үзүк сызык – көрүнбөгөн кыр</a:t>
            </a:r>
          </a:p>
        </p:txBody>
      </p:sp>
      <p:sp>
        <p:nvSpPr>
          <p:cNvPr id="34" name="Rectangle 33"/>
          <p:cNvSpPr/>
          <p:nvPr/>
        </p:nvSpPr>
        <p:spPr>
          <a:xfrm>
            <a:off x="6126480" y="224028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0780" y="2339340"/>
            <a:ext cx="274320" cy="304800"/>
          </a:xfrm>
          <a:prstGeom prst="rect">
            <a:avLst/>
          </a:prstGeom>
          <a:noFill/>
        </p:spPr>
        <p:txBody>
          <a:bodyPr wrap="none" lIns="0" rIns="0" tIns="0" bIns="0" anchor="ctr">
            <a:spAutoFit/>
          </a:bodyPr>
          <a:lstStyle/>
          <a:p>
            <a:pPr algn="ctr"/>
            <a:r>
              <a:rPr sz="1500" b="1" i="0">
                <a:solidFill>
                  <a:srgbClr val="1D3557"/>
                </a:solidFill>
                <a:latin typeface="PT Sans"/>
              </a:rPr>
              <a:t>1</a:t>
            </a:r>
          </a:p>
        </p:txBody>
      </p:sp>
      <p:sp>
        <p:nvSpPr>
          <p:cNvPr id="36" name="Rectangle 35"/>
          <p:cNvSpPr/>
          <p:nvPr/>
        </p:nvSpPr>
        <p:spPr>
          <a:xfrm>
            <a:off x="5623560" y="274320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3786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2</a:t>
            </a:r>
          </a:p>
        </p:txBody>
      </p:sp>
      <p:sp>
        <p:nvSpPr>
          <p:cNvPr id="38" name="Rectangle 37"/>
          <p:cNvSpPr/>
          <p:nvPr/>
        </p:nvSpPr>
        <p:spPr>
          <a:xfrm>
            <a:off x="6126480" y="274320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4078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3</a:t>
            </a:r>
          </a:p>
        </p:txBody>
      </p:sp>
      <p:sp>
        <p:nvSpPr>
          <p:cNvPr id="40" name="Rectangle 39"/>
          <p:cNvSpPr/>
          <p:nvPr/>
        </p:nvSpPr>
        <p:spPr>
          <a:xfrm>
            <a:off x="6629400" y="274320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4370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4</a:t>
            </a:r>
          </a:p>
        </p:txBody>
      </p:sp>
      <p:sp>
        <p:nvSpPr>
          <p:cNvPr id="42" name="Rectangle 41"/>
          <p:cNvSpPr/>
          <p:nvPr/>
        </p:nvSpPr>
        <p:spPr>
          <a:xfrm>
            <a:off x="6126480" y="324612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40780" y="3345180"/>
            <a:ext cx="274320" cy="304800"/>
          </a:xfrm>
          <a:prstGeom prst="rect">
            <a:avLst/>
          </a:prstGeom>
          <a:noFill/>
        </p:spPr>
        <p:txBody>
          <a:bodyPr wrap="none" lIns="0" rIns="0" tIns="0" bIns="0" anchor="ctr">
            <a:spAutoFit/>
          </a:bodyPr>
          <a:lstStyle/>
          <a:p>
            <a:pPr algn="ctr"/>
            <a:r>
              <a:rPr sz="1500" b="1" i="0">
                <a:solidFill>
                  <a:srgbClr val="1D3557"/>
                </a:solidFill>
                <a:latin typeface="PT Sans"/>
              </a:rPr>
              <a:t>5</a:t>
            </a:r>
          </a:p>
        </p:txBody>
      </p:sp>
      <p:sp>
        <p:nvSpPr>
          <p:cNvPr id="44" name="Rectangle 43"/>
          <p:cNvSpPr/>
          <p:nvPr/>
        </p:nvSpPr>
        <p:spPr>
          <a:xfrm>
            <a:off x="6126480" y="374904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40780" y="3848099"/>
            <a:ext cx="274320" cy="304800"/>
          </a:xfrm>
          <a:prstGeom prst="rect">
            <a:avLst/>
          </a:prstGeom>
          <a:noFill/>
        </p:spPr>
        <p:txBody>
          <a:bodyPr wrap="none" lIns="0" rIns="0" tIns="0" bIns="0" anchor="ctr">
            <a:spAutoFit/>
          </a:bodyPr>
          <a:lstStyle/>
          <a:p>
            <a:pPr algn="ctr"/>
            <a:r>
              <a:rPr sz="1500" b="1" i="0">
                <a:solidFill>
                  <a:srgbClr val="1D3557"/>
                </a:solidFill>
                <a:latin typeface="PT Sans"/>
              </a:rPr>
              <a:t>6</a:t>
            </a:r>
          </a:p>
        </p:txBody>
      </p:sp>
      <p:sp>
        <p:nvSpPr>
          <p:cNvPr id="46" name="TextBox 45"/>
          <p:cNvSpPr txBox="1"/>
          <p:nvPr/>
        </p:nvSpPr>
        <p:spPr>
          <a:xfrm>
            <a:off x="5006340" y="4384040"/>
            <a:ext cx="2743200" cy="284480"/>
          </a:xfrm>
          <a:prstGeom prst="rect">
            <a:avLst/>
          </a:prstGeom>
          <a:noFill/>
        </p:spPr>
        <p:txBody>
          <a:bodyPr wrap="none" lIns="0" rIns="0" tIns="0" bIns="0" anchor="ctr">
            <a:spAutoFit/>
          </a:bodyPr>
          <a:lstStyle/>
          <a:p>
            <a:pPr algn="ctr"/>
            <a:r>
              <a:rPr sz="1400" b="1" i="0">
                <a:solidFill>
                  <a:srgbClr val="1D3557"/>
                </a:solidFill>
                <a:latin typeface="PT Sans"/>
              </a:rPr>
              <a:t>Кутуну жазсак: 6 бет</a:t>
            </a:r>
          </a:p>
        </p:txBody>
      </p:sp>
      <p:sp>
        <p:nvSpPr>
          <p:cNvPr id="47" name="Freeform 46"/>
          <p:cNvSpPr/>
          <p:nvPr/>
        </p:nvSpPr>
        <p:spPr>
          <a:xfrm>
            <a:off x="800100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800100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867655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V="1">
            <a:off x="800100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23984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23984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00100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00100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867655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67655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00100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67655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00100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91540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23984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32104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63" name="Freeform 62"/>
          <p:cNvSpPr/>
          <p:nvPr/>
        </p:nvSpPr>
        <p:spPr>
          <a:xfrm>
            <a:off x="918972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918972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Freeform 64"/>
          <p:cNvSpPr/>
          <p:nvPr/>
        </p:nvSpPr>
        <p:spPr>
          <a:xfrm>
            <a:off x="986527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918972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42856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42856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18972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918972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86527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86527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918972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986527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918972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010412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a:off x="942856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950976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79" name="Freeform 78"/>
          <p:cNvSpPr/>
          <p:nvPr/>
        </p:nvSpPr>
        <p:spPr>
          <a:xfrm>
            <a:off x="1037844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1037844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Freeform 80"/>
          <p:cNvSpPr/>
          <p:nvPr/>
        </p:nvSpPr>
        <p:spPr>
          <a:xfrm>
            <a:off x="1105399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flipV="1">
            <a:off x="1037844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61728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61728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37844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037844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105399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105399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037844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05399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037844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129284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a:off x="1061728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069848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95" name="TextBox 94"/>
          <p:cNvSpPr txBox="1"/>
          <p:nvPr/>
        </p:nvSpPr>
        <p:spPr>
          <a:xfrm>
            <a:off x="8915400" y="3820160"/>
            <a:ext cx="274320" cy="406400"/>
          </a:xfrm>
          <a:prstGeom prst="rect">
            <a:avLst/>
          </a:prstGeom>
          <a:noFill/>
        </p:spPr>
        <p:txBody>
          <a:bodyPr wrap="none" lIns="0" rIns="0" tIns="0" bIns="0" anchor="ctr">
            <a:spAutoFit/>
          </a:bodyPr>
          <a:lstStyle/>
          <a:p>
            <a:pPr algn="ctr"/>
            <a:r>
              <a:rPr sz="2000" b="1" i="0">
                <a:solidFill>
                  <a:srgbClr val="1F2430"/>
                </a:solidFill>
                <a:latin typeface="PT Sans"/>
              </a:rPr>
              <a:t>+</a:t>
            </a:r>
          </a:p>
        </p:txBody>
      </p:sp>
      <p:sp>
        <p:nvSpPr>
          <p:cNvPr id="96" name="TextBox 95"/>
          <p:cNvSpPr txBox="1"/>
          <p:nvPr/>
        </p:nvSpPr>
        <p:spPr>
          <a:xfrm>
            <a:off x="10104120" y="3820160"/>
            <a:ext cx="274320" cy="406400"/>
          </a:xfrm>
          <a:prstGeom prst="rect">
            <a:avLst/>
          </a:prstGeom>
          <a:noFill/>
        </p:spPr>
        <p:txBody>
          <a:bodyPr wrap="none" lIns="0" rIns="0" tIns="0" bIns="0" anchor="ctr">
            <a:spAutoFit/>
          </a:bodyPr>
          <a:lstStyle/>
          <a:p>
            <a:pPr algn="ctr"/>
            <a:r>
              <a:rPr sz="2000" b="1" i="0">
                <a:solidFill>
                  <a:srgbClr val="1F2430"/>
                </a:solidFill>
                <a:latin typeface="PT Sans"/>
              </a:rPr>
              <a:t>+</a:t>
            </a:r>
          </a:p>
        </p:txBody>
      </p:sp>
      <p:sp>
        <p:nvSpPr>
          <p:cNvPr id="97" name="TextBox 96"/>
          <p:cNvSpPr txBox="1"/>
          <p:nvPr/>
        </p:nvSpPr>
        <p:spPr>
          <a:xfrm>
            <a:off x="8503920" y="4394200"/>
            <a:ext cx="2286000" cy="447040"/>
          </a:xfrm>
          <a:prstGeom prst="rect">
            <a:avLst/>
          </a:prstGeom>
          <a:noFill/>
        </p:spPr>
        <p:txBody>
          <a:bodyPr wrap="none" lIns="0" rIns="0" tIns="0" bIns="0" anchor="ctr">
            <a:spAutoFit/>
          </a:bodyPr>
          <a:lstStyle/>
          <a:p>
            <a:pPr algn="ctr"/>
            <a:r>
              <a:rPr sz="2200" b="1" i="0">
                <a:solidFill>
                  <a:srgbClr val="24418C"/>
                </a:solidFill>
                <a:latin typeface="PT Sans"/>
              </a:rPr>
              <a:t>= 18 бет</a:t>
            </a:r>
          </a:p>
        </p:txBody>
      </p:sp>
      <p:sp>
        <p:nvSpPr>
          <p:cNvPr id="98" name="TextBox 97"/>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 кубик = 6 бет;   3 кубик: 6 + 6 + 6 = 18</a:t>
            </a:r>
          </a:p>
        </p:txBody>
      </p:sp>
      <p:sp>
        <p:nvSpPr>
          <p:cNvPr id="99" name="Rounded Rectangle 9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100" name="Rounded Rectangle 99"/>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101" name="Rounded Rectangle 100"/>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102" name="Rounded Rectangle 101"/>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Жак, чоку</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Тегиз фигура</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Белгилеп сана, эки жолу эмес</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Тик бурч</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Бурчту текшер</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Бүктөлгөн кагаз менен</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Бет, кыр</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Көлөмдүү фигура</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Көрүнбөгөнүн да сана</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Аты</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Касиети боюнча ата</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Бурсак да, аты өзгөрбөйт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Куб: 6 бет, 12 кыр, 8 чоку</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пирамида жасады (асты квадрат). Анын беттери, кырлары, чокулары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Беттер = 1 + 4 = 5</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капталы</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Кырлар = 4 + 4 = 8</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капталы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Чокулар = 4 + 1 = 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төбөсү</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Пирамида = </a:t>
            </a:r>
            <a:r>
              <a:rPr sz="3400" b="1">
                <a:solidFill>
                  <a:srgbClr val="24418C"/>
                </a:solidFill>
                <a:latin typeface="PT Sans"/>
              </a:rPr>
              <a:t>5 бет, 8 кыр, 5 чоку</a:t>
            </a:r>
          </a:p>
        </p:txBody>
      </p:sp>
      <p:sp>
        <p:nvSpPr>
          <p:cNvPr id="19" name="g2fig"/>
          <p:cNvSpPr/>
          <p:nvPr/>
        </p:nvSpPr>
        <p:spPr>
          <a:xfrm>
            <a:off x="1280160" y="2704531"/>
            <a:ext cx="1553777" cy="1906138"/>
          </a:xfrm>
          <a:custGeom>
            <a:avLst/>
            <a:gdLst/>
            <a:ahLst/>
            <a:cxnLst/>
            <a:rect l="l" t="t" r="r" b="b"/>
            <a:pathLst>
              <a:path w="1553777" h="1906138">
                <a:moveTo>
                  <a:pt x="0" y="1906138"/>
                </a:moveTo>
                <a:lnTo>
                  <a:pt x="1553777" y="1906138"/>
                </a:lnTo>
                <a:lnTo>
                  <a:pt x="1051560" y="0"/>
                </a:lnTo>
                <a:close/>
              </a:path>
            </a:pathLst>
          </a:custGeom>
          <a:solidFill>
            <a:srgbClr val="E6EBF7"/>
          </a:solidFill>
          <a:ln w="13436"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2fig"/>
          <p:cNvSpPr/>
          <p:nvPr/>
        </p:nvSpPr>
        <p:spPr>
          <a:xfrm>
            <a:off x="2331720" y="2704531"/>
            <a:ext cx="1051560" cy="1906138"/>
          </a:xfrm>
          <a:custGeom>
            <a:avLst/>
            <a:gdLst/>
            <a:ahLst/>
            <a:cxnLst/>
            <a:rect l="l" t="t" r="r" b="b"/>
            <a:pathLst>
              <a:path w="1051560" h="1906138">
                <a:moveTo>
                  <a:pt x="502217" y="1906138"/>
                </a:moveTo>
                <a:lnTo>
                  <a:pt x="1051560" y="1356795"/>
                </a:lnTo>
                <a:lnTo>
                  <a:pt x="0" y="0"/>
                </a:lnTo>
                <a:close/>
              </a:path>
            </a:pathLst>
          </a:custGeom>
          <a:solidFill>
            <a:srgbClr val="C9D4EE"/>
          </a:solidFill>
          <a:ln w="13436"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g2fig"/>
          <p:cNvCxnSpPr/>
          <p:nvPr/>
        </p:nvCxnSpPr>
        <p:spPr>
          <a:xfrm flipV="1">
            <a:off x="1280160" y="4061325"/>
            <a:ext cx="549343" cy="549343"/>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2" name="g2fig"/>
          <p:cNvCxnSpPr/>
          <p:nvPr/>
        </p:nvCxnSpPr>
        <p:spPr>
          <a:xfrm flipH="1">
            <a:off x="1829503" y="4061325"/>
            <a:ext cx="1553776" cy="0"/>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3" name="g2fig"/>
          <p:cNvCxnSpPr/>
          <p:nvPr/>
        </p:nvCxnSpPr>
        <p:spPr>
          <a:xfrm flipV="1">
            <a:off x="1829503" y="2704531"/>
            <a:ext cx="502217" cy="1356794"/>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4" name="g2fig"/>
          <p:cNvCxnSpPr/>
          <p:nvPr/>
        </p:nvCxnSpPr>
        <p:spPr>
          <a:xfrm>
            <a:off x="1280160" y="4610668"/>
            <a:ext cx="1553776" cy="0"/>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flipV="1">
            <a:off x="1280160" y="2704531"/>
            <a:ext cx="1051560" cy="1906137"/>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2833936" y="4061325"/>
            <a:ext cx="549343" cy="549343"/>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flipH="1" flipV="1">
            <a:off x="2331720" y="2704531"/>
            <a:ext cx="502216" cy="1906137"/>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flipH="1" flipV="1">
            <a:off x="2331720" y="2704531"/>
            <a:ext cx="1051559" cy="1356794"/>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29" name="g2fig"/>
          <p:cNvSpPr/>
          <p:nvPr/>
        </p:nvSpPr>
        <p:spPr>
          <a:xfrm>
            <a:off x="1206550" y="4537059"/>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2fig"/>
          <p:cNvSpPr/>
          <p:nvPr/>
        </p:nvSpPr>
        <p:spPr>
          <a:xfrm>
            <a:off x="2760327" y="4537059"/>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2fig"/>
          <p:cNvSpPr/>
          <p:nvPr/>
        </p:nvSpPr>
        <p:spPr>
          <a:xfrm>
            <a:off x="3309670" y="3987716"/>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2fig"/>
          <p:cNvSpPr/>
          <p:nvPr/>
        </p:nvSpPr>
        <p:spPr>
          <a:xfrm>
            <a:off x="1755893" y="3987716"/>
            <a:ext cx="147218" cy="147218"/>
          </a:xfrm>
          <a:prstGeom prst="ellipse">
            <a:avLst/>
          </a:prstGeom>
          <a:solidFill>
            <a:srgbClr val="FFFFFF"/>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2fig"/>
          <p:cNvSpPr/>
          <p:nvPr/>
        </p:nvSpPr>
        <p:spPr>
          <a:xfrm>
            <a:off x="2258110" y="2630922"/>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Айбек таякчалардан 2 үч бурчтук жана 1 квадрат курду. Канча таякча керек болду?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3 + 3 + 4</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үч бурчтук + квадрат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6 + 4</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10</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таякча</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Таякча = </a:t>
            </a:r>
            <a:r>
              <a:rPr sz="3400" b="1">
                <a:solidFill>
                  <a:srgbClr val="24418C"/>
                </a:solidFill>
                <a:latin typeface="PT Sans"/>
              </a:rPr>
              <a:t>10</a:t>
            </a:r>
          </a:p>
        </p:txBody>
      </p:sp>
      <p:cxnSp>
        <p:nvCxnSpPr>
          <p:cNvPr id="18" name="g2fig"/>
          <p:cNvCxnSpPr/>
          <p:nvPr/>
        </p:nvCxnSpPr>
        <p:spPr>
          <a:xfrm>
            <a:off x="13258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9" name="g2fig"/>
          <p:cNvCxnSpPr/>
          <p:nvPr/>
        </p:nvCxnSpPr>
        <p:spPr>
          <a:xfrm flipH="1">
            <a:off x="754380" y="4106799"/>
            <a:ext cx="1143000" cy="0"/>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0" name="g2fig"/>
          <p:cNvCxnSpPr/>
          <p:nvPr/>
        </p:nvCxnSpPr>
        <p:spPr>
          <a:xfrm flipV="1">
            <a:off x="7543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1" name="g2fig"/>
          <p:cNvSpPr/>
          <p:nvPr/>
        </p:nvSpPr>
        <p:spPr>
          <a:xfrm>
            <a:off x="1270558" y="3061639"/>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2fig"/>
          <p:cNvSpPr/>
          <p:nvPr/>
        </p:nvSpPr>
        <p:spPr>
          <a:xfrm>
            <a:off x="18420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6990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g2fig"/>
          <p:cNvCxnSpPr/>
          <p:nvPr/>
        </p:nvCxnSpPr>
        <p:spPr>
          <a:xfrm>
            <a:off x="26974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flipH="1">
            <a:off x="2125980" y="4106799"/>
            <a:ext cx="1143000" cy="0"/>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21259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7" name="g2fig"/>
          <p:cNvSpPr/>
          <p:nvPr/>
        </p:nvSpPr>
        <p:spPr>
          <a:xfrm>
            <a:off x="2642158" y="3061639"/>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2fig"/>
          <p:cNvSpPr/>
          <p:nvPr/>
        </p:nvSpPr>
        <p:spPr>
          <a:xfrm>
            <a:off x="32136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2fig"/>
          <p:cNvSpPr/>
          <p:nvPr/>
        </p:nvSpPr>
        <p:spPr>
          <a:xfrm>
            <a:off x="20706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g2fig"/>
          <p:cNvCxnSpPr/>
          <p:nvPr/>
        </p:nvCxnSpPr>
        <p:spPr>
          <a:xfrm>
            <a:off x="3543300" y="3131820"/>
            <a:ext cx="960120" cy="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a:off x="4503420" y="3131820"/>
            <a:ext cx="0" cy="96012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H="1">
            <a:off x="3543300" y="4091940"/>
            <a:ext cx="960120" cy="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3543300" y="3131820"/>
            <a:ext cx="0" cy="96012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34" name="g2fig"/>
          <p:cNvSpPr/>
          <p:nvPr/>
        </p:nvSpPr>
        <p:spPr>
          <a:xfrm>
            <a:off x="3490493" y="307901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2fig"/>
          <p:cNvSpPr/>
          <p:nvPr/>
        </p:nvSpPr>
        <p:spPr>
          <a:xfrm>
            <a:off x="4450613" y="307901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2fig"/>
          <p:cNvSpPr/>
          <p:nvPr/>
        </p:nvSpPr>
        <p:spPr>
          <a:xfrm>
            <a:off x="4450613" y="403913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2fig"/>
          <p:cNvSpPr/>
          <p:nvPr/>
        </p:nvSpPr>
        <p:spPr>
          <a:xfrm>
            <a:off x="3490493" y="403913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санабай эле тап</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Жуп-жуп сана</a:t>
            </a:r>
          </a:p>
        </p:txBody>
      </p:sp>
      <p:sp>
        <p:nvSpPr>
          <p:cNvPr id="13" name="TextBox 12"/>
          <p:cNvSpPr txBox="1"/>
          <p:nvPr/>
        </p:nvSpPr>
        <p:spPr>
          <a:xfrm>
            <a:off x="658368" y="21945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Кубдун беттери:</a:t>
            </a:r>
          </a:p>
        </p:txBody>
      </p:sp>
      <p:sp>
        <p:nvSpPr>
          <p:cNvPr id="14" name="TextBox 13"/>
          <p:cNvSpPr txBox="1"/>
          <p:nvPr/>
        </p:nvSpPr>
        <p:spPr>
          <a:xfrm>
            <a:off x="658368" y="26517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алды, арты: 2</a:t>
            </a:r>
          </a:p>
        </p:txBody>
      </p:sp>
      <p:sp>
        <p:nvSpPr>
          <p:cNvPr id="15" name="TextBox 14"/>
          <p:cNvSpPr txBox="1"/>
          <p:nvPr/>
        </p:nvSpPr>
        <p:spPr>
          <a:xfrm>
            <a:off x="658368" y="31089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үстү, асты: 2</a:t>
            </a:r>
          </a:p>
        </p:txBody>
      </p:sp>
      <p:sp>
        <p:nvSpPr>
          <p:cNvPr id="16" name="TextBox 15"/>
          <p:cNvSpPr txBox="1"/>
          <p:nvPr/>
        </p:nvSpPr>
        <p:spPr>
          <a:xfrm>
            <a:off x="658368" y="35661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оң, сол: 2</a:t>
            </a:r>
          </a:p>
        </p:txBody>
      </p:sp>
      <p:sp>
        <p:nvSpPr>
          <p:cNvPr id="17" name="TextBox 16"/>
          <p:cNvSpPr txBox="1"/>
          <p:nvPr/>
        </p:nvSpPr>
        <p:spPr>
          <a:xfrm>
            <a:off x="658368" y="40233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 + 2 + 2 = 6</a:t>
            </a:r>
          </a:p>
        </p:txBody>
      </p:sp>
      <p:sp>
        <p:nvSpPr>
          <p:cNvPr id="18" name="TextBox 17"/>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Беттерди жуп менен санайбыз.</a:t>
            </a:r>
          </a:p>
        </p:txBody>
      </p:sp>
      <p:sp>
        <p:nvSpPr>
          <p:cNvPr id="19" name="Rounded Rectangle 18"/>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1" name="TextBox 20"/>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Кабат-кабат</a:t>
            </a:r>
          </a:p>
        </p:txBody>
      </p:sp>
      <p:sp>
        <p:nvSpPr>
          <p:cNvPr id="22" name="TextBox 21"/>
          <p:cNvSpPr txBox="1"/>
          <p:nvPr/>
        </p:nvSpPr>
        <p:spPr>
          <a:xfrm>
            <a:off x="4526280" y="21945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Кубдун кырлары:</a:t>
            </a:r>
          </a:p>
        </p:txBody>
      </p:sp>
      <p:sp>
        <p:nvSpPr>
          <p:cNvPr id="23" name="TextBox 22"/>
          <p:cNvSpPr txBox="1"/>
          <p:nvPr/>
        </p:nvSpPr>
        <p:spPr>
          <a:xfrm>
            <a:off x="4526280" y="26517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үстүндө: 4</a:t>
            </a:r>
          </a:p>
        </p:txBody>
      </p:sp>
      <p:sp>
        <p:nvSpPr>
          <p:cNvPr id="24" name="TextBox 23"/>
          <p:cNvSpPr txBox="1"/>
          <p:nvPr/>
        </p:nvSpPr>
        <p:spPr>
          <a:xfrm>
            <a:off x="4526280" y="31089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астында: 4</a:t>
            </a:r>
          </a:p>
        </p:txBody>
      </p:sp>
      <p:sp>
        <p:nvSpPr>
          <p:cNvPr id="25" name="TextBox 24"/>
          <p:cNvSpPr txBox="1"/>
          <p:nvPr/>
        </p:nvSpPr>
        <p:spPr>
          <a:xfrm>
            <a:off x="4526280" y="35661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тик: 4</a:t>
            </a:r>
          </a:p>
        </p:txBody>
      </p:sp>
      <p:sp>
        <p:nvSpPr>
          <p:cNvPr id="26" name="TextBox 25"/>
          <p:cNvSpPr txBox="1"/>
          <p:nvPr/>
        </p:nvSpPr>
        <p:spPr>
          <a:xfrm>
            <a:off x="4526280" y="40233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4 + 4 + 4 = 12</a:t>
            </a:r>
          </a:p>
        </p:txBody>
      </p:sp>
      <p:sp>
        <p:nvSpPr>
          <p:cNvPr id="27" name="TextBox 26"/>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Үстү, асты жана тик кырлар.</a:t>
            </a:r>
          </a:p>
        </p:txBody>
      </p:sp>
      <p:sp>
        <p:nvSpPr>
          <p:cNvPr id="28" name="Rounded Rectangle 27"/>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30" name="TextBox 29"/>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Жак = чоку</a:t>
            </a:r>
          </a:p>
        </p:txBody>
      </p:sp>
      <p:sp>
        <p:nvSpPr>
          <p:cNvPr id="31" name="TextBox 30"/>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Беш бурчтук:</a:t>
            </a:r>
          </a:p>
        </p:txBody>
      </p:sp>
      <p:sp>
        <p:nvSpPr>
          <p:cNvPr id="32" name="TextBox 31"/>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жак → 5 чоку</a:t>
            </a:r>
          </a:p>
        </p:txBody>
      </p:sp>
      <p:sp>
        <p:nvSpPr>
          <p:cNvPr id="33" name="TextBox 32"/>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Алты бурчтук:</a:t>
            </a:r>
          </a:p>
        </p:txBody>
      </p:sp>
      <p:sp>
        <p:nvSpPr>
          <p:cNvPr id="34" name="TextBox 33"/>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6 жак → 6 чоку</a:t>
            </a:r>
          </a:p>
        </p:txBody>
      </p:sp>
      <p:sp>
        <p:nvSpPr>
          <p:cNvPr id="35" name="TextBox 34"/>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Тегиз фигурада жак менен чоку бирдей.</a:t>
            </a:r>
          </a:p>
        </p:txBody>
      </p:sp>
      <p:sp>
        <p:nvSpPr>
          <p:cNvPr id="36" name="Rounded Rectangle 35"/>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Ыкмаңды айт: «Мен ... деп санадым».</a:t>
            </a:r>
          </a:p>
        </p:txBody>
      </p:sp>
      <p:sp>
        <p:nvSpPr>
          <p:cNvPr id="37" name="Rounded Rectangle 36"/>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8" name="Rounded Rectangle 3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9" name="Rounded Rectangle 38"/>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40" name="Rounded Rectangle 39"/>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Кубдун канча кыры бар? (Кыр – эки бет кошулган сызык.)</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8</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12</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5" name="g2fig"/>
          <p:cNvSpPr/>
          <p:nvPr/>
        </p:nvSpPr>
        <p:spPr>
          <a:xfrm>
            <a:off x="11009376" y="1446532"/>
            <a:ext cx="418844" cy="418844"/>
          </a:xfrm>
          <a:custGeom>
            <a:avLst/>
            <a:gdLst/>
            <a:ahLst/>
            <a:cxnLst/>
            <a:rect l="l" t="t" r="r" b="b"/>
            <a:pathLst>
              <a:path w="418844" h="418844">
                <a:moveTo>
                  <a:pt x="0" y="418844"/>
                </a:moveTo>
                <a:lnTo>
                  <a:pt x="418844" y="418844"/>
                </a:lnTo>
                <a:lnTo>
                  <a:pt x="418844" y="0"/>
                </a:lnTo>
                <a:lnTo>
                  <a:pt x="0" y="0"/>
                </a:lnTo>
                <a:close/>
              </a:path>
            </a:pathLst>
          </a:custGeom>
          <a:solidFill>
            <a:srgbClr val="C9D4EE"/>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2fig"/>
          <p:cNvSpPr/>
          <p:nvPr/>
        </p:nvSpPr>
        <p:spPr>
          <a:xfrm>
            <a:off x="11009376" y="1298448"/>
            <a:ext cx="566928" cy="148084"/>
          </a:xfrm>
          <a:custGeom>
            <a:avLst/>
            <a:gdLst/>
            <a:ahLst/>
            <a:cxnLst/>
            <a:rect l="l" t="t" r="r" b="b"/>
            <a:pathLst>
              <a:path w="566928" h="148084">
                <a:moveTo>
                  <a:pt x="0" y="148084"/>
                </a:moveTo>
                <a:lnTo>
                  <a:pt x="418844" y="148084"/>
                </a:lnTo>
                <a:lnTo>
                  <a:pt x="566928" y="0"/>
                </a:lnTo>
                <a:lnTo>
                  <a:pt x="148084" y="0"/>
                </a:lnTo>
                <a:close/>
              </a:path>
            </a:pathLst>
          </a:custGeom>
          <a:solidFill>
            <a:srgbClr val="E6EBF7"/>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2fig"/>
          <p:cNvSpPr/>
          <p:nvPr/>
        </p:nvSpPr>
        <p:spPr>
          <a:xfrm>
            <a:off x="11428220" y="1298448"/>
            <a:ext cx="148084" cy="566928"/>
          </a:xfrm>
          <a:custGeom>
            <a:avLst/>
            <a:gdLst/>
            <a:ahLst/>
            <a:cxnLst/>
            <a:rect l="l" t="t" r="r" b="b"/>
            <a:pathLst>
              <a:path w="148084" h="566928">
                <a:moveTo>
                  <a:pt x="0" y="566928"/>
                </a:moveTo>
                <a:lnTo>
                  <a:pt x="0" y="148084"/>
                </a:lnTo>
                <a:lnTo>
                  <a:pt x="148084" y="0"/>
                </a:lnTo>
                <a:lnTo>
                  <a:pt x="148084" y="418844"/>
                </a:lnTo>
                <a:close/>
              </a:path>
            </a:pathLst>
          </a:custGeom>
          <a:solidFill>
            <a:srgbClr val="C9D4EE"/>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g2fig"/>
          <p:cNvCxnSpPr/>
          <p:nvPr/>
        </p:nvCxnSpPr>
        <p:spPr>
          <a:xfrm flipV="1">
            <a:off x="11009376" y="1717292"/>
            <a:ext cx="148083" cy="148084"/>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a:off x="11157459" y="1717292"/>
            <a:ext cx="418844"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11157459" y="1298448"/>
            <a:ext cx="0" cy="418844"/>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a:off x="11009376" y="1865376"/>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V="1">
            <a:off x="11009376" y="1446531"/>
            <a:ext cx="0" cy="418845"/>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11428220" y="1446531"/>
            <a:ext cx="0" cy="418845"/>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11428220" y="1717292"/>
            <a:ext cx="148083" cy="148084"/>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H="1">
            <a:off x="11009376" y="1446531"/>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fig"/>
          <p:cNvCxnSpPr/>
          <p:nvPr/>
        </p:nvCxnSpPr>
        <p:spPr>
          <a:xfrm flipV="1">
            <a:off x="11428220" y="1298448"/>
            <a:ext cx="148083" cy="148083"/>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g2fig"/>
          <p:cNvCxnSpPr/>
          <p:nvPr/>
        </p:nvCxnSpPr>
        <p:spPr>
          <a:xfrm flipV="1">
            <a:off x="11009376" y="1298448"/>
            <a:ext cx="148083" cy="148083"/>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g2fig"/>
          <p:cNvCxnSpPr/>
          <p:nvPr/>
        </p:nvCxnSpPr>
        <p:spPr>
          <a:xfrm flipV="1">
            <a:off x="11576303" y="1298448"/>
            <a:ext cx="0" cy="418844"/>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g2fig"/>
          <p:cNvCxnSpPr/>
          <p:nvPr/>
        </p:nvCxnSpPr>
        <p:spPr>
          <a:xfrm flipH="1">
            <a:off x="11157459" y="1298448"/>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Нуриза таякчалардан 1 үч бурчтук жана 1 квадрат курду. Канча таякча колдонду?</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Асан ата 2 кубиктин бардык беттерин боёду. Канча бетти боёду?</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Нуризада 20 таякча бар. Ал 1 куб каркасын курду. Канча таякча калды?</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Нуриза таякчалардан 1 үч бурчтук жана 1 квадрат курду. Канча таякча колдонду?</a:t>
            </a:r>
          </a:p>
        </p:txBody>
      </p:sp>
      <p:sp>
        <p:nvSpPr>
          <p:cNvPr id="13" name="Rectangle 12"/>
          <p:cNvSpPr/>
          <p:nvPr/>
        </p:nvSpPr>
        <p:spPr>
          <a:xfrm>
            <a:off x="566928" y="3017520"/>
            <a:ext cx="100453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a:t>
            </a:r>
          </a:p>
        </p:txBody>
      </p:sp>
      <p:sp>
        <p:nvSpPr>
          <p:cNvPr id="14" name="Rectangle 13"/>
          <p:cNvSpPr/>
          <p:nvPr/>
        </p:nvSpPr>
        <p:spPr>
          <a:xfrm>
            <a:off x="1571461" y="3017520"/>
            <a:ext cx="13393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7</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 + 4 = 7 таякча</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Асан ата 2 кубиктин бардык беттерин боёду. Канча бетти боёду?</a:t>
            </a:r>
          </a:p>
        </p:txBody>
      </p:sp>
      <p:sp>
        <p:nvSpPr>
          <p:cNvPr id="23" name="Rectangle 22"/>
          <p:cNvSpPr/>
          <p:nvPr/>
        </p:nvSpPr>
        <p:spPr>
          <a:xfrm>
            <a:off x="4419600"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a:t>
            </a:r>
          </a:p>
        </p:txBody>
      </p:sp>
      <p:sp>
        <p:nvSpPr>
          <p:cNvPr id="24" name="Rectangle 23"/>
          <p:cNvSpPr/>
          <p:nvPr/>
        </p:nvSpPr>
        <p:spPr>
          <a:xfrm>
            <a:off x="5591556"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a:t>
            </a:r>
          </a:p>
        </p:txBody>
      </p:sp>
      <p:cxnSp>
        <p:nvCxnSpPr>
          <p:cNvPr id="25" name="Connector 24"/>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12</a:t>
            </a:r>
          </a:p>
        </p:txBody>
      </p:sp>
      <p:sp>
        <p:nvSpPr>
          <p:cNvPr id="29" name="TextBox 28"/>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6 + 6 = 12 бет</a:t>
            </a:r>
          </a:p>
        </p:txBody>
      </p:sp>
      <p:sp>
        <p:nvSpPr>
          <p:cNvPr id="30" name="Rounded Rectangle 29"/>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2" name="TextBox 31"/>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Нуризада 20 таякча бар. Ал 1 куб каркасын курду. Канча таякча калды?</a:t>
            </a:r>
          </a:p>
        </p:txBody>
      </p:sp>
      <p:sp>
        <p:nvSpPr>
          <p:cNvPr id="33" name="Rectangle 32"/>
          <p:cNvSpPr/>
          <p:nvPr/>
        </p:nvSpPr>
        <p:spPr>
          <a:xfrm>
            <a:off x="8272272" y="3017520"/>
            <a:ext cx="1406347"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12</a:t>
            </a:r>
          </a:p>
        </p:txBody>
      </p:sp>
      <p:sp>
        <p:nvSpPr>
          <p:cNvPr id="34" name="Rectangle 33"/>
          <p:cNvSpPr/>
          <p:nvPr/>
        </p:nvSpPr>
        <p:spPr>
          <a:xfrm>
            <a:off x="9678619" y="3017520"/>
            <a:ext cx="937564"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5" name="Connector 34"/>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20</a:t>
            </a:r>
          </a:p>
        </p:txBody>
      </p:sp>
      <p:sp>
        <p:nvSpPr>
          <p:cNvPr id="39" name="TextBox 38"/>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20 − 12 = 8 таякча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Аты эмне? Жагы канча?</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Канча тик бурчу бар?</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Цилиндрдин канча жалпак бети бар?</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Үч бурчтуу призманын канча бети, канча чокусу бар?</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квадрат курууга канча таякча керек?</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Кайсынысы тоголонот: куб, шар, конус, пирамида?</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
        <p:nvSpPr>
          <p:cNvPr id="32" name="g2fig"/>
          <p:cNvSpPr/>
          <p:nvPr/>
        </p:nvSpPr>
        <p:spPr>
          <a:xfrm>
            <a:off x="4928616" y="1973873"/>
            <a:ext cx="914400" cy="791894"/>
          </a:xfrm>
          <a:custGeom>
            <a:avLst/>
            <a:gdLst/>
            <a:ahLst/>
            <a:cxnLst/>
            <a:rect l="l" t="t" r="r" b="b"/>
            <a:pathLst>
              <a:path w="914400" h="791894">
                <a:moveTo>
                  <a:pt x="914400" y="395947"/>
                </a:moveTo>
                <a:lnTo>
                  <a:pt x="685800" y="791894"/>
                </a:lnTo>
                <a:lnTo>
                  <a:pt x="228600" y="791894"/>
                </a:lnTo>
                <a:lnTo>
                  <a:pt x="0" y="395947"/>
                </a:lnTo>
                <a:lnTo>
                  <a:pt x="228600" y="0"/>
                </a:lnTo>
                <a:lnTo>
                  <a:pt x="685800" y="0"/>
                </a:lnTo>
                <a:close/>
              </a:path>
            </a:pathLst>
          </a:custGeom>
          <a:solidFill>
            <a:srgbClr val="B5E2D3"/>
          </a:solidFill>
          <a:ln w="13144"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2fig"/>
          <p:cNvSpPr/>
          <p:nvPr/>
        </p:nvSpPr>
        <p:spPr>
          <a:xfrm>
            <a:off x="10707624" y="2053297"/>
            <a:ext cx="914400" cy="633046"/>
          </a:xfrm>
          <a:custGeom>
            <a:avLst/>
            <a:gdLst/>
            <a:ahLst/>
            <a:cxnLst/>
            <a:rect l="l" t="t" r="r" b="b"/>
            <a:pathLst>
              <a:path w="914400" h="633046">
                <a:moveTo>
                  <a:pt x="0" y="0"/>
                </a:moveTo>
                <a:lnTo>
                  <a:pt x="562708" y="0"/>
                </a:lnTo>
                <a:lnTo>
                  <a:pt x="914400" y="633046"/>
                </a:lnTo>
                <a:lnTo>
                  <a:pt x="0" y="633046"/>
                </a:lnTo>
                <a:close/>
              </a:path>
            </a:pathLst>
          </a:custGeom>
          <a:solidFill>
            <a:srgbClr val="B5E2D3"/>
          </a:solidFill>
          <a:ln w="13144"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Аты эмне? Жагы канча?</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Алты бурчтук; 6</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Канча тик бурчу бар?</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Цилиндрдин канча жалпак бети бар?</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Үч бурчтуу призманын канча бети, канча чокусу бар?</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 бет, 6 чоку</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квадрат курууга канча таякча керек?</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 + 4 + 4 = 12</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Кайсынысы тоголонот: куб, шар, конус, пирамида?</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Шар жана конус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3 жыгач кубик жасады. Нуриза ар бир кубиктин бардык беттерине бирден жылдызча чаптайт. Канча жылдызча керек?</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Кубиктер</a:t>
            </a:r>
          </a:p>
        </p:txBody>
      </p:sp>
      <p:sp>
        <p:nvSpPr>
          <p:cNvPr id="13" name="Rectangle 12"/>
          <p:cNvSpPr/>
          <p:nvPr/>
        </p:nvSpPr>
        <p:spPr>
          <a:xfrm>
            <a:off x="237744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sp>
        <p:nvSpPr>
          <p:cNvPr id="14" name="Rectangle 13"/>
          <p:cNvSpPr/>
          <p:nvPr/>
        </p:nvSpPr>
        <p:spPr>
          <a:xfrm>
            <a:off x="490728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sp>
        <p:nvSpPr>
          <p:cNvPr id="15" name="Rectangle 14"/>
          <p:cNvSpPr/>
          <p:nvPr/>
        </p:nvSpPr>
        <p:spPr>
          <a:xfrm>
            <a:off x="743712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18</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 кубикте = 6 бет</a:t>
            </a:r>
          </a:p>
        </p:txBody>
      </p:sp>
      <p:sp>
        <p:nvSpPr>
          <p:cNvPr id="21" name="TextBox 20"/>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6 + 6 + 6</a:t>
            </a:r>
          </a:p>
        </p:txBody>
      </p:sp>
      <p:sp>
        <p:nvSpPr>
          <p:cNvPr id="22" name="TextBox 21"/>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3 кубик</a:t>
            </a:r>
          </a:p>
        </p:txBody>
      </p:sp>
      <p:sp>
        <p:nvSpPr>
          <p:cNvPr id="23" name="TextBox 22"/>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 18</a:t>
            </a:r>
          </a:p>
        </p:txBody>
      </p:sp>
      <p:sp>
        <p:nvSpPr>
          <p:cNvPr id="24" name="TextBox 23"/>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жылдызча</a:t>
            </a:r>
          </a:p>
        </p:txBody>
      </p:sp>
      <p:sp>
        <p:nvSpPr>
          <p:cNvPr id="25" name="Rounded Rectangle 24"/>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18 жылдызча керек (9 эмес: ар бир кубиктин 6 бети бар).</a:t>
            </a:r>
          </a:p>
        </p:txBody>
      </p:sp>
      <p:sp>
        <p:nvSpPr>
          <p:cNvPr id="26" name="Rounded Rectangle 2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Каракол устаканасы жөнүндө фигура маселесин же табышмагын түз: «Менин ... бетим, ... кырым бар».</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Нуриза, Айбек, Асан ата.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Беш бурчтуктун канча жагы, канча чокусу бар?</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Параллелепипеддин канча бети, канча кыры бар?</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4 жагы бар, бирок тик бурчу жок фигура тик бурчтукпу?</a:t>
            </a:r>
          </a:p>
        </p:txBody>
      </p:sp>
      <p:sp>
        <p:nvSpPr>
          <p:cNvPr id="20" name="g2fig"/>
          <p:cNvSpPr/>
          <p:nvPr/>
        </p:nvSpPr>
        <p:spPr>
          <a:xfrm>
            <a:off x="10200506" y="1844040"/>
            <a:ext cx="1105676" cy="1051560"/>
          </a:xfrm>
          <a:custGeom>
            <a:avLst/>
            <a:gdLst/>
            <a:ahLst/>
            <a:cxnLst/>
            <a:rect l="l" t="t" r="r" b="b"/>
            <a:pathLst>
              <a:path w="1105676" h="1051560">
                <a:moveTo>
                  <a:pt x="552838" y="0"/>
                </a:moveTo>
                <a:lnTo>
                  <a:pt x="1105676" y="401660"/>
                </a:lnTo>
                <a:lnTo>
                  <a:pt x="894511" y="1051560"/>
                </a:lnTo>
                <a:lnTo>
                  <a:pt x="211165" y="1051560"/>
                </a:lnTo>
                <a:lnTo>
                  <a:pt x="0" y="401660"/>
                </a:lnTo>
                <a:close/>
              </a:path>
            </a:pathLst>
          </a:custGeom>
          <a:solidFill>
            <a:srgbClr val="B5E2D3"/>
          </a:solidFill>
          <a:ln w="16795"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2fig"/>
          <p:cNvSpPr/>
          <p:nvPr/>
        </p:nvSpPr>
        <p:spPr>
          <a:xfrm>
            <a:off x="10067544" y="3712899"/>
            <a:ext cx="1175948" cy="587974"/>
          </a:xfrm>
          <a:custGeom>
            <a:avLst/>
            <a:gdLst/>
            <a:ahLst/>
            <a:cxnLst/>
            <a:rect l="l" t="t" r="r" b="b"/>
            <a:pathLst>
              <a:path w="1175948" h="587974">
                <a:moveTo>
                  <a:pt x="0" y="587974"/>
                </a:moveTo>
                <a:lnTo>
                  <a:pt x="1175948" y="587974"/>
                </a:lnTo>
                <a:lnTo>
                  <a:pt x="117594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2fig"/>
          <p:cNvSpPr/>
          <p:nvPr/>
        </p:nvSpPr>
        <p:spPr>
          <a:xfrm>
            <a:off x="10067544" y="3517247"/>
            <a:ext cx="1371600" cy="195652"/>
          </a:xfrm>
          <a:custGeom>
            <a:avLst/>
            <a:gdLst/>
            <a:ahLst/>
            <a:cxnLst/>
            <a:rect l="l" t="t" r="r" b="b"/>
            <a:pathLst>
              <a:path w="1371600" h="195652">
                <a:moveTo>
                  <a:pt x="0" y="195652"/>
                </a:moveTo>
                <a:lnTo>
                  <a:pt x="1175948" y="195652"/>
                </a:lnTo>
                <a:lnTo>
                  <a:pt x="1371600" y="0"/>
                </a:lnTo>
                <a:lnTo>
                  <a:pt x="19565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11243492" y="3517247"/>
            <a:ext cx="195652" cy="783626"/>
          </a:xfrm>
          <a:custGeom>
            <a:avLst/>
            <a:gdLst/>
            <a:ahLst/>
            <a:cxnLst/>
            <a:rect l="l" t="t" r="r" b="b"/>
            <a:pathLst>
              <a:path w="195652" h="783626">
                <a:moveTo>
                  <a:pt x="0" y="783626"/>
                </a:moveTo>
                <a:lnTo>
                  <a:pt x="0" y="195652"/>
                </a:lnTo>
                <a:lnTo>
                  <a:pt x="195652" y="0"/>
                </a:lnTo>
                <a:lnTo>
                  <a:pt x="195652" y="587974"/>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g2fig"/>
          <p:cNvCxnSpPr/>
          <p:nvPr/>
        </p:nvCxnSpPr>
        <p:spPr>
          <a:xfrm flipV="1">
            <a:off x="10067544" y="4105221"/>
            <a:ext cx="195651" cy="195651"/>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a:off x="10263195" y="4105221"/>
            <a:ext cx="117594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10263195" y="3517247"/>
            <a:ext cx="0" cy="587974"/>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a:off x="10067544" y="4300872"/>
            <a:ext cx="117594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flipV="1">
            <a:off x="10067544" y="3712898"/>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flipV="1">
            <a:off x="11243492" y="3712898"/>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11243492" y="4105221"/>
            <a:ext cx="195652"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flipH="1">
            <a:off x="10067544" y="3712898"/>
            <a:ext cx="117594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V="1">
            <a:off x="11243492" y="3517247"/>
            <a:ext cx="195652"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10067544" y="3517247"/>
            <a:ext cx="195651"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11439144" y="3517247"/>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H="1">
            <a:off x="10263195" y="3517247"/>
            <a:ext cx="117594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Тегиз фигура менен көлөмдүү фигуранын айырмасы эмнеде?</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сүрөттө кубдун 3 гана бети көрүнөт?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Үйүңдө кайсы буюм цилиндрге окшош?</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2-класс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Адегенде буюм: кутуну, банканы колго алып, беттерин сыйпап санашат (К → С).</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«Белгилеп сана»: санаган чокуга чекит коёт (М2).</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Тик бурчту бүктөлгөн кагаз менен текшерет, көз менен эмес (М6).</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Фигураны буруп көрсөтөм: аты өзгөрбөйт (М1); куб квадрат эмес (М4).</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