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Жоопту азыр айтпайбыз: сабактын аягында кайтабыз (22-слайд).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2,6).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Нурбек: 7 + 5 = 12, демек 1 ондук кошулат.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10дон резина менен байланган 9 байлам санак таякча жана 15 жалгыз таякча (же 10 сомдук 9 тыйын жана 1 сомдук 15 тыйын, кагаздан кесилсе да болот). 1) 38 жана 45ти коюшат. 2) Байламдарды өзүнчө, жалгыздарды өзүнчө кошушат. 3) 13 жалгыз таякчадан 10ун резина менен байлашат: 1 байлам жана 3 жалгыз. Проектор жок болсо, байламдарды доскага чийем: ||||||||||  = 1 ондук.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Тилкени кадам менен чийебиз. Бүтүн = 100; бөлүктөр 38, 45 жана белгисиз калдык.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Кемитүүдө: бирдик жетпесе, 1 ондукту майдалайбыз: 54 − 28 → 14 − 8 = 6, 40 − 20 = 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ыкманы 2–3 окуучу үн чыгарып айтат: «29 – 30дан 1 аз, ошондуктан 30 кошуп, 1ди алам». Таякчалар менен: 3 байлам кошуп, 1 таякча кайтарабыз. Ыкмаларды «Оозеки беш мүнөт» (класста колдонуу картасы, 3-бет) эки апта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М2; Б = ✓; В = М1 (майдалап, ондукту азайтпаган); Г = М6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бөлүк – бүтүн → салыштыруу → көп кадам. Жооптор: 38 + 45 = 83 алма; 52 − 17 = 35 мончок; 100 − 35 − 28 = 37 дептер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Окуяга кайтабыз: тилке жана эки кадам. 38 + 45 = 83; 100 − 83 = 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85; 46; 23 сом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Жайкы жарманке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Айпери менен Нурбек айылдагы жайкы жарманкеде соода кылып, акчаны эсептешет.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КББА, «Математика боюнча мугалимдер үчүн колдонмо, 1–4-класстар» (2011), 2-класс: 2.2.1, 2.3.1, 2.3.4, 2.3.9, 2.3.10.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Жайкы жарманке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Жайында айылда чоң жарманке болот.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Айпери менен Нурбек апасы Бакыт эже менен ошол жакка барышты.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Жарманкеде алма, мончок, шар, самса сатылат.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сатып алууда акчаны 100 ичинде эсептеш керек.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Айперинин 100 сому бар. Ал 38 сомго алма жана 45 сомго мончок алгысы келет. Акчасы жетеби? Канча сом калат?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Эки орундуу сандарды ондук жана бирдик боюнча кошом жана кемитем.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10дон өткөндө ондукту туура алмаштырам.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Маселени тилке менен чийип, туюнтма жазам.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Ондукка өтпөй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Ондукка өтүү менен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Эки амалдуу маселе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Катаны табуу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 мини-такта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Маселе алмашуу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Жарманкедеги соода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Тилке модели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10 ичинде кошуу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20 ичинде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100 ичинде кошуу, кемитүү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Тилке менен салыштыруу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18204" y="2057400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1000 ичинде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Мамыча түрүндө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Көп орундуу сандар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40 + 30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7 + 8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56 = ? ондук ? бирдик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15 − 9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40 + 30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70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7 + 8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56 = ? ондук ? бирдик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 ондук 6 бирдик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15 − 9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Айпери: «47 + 25 = 62». Нурбек: «47 + 25 = 72».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Айпери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40 + 20 = 60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7 + 5 = 2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Жообу: 62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Нурбек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40 + 20 = 60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7 + 5 = 12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60 + 12 = 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Эмне үчүн?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Апасы 38 кызыл жана 45 сары алма алды. Санак таякчалардын байламдары менен кошобуз.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72668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13816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54964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96112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37259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78408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19556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60704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101852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685800" y="2962656"/>
            <a:ext cx="457200" cy="109728"/>
          </a:xfrm>
          <a:prstGeom prst="rect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1280160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321307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362456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403604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444751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485900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527048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568195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609343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650492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234439" y="2962656"/>
            <a:ext cx="457200" cy="109728"/>
          </a:xfrm>
          <a:prstGeom prst="rect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1828800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869948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911095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952243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993392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034540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075688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116836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157984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199132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1783080" y="2962656"/>
            <a:ext cx="457200" cy="109728"/>
          </a:xfrm>
          <a:prstGeom prst="rect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2468879" y="2331720"/>
            <a:ext cx="0" cy="6858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596896" y="2331720"/>
            <a:ext cx="0" cy="6858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724911" y="2331720"/>
            <a:ext cx="0" cy="6858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852927" y="2331720"/>
            <a:ext cx="0" cy="6858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980944" y="2331720"/>
            <a:ext cx="0" cy="6858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468879" y="3108960"/>
            <a:ext cx="0" cy="6858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596896" y="3108960"/>
            <a:ext cx="0" cy="6858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724911" y="3108960"/>
            <a:ext cx="0" cy="6858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31520" y="3840480"/>
            <a:ext cx="2377439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38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154680" y="2697480"/>
            <a:ext cx="4572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+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3657600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698748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739896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3781044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3822191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863339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904487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945636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3986784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4027932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3611880" y="2962656"/>
            <a:ext cx="457200" cy="109728"/>
          </a:xfrm>
          <a:prstGeom prst="rect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4206240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4247388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4288536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4329683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4370831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4411979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453127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4494276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4535424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4576572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ctangle 75"/>
          <p:cNvSpPr/>
          <p:nvPr/>
        </p:nvSpPr>
        <p:spPr>
          <a:xfrm>
            <a:off x="4160520" y="2962656"/>
            <a:ext cx="457200" cy="109728"/>
          </a:xfrm>
          <a:prstGeom prst="rect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4754880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4796028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4837176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4878324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4919472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960620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5001768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5042916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5084064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5125212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ectangle 86"/>
          <p:cNvSpPr/>
          <p:nvPr/>
        </p:nvSpPr>
        <p:spPr>
          <a:xfrm>
            <a:off x="4709160" y="2962656"/>
            <a:ext cx="457200" cy="109728"/>
          </a:xfrm>
          <a:prstGeom prst="rect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5303520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5344668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5385816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5426964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5468112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5509259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5550408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5591556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5632704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5673852" y="2331720"/>
            <a:ext cx="0" cy="13716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ectangle 97"/>
          <p:cNvSpPr/>
          <p:nvPr/>
        </p:nvSpPr>
        <p:spPr>
          <a:xfrm>
            <a:off x="5257800" y="2962656"/>
            <a:ext cx="457200" cy="109728"/>
          </a:xfrm>
          <a:prstGeom prst="rect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9" name="Connector 98"/>
          <p:cNvCxnSpPr/>
          <p:nvPr/>
        </p:nvCxnSpPr>
        <p:spPr>
          <a:xfrm>
            <a:off x="5943600" y="2331720"/>
            <a:ext cx="0" cy="6858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6071616" y="2331720"/>
            <a:ext cx="0" cy="6858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6199632" y="2331720"/>
            <a:ext cx="0" cy="6858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6327648" y="2331720"/>
            <a:ext cx="0" cy="6858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6455664" y="2331720"/>
            <a:ext cx="0" cy="685800"/>
          </a:xfrm>
          <a:prstGeom prst="line">
            <a:avLst/>
          </a:prstGeom>
          <a:ln w="27940">
            <a:solidFill>
              <a:srgbClr val="C89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>
            <a:off x="3657600" y="3840480"/>
            <a:ext cx="29260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45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31520" y="4434840"/>
            <a:ext cx="2194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4A5A70"/>
                </a:solidFill>
                <a:latin typeface="PT Sans"/>
              </a:rPr>
              <a:t>Же тыйындар менен:</a:t>
            </a:r>
          </a:p>
        </p:txBody>
      </p:sp>
      <p:sp>
        <p:nvSpPr>
          <p:cNvPr id="106" name="Oval 105"/>
          <p:cNvSpPr/>
          <p:nvPr/>
        </p:nvSpPr>
        <p:spPr>
          <a:xfrm>
            <a:off x="731520" y="4846320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24418C"/>
                </a:solidFill>
                <a:latin typeface="PT Sans"/>
              </a:rPr>
              <a:t>10</a:t>
            </a:r>
          </a:p>
        </p:txBody>
      </p:sp>
      <p:sp>
        <p:nvSpPr>
          <p:cNvPr id="107" name="Oval 106"/>
          <p:cNvSpPr/>
          <p:nvPr/>
        </p:nvSpPr>
        <p:spPr>
          <a:xfrm>
            <a:off x="1188720" y="4846320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24418C"/>
                </a:solidFill>
                <a:latin typeface="PT Sans"/>
              </a:rPr>
              <a:t>10</a:t>
            </a:r>
          </a:p>
        </p:txBody>
      </p:sp>
      <p:sp>
        <p:nvSpPr>
          <p:cNvPr id="108" name="Oval 107"/>
          <p:cNvSpPr/>
          <p:nvPr/>
        </p:nvSpPr>
        <p:spPr>
          <a:xfrm>
            <a:off x="1645920" y="4846320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24418C"/>
                </a:solidFill>
                <a:latin typeface="PT Sans"/>
              </a:rPr>
              <a:t>10</a:t>
            </a:r>
          </a:p>
        </p:txBody>
      </p:sp>
      <p:sp>
        <p:nvSpPr>
          <p:cNvPr id="109" name="Oval 108"/>
          <p:cNvSpPr/>
          <p:nvPr/>
        </p:nvSpPr>
        <p:spPr>
          <a:xfrm>
            <a:off x="2194560" y="4919472"/>
            <a:ext cx="274320" cy="27432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A84400"/>
                </a:solidFill>
                <a:latin typeface="PT Sans"/>
              </a:rPr>
              <a:t>1</a:t>
            </a:r>
          </a:p>
        </p:txBody>
      </p:sp>
      <p:sp>
        <p:nvSpPr>
          <p:cNvPr id="110" name="Oval 109"/>
          <p:cNvSpPr/>
          <p:nvPr/>
        </p:nvSpPr>
        <p:spPr>
          <a:xfrm>
            <a:off x="2523744" y="4919472"/>
            <a:ext cx="274320" cy="27432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A84400"/>
                </a:solidFill>
                <a:latin typeface="PT Sans"/>
              </a:rPr>
              <a:t>1</a:t>
            </a:r>
          </a:p>
        </p:txBody>
      </p:sp>
      <p:sp>
        <p:nvSpPr>
          <p:cNvPr id="111" name="Oval 110"/>
          <p:cNvSpPr/>
          <p:nvPr/>
        </p:nvSpPr>
        <p:spPr>
          <a:xfrm>
            <a:off x="2852928" y="4919472"/>
            <a:ext cx="274320" cy="27432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A84400"/>
                </a:solidFill>
                <a:latin typeface="PT Sans"/>
              </a:rPr>
              <a:t>1</a:t>
            </a:r>
          </a:p>
        </p:txBody>
      </p:sp>
      <p:sp>
        <p:nvSpPr>
          <p:cNvPr id="112" name="Oval 111"/>
          <p:cNvSpPr/>
          <p:nvPr/>
        </p:nvSpPr>
        <p:spPr>
          <a:xfrm>
            <a:off x="3182112" y="4919472"/>
            <a:ext cx="274320" cy="27432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A84400"/>
                </a:solidFill>
                <a:latin typeface="PT Sans"/>
              </a:rPr>
              <a:t>1</a:t>
            </a:r>
          </a:p>
        </p:txBody>
      </p:sp>
      <p:sp>
        <p:nvSpPr>
          <p:cNvPr id="113" name="Oval 112"/>
          <p:cNvSpPr/>
          <p:nvPr/>
        </p:nvSpPr>
        <p:spPr>
          <a:xfrm>
            <a:off x="3511296" y="4919472"/>
            <a:ext cx="274320" cy="27432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A84400"/>
                </a:solidFill>
                <a:latin typeface="PT Sans"/>
              </a:rPr>
              <a:t>1</a:t>
            </a:r>
          </a:p>
        </p:txBody>
      </p:sp>
      <p:sp>
        <p:nvSpPr>
          <p:cNvPr id="114" name="Oval 113"/>
          <p:cNvSpPr/>
          <p:nvPr/>
        </p:nvSpPr>
        <p:spPr>
          <a:xfrm>
            <a:off x="3840479" y="4919472"/>
            <a:ext cx="274320" cy="27432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A84400"/>
                </a:solidFill>
                <a:latin typeface="PT Sans"/>
              </a:rPr>
              <a:t>1</a:t>
            </a:r>
          </a:p>
        </p:txBody>
      </p:sp>
      <p:sp>
        <p:nvSpPr>
          <p:cNvPr id="115" name="Oval 114"/>
          <p:cNvSpPr/>
          <p:nvPr/>
        </p:nvSpPr>
        <p:spPr>
          <a:xfrm>
            <a:off x="4169664" y="4919472"/>
            <a:ext cx="274320" cy="27432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A84400"/>
                </a:solidFill>
                <a:latin typeface="PT Sans"/>
              </a:rPr>
              <a:t>1</a:t>
            </a:r>
          </a:p>
        </p:txBody>
      </p:sp>
      <p:sp>
        <p:nvSpPr>
          <p:cNvPr id="116" name="Oval 115"/>
          <p:cNvSpPr/>
          <p:nvPr/>
        </p:nvSpPr>
        <p:spPr>
          <a:xfrm>
            <a:off x="4498848" y="4919472"/>
            <a:ext cx="274320" cy="27432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A84400"/>
                </a:solidFill>
                <a:latin typeface="PT Sans"/>
              </a:rP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31520" y="5303520"/>
            <a:ext cx="51206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4A5A70"/>
                </a:solidFill>
                <a:latin typeface="PT Sans"/>
              </a:rPr>
              <a:t>38 сом = 3 он сомдук + 8 бир сомдук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6766560" y="2286000"/>
            <a:ext cx="49377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49440" y="2377440"/>
            <a:ext cx="4572000" cy="3108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Байламдар: 3 + 4 = 7</a:t>
            </a:r>
          </a:p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Жалгыздар: 8 + 5 = 13</a:t>
            </a:r>
          </a:p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A84400"/>
                </a:solidFill>
                <a:latin typeface="PT Sans"/>
              </a:rPr>
              <a:t>10 жалгызды байлайбыз:</a:t>
            </a:r>
          </a:p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13 = 1 байлам + 3</a:t>
            </a:r>
          </a:p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4418C"/>
                </a:solidFill>
                <a:latin typeface="PT Sans"/>
              </a:rPr>
              <a:t>Баары: 8 байлам 3 таякча = 83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тилке модели – 4 кадам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Айперинин 100 сому бар. Ал 38 сомго алма жана 45 сомго мончок алгысы келет. Акчасы жетеби? Канча сом калат?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66928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Оку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7" y="2834640"/>
            <a:ext cx="232943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Ким? Айпери.</a:t>
            </a:r>
          </a:p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Эмне бар? 100 сом.</a:t>
            </a:r>
          </a:p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Эмне алат? 38 жана 45 сомго.</a:t>
            </a:r>
          </a:p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Суроо: канча калат?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124962" y="3749039"/>
            <a:ext cx="18288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307842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445002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02202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Чий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90722" y="3108960"/>
            <a:ext cx="537712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8434" y="3108960"/>
            <a:ext cx="63676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65200" y="3108960"/>
            <a:ext cx="240555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4997196" y="310896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134356" y="3108960"/>
            <a:ext cx="0" cy="41148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997196" y="352044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180076" y="30403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03036" y="3749039"/>
            <a:ext cx="18288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185916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23076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80276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Сандарды жаз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68796" y="3108960"/>
            <a:ext cx="537712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38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06508" y="3108960"/>
            <a:ext cx="63676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45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43274" y="3108960"/>
            <a:ext cx="240555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17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875270" y="310896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012430" y="3108960"/>
            <a:ext cx="0" cy="41148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875270" y="352044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058150" y="30403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881110" y="3749039"/>
            <a:ext cx="18288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9063990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201150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58350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Суроону белгиле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246870" y="3108960"/>
            <a:ext cx="537712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38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784582" y="3108960"/>
            <a:ext cx="63676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45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421348" y="3108960"/>
            <a:ext cx="240555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17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0753344" y="310896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0890504" y="3108960"/>
            <a:ext cx="0" cy="41148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0753344" y="352044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10936224" y="30403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100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Туюнтма: 100 − (38 + 45) = 17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906524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40+20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Ондуктар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Ондукту ондукка кош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2336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297680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4436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7+5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Бирдиктер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Бирдикти бирдикке кош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9127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165592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42348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2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12 → 1 ондук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7032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10дон өттүбү?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10 бирдик = 1 ондук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47 + 25 = 60 + 12 = 72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Жарманкеде Нурбек 47 шар, Айпери 36 шар сатты. Баары канча шар?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47 + 36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40 + 30 + 7 + 6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70 + 13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10дон өттү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83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47 + 36 = </a:t>
            </a:r>
            <a:r>
              <a:rPr sz="3400" b="1">
                <a:solidFill>
                  <a:srgbClr val="24418C"/>
                </a:solidFill>
                <a:latin typeface="PT Sans"/>
              </a:rPr>
              <a:t>83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Айпериде 72 сом бар эле. 28 сомго дептер алды. Канча калды?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72 − 28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72 − 20 − 8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ондук, анан бирдик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52 − 8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2ден 8 кемибейт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44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12 − 8 =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72 − 28 = </a:t>
            </a:r>
            <a:r>
              <a:rPr sz="3400" b="1">
                <a:solidFill>
                  <a:srgbClr val="24418C"/>
                </a:solidFill>
                <a:latin typeface="PT Sans"/>
              </a:rPr>
              <a:t>44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ыңгайлуу сан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Ордун толуктоо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47 + 29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47 + 30 − 1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77 − 1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76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29 – 30га жакын: 30 кошуп, ашыкча 1ди алабыз.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10го толуктоо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38 + 5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38 + 2 + 3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40 + 3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43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5ти 2 жана 3кө бөлөбүз: адегенде 40ка чейин толуктайбыз.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Кемитүүдө толуктоо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72 − 28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72 − 30 + 2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42 + 2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44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28 ордуна 30 алсак, 2ни ашык алдык: аны кайра кошобуз.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Түшүн → ыкма → эркин эсеп. Ыкмаңды үн чыгарып айт: «Мен ... деп ойлодум».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63 − 27 = ?  Бир жоопту танда.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44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46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90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Жарманкеде апасы 38 кызыл алма жана 45 сары алма сатып алды. Баары канча алма? Тилкеге сандарды жаз.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Айпери жарманкеде 52 мончок сатты. Досу Нурай андан 17ге аз сатты. Нурай канча мончок сатты?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Жарманкедеги дүкөндө 100 дептер бар эле. Эртең менен 35, кечинде 28 сатылды. Канча дептер калды?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Жарманкеде апасы 38 кызыл алма жана 45 сары алма сатып алды. Баары канча алма? Тилкеге сандарды жаз.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107311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40044" y="3017520"/>
            <a:ext cx="1270795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45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83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38 + 45 = 83 алма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Айпери жарманкеде 52 мончок сатты. Досу Нурай андан 17ге аз сатты. Нурай канча мончок сатты?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9600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Айпери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82640" y="3017520"/>
            <a:ext cx="59289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75534" y="3017520"/>
            <a:ext cx="287977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9600" y="357438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Нурай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82640" y="3574389"/>
            <a:ext cx="592894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35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992112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854951" y="3401568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037832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52 − 17 = 35 мончок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Жарманкедеги дүкөндө 100 дептер бар эле. Эртең менен 35, кечинде 28 сатылды. Канча дептер калды?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72272" y="3017520"/>
            <a:ext cx="820369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092641" y="3017520"/>
            <a:ext cx="656295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748936" y="3017520"/>
            <a:ext cx="867247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37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844784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707624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10890503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100 − 35 − 28 = 37 дептер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53 + 24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68 − 35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47 + 38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81 − 46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___ + 29 = 70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Нурбекте 46 сом, Айпериде 19 сомго көп. Айпериде канча?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53 + 24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77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68 − 35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47 + 38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85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81 − 46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___ + 29 = 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Нурбекте 46 сом, Айпериде 19 сомго көп. Айпериде канча?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65 сом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Айперинин 100 сому бар. Ал 38 сомго алма жана 45 сомго мончок алгысы келет. Акчасы жетеби? Канча сом калат?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240280"/>
            <a:ext cx="3439972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54372" y="2240280"/>
            <a:ext cx="4073651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28024" y="2240280"/>
            <a:ext cx="1538935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6B7280"/>
                </a:solidFill>
                <a:latin typeface="PT Sans"/>
              </a:rPr>
              <a:t>17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38 + 45 = 83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алма + мончок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100 − 83 = 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калган акча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Жетет! Айпериге 17 сом калат.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Жарманке жөнүндө 100 ичинде кошуу же кемитүү маселесин түз.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Айпери, Нурбек, Бакыт эже.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58 + 27 =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80 − 34 =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Айпериде 38 сом, Нурбекте 15 сомго аз. Нурбекте канча?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Ондукка качан өтөбүз?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 модели маселени кантип жеңилдетти?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Бүгүн кайсы катадан үйрөндүң?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Адегенде санак таякчалар (10дон байлам) же 10/1 сомдук тыйындар колдо, анан гана сүрөт.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Ондукка өтүү = 10 жалгыз таякчаны байлоо; майдалоо = бир байламды чечүү.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Оозеки ыкма: 47 + 29 = 47 + 30 − 1; 38 + 5 = 38 + 2 + 3. Окуучу үн чыгарып айтат.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«Көп» деген сөз дайыма эле кошуу эмес: тилкеден карайбыз (М4).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