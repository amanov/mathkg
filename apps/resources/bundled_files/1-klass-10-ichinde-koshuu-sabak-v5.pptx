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1" r:id="rId53"/>
    <p:sldId id="256" r:id="rId7"/>
    <p:sldId id="257" r:id="rId9"/>
    <p:sldId id="258" r:id="rId10"/>
    <p:sldId id="259" r:id="rId11"/>
    <p:sldId id="261" r:id="rId13"/>
    <p:sldId id="262" r:id="rId14"/>
    <p:sldId id="265" r:id="rId17"/>
    <p:sldId id="266" r:id="rId18"/>
    <p:sldId id="267" r:id="rId19"/>
    <p:sldId id="268" r:id="rId20"/>
    <p:sldId id="269" r:id="rId21"/>
    <p:sldId id="271" r:id="rId23"/>
    <p:sldId id="272" r:id="rId24"/>
    <p:sldId id="273" r:id="rId25"/>
    <p:sldId id="276" r:id="rId28"/>
    <p:sldId id="277" r:id="rId29"/>
    <p:sldId id="278" r:id="rId30"/>
    <p:sldId id="279" r:id="rId31"/>
    <p:sldId id="281" r:id="rId33"/>
    <p:sldId id="282" r:id="rId34"/>
    <p:sldId id="285" r:id="rId37"/>
    <p:sldId id="291" r:id="rId43"/>
    <p:sldId id="289" r:id="rId41"/>
    <p:sldId id="290" r:id="rId42"/>
    <p:sldId id="293" r:id="rId45"/>
    <p:sldId id="302" r:id="rId54"/>
    <p:sldId id="297" r:id="rId49"/>
    <p:sldId id="298" r:id="rId50"/>
    <p:sldId id="270" r:id="rId22"/>
    <p:sldId id="283" r:id="rId35"/>
    <p:sldId id="299" r:id="rId51"/>
    <p:sldId id="300" r:id="rId52"/>
    <p:sldId id="274" r:id="rId26"/>
    <p:sldId id="275" r:id="rId27"/>
    <p:sldId id="284" r:id="rId36"/>
    <p:sldId id="280" r:id="rId32"/>
    <p:sldId id="286" r:id="rId38"/>
    <p:sldId id="287" r:id="rId39"/>
    <p:sldId id="288" r:id="rId40"/>
    <p:sldId id="292" r:id="rId44"/>
    <p:sldId id="303" r:id="rId55"/>
    <p:sldId id="260" r:id="rId12"/>
    <p:sldId id="263" r:id="rId15"/>
    <p:sldId id="264" r:id="rId16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Кызыктыруу (Engage). Тыйынды тааныштырыңыз: ал жаңгак чогултканды жакшы көрөт, бирок санаганда шашып калат. Балдардан сураңыз: «Канча жаңгак?» Жоопторду угуңуз, азыр туура-туура эмес деп айтпаңыз. Тыйындын «куйругум тоскоол болуп жатат» деген сөзүнө күлүп алыңыз – бул сабактын аягындагы «Ким туура?» суроосуна даярдык.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Lee: Сингапурда «мен математиканы билбейм» деген сөз кабыл алынбайт). Ар бир эрежени балдар менен чогуу окуп, мисал айтыңыз. Сабак бою ушул сөздөрдү колдонуңуз: «Азырынча чыкпай жатат», «Катаң бизге жаңы нерсе үйрөттү», «Кантип ойлодуң?». Балдардын алдында «математика кыйын», «мен да билчү эмесмин» дебеңиз. Ылдамдыкты эмес, аракетти жана ыкманы мактаңыз.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Максатты балдарга жөнөкөй сөз менен айтыңыз. Оң жактагы үч кадам – Сингапур ыкмасындагы КСА: буюм (конкреттүү) → сүрөт (сүрөттүү) → сан жана белги (абстракттуу). Ийгилик критерийлери (А1–А3): балдар «Мен … алам» деп чогуу окушат. Сабактын аягында (чыгуу билети жана рефлексия) аларга кайра кайрылабыз.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критерийлери. Ар бир сапты балдар менен чогуу окуңуз: «Мен … алам». Оң жактагы мисал – далил: бала ушундай кыла алса, критерий аткарылды. Сабактын ичинде ушул саптарга кайрылыңыз (чечүүчү суроо, чыгуу билети, рефлексия). Бардык балдар бир сабакта бардык критерийге жетпейт – бул нормалдуу.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 (Wenxi Lee: Сингапур программасы класстан класска улам тереңдейт). Балдарга бүгүнкү сабак мурун билгенге кантип курулуп жатканын көрсөтүңүз: «Силер санаганды билесиңер. Бүгүн эки бөлүктү бириктиребиз. Кийин 20 ичинде кошобуз жана кемитебиз». 2-класста ушул эле тилке модели салыштыруу жана көп кадамдуу маселелер үчүн колдонулат.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1-бөлүк: Даярдык.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Даярдык суроолору (Primary Mathematics: «Даярдык» фазасы). Ар бир суроону балдар мини-тактага же манжасы менен жооп беришет. Жооптор: 1) 7; 2) 6; 3) 8; 4) 5 көп. Бирөө-экөө жаңылса, сабак алдында кайра санатыңыз: чекиттерди бирден тийип санайбыз, он-кадрда 5 – бир сап.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түшүнүгү (Wenxi Lee, 7-ой): кичинекей балдар үчүн саноо сөздөрү менен «канча» деген суроонун байланышы өзүнөн-өзү түшүнүктүү эмес. 1) Чогуу санагыла: акыркы айткан сан – баары канча. 2) Жаңгактардын ордун алмаштырсак, алар дагы эле 5. 3) Нөл: уяда эч нерсе жок = 0; 5 = 5 + 0. Жооптор басканда чыгат: 5; 5;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КСА үч кадамы: Конкреттүү (кубиктер, жаңгактар колдо), Сүрөттүү (он-кадр, тилке модели), Абстракттуу (сан жана белги). Бүгүн ар бир суроону ушул үч жол менен көрөбүз. Ар бир жупка 5 капкак же таш бериңиз (3 бир түстө, 2 башка түстө) жана бириктиртиңиз.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Изилдөө (Explore), Кызматташуу. Ар бир жупка 5 буюм бериңиз (таштар, бурчак же жаңгак) жана эки кагаз «уя». Тапшырма: 5 буюмду эки уяга салгыла. Канча ар кандай жол таптыңар? Мисал катары 4 жана 1ди көрсөтүңүз. Мүмкүн болгон жооптор: 5 жана 0, 4 жана 1, 3 жана 2, 2 жана 3, 1 жана 4, 0 жана 5. Акырында «ар дайым канча буюм?» деп сураңыз – ар дайым 5. Бул бөлүк жана бүтүн идеясына алып барат. Буюм ар бир жуптун колунда болсун: бир окуучу бөлөт, экинчиси айтат, анан алмашышат. Кубик керек эмес: таш, бурчак, жаңгак же бөтөлкө капкагы жетиштүү. Кызматташуу эрежелери: «Кезек менен», «Угабыз», «Бөлүшөбүз». Байкоо чек-листин колдонуңуз (баалоо куралдары, 3-бет): 4 жупту байкап, Х2 жана А1 белгилеңиз. Сураңыз: «Дагы жол барбы? Кантип билесиң?»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Конкреттүү → Сүрөттүү. Ар бир жупка 10 жумуртканын кутусу (он-кадр; же чакмак дептерге 2 × 5 тор) жана 6 буюм: 3 таш жана 3 бурчак (эки түс = эки башка буюм). Жуптар он-кадрды толтуруп, ар кандай бөлүштүрүшөт, анан слайддагыны текшеришет. Жооптор: 1) 5 + 1 = 6; 2) 4 + 2 = 6; 3) 3 + 3 = 6; 4) 2 + 4 = 6. Сураңыз: «Жашылдар азайса, кызгылттар эмне болот? Баары дайыма канча?»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2-бөлүк: Тартуу.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кадам узартылат (Wenxi Lee, 3–4-ой). Адегенде эч кандай сан айтпайбыз жана эсептебейбиз. 1) «Эмнени көрүп турасың?» 2) «Эмне болуп жатат?» 3) «Кандай суроо берсе болот?» Ар бир баланын окуясын угуңуз. Акырында гана басыңыз: сан курамы жана тилке чыгат, ошондо гана эсептейбиз (4 + 2 =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Түшүндүрүү (Explain). Тыйындын жаңгактарына кайтыңыз. Жогорку тегерек – БҮТҮН (баары), төмөнкүлөр – БӨЛҮКТӨР. Балдар менен бирге айтыңыз: «Үч – бөлүк, эки – бөлүк, беш – бүтүн». Сингапур ыкмасында бул «сан курамы» схемасы.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→ Абстракттуу. Ар бир сан курамында бир сан жашыруун. Бүтүн жашыруун болсо – кошобуз, бөлүк жашыруун болсо – «канча жетпейт?» деп сурайбыз (кубик же манжа менен). Жооптор: 1) 1; 2) 5; 3) 4; 4) 3; 5) 8; 6) 3.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Абстракттуу кадам. Белгилерди тааныштырыңыз: «+» – кошуу (бириктиребиз), «=» – барабар (ошончо болот). Хор менен окугула: «Үч кошуу эки барабар беш». Колду бириктирип, «+» белгисин көрсөтүүнү сунуштаңыз.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(Сингапур). Ар бир кутуча – бир жаңгак. Жашыл – биринчи бөлүк, кызгылт – экинчи бөлүк. Үстүндөгү чоң кашаа – бүтүн. Балдар кутучаларды бирден санап чыгышат: 1, 2,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– Сингапур программасынын «таажысы» жана атайын үйрөнүлүүчү көндүм (Wenxi Lee, 2-ой). Ар бир басууда бир кадам чыгат. Ар бир кадамды балдар менен үн чыгарып айтыңыз жана алар мини-тактага чогуу чийишет. Кутучалар бирдей чоңдукта болсун: бир кутуча = бир жаңгак. Белгисизди «?» менен белгилейбиз. Проектор жок болсо: окуучулар чакмак дептерге чийишет (1 чакмак = 1 бирдик) же кагаз тилкелерди кесип коюшат.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моделинин кыска машыгуулары (жөнөкөйдөн татаалга). 1) кубиктерден тилке; 2) тилкеге сан жаз; 3) сүйлөмдөн тилке чий; 4) белгисиз бөлүк (Помпондо 4 топ). Ар бир деңгээлди балдар мини-тактага чийишет, анан басыңыз – жооп чыгат. Жооптор: 1) 3 жашыл + 2 кызгылт кутуча; 2) 5, 3, бүтүн 8; 3) 2 + 4, бүтүн 6; 4) 7 – бүтүн, 3 – бөлүк, белгисиз бөлүк 4. Басма нускасы: «Тилке модели машыгуусу» барагы.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→ Абстракттуу. Ар бир кутуча – бир жаңгак. Жашыл – бир бөлүк, кызгылт – экинчи бөлүк, үзүк сызык – белгисиз. Балдар тилкени окуп, кошууну жазышат. Жооптор: 1) 4 + 2 = 6; 2) 3 + 4 = 7; 3) 5 + 3 = 8 (белгисиз бөлүк 3); 4) 4 + 2 = 6 (белгисиз бөлүк 4). 3–4-суроолор кыйыныраак: «бүтүн белгилүү, бир бөлүгү белгисиз».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Чечүүчү суроо (hinge question). Балдар манжасы менен көрсөтүшөт: 1, 2 же 3 – бир убакта. 1) 7 – туура. 2) 8 – бирге жаңылуу: 4тү кайра санап кошту (Тыйындын «куйругу»). 3) 43 – сандарды жанаштыруу: «+» белгисин түшүнбөйт. Ката коддору: 8 = M1, 43 = M2. Көпчүлүгү 2 же 3 көрсөтсө, 15-слайдга («Тилкени кадам-кадам чийебиз») кайтам: ошол эле 4 + 3тү тилке менен кадам-кадам кайра чийебиз. Көпчүлүгү 1 болсо, улантам.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 көрсөтөм. Ойлогонуңузду үн чыгарып айтыңыз: «Адегенде 4 алма. Анан дагы 2 келди. Мен бириктирем. Схемага 4 жана 2ни жазам. Бүтүн – 6. Сан менен: 4 + 2 = 6». Акырында «4төн баштап, 5, 6 деп уланта санасак да болот» деп көрсөтүңүз.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Биз чогуу. Балдар манжа же буюм менен санап, жоопту мини-тактага жазышат (же манжаларын көрсөтүшөт). Суроолор: Бөлүктөр кайсылар? Бүтүнү белгисизби? Кандай кошуу жазабыз? Жооп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чогуу текшериңиз: 5тен баштап уланта санайбыз – 6, 7, 8. Кимде 8 чыкты? Ким башкача санады? Ар кандай ыкманы (бирден саноо, уланта саноо) мактаңыз.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Сүрөттүү. Сан огунда биринчи сандан баштап, экинчи сан канча болсо, ошончо секиребиз. Балдар манжасы менен «секиришет» жана үн чыгарып санашат: «5... 6, 7, 8». Кеңеш: чоң сандан баштоо жеңилирээк (2 + 6 → 6дан баштап 2 секирүү). Жооптор: 1) 4 + 2 = 6; 2) 6 + 3 = 9; 3) 7 + 2 = 9.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3-бөлүк: Өздөштүрүү.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Сен өзүң (Колдонуу). Ар бир окуучу мини-тактага жазат. Жооптор: 1) 2 + 2 = 4; 2) 4 + 1 = 5; 3) 3 + 3 = 6; 4) 5 + 2 = 7. Кыйналган балдарга буюм же сүрөттөгү жаңгактарды санатыңыз.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эсеп. Он-кадрдын үстүнкү жана астынкы сабында бирдей сан. Слайдды тез көрсөтүп (2–3 секунд), балдар санабай айтууга аракет кылышат. Жооптор: 1) 2 + 2 = 4; 2) 3 + 3 = 6; 3) 4 + 4 = 8; 4) 5 + 5 = 10. Акырында: «5 + 5 = 10 – он-кадр толду!»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Колдонуу. Ар бир маселеде: 1) окуйбуз; 2) бөлүктөр жана бүтүн кайсы? 3) тилке модели; 4) кошуу; 5) жооп сөз менен. Балдар тилкени мини-тактага чийишет. Жооптор: 1) 3 + 4 = 7 алма; 2) 6 + 2 = 8 сабиз; 3) 5 + 4 = 9, бактан 4 жаңгак (белгисиз бөлүк, кыйыныраак).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Сынчыл ой жүгүртүү. Туурасы – Помпон: 2 + 3 = 5. Тыйын жаңгактар менен кошо өзүнүн куйругун да санап алды! Сураңыз: Тыйын эмнеде жаңылды? Ага кантип жардам беребиз? (Санаганда ар бир буюмду бир жолу гана тийип санайбыз.) Баалоо (А6, Х1): «Помпон» деп гана айтты = 2-деңгээл; себебин айтты = 3; Тыйынга кантип жардам берүүнү айтты = 4. Х5: Тыйынга сылык жардам беребиз.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 «үлгү изде» (Сынчыл ой). Кубик тизмектери тепкич сыяктуу: жашылдар бирден азаят, кызгылттар бирден көбөйөт, баары дайыма 7. Балдар үлгүнү улантып, калган саптарды айтышат (чыкылдатканда чыгат): 4 + 3, 3 + 4, 2 + 5, 1 + 6, 0 + 7. Сураңыз: «Канча жол бар? (8) 4 + 3 менен 3 + 4тө эмне окшош?» Кубиктер менен жасап көрсөтүү – конкреттүү кадам.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Түзүү (Create), Кызматташуу. Жуптар 7 жаңгакты (буюмду) эки уяга ар кандай жол менен бөлүшөт жана ар бирин схемага, анан кошуу менен жазышат. Мисалы: 6 + 1, 5 + 2, 4 + 3. Кайсы жуп эң көп жол тапты? «4 + 3 менен 3 + 4 окшошпу?» деп сураңыз. Кызматташуу эрежелери: «Кезек менен», «Угабыз», «Бөлүшөбүз». Байкоо чек-листин колдонуңуз (3-бет): 4 жупту байкаңыз (Х2, А7). Схемалар ирээти менен (6+1, 5+2, 4+3 …) = 4-деңгээл.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Байланыштыруу (Connect). Кошуу турмушта ар дайым бар. Балдар өздөрү мисал ойлоп табышат. Үй тапшырмасы катары: үйдөн бир кошуу таап, сүрөтүн тартып келүү (мисалы, бут кийимдер, кашыктар).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Баалоо (Evaluate). Билетти басып таратыңыз (кийинки слайд, жарым барак) же мини-тактага чыгартыңыз. Жооптор: 1) 3 + 1 = 4; 2) 6 = 4 + 2; 3) ар кандай сүрөт, мисалы 2 жана 5 буюм, бүтүнү 7. Окуучу өзүн сүрөт менен баалайт жана бир холистикалык суроого жооп берет (Х2). Сабактан кийин билеттерди 3 топко бөлүңүз: ○ жардам керек, ◐ дагы машыгат, ● даяр (баалоо куралдары, 4-бет).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Басып чыгарып, ортосунан кесиңиз: бир баракта эки билет. Кодду мугалим гана колдонот.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Кыскача. Балдар хор менен кайталашат. Тыйынга кайрылыңыз: «Эми Тыйын куйругун санабайт!»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талкуу (Lesson Debrief). Сураңыз: «Бүгүн эмне үйрөндүк? Кайсы ыкма жакты?» Балдар жаккан ыкманы манжасы менен көрсөтүшөт (1–5) жана 2–3 бала себебин айтат. Ар бир ыкма менен 3 + 2 = 5ти кайра көрсөтүүгө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Рефлексия (Х1). Ар бир критерийди окуп, балдар өздөрүн көрсөтүшөт: манжасы менен 1 (жардам керек), 2 (дагы машыгам), 3 (түшүндүм). Анан 2–3 балага суроо бериңиз: «Бүгүн эмне үйрөндүң? Эмне кыйын болду?» Жоопторду класстык жазуу барагына белгилеңиз.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 (балдарга көрсөтүлбөйт). Wenxi Lee: натыйжа китептен эмес, мугалимдин даярдыгынан көз каранды.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гана. Ой жүгүртүү маданиятын сөз менен түзөбүз (Wenxi Lee, 5-ой).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гана. Даярдык чеги (definition of done): «10 ичинде кошуудан» «20 ичинде кошууга» жана кемитүүгө ушул шарттар аткарылганда өтөбүз. Далилдер: чыгуу билеттери, чечүүчү суроолор, кыска тест жана класстын трекери (baaloo-kuraldary папкасы). Даяр эмес балдар класс менен бирге алга жылат, бирок күн сайын 5 мүнөт кичи топто КСА килемчеси менен иштешет. Тема спираль менен кийин кайра келет.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Ар бир жупка: 10 жумуртканын кутусу (же чакмак дептерге чийилген 2 × 5 тор) жана 10 таш же бурчак. Үстүнкү сап толсо – 5. Мугалим кутуну 2 секунд көрсөтөт, балдар санабай айтышат: «5 жана 2 – 7». Жооптор басканда чыгат: 6 = 5 + 1; 8 = 5 + 3; 9 = 5 + 4. Кошууга байланыш: 5 + 3 = 8, анткени 5 жана дагы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10го толуктоо: «7ге канча кошсок, 10 болот?» Жумуртка кутусунда бош уяларды санайбыз. Жуптар: бири кутуга таш салат, экинчиси бош уяларды айтат, анан алмашышат. Жооптор: 6 + 4, 8 + 2, 4 + 6, 9 + 1, 5 + 5, 7 + 3. Бул фактылар кийин 20 ичинде кошууда керек (8 + 3 = 8 + 2 + 1).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Жакын кош сандар: эки сан бирге гана айырмаланса, кош сандан баштайбыз. Буюм менен: 4 таш жана 5 бурчак катар коюлат, бир бурчак «ашыкча». 4 + 5 = 4 + 4 + 1 = 9. Ар бир сап «=» менен башталат. Жооптор: 3 + 4 = 3 + 3 + 1 = 7; 2 + 3 = 2 + 2 + 1 = 5; 5 + 4 = 4 + 4 + 1 = 9. Ким башка жол менен тапса (уланта санаса), аны да мактайм: бул ыкма гана тандоо, милдет эмес.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Ийкемдүүлүк: ар бир мисал үчүн ыңгайлуу ыкманы тандайбыз. Балдар жупта «Кантип ойлодуң?» деп айтышат, анан басканда бир ыкма чыгат. Башка туура ыкма да кабыл алынат. Жооптор: 6 + 1 = 7; 5 + 3 = 8; 7 + 3 = 10; 4 + 4 = 8; 3 + 4 = 7; 7 + 2 =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1-сабак (40 мүнөт) ушул бөлүктүн слайддары. Убакыт планы «Класста колдонуу» картасында. Слайддардын баарын көрсөтүү милдет эмес: убакыт жетпесе, «Текшеребиз» жана «Эстеп кал!» слайддарын өткөрүп жиберем.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2-сабак. Башында «Оозеки беш мүнөт» (5 жана дагы, 10дун курамы, жакын кош сандар), анан тилке машыгуусу жана текст маселелер. Аягында 2-сабактын чыгуу билети (баалоо куралдары, 3b). Ар бир жупка: жумуртка кутусу, 10 таш же бурчак, кагаз тилкелер.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бул слайддар сабактын негизги планына кирбейт. «Акыркы сан» – алдын ала текшерүүдө 0–2 упай алган балдар үчүн. «Бир маселе – үч жол» – КСАны кайталоо. Акыркы 3 слайд балдарга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Тыйындын жаңгактары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Кызыктыруу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Кызыктыруу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Cloud 11"/>
          <p:cNvSpPr/>
          <p:nvPr/>
        </p:nvSpPr>
        <p:spPr>
          <a:xfrm>
            <a:off x="2347722" y="2608326"/>
            <a:ext cx="1325880" cy="2320290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486" y="3006090"/>
            <a:ext cx="596646" cy="7955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459382" y="2170785"/>
            <a:ext cx="0" cy="304953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26794" y="2011680"/>
            <a:ext cx="291693" cy="291693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360980" y="2170785"/>
            <a:ext cx="0" cy="304953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228392" y="2011680"/>
            <a:ext cx="291693" cy="291693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9606" y="4928616"/>
            <a:ext cx="424281" cy="291693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82545" y="4928616"/>
            <a:ext cx="424281" cy="291693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88136" y="2409444"/>
            <a:ext cx="1789938" cy="2651760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52194" y="4000500"/>
            <a:ext cx="861822" cy="86182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79829" y="2833725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44238" y="2982224"/>
            <a:ext cx="265176" cy="26517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84015" y="3008741"/>
            <a:ext cx="84856" cy="848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42769" y="2833725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07178" y="2982224"/>
            <a:ext cx="265176" cy="26517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46955" y="3008741"/>
            <a:ext cx="84856" cy="848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ord 27"/>
          <p:cNvSpPr/>
          <p:nvPr/>
        </p:nvSpPr>
        <p:spPr>
          <a:xfrm>
            <a:off x="1698040" y="3284524"/>
            <a:ext cx="556869" cy="424281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8136" y="5326380"/>
            <a:ext cx="19888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5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30" name="Rounded Rectangular Callout 29"/>
          <p:cNvSpPr/>
          <p:nvPr/>
        </p:nvSpPr>
        <p:spPr>
          <a:xfrm>
            <a:off x="3977639" y="1783080"/>
            <a:ext cx="4023360" cy="1234440"/>
          </a:xfrm>
          <a:prstGeom prst="wedgeRoundRectCallout">
            <a:avLst>
              <a:gd name="adj1" fmla="val -62000"/>
              <a:gd name="adj2" fmla="val 35000"/>
              <a:gd name="adj3" fmla="val 16667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0">
                <a:solidFill>
                  <a:srgbClr val="1F2430"/>
                </a:solidFill>
                <a:latin typeface="PT Sans"/>
              </a:rPr>
              <a:t>Мен 3 жаңгак таптым… анан дагы 2 таптым! Баары канча? Куйругум санатпай жатат!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77639" y="333756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5196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0316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2064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7184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8932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4052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80960" y="3337560"/>
            <a:ext cx="22860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55279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0648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823959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7516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0" y="5120640"/>
            <a:ext cx="7772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1D3557"/>
                </a:solidFill>
                <a:latin typeface="PT Sans"/>
              </a:rPr>
              <a:t>Тыйында канча жаңгак бар?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Биздин эреже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Ой жүгүртүү маданияты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83080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2057400"/>
            <a:ext cx="548640" cy="54864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96596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Ката – үйрөнүүнүн бир бөлүгү.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34639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Катаны көрсөк, «Эмне үйрөндүк?» деп сурайбыз.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783080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7376" y="2057400"/>
            <a:ext cx="548640" cy="54864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96596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«Билбейм» эмес – «азырынча билбейм».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834639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бир аракет бизди алдыга жылдырат.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977639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251959"/>
            <a:ext cx="548640" cy="54864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052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Кыйын болсо – мээбиз өсүп жатат.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5029200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Токтобойбуз, башка ыкма менен аракет кылабыз.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8776" y="3977639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7376" y="4251959"/>
            <a:ext cx="548640" cy="54864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416052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Адегенде сүрөт, анан сан.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029200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Чийип, түшүнүп, анан эсептейбиз.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үйрөнөбүз?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эки бөлүктү бириктирип, бүтүндү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«+» жана «=» белгилерин окуйм.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10 ичинде кошом: 3 + 2 = 5.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Кантип үйрөнөбүз?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Буюм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колго кармап санайбыз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Сүрөт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чийип көрөбүз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Сан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 менен жазабыз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1872" y="288036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61872" y="416052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1872" y="544068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Бүттү деп кантип билем?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Ийгилик критерийлери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Мен … алам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1645920"/>
            <a:ext cx="44805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Мына далилим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2276856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103120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бүтүндү эки бөлүккө бөлөм жана бириктирем.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103120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6 = 4 + 2 деп сан курамын толтурам.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2871215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044951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2871215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10 ичинде кошом.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2871215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5 + 3 = 8. Бирден санабай, 5тен уланта санайм.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3639311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813048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639311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кошууну сүрөт менен көрсөтөм.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639311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3 + 4тү он-кадрда же тилкеде көрсөтүп, 7 деп жазам.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4407408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4581144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07408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окуядан кошуу таап, жазам.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407408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Тыйында 4 жаңгак, 3 дагы келди: 4 + 3 = 7.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5175504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5349240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175504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катаны таап, оңдойм.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39128" y="5175504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5 + 3 = 9 туура эмес: 8 болот, анткени…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589788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Сабактын аягында чыгуу билети ушул критерийлерди текшерет.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Спираль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5067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Спираль · бүгүнкү тема кайда?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3017520"/>
            <a:ext cx="361188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108960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4A5A70"/>
                </a:solidFill>
                <a:latin typeface="PT Sans"/>
              </a:rPr>
              <a:t>Мурун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3657600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Саноо: 1ден 10го чейин. Акыркы сан – баары канча.</a:t>
            </a:r>
          </a:p>
        </p:txBody>
      </p:sp>
      <p:sp>
        <p:nvSpPr>
          <p:cNvPr id="15" name="Oval 14"/>
          <p:cNvSpPr/>
          <p:nvPr/>
        </p:nvSpPr>
        <p:spPr>
          <a:xfrm>
            <a:off x="1229868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0492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1116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91740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912364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4148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4772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396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6020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6644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0248" y="2468879"/>
            <a:ext cx="361188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2560320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007A5A"/>
                </a:solidFill>
                <a:latin typeface="PT Sans"/>
              </a:rPr>
              <a:t>Бүгүн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108959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Бөлүк + бөлүк = бүтүн. 10 ичинде кошуу.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390388" y="3931920"/>
            <a:ext cx="685800" cy="731520"/>
          </a:xfrm>
          <a:prstGeom prst="line">
            <a:avLst/>
          </a:prstGeom>
          <a:ln w="20002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76188" y="3931920"/>
            <a:ext cx="685800" cy="731520"/>
          </a:xfrm>
          <a:prstGeom prst="line">
            <a:avLst/>
          </a:prstGeom>
          <a:ln w="20002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801868" y="365760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1" name="Oval 30"/>
          <p:cNvSpPr/>
          <p:nvPr/>
        </p:nvSpPr>
        <p:spPr>
          <a:xfrm>
            <a:off x="5116068" y="438912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6487668" y="438912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31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903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475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4788" y="5440679"/>
            <a:ext cx="45720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1988" y="5440679"/>
            <a:ext cx="45720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933188" y="58430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04788" y="58430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933188" y="5952744"/>
            <a:ext cx="13716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04588" y="5971031"/>
            <a:ext cx="1828800" cy="2489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04788" y="58430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219188" y="58430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304788" y="5952744"/>
            <a:ext cx="91440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47588" y="5971031"/>
            <a:ext cx="1828800" cy="2489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4933188" y="5294375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219188" y="5294375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933188" y="5294375"/>
            <a:ext cx="22860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61788" y="4991608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0728" y="1920239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10728" y="2011679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Кийин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2560320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20 ичинде кошуу, кемитүү. 2-класс: салыштыруу.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02168" y="3611879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Помпон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3368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29944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6520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3096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39672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933688" y="396849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933688" y="4078224"/>
            <a:ext cx="18288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762488" y="4078224"/>
            <a:ext cx="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933688" y="349300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762488" y="349300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933688" y="3493007"/>
            <a:ext cx="18288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202168" y="4114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3368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29944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6520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3096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9672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762488" y="4142231"/>
            <a:ext cx="365760" cy="292608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128248" y="4142231"/>
            <a:ext cx="365760" cy="292608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8933688" y="44714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762488" y="44714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933688" y="4581144"/>
            <a:ext cx="18288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762488" y="44714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494008" y="44714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762488" y="4581144"/>
            <a:ext cx="73152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213848" y="4599431"/>
            <a:ext cx="1828800" cy="213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8933688" y="399592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1494008" y="399592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933688" y="3995927"/>
            <a:ext cx="256032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293608" y="489204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Ким канча көп?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solidFill>
            <a:srgbClr val="007A5A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007A5A"/>
                </a:solidFill>
                <a:latin typeface="PT Sans"/>
              </a:rPr>
              <a:t>Даярдык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Буюм менен ачабыз: санайбыз, бөлөбүз, он-кадрга салабыз.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Даяр суроолор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Буюм менен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Он-кадр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Даярбызбы?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Даярдык · Эске салуу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82880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Канча чекит?</a:t>
            </a:r>
          </a:p>
        </p:txBody>
      </p:sp>
      <p:sp>
        <p:nvSpPr>
          <p:cNvPr id="15" name="Oval 14"/>
          <p:cNvSpPr/>
          <p:nvPr/>
        </p:nvSpPr>
        <p:spPr>
          <a:xfrm>
            <a:off x="120700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55648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0428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292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01568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07007" y="297180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5648" y="297180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08576" y="3154680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6" y="182880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Он-кадрда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601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3193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8057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8601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3465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3193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057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6282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1146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6010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0874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5738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062825" y="304860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387584" y="3154680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" y="4069079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7ден кийин кайсы сан келет?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5528" y="4937759"/>
            <a:ext cx="466344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5413248" y="4864607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8696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12647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25880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51560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764792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490472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03704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929384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642615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368296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8152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807208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520439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3246120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59352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685032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398264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23944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837176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562856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27608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001768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08576" y="5394959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94576" y="4069079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Кайсында көп?</a:t>
            </a:r>
          </a:p>
        </p:txBody>
      </p:sp>
      <p:sp>
        <p:nvSpPr>
          <p:cNvPr id="74" name="Oval 73"/>
          <p:cNvSpPr/>
          <p:nvPr/>
        </p:nvSpPr>
        <p:spPr>
          <a:xfrm>
            <a:off x="6986016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018934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507223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540142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028431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061350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549640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82558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070848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03766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986016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018934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07223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40142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028431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061350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9838944" y="5394959"/>
            <a:ext cx="17373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 көп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42" grpId="0" animBg="1"/>
      <p:bldP spid="70" grpId="0" animBg="1"/>
      <p:bldP spid="9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Акыркы сан – баары канча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 · Сан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Даярдык · Сан түшүнүгү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1188720"/>
            <a:ext cx="29535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Конкреттүү →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Санайбыз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36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435607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4794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21214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652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756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28072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510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28" name="Oval 27"/>
          <p:cNvSpPr/>
          <p:nvPr/>
        </p:nvSpPr>
        <p:spPr>
          <a:xfrm>
            <a:off x="34930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368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472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" y="42062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Акыркы сан – баары канча?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01724" y="5120640"/>
            <a:ext cx="12801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82439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68239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Ордун алмаштыр</a:t>
            </a:r>
          </a:p>
        </p:txBody>
      </p:sp>
      <p:sp>
        <p:nvSpPr>
          <p:cNvPr id="36" name="Oval 35"/>
          <p:cNvSpPr/>
          <p:nvPr/>
        </p:nvSpPr>
        <p:spPr>
          <a:xfrm>
            <a:off x="4648200" y="27505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92091" y="26517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36920" y="261335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80811" y="251460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34199" y="29791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978091" y="28803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105400" y="36649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49291" y="35661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85559" y="375635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429451" y="365760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5320" y="4343400"/>
            <a:ext cx="3258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Эми канча?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97195" y="512064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дагы эле 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5112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0912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Бош уя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3752" y="2606039"/>
            <a:ext cx="2526792" cy="100584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9261348" y="3977639"/>
            <a:ext cx="685800" cy="64008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947148" y="3977639"/>
            <a:ext cx="685800" cy="64008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9672828" y="37033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8987028" y="43434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10358628" y="43434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07068" y="5120640"/>
            <a:ext cx="12801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7991" y="2606039"/>
            <a:ext cx="325831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Уяда канча?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47" grpId="0" animBg="1"/>
      <p:bldP spid="5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Бир маселе –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476859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КСА · Конкреттүү – Сүрөттүү – Абстракттуу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737360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3 жаңгак бар эле, дагы 2 жаңгак тапты. Баары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Конкреттүү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колго кармайбыз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86784" y="4224528"/>
            <a:ext cx="310896" cy="329184"/>
          </a:xfrm>
          <a:prstGeom prst="rightArrow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4256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Сүрөттүү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6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чийип көрөбүз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91271" y="4224528"/>
            <a:ext cx="310896" cy="329184"/>
          </a:xfrm>
          <a:prstGeom prst="rightArrow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38744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Абстракттуу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сан менен жазабыз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356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3560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8648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852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8940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41448" y="3794760"/>
            <a:ext cx="502920" cy="50292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9232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44368" y="3794760"/>
            <a:ext cx="502920" cy="50292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9524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44805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капкак же таш</a:t>
            </a:r>
          </a:p>
        </p:txBody>
      </p:sp>
      <p:sp>
        <p:nvSpPr>
          <p:cNvPr id="36" name="Oval 35"/>
          <p:cNvSpPr/>
          <p:nvPr/>
        </p:nvSpPr>
        <p:spPr>
          <a:xfrm>
            <a:off x="1024128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54851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99616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530339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975104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05827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24328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655051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99816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130539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" y="548640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жаңгактар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60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704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276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7848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9560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132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704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7848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200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4772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9344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91656" y="3675888"/>
            <a:ext cx="329184" cy="32918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48856" y="3675888"/>
            <a:ext cx="329184" cy="32918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560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132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704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27648" y="5029200"/>
            <a:ext cx="457200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784848" y="5029200"/>
            <a:ext cx="457200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4956048" y="547725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327648" y="547725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56048" y="5586984"/>
            <a:ext cx="137160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727448" y="5605272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27648" y="547725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242048" y="547725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327648" y="5586984"/>
            <a:ext cx="91440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70448" y="5605272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75" name="Connector 74"/>
          <p:cNvCxnSpPr/>
          <p:nvPr/>
        </p:nvCxnSpPr>
        <p:spPr>
          <a:xfrm flipV="1">
            <a:off x="4956048" y="488289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242048" y="488289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956048" y="4882896"/>
            <a:ext cx="228600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184648" y="4544568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38744" y="3749039"/>
            <a:ext cx="3520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3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38744" y="4846320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«Үч кошуу эки барабар беш»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5 жаңгакты эки уяга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Изилдөө · Буюм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Изилдөө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73736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Мисал: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737360"/>
            <a:ext cx="9866376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жупка: 5 таш, бурчак, жаңгак же капкак жана 2 кагаз уя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" y="2286000"/>
            <a:ext cx="3657600" cy="1600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7" y="22860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1-уя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023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992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5747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8716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3471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6440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1195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36008" y="2286000"/>
            <a:ext cx="3657600" cy="1600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2860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2-уя</a:t>
            </a:r>
          </a:p>
        </p:txBody>
      </p:sp>
      <p:sp>
        <p:nvSpPr>
          <p:cNvPr id="26" name="Oval 25"/>
          <p:cNvSpPr/>
          <p:nvPr/>
        </p:nvSpPr>
        <p:spPr>
          <a:xfrm>
            <a:off x="495604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0359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286000"/>
            <a:ext cx="3200400" cy="1600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жана 1</a:t>
            </a:r>
          </a:p>
          <a:p>
            <a:pPr algn="ctr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4114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Эми силер! Дагы кандай жол бар?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444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62287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779008"/>
            <a:ext cx="2011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Жуп эрежеси: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7744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Кезек менен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2628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Угабыз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Бөлүшөбүз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6ны эки түскө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Изилдөө · Он-кадр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Изилдөө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95144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6207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28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2821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95144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6207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0657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0758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451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4144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08369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40657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288036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+ 1 =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029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07223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7415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108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0800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4029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07223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7415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4108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0800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1966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8659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5352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0449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87377" y="222820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1966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03536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12096" y="288036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6128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2821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5144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6207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2900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128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72821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95144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6207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2900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4065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0758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7451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941441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08369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24065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4528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33087" y="512064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+ 3 = 6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029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07223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415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4108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0800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4029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3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7415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4108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0800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1966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8659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153521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720449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87377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966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03536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512064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+ 4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52" grpId="0" animBg="1"/>
      <p:bldP spid="72" grpId="0" animBg="1"/>
      <p:bldP spid="9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solidFill>
            <a:srgbClr val="A84400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A84400"/>
                </a:solidFill>
                <a:latin typeface="PT Sans"/>
              </a:rPr>
              <a:t>Тартуу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Адегенде сүрөт, анан сан. Тилке моделин кадам-кадам үйрөнөбүз.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Сүрөттү айт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Тилке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Чогуу чыгарабыз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Сүрөттү айтып бер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Тартуу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927348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Адегенде сүрөт, анан сан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loud 13"/>
          <p:cNvSpPr/>
          <p:nvPr/>
        </p:nvSpPr>
        <p:spPr>
          <a:xfrm>
            <a:off x="1737360" y="2560320"/>
            <a:ext cx="914400" cy="1600200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11680" y="2834640"/>
            <a:ext cx="41148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1124712" y="2258568"/>
            <a:ext cx="0" cy="210312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3271" y="2148840"/>
            <a:ext cx="201168" cy="201168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746504" y="2258568"/>
            <a:ext cx="0" cy="210312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655064" y="2148840"/>
            <a:ext cx="201168" cy="201168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4160520"/>
            <a:ext cx="292608" cy="201168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4160520"/>
            <a:ext cx="292608" cy="201168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2423160"/>
            <a:ext cx="1234440" cy="1828800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88720" y="3520440"/>
            <a:ext cx="594360" cy="5943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9848" y="27157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83233" y="2818180"/>
            <a:ext cx="182880" cy="182880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10665" y="2836468"/>
            <a:ext cx="58521" cy="58521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27048" y="27157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640433" y="2818180"/>
            <a:ext cx="182880" cy="182880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67865" y="2836468"/>
            <a:ext cx="58521" cy="58521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ord 29"/>
          <p:cNvSpPr/>
          <p:nvPr/>
        </p:nvSpPr>
        <p:spPr>
          <a:xfrm>
            <a:off x="1289304" y="3026664"/>
            <a:ext cx="384048" cy="292608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4023360"/>
            <a:ext cx="2011680" cy="100584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9260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568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832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140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404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712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976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284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5461711" y="2258568"/>
            <a:ext cx="186537" cy="4663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352897" y="2134209"/>
            <a:ext cx="217627" cy="217627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6005779" y="2258568"/>
            <a:ext cx="186537" cy="4663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083503" y="2134209"/>
            <a:ext cx="217627" cy="217627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554980" y="3890772"/>
            <a:ext cx="233172" cy="170992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904738" y="3890772"/>
            <a:ext cx="233172" cy="170992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2946" y="2647187"/>
            <a:ext cx="1126998" cy="1360170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438394" y="3618737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37910" y="3541013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27014" y="3774185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516118" y="2958084"/>
            <a:ext cx="295351" cy="29535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572234" y="3040782"/>
            <a:ext cx="147675" cy="147675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94386" y="3055549"/>
            <a:ext cx="47256" cy="472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889193" y="2958084"/>
            <a:ext cx="295351" cy="29535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945309" y="3040782"/>
            <a:ext cx="147675" cy="147675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67461" y="3055549"/>
            <a:ext cx="47256" cy="472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hord 56"/>
          <p:cNvSpPr/>
          <p:nvPr/>
        </p:nvSpPr>
        <p:spPr>
          <a:xfrm>
            <a:off x="5694883" y="3245662"/>
            <a:ext cx="310896" cy="23317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44084" y="4085081"/>
            <a:ext cx="11658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59" name="Oval 58"/>
          <p:cNvSpPr/>
          <p:nvPr/>
        </p:nvSpPr>
        <p:spPr>
          <a:xfrm>
            <a:off x="5394960" y="413820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25683" y="406908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70448" y="413820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01171" y="406908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H="1">
            <a:off x="4800600" y="4297680"/>
            <a:ext cx="320040" cy="137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7452360" y="1837943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01000" y="17830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Эмнени көрүп турасың?</a:t>
            </a:r>
          </a:p>
        </p:txBody>
      </p:sp>
      <p:sp>
        <p:nvSpPr>
          <p:cNvPr id="66" name="Oval 65"/>
          <p:cNvSpPr/>
          <p:nvPr/>
        </p:nvSpPr>
        <p:spPr>
          <a:xfrm>
            <a:off x="7452360" y="2523744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4688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Эмне болуп жатат?</a:t>
            </a:r>
          </a:p>
        </p:txBody>
      </p:sp>
      <p:sp>
        <p:nvSpPr>
          <p:cNvPr id="68" name="Oval 67"/>
          <p:cNvSpPr/>
          <p:nvPr/>
        </p:nvSpPr>
        <p:spPr>
          <a:xfrm>
            <a:off x="7452360" y="3209544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31546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Кандай суроо берсе болот?</a:t>
            </a:r>
          </a:p>
        </p:txBody>
      </p:sp>
      <p:grpSp>
        <p:nvGrpSpPr>
          <p:cNvPr id="75" name="Group 74"/>
          <p:cNvGrpSpPr/>
          <p:nvPr/>
        </p:nvGrpSpPr>
        <p:grpSpPr>
          <a:xfrm>
            <a:off x="7424927" y="3931920"/>
            <a:ext cx="2249424" cy="1563624"/>
            <a:chOff x="7424927" y="3931920"/>
            <a:chExt cx="2249424" cy="1563624"/>
          </a:xfrm>
        </p:grpSpPr>
        <p:cxnSp>
          <p:nvCxnSpPr>
            <p:cNvPr id="70" name="Connector 69"/>
            <p:cNvCxnSpPr/>
            <p:nvPr/>
          </p:nvCxnSpPr>
          <p:spPr>
            <a:xfrm flipH="1">
              <a:off x="7772400" y="4279392"/>
              <a:ext cx="777240" cy="868680"/>
            </a:xfrm>
            <a:prstGeom prst="line">
              <a:avLst/>
            </a:prstGeom>
            <a:ln w="20002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8549640" y="4279392"/>
              <a:ext cx="777240" cy="868680"/>
            </a:xfrm>
            <a:prstGeom prst="line">
              <a:avLst/>
            </a:prstGeom>
            <a:ln w="20002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Oval 71"/>
            <p:cNvSpPr/>
            <p:nvPr/>
          </p:nvSpPr>
          <p:spPr>
            <a:xfrm>
              <a:off x="8202167" y="393192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sp>
          <p:nvSpPr>
            <p:cNvPr id="73" name="Oval 72"/>
            <p:cNvSpPr/>
            <p:nvPr/>
          </p:nvSpPr>
          <p:spPr>
            <a:xfrm>
              <a:off x="7424927" y="480060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1F2430"/>
                  </a:solidFill>
                  <a:latin typeface="PT Sans"/>
                </a:rPr>
                <a:t>4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8979407" y="480060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1F2430"/>
                  </a:solidFill>
                  <a:latin typeface="PT Sans"/>
                </a:rPr>
                <a:t>2</a:t>
              </a: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555480" y="3894328"/>
            <a:ext cx="2651759" cy="1246631"/>
            <a:chOff x="9555480" y="3894328"/>
            <a:chExt cx="2651759" cy="1246631"/>
          </a:xfrm>
        </p:grpSpPr>
        <p:sp>
          <p:nvSpPr>
            <p:cNvPr id="76" name="Rectangle 75"/>
            <p:cNvSpPr/>
            <p:nvPr/>
          </p:nvSpPr>
          <p:spPr>
            <a:xfrm>
              <a:off x="992124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019556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046988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074420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11018519" y="4343400"/>
              <a:ext cx="274320" cy="384048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11292840" y="4343400"/>
              <a:ext cx="274320" cy="384048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9921240" y="4764024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11018519" y="4764024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9921240" y="4873752"/>
              <a:ext cx="1097279" cy="0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/>
          </p:nvSpPr>
          <p:spPr>
            <a:xfrm>
              <a:off x="9555480" y="4892040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4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>
              <a:off x="11018519" y="4764024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>
              <a:off x="11567159" y="4764024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>
              <a:off x="11018519" y="4873752"/>
              <a:ext cx="548640" cy="0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/>
            <p:cNvSpPr txBox="1"/>
            <p:nvPr/>
          </p:nvSpPr>
          <p:spPr>
            <a:xfrm>
              <a:off x="10378439" y="4892040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2</a:t>
              </a:r>
            </a:p>
          </p:txBody>
        </p:sp>
        <p:cxnSp>
          <p:nvCxnSpPr>
            <p:cNvPr id="90" name="Connector 89"/>
            <p:cNvCxnSpPr/>
            <p:nvPr/>
          </p:nvCxnSpPr>
          <p:spPr>
            <a:xfrm flipV="1">
              <a:off x="9921240" y="4197096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 flipV="1">
              <a:off x="11567159" y="4197096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>
              <a:off x="9921240" y="4197096"/>
              <a:ext cx="1645919" cy="0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/>
            <p:cNvSpPr txBox="1"/>
            <p:nvPr/>
          </p:nvSpPr>
          <p:spPr>
            <a:xfrm>
              <a:off x="9829800" y="389432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</p:grpSp>
      <p:sp>
        <p:nvSpPr>
          <p:cNvPr id="95" name="TextBox 94"/>
          <p:cNvSpPr txBox="1"/>
          <p:nvPr/>
        </p:nvSpPr>
        <p:spPr>
          <a:xfrm>
            <a:off x="7406640" y="5669280"/>
            <a:ext cx="4343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Бөлүк, бөлүк – бүтүн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828800" y="2487168"/>
            <a:ext cx="1463040" cy="18288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91840" y="2487168"/>
            <a:ext cx="1463040" cy="18288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633472" y="18288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6576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096512" y="36576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196596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бүтүн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20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бөлүк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074920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бөлүк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828800"/>
            <a:ext cx="507492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1965960"/>
            <a:ext cx="4709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Тыйындын жаңгактары</a:t>
            </a:r>
          </a:p>
        </p:txBody>
      </p:sp>
      <p:sp>
        <p:nvSpPr>
          <p:cNvPr id="22" name="Oval 21"/>
          <p:cNvSpPr/>
          <p:nvPr/>
        </p:nvSpPr>
        <p:spPr>
          <a:xfrm>
            <a:off x="7086600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0491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99831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43723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13064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56955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697480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 – бөлүк</a:t>
            </a:r>
          </a:p>
        </p:txBody>
      </p:sp>
      <p:sp>
        <p:nvSpPr>
          <p:cNvPr id="29" name="Oval 28"/>
          <p:cNvSpPr/>
          <p:nvPr/>
        </p:nvSpPr>
        <p:spPr>
          <a:xfrm>
            <a:off x="7086600" y="361919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0491" y="352044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99831" y="361919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43723" y="352044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3520440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2 – бөлүк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49440" y="4343400"/>
            <a:ext cx="4526280" cy="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7086600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117323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80375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11099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74152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4875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67928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98651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061704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92427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4498848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 – бүтүн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Сан курамын толтур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Сан курамы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30/48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556004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24684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040636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171956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2909316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Oval 19"/>
          <p:cNvSpPr/>
          <p:nvPr/>
        </p:nvSpPr>
        <p:spPr>
          <a:xfrm>
            <a:off x="2909316" y="2926080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5408675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77355" y="2286000"/>
            <a:ext cx="868681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893307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6" name="Oval 25"/>
          <p:cNvSpPr/>
          <p:nvPr/>
        </p:nvSpPr>
        <p:spPr>
          <a:xfrm>
            <a:off x="5024627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6761988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5893307" y="190195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112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9261348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130028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745980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4" name="Oval 33"/>
          <p:cNvSpPr/>
          <p:nvPr/>
        </p:nvSpPr>
        <p:spPr>
          <a:xfrm>
            <a:off x="8877300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5" name="Oval 34"/>
          <p:cNvSpPr/>
          <p:nvPr/>
        </p:nvSpPr>
        <p:spPr>
          <a:xfrm>
            <a:off x="10614660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6" name="Oval 35"/>
          <p:cNvSpPr/>
          <p:nvPr/>
        </p:nvSpPr>
        <p:spPr>
          <a:xfrm>
            <a:off x="8877300" y="2926080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6928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1556004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24684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2040636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2" name="Oval 41"/>
          <p:cNvSpPr/>
          <p:nvPr/>
        </p:nvSpPr>
        <p:spPr>
          <a:xfrm>
            <a:off x="1171956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2909316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4" name="Oval 43"/>
          <p:cNvSpPr/>
          <p:nvPr/>
        </p:nvSpPr>
        <p:spPr>
          <a:xfrm>
            <a:off x="2909316" y="519379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82439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19600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408675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77355" y="4553712"/>
            <a:ext cx="868681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93307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0" name="Oval 49"/>
          <p:cNvSpPr/>
          <p:nvPr/>
        </p:nvSpPr>
        <p:spPr>
          <a:xfrm>
            <a:off x="5024627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1" name="Oval 50"/>
          <p:cNvSpPr/>
          <p:nvPr/>
        </p:nvSpPr>
        <p:spPr>
          <a:xfrm>
            <a:off x="6761988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5893307" y="4169663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35112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272272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9261348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130028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745980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58" name="Oval 57"/>
          <p:cNvSpPr/>
          <p:nvPr/>
        </p:nvSpPr>
        <p:spPr>
          <a:xfrm>
            <a:off x="8877300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9" name="Oval 58"/>
          <p:cNvSpPr/>
          <p:nvPr/>
        </p:nvSpPr>
        <p:spPr>
          <a:xfrm>
            <a:off x="10614660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8877300" y="519379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8" grpId="0" animBg="1"/>
      <p:bldP spid="36" grpId="0" animBg="1"/>
      <p:bldP spid="44" grpId="0" animBg="1"/>
      <p:bldP spid="52" grpId="0" animBg="1"/>
      <p:bldP spid="6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Кошууну жазабыз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82880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0" b="1" i="0">
                <a:solidFill>
                  <a:srgbClr val="1F2430"/>
                </a:solidFill>
                <a:latin typeface="PT Sans"/>
              </a:rPr>
              <a:t/>
            </a:r>
            <a:r>
              <a:rPr sz="11000" b="1">
                <a:solidFill>
                  <a:srgbClr val="007A5A"/>
                </a:solidFill>
                <a:latin typeface="PT Sans"/>
              </a:rPr>
              <a:t>3</a:t>
            </a:r>
            <a:r>
              <a:rPr sz="11000" b="1">
                <a:solidFill>
                  <a:srgbClr val="1D3557"/>
                </a:solidFill>
                <a:latin typeface="PT Sans"/>
              </a:rPr>
              <a:t> + </a:t>
            </a:r>
            <a:r>
              <a:rPr sz="11000" b="1">
                <a:solidFill>
                  <a:srgbClr val="A84400"/>
                </a:solidFill>
                <a:latin typeface="PT Sans"/>
              </a:rPr>
              <a:t>2</a:t>
            </a:r>
            <a:r>
              <a:rPr sz="11000" b="1">
                <a:solidFill>
                  <a:srgbClr val="1D3557"/>
                </a:solidFill>
                <a:latin typeface="PT Sans"/>
              </a:rPr>
              <a:t> = </a:t>
            </a:r>
            <a:r>
              <a:rPr sz="110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кошуу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барабар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бүтүн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4572000"/>
            <a:ext cx="8449056" cy="8686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A84400"/>
                </a:solidFill>
                <a:latin typeface="PT Sans"/>
              </a:rPr>
              <a:t>«Үч кошуу эки барабар беш»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менен көрөбүз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Тилке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743200"/>
            <a:ext cx="914400" cy="7772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2743200"/>
            <a:ext cx="914400" cy="7772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840480" y="356616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83680" y="356616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3703320"/>
            <a:ext cx="274320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40480" y="37490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2480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0" y="3703320"/>
            <a:ext cx="18288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79" y="37490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840480" y="25603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412480" y="25603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840480" y="2560320"/>
            <a:ext cx="45720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79" y="2148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434340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3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54864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Бир кутуча = бир жаңгак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кадам-кадам чийебиз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Көндүм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Тилке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737360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4 жаңгак бар. Помпон ага дагы 3 жаңгак берди. Баары канча?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75488" y="2697480"/>
            <a:ext cx="5257799" cy="475488"/>
            <a:chOff x="475488" y="2697480"/>
            <a:chExt cx="5257799" cy="475488"/>
          </a:xfrm>
        </p:grpSpPr>
        <p:sp>
          <p:nvSpPr>
            <p:cNvPr id="15" name="Oval 14"/>
            <p:cNvSpPr/>
            <p:nvPr/>
          </p:nvSpPr>
          <p:spPr>
            <a:xfrm>
              <a:off x="475488" y="2743200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78407" y="2697480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Окуйбуз: ким? эмне?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75488" y="3264408"/>
            <a:ext cx="5257799" cy="475488"/>
            <a:chOff x="475488" y="3264408"/>
            <a:chExt cx="5257799" cy="475488"/>
          </a:xfrm>
        </p:grpSpPr>
        <p:sp>
          <p:nvSpPr>
            <p:cNvPr id="18" name="Oval 17"/>
            <p:cNvSpPr/>
            <p:nvPr/>
          </p:nvSpPr>
          <p:spPr>
            <a:xfrm>
              <a:off x="475488" y="3310128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78407" y="3264408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Биринчи бөлүк: 4 кутуча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75488" y="3831336"/>
            <a:ext cx="5257799" cy="475488"/>
            <a:chOff x="475488" y="3831336"/>
            <a:chExt cx="5257799" cy="475488"/>
          </a:xfrm>
        </p:grpSpPr>
        <p:sp>
          <p:nvSpPr>
            <p:cNvPr id="21" name="Oval 20"/>
            <p:cNvSpPr/>
            <p:nvPr/>
          </p:nvSpPr>
          <p:spPr>
            <a:xfrm>
              <a:off x="475488" y="3877056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8407" y="3831336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Экинчи бөлүк: 3 кутуча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75488" y="4398264"/>
            <a:ext cx="5257799" cy="475488"/>
            <a:chOff x="475488" y="4398264"/>
            <a:chExt cx="5257799" cy="475488"/>
          </a:xfrm>
        </p:grpSpPr>
        <p:sp>
          <p:nvSpPr>
            <p:cNvPr id="24" name="Oval 23"/>
            <p:cNvSpPr/>
            <p:nvPr/>
          </p:nvSpPr>
          <p:spPr>
            <a:xfrm>
              <a:off x="475488" y="4443984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4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78407" y="4398264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Бүтүн белгисиз: «?»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75488" y="4965192"/>
            <a:ext cx="5257799" cy="475488"/>
            <a:chOff x="475488" y="4965192"/>
            <a:chExt cx="5257799" cy="475488"/>
          </a:xfrm>
        </p:grpSpPr>
        <p:sp>
          <p:nvSpPr>
            <p:cNvPr id="27" name="Oval 26"/>
            <p:cNvSpPr/>
            <p:nvPr/>
          </p:nvSpPr>
          <p:spPr>
            <a:xfrm>
              <a:off x="475488" y="5010912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5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78407" y="4965192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Эсептейбиз: 4 + 3 = 7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75488" y="5532120"/>
            <a:ext cx="5257799" cy="475488"/>
            <a:chOff x="475488" y="5532120"/>
            <a:chExt cx="5257799" cy="475488"/>
          </a:xfrm>
        </p:grpSpPr>
        <p:sp>
          <p:nvSpPr>
            <p:cNvPr id="30" name="Oval 29"/>
            <p:cNvSpPr/>
            <p:nvPr/>
          </p:nvSpPr>
          <p:spPr>
            <a:xfrm>
              <a:off x="475488" y="5577840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78407" y="5532120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Жооп: 7 жаңгак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4937760" y="3749039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жаңгак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6309360" y="3749039"/>
            <a:ext cx="2743200" cy="1068832"/>
            <a:chOff x="6309360" y="3749039"/>
            <a:chExt cx="2743200" cy="1068832"/>
          </a:xfrm>
        </p:grpSpPr>
        <p:sp>
          <p:nvSpPr>
            <p:cNvPr id="34" name="Rectangle 33"/>
            <p:cNvSpPr/>
            <p:nvPr/>
          </p:nvSpPr>
          <p:spPr>
            <a:xfrm>
              <a:off x="63093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9951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809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667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6309360" y="4334255"/>
              <a:ext cx="0" cy="109728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9052560" y="4334255"/>
              <a:ext cx="0" cy="109728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6309360" y="4443983"/>
              <a:ext cx="2743200" cy="0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6766560" y="4462271"/>
              <a:ext cx="1828800" cy="3556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000" b="1" i="0">
                  <a:solidFill>
                    <a:srgbClr val="007A5A"/>
                  </a:solidFill>
                  <a:latin typeface="PT Sans"/>
                </a:rPr>
                <a:t>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9052560" y="3749039"/>
            <a:ext cx="2057400" cy="1068832"/>
            <a:chOff x="9052560" y="3749039"/>
            <a:chExt cx="2057400" cy="1068832"/>
          </a:xfrm>
        </p:grpSpPr>
        <p:sp>
          <p:nvSpPr>
            <p:cNvPr id="43" name="Rectangle 42"/>
            <p:cNvSpPr/>
            <p:nvPr/>
          </p:nvSpPr>
          <p:spPr>
            <a:xfrm>
              <a:off x="90525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7383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4241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9052560" y="433425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11109960" y="433425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47"/>
            <p:cNvCxnSpPr/>
            <p:nvPr/>
          </p:nvCxnSpPr>
          <p:spPr>
            <a:xfrm>
              <a:off x="9052560" y="4443983"/>
              <a:ext cx="2057400" cy="0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9166860" y="4462271"/>
              <a:ext cx="1828800" cy="3556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000" b="1" i="0">
                  <a:solidFill>
                    <a:srgbClr val="A84400"/>
                  </a:solidFill>
                  <a:latin typeface="PT Sans"/>
                </a:rPr>
                <a:t>3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309360" y="3193287"/>
            <a:ext cx="4800600" cy="519176"/>
            <a:chOff x="6309360" y="3193287"/>
            <a:chExt cx="4800600" cy="519176"/>
          </a:xfrm>
        </p:grpSpPr>
        <p:cxnSp>
          <p:nvCxnSpPr>
            <p:cNvPr id="51" name="Connector 50"/>
            <p:cNvCxnSpPr/>
            <p:nvPr/>
          </p:nvCxnSpPr>
          <p:spPr>
            <a:xfrm flipV="1">
              <a:off x="6309360" y="360273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/>
            <p:nvPr/>
          </p:nvCxnSpPr>
          <p:spPr>
            <a:xfrm flipV="1">
              <a:off x="11109960" y="360273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>
              <a:off x="6309360" y="3602735"/>
              <a:ext cx="4800600" cy="0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/>
            <p:cNvSpPr txBox="1"/>
            <p:nvPr/>
          </p:nvSpPr>
          <p:spPr>
            <a:xfrm>
              <a:off x="7795260" y="3193287"/>
              <a:ext cx="1828800" cy="3911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2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309360" y="5074920"/>
            <a:ext cx="4800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+ 3 = 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0" y="5669280"/>
            <a:ext cx="37033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Баары 7 жаңгак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56" grpId="0" animBg="1"/>
      <p:bldP spid="5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4 деңгээл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Тилке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874519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1-деңгээл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18470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Кубиктерди тилкеге айлант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128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8473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7276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621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8424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7691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95728" y="24688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1917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07208" y="24688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3065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6128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7276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8424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9572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720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6" name="Group 45"/>
          <p:cNvGrpSpPr/>
          <p:nvPr/>
        </p:nvGrpSpPr>
        <p:grpSpPr>
          <a:xfrm>
            <a:off x="1161288" y="3008376"/>
            <a:ext cx="2057400" cy="704088"/>
            <a:chOff x="1161288" y="3008376"/>
            <a:chExt cx="2057400" cy="704088"/>
          </a:xfrm>
        </p:grpSpPr>
        <p:sp>
          <p:nvSpPr>
            <p:cNvPr id="32" name="Rectangle 31"/>
            <p:cNvSpPr/>
            <p:nvPr/>
          </p:nvSpPr>
          <p:spPr>
            <a:xfrm>
              <a:off x="116128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7276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98424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395728" y="3154680"/>
              <a:ext cx="411480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807208" y="3154680"/>
              <a:ext cx="411480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161288" y="36027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2395728" y="36027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161288" y="3712464"/>
              <a:ext cx="1234440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2395728" y="36027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>
              <a:off x="3218688" y="36027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2395728" y="3712464"/>
              <a:ext cx="822960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161288" y="30083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3218688" y="30083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1161288" y="3008376"/>
              <a:ext cx="2057400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ounded Rectangle 46"/>
          <p:cNvSpPr/>
          <p:nvPr/>
        </p:nvSpPr>
        <p:spPr>
          <a:xfrm>
            <a:off x="6208776" y="1737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58984" y="1874519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2-деңгээл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94576" y="18470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Тилкеге сан жаз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0296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24344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08392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2440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76488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60536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44584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28632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940296" y="314553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860536" y="314553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940296" y="3255264"/>
            <a:ext cx="192024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860536" y="314553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012680" y="314553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60536" y="3255264"/>
            <a:ext cx="1152144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940296" y="255117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012680" y="255117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940296" y="2551176"/>
            <a:ext cx="307238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/>
          <p:cNvGrpSpPr/>
          <p:nvPr/>
        </p:nvGrpSpPr>
        <p:grpSpPr>
          <a:xfrm>
            <a:off x="6940296" y="2248408"/>
            <a:ext cx="3410712" cy="1274063"/>
            <a:chOff x="6940296" y="2248408"/>
            <a:chExt cx="3410712" cy="1274063"/>
          </a:xfrm>
        </p:grpSpPr>
        <p:sp>
          <p:nvSpPr>
            <p:cNvPr id="68" name="Rectangle 67"/>
            <p:cNvSpPr/>
            <p:nvPr/>
          </p:nvSpPr>
          <p:spPr>
            <a:xfrm>
              <a:off x="6940296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7324344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7708392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8092440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8476488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8860536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244584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9628632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6940296" y="31455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8860536" y="31455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6940296" y="3255264"/>
              <a:ext cx="1920240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6986016" y="327355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5</a:t>
              </a:r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8860536" y="31455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10012680" y="31455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8860536" y="3255264"/>
              <a:ext cx="1152144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8522208" y="327355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3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 flipV="1">
              <a:off x="6940296" y="25511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 flipV="1">
              <a:off x="10012680" y="25511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>
              <a:off x="6940296" y="2551176"/>
              <a:ext cx="3072384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7562088" y="224840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8</a:t>
              </a:r>
            </a:p>
          </p:txBody>
        </p:sp>
      </p:grpSp>
      <p:sp>
        <p:nvSpPr>
          <p:cNvPr id="89" name="Rounded Rectangle 88"/>
          <p:cNvSpPr/>
          <p:nvPr/>
        </p:nvSpPr>
        <p:spPr>
          <a:xfrm>
            <a:off x="429768" y="4023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66928" y="41605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79976" y="4160520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A84400"/>
                </a:solidFill>
                <a:latin typeface="PT Sans"/>
              </a:rPr>
              <a:t>3-деңгээл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15568" y="4133088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 чий: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D3557"/>
                </a:solidFill>
                <a:latin typeface="PT Sans"/>
              </a:rPr>
              <a:t>Тыйында 2 топ, Помпондо 4 топ. Баары?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630936" y="4854448"/>
            <a:ext cx="2980944" cy="1274063"/>
            <a:chOff x="630936" y="4854448"/>
            <a:chExt cx="2980944" cy="1274063"/>
          </a:xfrm>
        </p:grpSpPr>
        <p:sp>
          <p:nvSpPr>
            <p:cNvPr id="93" name="Rectangle 92"/>
            <p:cNvSpPr/>
            <p:nvPr/>
          </p:nvSpPr>
          <p:spPr>
            <a:xfrm>
              <a:off x="1161288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545336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929384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2313432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2697479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081528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9" name="Connector 98"/>
            <p:cNvCxnSpPr/>
            <p:nvPr/>
          </p:nvCxnSpPr>
          <p:spPr>
            <a:xfrm>
              <a:off x="1161288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1929384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1161288" y="5861304"/>
              <a:ext cx="768096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/>
            <p:cNvSpPr txBox="1"/>
            <p:nvPr/>
          </p:nvSpPr>
          <p:spPr>
            <a:xfrm>
              <a:off x="630936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2</a:t>
              </a:r>
            </a:p>
          </p:txBody>
        </p:sp>
        <p:cxnSp>
          <p:nvCxnSpPr>
            <p:cNvPr id="103" name="Connector 102"/>
            <p:cNvCxnSpPr/>
            <p:nvPr/>
          </p:nvCxnSpPr>
          <p:spPr>
            <a:xfrm>
              <a:off x="1929384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3465576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1929384" y="5861304"/>
              <a:ext cx="1536192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/>
          </p:nvSpPr>
          <p:spPr>
            <a:xfrm>
              <a:off x="1783080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4</a:t>
              </a:r>
            </a:p>
          </p:txBody>
        </p:sp>
        <p:cxnSp>
          <p:nvCxnSpPr>
            <p:cNvPr id="107" name="Connector 106"/>
            <p:cNvCxnSpPr/>
            <p:nvPr/>
          </p:nvCxnSpPr>
          <p:spPr>
            <a:xfrm flipV="1">
              <a:off x="1161288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3465576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>
              <a:off x="1161288" y="5157216"/>
              <a:ext cx="2304288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/>
            <p:cNvSpPr txBox="1"/>
            <p:nvPr/>
          </p:nvSpPr>
          <p:spPr>
            <a:xfrm>
              <a:off x="1399032" y="485444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</p:grpSp>
      <p:sp>
        <p:nvSpPr>
          <p:cNvPr id="112" name="Rounded Rectangle 111"/>
          <p:cNvSpPr/>
          <p:nvPr/>
        </p:nvSpPr>
        <p:spPr>
          <a:xfrm>
            <a:off x="6208776" y="4023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345936" y="41605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158984" y="4160520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24418C"/>
                </a:solidFill>
                <a:latin typeface="PT Sans"/>
              </a:rPr>
              <a:t>4-деңгээл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94576" y="4133088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 чий: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D3557"/>
                </a:solidFill>
                <a:latin typeface="PT Sans"/>
              </a:rPr>
              <a:t>Баары 7 топ. 3ү Тыйындыкы. Помпондуку?</a:t>
            </a:r>
          </a:p>
        </p:txBody>
      </p:sp>
      <p:grpSp>
        <p:nvGrpSpPr>
          <p:cNvPr id="132" name="Group 131"/>
          <p:cNvGrpSpPr/>
          <p:nvPr/>
        </p:nvGrpSpPr>
        <p:grpSpPr>
          <a:xfrm>
            <a:off x="6601967" y="4854448"/>
            <a:ext cx="3172969" cy="1274063"/>
            <a:chOff x="6601967" y="4854448"/>
            <a:chExt cx="3172969" cy="1274063"/>
          </a:xfrm>
        </p:grpSpPr>
        <p:sp>
          <p:nvSpPr>
            <p:cNvPr id="116" name="Rectangle 115"/>
            <p:cNvSpPr/>
            <p:nvPr/>
          </p:nvSpPr>
          <p:spPr>
            <a:xfrm>
              <a:off x="6940296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7324344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7708392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092440" y="5303520"/>
              <a:ext cx="1536192" cy="41148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6940296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8092440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6940296" y="5861304"/>
              <a:ext cx="1152144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/>
            <p:cNvSpPr txBox="1"/>
            <p:nvPr/>
          </p:nvSpPr>
          <p:spPr>
            <a:xfrm>
              <a:off x="6601967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3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>
              <a:off x="8092440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9628632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>
              <a:off x="8092440" y="5861304"/>
              <a:ext cx="1536192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/>
            <p:cNvSpPr txBox="1"/>
            <p:nvPr/>
          </p:nvSpPr>
          <p:spPr>
            <a:xfrm>
              <a:off x="7946136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cxnSp>
          <p:nvCxnSpPr>
            <p:cNvPr id="128" name="Connector 127"/>
            <p:cNvCxnSpPr/>
            <p:nvPr/>
          </p:nvCxnSpPr>
          <p:spPr>
            <a:xfrm flipV="1">
              <a:off x="6940296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 flipV="1">
              <a:off x="9628632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6940296" y="5157216"/>
              <a:ext cx="2688336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/>
            <p:cNvSpPr txBox="1"/>
            <p:nvPr/>
          </p:nvSpPr>
          <p:spPr>
            <a:xfrm>
              <a:off x="7370063" y="485444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7</a:t>
              </a:r>
            </a:p>
          </p:txBody>
        </p:sp>
      </p:grpSp>
      <p:sp>
        <p:nvSpPr>
          <p:cNvPr id="133" name="TextBox 132"/>
          <p:cNvSpPr txBox="1"/>
          <p:nvPr/>
        </p:nvSpPr>
        <p:spPr>
          <a:xfrm>
            <a:off x="10277856" y="5623560"/>
            <a:ext cx="1371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Кыйын = өсүү!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окуп,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Тилке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700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1848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996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41448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52928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4408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207007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52928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07007" y="2907792"/>
            <a:ext cx="1645921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5567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52928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75887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852928" y="2907792"/>
            <a:ext cx="822959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350008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207007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675887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7007" y="2157984"/>
            <a:ext cx="246888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527048" y="1784096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321868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+ 2 = 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22776" y="321868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86016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7496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08975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045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3193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4341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986016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20456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986016" y="2907792"/>
            <a:ext cx="123444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88836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220456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66376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220456" y="2907792"/>
            <a:ext cx="164592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129016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6986016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866376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986016" y="2157984"/>
            <a:ext cx="288036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511796" y="1784096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48856" y="321868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+ 4 = 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01784" y="321868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+ 4 = 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0700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1848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2996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52928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64408" y="4544568"/>
            <a:ext cx="12344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207007" y="50383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264408" y="50383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7007" y="5148072"/>
            <a:ext cx="2057401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321307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264408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498848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264408" y="5148072"/>
            <a:ext cx="123444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967228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74" name="Connector 73"/>
          <p:cNvCxnSpPr/>
          <p:nvPr/>
        </p:nvCxnSpPr>
        <p:spPr>
          <a:xfrm flipV="1">
            <a:off x="1207007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98848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207007" y="4398264"/>
            <a:ext cx="3291841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938528" y="4024375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9848" y="545896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5 + ? = 8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922776" y="545896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86016" y="4544568"/>
            <a:ext cx="16459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31936" y="454456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043415" y="454456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698601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63193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986016" y="5148072"/>
            <a:ext cx="164592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894575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3193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45489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631936" y="5148072"/>
            <a:ext cx="82296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129016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6986016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454896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986016" y="4398264"/>
            <a:ext cx="24688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6056" y="4024375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48856" y="545896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? + 2 = 6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01784" y="545896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57" grpId="0" animBg="1"/>
      <p:bldP spid="79" grpId="0" animBg="1"/>
      <p:bldP spid="9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жооп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Текшерүү · Чечүүчү суроо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AfL · Чечүүчү суроо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98687" y="1216152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 · А3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3736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0" b="1" i="0">
                <a:solidFill>
                  <a:srgbClr val="1F2430"/>
                </a:solidFill>
                <a:latin typeface="PT Sans"/>
              </a:rPr>
              <a:t/>
            </a:r>
            <a:r>
              <a:rPr sz="8800" b="1">
                <a:solidFill>
                  <a:srgbClr val="007A5A"/>
                </a:solidFill>
                <a:latin typeface="PT Sans"/>
              </a:rPr>
              <a:t>4</a:t>
            </a:r>
            <a:r>
              <a:rPr sz="8800" b="1">
                <a:solidFill>
                  <a:srgbClr val="1F2430"/>
                </a:solidFill>
                <a:latin typeface="PT Sans"/>
              </a:rPr>
              <a:t> + </a:t>
            </a:r>
            <a:r>
              <a:rPr sz="8800" b="1">
                <a:solidFill>
                  <a:srgbClr val="A84400"/>
                </a:solidFill>
                <a:latin typeface="PT Sans"/>
              </a:rPr>
              <a:t>3</a:t>
            </a:r>
            <a:r>
              <a:rPr sz="8800" b="1">
                <a:solidFill>
                  <a:srgbClr val="1F2430"/>
                </a:solidFill>
                <a:latin typeface="PT Sans"/>
              </a:rPr>
              <a:t> = </a:t>
            </a:r>
            <a:r>
              <a:rPr sz="8800" b="1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4389120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43</a:t>
            </a:r>
          </a:p>
        </p:txBody>
      </p:sp>
      <p:sp>
        <p:nvSpPr>
          <p:cNvPr id="19" name="Oval 18"/>
          <p:cNvSpPr/>
          <p:nvPr/>
        </p:nvSpPr>
        <p:spPr>
          <a:xfrm>
            <a:off x="7818119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257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Манжаң менен көрсөт: 1, 2 же 3?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Помпондун алмалары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Мен көрсөтөм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Помпондо 4 алма бар эле. Тыйын дагы 2 алма алып келди. Баары канча алма?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1015898" y="2916936"/>
            <a:ext cx="208483" cy="521208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94283" y="2777947"/>
            <a:ext cx="243230" cy="24323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623974" y="2916936"/>
            <a:ext cx="208483" cy="521208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710842" y="2777947"/>
            <a:ext cx="243230" cy="24323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20140" y="4741164"/>
            <a:ext cx="260603" cy="191109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11045" y="4741164"/>
            <a:ext cx="260603" cy="191109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102" y="3351276"/>
            <a:ext cx="1259586" cy="1520189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9838" y="4437126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71650" y="4350258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24178" y="4610862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6706" y="3698748"/>
            <a:ext cx="330098" cy="33009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9424" y="3791175"/>
            <a:ext cx="165049" cy="16504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4182" y="3807680"/>
            <a:ext cx="52815" cy="528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93672" y="3698748"/>
            <a:ext cx="330098" cy="33009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56391" y="3791175"/>
            <a:ext cx="165049" cy="16504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81148" y="3807680"/>
            <a:ext cx="52815" cy="528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ord 28"/>
          <p:cNvSpPr/>
          <p:nvPr/>
        </p:nvSpPr>
        <p:spPr>
          <a:xfrm>
            <a:off x="1276502" y="4020159"/>
            <a:ext cx="347472" cy="26060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8" y="4958333"/>
            <a:ext cx="13030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31" name="Oval 30"/>
          <p:cNvSpPr/>
          <p:nvPr/>
        </p:nvSpPr>
        <p:spPr>
          <a:xfrm>
            <a:off x="2423160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2697479" y="291693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118104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3392424" y="291693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813048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4087368" y="2916936"/>
            <a:ext cx="45719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507992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782312" y="2916936"/>
            <a:ext cx="45719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423160" y="36118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 алма</a:t>
            </a:r>
          </a:p>
        </p:txBody>
      </p:sp>
      <p:sp>
        <p:nvSpPr>
          <p:cNvPr id="40" name="Oval 39"/>
          <p:cNvSpPr/>
          <p:nvPr/>
        </p:nvSpPr>
        <p:spPr>
          <a:xfrm>
            <a:off x="2423160" y="422635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697479" y="410565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18104" y="422635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3392424" y="410565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423160" y="48006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2 алма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5852160" y="3154680"/>
            <a:ext cx="914400" cy="12344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66560" y="3154680"/>
            <a:ext cx="914400" cy="12344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309360" y="26974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8" name="Oval 47"/>
          <p:cNvSpPr/>
          <p:nvPr/>
        </p:nvSpPr>
        <p:spPr>
          <a:xfrm>
            <a:off x="5394960" y="393192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9" name="Oval 48"/>
          <p:cNvSpPr/>
          <p:nvPr/>
        </p:nvSpPr>
        <p:spPr>
          <a:xfrm>
            <a:off x="7223760" y="393192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0" name="Oval 49"/>
          <p:cNvSpPr/>
          <p:nvPr/>
        </p:nvSpPr>
        <p:spPr>
          <a:xfrm>
            <a:off x="8503920" y="27432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27249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Санайбыз</a:t>
            </a:r>
          </a:p>
        </p:txBody>
      </p:sp>
      <p:sp>
        <p:nvSpPr>
          <p:cNvPr id="52" name="Oval 51"/>
          <p:cNvSpPr/>
          <p:nvPr/>
        </p:nvSpPr>
        <p:spPr>
          <a:xfrm>
            <a:off x="8503920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34272" y="34107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Схема чийебиз</a:t>
            </a:r>
          </a:p>
        </p:txBody>
      </p:sp>
      <p:sp>
        <p:nvSpPr>
          <p:cNvPr id="54" name="Oval 53"/>
          <p:cNvSpPr/>
          <p:nvPr/>
        </p:nvSpPr>
        <p:spPr>
          <a:xfrm>
            <a:off x="8503920" y="41148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4272" y="40965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Жазабыз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892040"/>
            <a:ext cx="62179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4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Чогуу чыгарабыз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Чогуу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 эртең менен 5 жаңгак, кечинде 3 жаңгак тапты. Баары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Биз чогуу</a:t>
            </a:r>
          </a:p>
        </p:txBody>
      </p:sp>
      <p:sp>
        <p:nvSpPr>
          <p:cNvPr id="13" name="Oval 12"/>
          <p:cNvSpPr/>
          <p:nvPr/>
        </p:nvSpPr>
        <p:spPr>
          <a:xfrm>
            <a:off x="521207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144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6128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0152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0136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4160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4144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8168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8152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2176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7" y="33375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эртең менен</a:t>
            </a:r>
          </a:p>
        </p:txBody>
      </p:sp>
      <p:sp>
        <p:nvSpPr>
          <p:cNvPr id="24" name="Oval 23"/>
          <p:cNvSpPr/>
          <p:nvPr/>
        </p:nvSpPr>
        <p:spPr>
          <a:xfrm>
            <a:off x="521207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144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61288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0152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01368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4160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3484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кечинде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572000" y="269748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269748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029200" y="22402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4" name="Oval 33"/>
          <p:cNvSpPr/>
          <p:nvPr/>
        </p:nvSpPr>
        <p:spPr>
          <a:xfrm>
            <a:off x="4114800" y="342900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5943600" y="342900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45552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75904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06256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36608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966960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97312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027663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315200" y="35204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66960" y="35204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315200" y="3657600"/>
            <a:ext cx="265176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269479" y="3703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58016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966960" y="3657600"/>
            <a:ext cx="1591056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390888" y="3703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315200" y="2743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1558016" y="2743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15200" y="2743200"/>
            <a:ext cx="4242816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065008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484632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F2430"/>
                </a:solidFill>
                <a:latin typeface="PT Sans"/>
              </a:rPr>
              <a:t/>
            </a:r>
            <a:r>
              <a:rPr sz="6000" b="1">
                <a:solidFill>
                  <a:srgbClr val="007A5A"/>
                </a:solidFill>
                <a:latin typeface="PT Sans"/>
              </a:rPr>
              <a:t>5</a:t>
            </a:r>
            <a:r>
              <a:rPr sz="6000" b="1">
                <a:solidFill>
                  <a:srgbClr val="1F2430"/>
                </a:solidFill>
                <a:latin typeface="PT Sans"/>
              </a:rPr>
              <a:t> + </a:t>
            </a:r>
            <a:r>
              <a:rPr sz="6000" b="1">
                <a:solidFill>
                  <a:srgbClr val="A84400"/>
                </a:solidFill>
                <a:latin typeface="PT Sans"/>
              </a:rPr>
              <a:t>3</a:t>
            </a:r>
            <a:r>
              <a:rPr sz="6000" b="1">
                <a:solidFill>
                  <a:srgbClr val="1F2430"/>
                </a:solidFill>
                <a:latin typeface="PT Sans"/>
              </a:rPr>
              <a:t> = </a:t>
            </a:r>
            <a:r>
              <a:rPr sz="60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Текшеребиз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Чогуу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19/48</a:t>
            </a:r>
          </a:p>
        </p:txBody>
      </p:sp>
      <p:sp>
        <p:nvSpPr>
          <p:cNvPr id="10" name="Oval 9"/>
          <p:cNvSpPr/>
          <p:nvPr/>
        </p:nvSpPr>
        <p:spPr>
          <a:xfrm>
            <a:off x="201168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6288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3464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584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5760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0880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3176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5472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7220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340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9516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4636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1812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932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8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377440" y="333756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291840" y="333756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834640" y="288036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37" name="Oval 36"/>
          <p:cNvSpPr/>
          <p:nvPr/>
        </p:nvSpPr>
        <p:spPr>
          <a:xfrm>
            <a:off x="1920240" y="40690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3749039" y="40690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3504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2940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23759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1812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06840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95559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035040" y="42062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006840" y="42062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35040" y="4343400"/>
            <a:ext cx="297180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49340" y="4389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06840" y="42062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89920" y="42062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006840" y="4343400"/>
            <a:ext cx="178308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26780" y="4389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6035040" y="34290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789920" y="34290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35040" y="3429000"/>
            <a:ext cx="475488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040879" y="30175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507492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F2430"/>
                </a:solidFill>
                <a:latin typeface="PT Sans"/>
              </a:rPr>
              <a:t/>
            </a:r>
            <a:r>
              <a:rPr sz="6000" b="1">
                <a:solidFill>
                  <a:srgbClr val="007A5A"/>
                </a:solidFill>
                <a:latin typeface="PT Sans"/>
              </a:rPr>
              <a:t>5</a:t>
            </a:r>
            <a:r>
              <a:rPr sz="6000" b="1">
                <a:solidFill>
                  <a:srgbClr val="1F2430"/>
                </a:solidFill>
                <a:latin typeface="PT Sans"/>
              </a:rPr>
              <a:t> + </a:t>
            </a:r>
            <a:r>
              <a:rPr sz="6000" b="1">
                <a:solidFill>
                  <a:srgbClr val="A84400"/>
                </a:solidFill>
                <a:latin typeface="PT Sans"/>
              </a:rPr>
              <a:t>3</a:t>
            </a:r>
            <a:r>
              <a:rPr sz="6000" b="1">
                <a:solidFill>
                  <a:srgbClr val="1F2430"/>
                </a:solidFill>
                <a:latin typeface="PT Sans"/>
              </a:rPr>
              <a:t> = </a:t>
            </a:r>
            <a:r>
              <a:rPr sz="60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Сан огунда уланта сана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Сан 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514600"/>
            <a:ext cx="804672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8823960" y="2441448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144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9164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1732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6888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9456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7180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4904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006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262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7784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5508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09559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35239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868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7" name="Oval 36"/>
          <p:cNvSpPr/>
          <p:nvPr/>
        </p:nvSpPr>
        <p:spPr>
          <a:xfrm>
            <a:off x="4727448" y="2441448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c 37"/>
          <p:cNvSpPr/>
          <p:nvPr/>
        </p:nvSpPr>
        <p:spPr>
          <a:xfrm>
            <a:off x="480060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0" name="Arc 39"/>
          <p:cNvSpPr/>
          <p:nvPr/>
        </p:nvSpPr>
        <p:spPr>
          <a:xfrm>
            <a:off x="557784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2" name="Arc 41"/>
          <p:cNvSpPr/>
          <p:nvPr/>
        </p:nvSpPr>
        <p:spPr>
          <a:xfrm>
            <a:off x="635508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057400"/>
            <a:ext cx="2606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260604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Мисал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29768" y="3154680"/>
            <a:ext cx="11329416" cy="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75488" y="361188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97280" y="3794760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543800" y="3721608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18872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14400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810512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536192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43230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157984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054096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779776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675887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401568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9767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023359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919472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645152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54126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266944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16305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888736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84847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510527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132320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2" name="Oval 71"/>
          <p:cNvSpPr/>
          <p:nvPr/>
        </p:nvSpPr>
        <p:spPr>
          <a:xfrm>
            <a:off x="3602735" y="3721608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rc 72"/>
          <p:cNvSpPr/>
          <p:nvPr/>
        </p:nvSpPr>
        <p:spPr>
          <a:xfrm>
            <a:off x="3675887" y="3452774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75887" y="3221634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75" name="Arc 74"/>
          <p:cNvSpPr/>
          <p:nvPr/>
        </p:nvSpPr>
        <p:spPr>
          <a:xfrm>
            <a:off x="4297679" y="3452774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79" y="3221634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63840" y="3429000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+ 2 = ?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9800" y="3447288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79" name="Oval 78"/>
          <p:cNvSpPr/>
          <p:nvPr/>
        </p:nvSpPr>
        <p:spPr>
          <a:xfrm>
            <a:off x="475488" y="45537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097280" y="4736592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Isosceles Triangle 80"/>
          <p:cNvSpPr/>
          <p:nvPr/>
        </p:nvSpPr>
        <p:spPr>
          <a:xfrm rot="5400000">
            <a:off x="7543800" y="4663440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188720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14400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810512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536192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432304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2157984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054096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779776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3675887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3401568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297679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023359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919472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4645152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6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541264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266944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163055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888736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784847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510527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406640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7132320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04" name="Oval 103"/>
          <p:cNvSpPr/>
          <p:nvPr/>
        </p:nvSpPr>
        <p:spPr>
          <a:xfrm>
            <a:off x="4846320" y="4663440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Arc 104"/>
          <p:cNvSpPr/>
          <p:nvPr/>
        </p:nvSpPr>
        <p:spPr>
          <a:xfrm>
            <a:off x="4919472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19472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07" name="Arc 106"/>
          <p:cNvSpPr/>
          <p:nvPr/>
        </p:nvSpPr>
        <p:spPr>
          <a:xfrm>
            <a:off x="5541264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541264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09" name="Arc 108"/>
          <p:cNvSpPr/>
          <p:nvPr/>
        </p:nvSpPr>
        <p:spPr>
          <a:xfrm>
            <a:off x="6163056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63056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3840" y="4370832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+ 3 = ?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829800" y="4389120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113" name="Oval 112"/>
          <p:cNvSpPr/>
          <p:nvPr/>
        </p:nvSpPr>
        <p:spPr>
          <a:xfrm>
            <a:off x="475488" y="549554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097280" y="5678424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Isosceles Triangle 114"/>
          <p:cNvSpPr/>
          <p:nvPr/>
        </p:nvSpPr>
        <p:spPr>
          <a:xfrm rot="5400000">
            <a:off x="7543800" y="5605272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188720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914400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810512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1536192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2432304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2157984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3054096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2779776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675887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401568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297679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4023359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4919472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645152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541264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5266944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7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163055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5888736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784847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6510527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406640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7132320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38" name="Oval 137"/>
          <p:cNvSpPr/>
          <p:nvPr/>
        </p:nvSpPr>
        <p:spPr>
          <a:xfrm>
            <a:off x="5468112" y="5605272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Arc 138"/>
          <p:cNvSpPr/>
          <p:nvPr/>
        </p:nvSpPr>
        <p:spPr>
          <a:xfrm>
            <a:off x="5541264" y="5336438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541264" y="5105298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41" name="Arc 140"/>
          <p:cNvSpPr/>
          <p:nvPr/>
        </p:nvSpPr>
        <p:spPr>
          <a:xfrm>
            <a:off x="6163055" y="5336438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163055" y="5105298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0" y="5312664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7 + 2 = ?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829800" y="5330952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112" grpId="0" animBg="1"/>
      <p:bldP spid="144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Өздөштүрүү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solidFill>
            <a:srgbClr val="24418C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24418C"/>
                </a:solidFill>
                <a:latin typeface="PT Sans"/>
              </a:rPr>
              <a:t>Өздөштүрүү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Өз алдынча чыгарабыз, текшеребиз жана ойлонобуз.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Өзүң чыгар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Ойлон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Баала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Өзүң чыгар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Колдонуу · Өзүң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Жаңгактарды сана, анан жаз.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1887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187452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52728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55648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32888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35808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56032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3168" y="306324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187452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703173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3465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3757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4049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17736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256032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4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1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52176" y="306324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2647" y="41148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125272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75564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25856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3580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3872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4164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" y="480060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3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3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3168" y="530352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08776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91656" y="41148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1" name="Oval 40"/>
          <p:cNvSpPr/>
          <p:nvPr/>
        </p:nvSpPr>
        <p:spPr>
          <a:xfrm>
            <a:off x="703173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3465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3757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4049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4341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820656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3576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8776" y="480060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5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52176" y="530352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8" grpId="0" animBg="1"/>
      <p:bldP spid="38" grpId="0" animBg="1"/>
      <p:bldP spid="4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эсеп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эсеп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95144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6207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28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2821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95144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6207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0657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0758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40657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0758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+ 2 =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8848" y="288036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029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07223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4108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0800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029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07223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7415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4108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800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1966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8659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5352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01966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86593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153521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03536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+ 3 = 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77856" y="288036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128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72821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95144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207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2900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128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72821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95144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6207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2900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4065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758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37451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941441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4065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0758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4513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941441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4528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+ 4 = ?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98848" y="512064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029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07223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415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4108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0800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4029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3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7415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4108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0800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1966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8659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153521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720449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8737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966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586593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153521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20449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28737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03536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+ 5 = ?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277856" y="512064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0" grpId="0" animBg="1"/>
      <p:bldP spid="72" grpId="0" animBg="1"/>
      <p:bldP spid="96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менен чыгар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Колдонуу · Текст маселе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Колдонуу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1783080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Тыйында 3 алма бар эле. Помпон ага дагы 4 алма берди. Баары канча алма?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84264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13448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42632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71816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355080" y="261518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42632" y="261518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55080" y="2724912"/>
            <a:ext cx="987552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34456" y="2743200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42632" y="26151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59368" y="26151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342632" y="2724912"/>
            <a:ext cx="1316736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86600" y="2743200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355080" y="204825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659368" y="204825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355080" y="2048255"/>
            <a:ext cx="2304288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92824" y="172770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38360" y="2148840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+ 4 = 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" y="3246120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3383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3291839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Помпон эртең менен 6 сабиз, кечинде 2 сабиз жеди. Баары канча сабиз?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84264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13448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42632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71816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01000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0183" y="370332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59367" y="370332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355080" y="41239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330183" y="41239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55080" y="4233672"/>
            <a:ext cx="1975103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28231" y="425195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6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330183" y="41239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88552" y="41239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330183" y="4233672"/>
            <a:ext cx="658369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744967" y="425195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6355080" y="355701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988552" y="355701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355080" y="3557015"/>
            <a:ext cx="2633472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757416" y="323646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60" y="3657600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+ 2 = 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9768" y="4754879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66928" y="489204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5568" y="4800599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 9 жаңгак чогултту: 5и токойдон, калганын бактан. Бактан канча?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55080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84264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13448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2632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71816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001000" y="5212079"/>
            <a:ext cx="1316736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6355080" y="5632703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001000" y="5632703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355080" y="5742431"/>
            <a:ext cx="164592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263640" y="576071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5632703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317736" y="5632703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001000" y="5742431"/>
            <a:ext cx="1316736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744967" y="576071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6355080" y="5065775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317736" y="5065775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355080" y="5065775"/>
            <a:ext cx="296265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6922008" y="474522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738360" y="5166359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+ 4 = 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9" grpId="0" animBg="1"/>
      <p:bldP spid="81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717035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7090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0060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14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0826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550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274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" y="2651760"/>
            <a:ext cx="555040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loud 22"/>
          <p:cNvSpPr/>
          <p:nvPr/>
        </p:nvSpPr>
        <p:spPr>
          <a:xfrm>
            <a:off x="1520647" y="3080613"/>
            <a:ext cx="749808" cy="1312163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45589" y="3305556"/>
            <a:ext cx="337413" cy="4498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8275" y="2833176"/>
            <a:ext cx="0" cy="172456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43295" y="2743200"/>
            <a:ext cx="164957" cy="16495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1528145" y="2833176"/>
            <a:ext cx="0" cy="172456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453164" y="2743200"/>
            <a:ext cx="164957" cy="16495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5781" y="4392777"/>
            <a:ext cx="239938" cy="16495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370685" y="4392777"/>
            <a:ext cx="239938" cy="16495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" y="2968142"/>
            <a:ext cx="1012240" cy="1499616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0762" y="3867912"/>
            <a:ext cx="487375" cy="4873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73287" y="3208080"/>
            <a:ext cx="299923" cy="2999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6263" y="3292059"/>
            <a:ext cx="149961" cy="149961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88757" y="3307055"/>
            <a:ext cx="47987" cy="47987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48191" y="3208080"/>
            <a:ext cx="299923" cy="2999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41167" y="3292059"/>
            <a:ext cx="149961" cy="149961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63661" y="3307055"/>
            <a:ext cx="47987" cy="47987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ord 38"/>
          <p:cNvSpPr/>
          <p:nvPr/>
        </p:nvSpPr>
        <p:spPr>
          <a:xfrm>
            <a:off x="1153241" y="3463015"/>
            <a:ext cx="314919" cy="239938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329" y="4617720"/>
            <a:ext cx="11247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24328" y="2926080"/>
            <a:ext cx="320040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 = 6
«Мен 6 санадым!»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08776" y="2651760"/>
            <a:ext cx="555040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6722303" y="2893161"/>
            <a:ext cx="179953" cy="449885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617329" y="2773192"/>
            <a:ext cx="209946" cy="20994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247168" y="2893161"/>
            <a:ext cx="179954" cy="449885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322149" y="2773192"/>
            <a:ext cx="209946" cy="20994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12280" y="4467758"/>
            <a:ext cx="224942" cy="16495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149693" y="4467758"/>
            <a:ext cx="224942" cy="16495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49847" y="3268065"/>
            <a:ext cx="1087221" cy="1312163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99808" y="4205325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74636" y="4130344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74712" y="4355287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774789" y="3567988"/>
            <a:ext cx="284927" cy="28492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28925" y="3647768"/>
            <a:ext cx="142463" cy="142463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50295" y="3662014"/>
            <a:ext cx="45588" cy="45588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34697" y="3567988"/>
            <a:ext cx="284927" cy="28492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88833" y="3647768"/>
            <a:ext cx="142463" cy="142463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210203" y="3662014"/>
            <a:ext cx="45588" cy="45588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ord 58"/>
          <p:cNvSpPr/>
          <p:nvPr/>
        </p:nvSpPr>
        <p:spPr>
          <a:xfrm>
            <a:off x="6947245" y="3845417"/>
            <a:ext cx="299923" cy="22494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2356" y="4655210"/>
            <a:ext cx="11247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03336" y="2926080"/>
            <a:ext cx="320040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 = 5
«Мен 5 санадым!»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9768" y="5257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Тыйын эмнени кошуп санап алды?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" y="5779008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194560" y="5779008"/>
            <a:ext cx="4297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«Мен … деп ойлойм, анткени …»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0" y="5779008"/>
            <a:ext cx="4297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«Тыйын … санап алды.»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7нин курамы: үлгү изде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Эвристика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717035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9967" y="11887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Эвристика: үлгү изде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784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2588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932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3736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6080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884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228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83763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7180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524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328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0672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17099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7 + 0 =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784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2588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4932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3736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6080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4884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7228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83763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9524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317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0672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225856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6 + 1 = 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784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2588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44932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3736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6080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4884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27228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032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83763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1800" y="28803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9524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83280" y="28803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0672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280720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 + 2 = 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784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2588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4932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73736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6080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4884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7228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6032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83763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97180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9524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8328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50672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60520" y="335584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72200" y="341071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4 + 3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3784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2588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44932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3736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86080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4884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27228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6032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683763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97180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09524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38328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0672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60520" y="3904487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72200" y="395935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3 + 4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0" y="45262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3784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25880" y="45262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44932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73736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6080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14884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27228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56032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683763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97180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09524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8328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50672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60520" y="44531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72200" y="450799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2 + 5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14400" y="50749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3784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2588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44932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3736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86080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14884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27228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56032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83763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97180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09524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38328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50672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160520" y="500176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172200" y="505663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1 + 6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3784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2588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44932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73736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080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14884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27228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6032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83763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97180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9524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38328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50672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160520" y="555040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72200" y="560527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0 + 7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001000" y="1783080"/>
            <a:ext cx="375818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83879" y="1874519"/>
            <a:ext cx="3383280" cy="4160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Эмнени байкадың?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Жашылдар ...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Кызгылттар ...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Баары дайыма ...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Канча жол бар?</a:t>
            </a:r>
          </a:p>
          <a:p>
            <a:pPr algn="l">
              <a:lnSpc>
                <a:spcPct val="105000"/>
              </a:lnSpc>
              <a:spcBef>
                <a:spcPts val="4000"/>
              </a:spcBef>
            </a:pPr>
            <a:r>
              <a:rPr sz="1600" b="1" i="0">
                <a:solidFill>
                  <a:srgbClr val="A84400"/>
                </a:solidFill>
                <a:latin typeface="PT Sans"/>
              </a:rPr>
              <a:t>Кыйын болсо – жакшы! Мээң өсүп жатат.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89" grpId="0" animBg="1"/>
      <p:bldP spid="105" grpId="0" animBg="1"/>
      <p:bldP spid="121" grpId="0" animBg="1"/>
      <p:bldP spid="13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 жаңгакты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Түзүү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927348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12" name="Oval 11"/>
          <p:cNvSpPr/>
          <p:nvPr/>
        </p:nvSpPr>
        <p:spPr>
          <a:xfrm>
            <a:off x="521207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56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5272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9808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8424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2960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1576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6112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4728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9264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880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2416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032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5568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1828800"/>
            <a:ext cx="58978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 = ? + ?  Канча жол бар?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258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94560" y="3227832"/>
            <a:ext cx="868679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7556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30" name="Oval 29"/>
          <p:cNvSpPr/>
          <p:nvPr/>
        </p:nvSpPr>
        <p:spPr>
          <a:xfrm>
            <a:off x="8869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" name="Oval 30"/>
          <p:cNvSpPr/>
          <p:nvPr/>
        </p:nvSpPr>
        <p:spPr>
          <a:xfrm>
            <a:off x="2624327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39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6 + 1 = 7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2120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8076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6418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36" name="Oval 35"/>
          <p:cNvSpPr/>
          <p:nvPr/>
        </p:nvSpPr>
        <p:spPr>
          <a:xfrm>
            <a:off x="47731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7" name="Oval 36"/>
          <p:cNvSpPr/>
          <p:nvPr/>
        </p:nvSpPr>
        <p:spPr>
          <a:xfrm>
            <a:off x="651052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0982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6696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95280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42" name="Oval 41"/>
          <p:cNvSpPr/>
          <p:nvPr/>
        </p:nvSpPr>
        <p:spPr>
          <a:xfrm>
            <a:off x="86593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Oval 42"/>
          <p:cNvSpPr/>
          <p:nvPr/>
        </p:nvSpPr>
        <p:spPr>
          <a:xfrm>
            <a:off x="1039672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5779008"/>
            <a:ext cx="2011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Жуп эрежеси: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Кезек менен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2628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Угабыз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Бөлүшөбүз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Үйдө жана класста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40/48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3C: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8288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21762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8288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Дасторкондо 3 кесе жана 2 чыны. Баары канча идиш?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8288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3 + 2 =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2004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3547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004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Катарда 4 кыз жана 4 бала. Баары канча бала?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004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4 + 4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45720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5720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Сен ойлоп тап! Үйүңдөн кошуу тап.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5720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? + ? = 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261872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527048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1527048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2249424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" y="24963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249424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25146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5146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236976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2648" y="348386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36976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502152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3502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4297680"/>
            <a:ext cx="11329416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9768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Өзүңдү баала:</a:t>
            </a:r>
          </a:p>
        </p:txBody>
      </p:sp>
      <p:sp>
        <p:nvSpPr>
          <p:cNvPr id="27" name="Smiley Face 26"/>
          <p:cNvSpPr/>
          <p:nvPr/>
        </p:nvSpPr>
        <p:spPr>
          <a:xfrm>
            <a:off x="2834640" y="4480560"/>
            <a:ext cx="548640" cy="54864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00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9" name="Smiley Face 28"/>
          <p:cNvSpPr/>
          <p:nvPr/>
        </p:nvSpPr>
        <p:spPr>
          <a:xfrm>
            <a:off x="5212080" y="4480560"/>
            <a:ext cx="548640" cy="54864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31" name="Smiley Face 30"/>
          <p:cNvSpPr/>
          <p:nvPr/>
        </p:nvSpPr>
        <p:spPr>
          <a:xfrm>
            <a:off x="7589520" y="4480560"/>
            <a:ext cx="548640" cy="54864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58400" y="4581144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349240"/>
            <a:ext cx="11329416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349240"/>
            <a:ext cx="6035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5522976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 – басма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 · Басып чыгаруу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5550408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" y="1234440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123444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Аты: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75887" y="1554480"/>
            <a:ext cx="210312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12647" y="1783080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37360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1737360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2167128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2715768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670048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670048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3099815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7" y="3648456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602736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3602736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032504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" y="457200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Өзүңдү баала: бирөөнү тегеректе.</a:t>
            </a:r>
          </a:p>
        </p:txBody>
      </p:sp>
      <p:sp>
        <p:nvSpPr>
          <p:cNvPr id="27" name="Smiley Face 26"/>
          <p:cNvSpPr/>
          <p:nvPr/>
        </p:nvSpPr>
        <p:spPr>
          <a:xfrm>
            <a:off x="749808" y="4919472"/>
            <a:ext cx="457200" cy="45720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5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9" name="Smiley Face 28"/>
          <p:cNvSpPr/>
          <p:nvPr/>
        </p:nvSpPr>
        <p:spPr>
          <a:xfrm>
            <a:off x="2532888" y="4919472"/>
            <a:ext cx="457200" cy="45720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08376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31" name="Smiley Face 30"/>
          <p:cNvSpPr/>
          <p:nvPr/>
        </p:nvSpPr>
        <p:spPr>
          <a:xfrm>
            <a:off x="4315968" y="4919472"/>
            <a:ext cx="457200" cy="45720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" y="54864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8444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6168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3892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8776" y="1188720"/>
            <a:ext cx="5550408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1234440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1976" y="123444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Аты: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454896" y="1554480"/>
            <a:ext cx="210312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391656" y="1783080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03136" y="1737360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89336" y="1737360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03136" y="2167128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91656" y="2715768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03136" y="2670048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89336" y="2670048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03136" y="3099815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91656" y="3648456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3602736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89336" y="3602736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4032504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57200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Өзүңдү баала: бирөөнү тегеректе.</a:t>
            </a:r>
          </a:p>
        </p:txBody>
      </p:sp>
      <p:sp>
        <p:nvSpPr>
          <p:cNvPr id="54" name="Smiley Face 53"/>
          <p:cNvSpPr/>
          <p:nvPr/>
        </p:nvSpPr>
        <p:spPr>
          <a:xfrm>
            <a:off x="6528816" y="4919472"/>
            <a:ext cx="457200" cy="45720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04304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56" name="Smiley Face 55"/>
          <p:cNvSpPr/>
          <p:nvPr/>
        </p:nvSpPr>
        <p:spPr>
          <a:xfrm>
            <a:off x="8311896" y="4919472"/>
            <a:ext cx="457200" cy="45720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87384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58" name="Smiley Face 57"/>
          <p:cNvSpPr/>
          <p:nvPr/>
        </p:nvSpPr>
        <p:spPr>
          <a:xfrm>
            <a:off x="10094976" y="4919472"/>
            <a:ext cx="457200" cy="45720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70463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91656" y="54864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6345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14069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91793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095847" y="1097280"/>
            <a:ext cx="0" cy="516636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Эстеп кал!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Кыскача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1261872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Эки бөлүктү бириктиребиз – бул кошуу.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261872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бөлүк + бөлүк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58568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50545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258568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«+» – кошуу белгиси.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258568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55264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50215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3255264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«=» – барабар белгиси.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55264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251960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4988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4251960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кошуу эки барабар беш.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251960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+ 2 =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358384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Бөлүк + бөлүк = бүтүн!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ыкма жакты?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Оозеки талкуу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Баалоо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6916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Бүгүн эмне үйрөндүк?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6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Кубиктер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515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488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091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064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0667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1640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72437" y="3429000"/>
            <a:ext cx="36576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8216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38197" y="3429000"/>
            <a:ext cx="36576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4792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32227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41955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Он-кадр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7761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4337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0913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7489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065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7761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4337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0913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7489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065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882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9458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6034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3160166"/>
            <a:ext cx="263347" cy="263347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91863" y="3160166"/>
            <a:ext cx="263347" cy="263347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4686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144414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4686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Сан курамы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500116" y="3154679"/>
            <a:ext cx="594360" cy="77724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094476" y="3154679"/>
            <a:ext cx="594360" cy="77724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20156" y="28803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0" name="Oval 49"/>
          <p:cNvSpPr/>
          <p:nvPr/>
        </p:nvSpPr>
        <p:spPr>
          <a:xfrm>
            <a:off x="5225796" y="36576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414516" y="36576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37145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446873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7145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253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4829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1405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79815" y="3520440"/>
            <a:ext cx="365760" cy="347472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45575" y="3520440"/>
            <a:ext cx="365760" cy="347472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7482535" y="3904488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579815" y="3904488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482535" y="4014216"/>
            <a:ext cx="109728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116775" y="4032504"/>
            <a:ext cx="1828800" cy="2311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579815" y="3904488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311335" y="3904488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579815" y="4014216"/>
            <a:ext cx="73152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031175" y="4032504"/>
            <a:ext cx="1828800" cy="2311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7482535" y="3374136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311335" y="3374136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482535" y="3374136"/>
            <a:ext cx="18288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82535" y="3089148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39604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749332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39604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Сан огу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693554" y="3749039"/>
            <a:ext cx="210312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11750954" y="3675887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97849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95106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6993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4250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16137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13394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83" name="Oval 82"/>
          <p:cNvSpPr/>
          <p:nvPr/>
        </p:nvSpPr>
        <p:spPr>
          <a:xfrm>
            <a:off x="9711842" y="3675887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rc 83"/>
          <p:cNvSpPr/>
          <p:nvPr/>
        </p:nvSpPr>
        <p:spPr>
          <a:xfrm>
            <a:off x="9784994" y="3246120"/>
            <a:ext cx="91440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84994" y="3047999"/>
            <a:ext cx="914400" cy="19812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86" name="Arc 85"/>
          <p:cNvSpPr/>
          <p:nvPr/>
        </p:nvSpPr>
        <p:spPr>
          <a:xfrm>
            <a:off x="10699394" y="3246120"/>
            <a:ext cx="91440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99394" y="3047999"/>
            <a:ext cx="914400" cy="19812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8" y="50292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Кайсы ыкма жакты? Манжаң менен көрсөт: 1, 2, 3, 4 же 5.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9768" y="5577840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94560" y="5577840"/>
            <a:ext cx="49377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«Мага … жакты, анткени …»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315200" y="5577840"/>
            <a:ext cx="4434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«Бүгүн мен … үйрөндүм»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үйрөндүм?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Рефлексия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4904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2618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эки бөлүктү бириктирип, бүтүндү табам.</a:t>
            </a:r>
          </a:p>
        </p:txBody>
      </p:sp>
      <p:sp>
        <p:nvSpPr>
          <p:cNvPr id="13" name="Smiley Face 12"/>
          <p:cNvSpPr/>
          <p:nvPr/>
        </p:nvSpPr>
        <p:spPr>
          <a:xfrm>
            <a:off x="8778240" y="1408175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miley Face 13"/>
          <p:cNvSpPr/>
          <p:nvPr/>
        </p:nvSpPr>
        <p:spPr>
          <a:xfrm>
            <a:off x="9738360" y="1408175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miley Face 14"/>
          <p:cNvSpPr/>
          <p:nvPr/>
        </p:nvSpPr>
        <p:spPr>
          <a:xfrm>
            <a:off x="10698480" y="1408175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" y="21762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4048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1762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«+» жана «=» белгилерин окуйм.</a:t>
            </a:r>
          </a:p>
        </p:txBody>
      </p:sp>
      <p:sp>
        <p:nvSpPr>
          <p:cNvPr id="19" name="Smiley Face 18"/>
          <p:cNvSpPr/>
          <p:nvPr/>
        </p:nvSpPr>
        <p:spPr>
          <a:xfrm>
            <a:off x="8778240" y="2322576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iley Face 19"/>
          <p:cNvSpPr/>
          <p:nvPr/>
        </p:nvSpPr>
        <p:spPr>
          <a:xfrm>
            <a:off x="9738360" y="2322576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miley Face 20"/>
          <p:cNvSpPr/>
          <p:nvPr/>
        </p:nvSpPr>
        <p:spPr>
          <a:xfrm>
            <a:off x="10698480" y="2322576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" y="30906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3192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0906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10 ичинде кошом: 3 + 2 = 5.</a:t>
            </a:r>
          </a:p>
        </p:txBody>
      </p:sp>
      <p:sp>
        <p:nvSpPr>
          <p:cNvPr id="25" name="Smiley Face 24"/>
          <p:cNvSpPr/>
          <p:nvPr/>
        </p:nvSpPr>
        <p:spPr>
          <a:xfrm>
            <a:off x="8778240" y="3236976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miley Face 25"/>
          <p:cNvSpPr/>
          <p:nvPr/>
        </p:nvSpPr>
        <p:spPr>
          <a:xfrm>
            <a:off x="9738360" y="3236976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miley Face 26"/>
          <p:cNvSpPr/>
          <p:nvPr/>
        </p:nvSpPr>
        <p:spPr>
          <a:xfrm>
            <a:off x="10698480" y="3236976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9768" y="4114800"/>
            <a:ext cx="11329416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689336" cy="1600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Бүгүн эмне үйрөндүм?</a:t>
            </a:r>
          </a:p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Эмне кыйын болду?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Мен … үйрөндүм.   Мага … кыйын болду.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0" y="425196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1-бет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Кадам-кадам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Буюм → кубик тизмеги → тилке.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Бир кутуча = бир буюм (1-класс).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Кутучалар бирдей чоңдукта.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Белгисиз: үзүк сызык жана «?».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Класстан класска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1-класс: бөлүк – бүтүн (кошуу).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1-класс аягы: кемитүү, салыштыруу.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2–3-класс: эки тилке, көп кадам.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4–6-класс: бөлчөк, катыш, пайыз.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4152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Кыйынчылыктар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Кутучаларды санабай чийет → кубик менен кайтала.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Бүтүн менен бөлүктү чаташтырат → «баары» сөзүн изде.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Чийбей эле эсептейт → «адегенде сүрөт» эрежеси.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Ар бир сабакта 2–3 мүнөт тилке машыгуусу.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Сабактагы сөздөр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2-бет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555040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555040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4688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«Азырынча чыкпай жатат. Кайсы ыкманы колдонсок болот?»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3832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«Катаң бизге эмне үйрөттү?»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2976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«Кантип ойлодуң? Сүрөтүңдү көрсөт.»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2120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«Сен көп аракет кылдың – ошондуктан чыкты.»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737360"/>
            <a:ext cx="555040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1783080"/>
            <a:ext cx="555040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Айтпайбыз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4688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«Математика кыйын, баары эле билбейт.»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33832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«Мен да математиканы билчү эмесмин.»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42976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«Сен математикага жөндөмсүзсүң.»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52120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«Тезирээк! Ойлонбой эле жаз.»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Кийинки темага өтөбүзбү?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3-бет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555040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5550408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Класс даяр, эгерде…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737360"/>
            <a:ext cx="555040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783080"/>
            <a:ext cx="5550408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Окуучу даяр, эгерде…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286000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Чыгуу билеттери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Класстын 80%ы ● же ★ (3 суроонун 3ү туура).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3035808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Чечүүчү суроолор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3- жана 4-суроого класстын 80%ы туура жооп берди (белгисиз бөлүк).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" y="3785615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Кыска тест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Класстын 80%ы 12/18 же андан көп упай алды.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4535424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Каталар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M2 (44) жана M3 (6 + 0 = 0) катасы бар ар бир бала кайра окутулуп, кайра текшерилди.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2395728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6" y="2286000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10 ичинде кошууну тез табат (эстен же уланта санап).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1656" y="3145536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3035808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Белгисиз бөлүктү тилке же курам менен табат.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3895344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8856" y="3785615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Бир кошууну 3 жол менен көрсөтөт: буюм, сүрөт, сан.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91656" y="464515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6" y="4535424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Окуя маселеге туюнтма жазат.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" y="5440680"/>
            <a:ext cx="11329416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5440680"/>
            <a:ext cx="10963656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Даяр эмес болсо: 1–2 сабак КСА килемчеси менен кайра окутуу, анан кайра чыгуу билети. Тема кийинки класста спираль менен дагы келет.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5 жана дагы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5 жана дагы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1188720"/>
            <a:ext cx="29535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Конкреттүү →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19" y="1947672"/>
            <a:ext cx="3054096" cy="1353312"/>
          </a:xfrm>
          <a:prstGeom prst="roundRect">
            <a:avLst>
              <a:gd name="adj" fmla="val 15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6968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5972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53896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32900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20824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99828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87751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66756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5467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233684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6968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5972" y="2749052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53896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32900" y="2749052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20824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87751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54679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87368" y="17830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7 = 5 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7368" y="2514600"/>
            <a:ext cx="7498079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Үстүнкү сап толук – 5. Анан дагы 2.</a:t>
            </a:r>
          </a:p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10 жумуртканын кутусу = он-кадр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6928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88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560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132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704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276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88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560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32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704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276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628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00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077211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5344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916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2812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 = 5 + 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35964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= 5 + 1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82439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19600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14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86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658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230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802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514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086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658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30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7802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0154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4726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9298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3870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8442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154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4726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9298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82439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8 = 5 + ?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88636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= 5 + 3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35112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272272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41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613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7185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757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6329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8041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613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185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757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329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8681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3253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7825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2397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6969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8681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3253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7825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02397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35112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9 = 5 + ?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941308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= 5 + 4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75" grpId="0" animBg="1"/>
      <p:bldP spid="98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10дун курамы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2964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10го толуктоо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1828800"/>
            <a:ext cx="1865376" cy="877824"/>
          </a:xfrm>
          <a:prstGeom prst="roundRect">
            <a:avLst>
              <a:gd name="adj" fmla="val 15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228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4712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1412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53896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80596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83080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09780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12263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38964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528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228" y="2340132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4712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1412" y="2340132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53896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83080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12263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07208" y="1737360"/>
            <a:ext cx="877824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Бош уялар канча?  7 + 3 = 10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10дун курамы: 7 жана 3 – «он достор».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9496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07592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18488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29384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0280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9669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07592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18488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29384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40280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022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35111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6201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9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8380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40221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6 + ? = 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44368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82439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92167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9367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60263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71159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205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92952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849367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60263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71159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8205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2952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9289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3789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1468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82558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3647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92893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203789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514685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6999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8 + ? = 10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797039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35112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244839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02040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01293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323831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34727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945623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02040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1293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323831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634727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945623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4556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05646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36735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67825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329672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4 + ? = 10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649712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29768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9496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9669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07592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18488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929384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240280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9669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07592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18488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29384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240280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4022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35111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6201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7290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28380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40221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351117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62013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72909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624328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9 + ? = 10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4368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282439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392167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849367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60263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71159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8205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92952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849367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160263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71159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8205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092952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89289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20378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1468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82558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13647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76999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5 + ? = 10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97039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135112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244839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702040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01293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323831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34727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45623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702040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01293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323831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634727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45623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74556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05646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36735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67825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98914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745565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9056461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329672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7 + ? = 10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649712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74" grpId="0" animBg="1"/>
      <p:bldP spid="92" grpId="0" animBg="1"/>
      <p:bldP spid="115" grpId="0" animBg="1"/>
      <p:bldP spid="134" grpId="0" animBg="1"/>
      <p:bldP spid="155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жакын кош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Жакын кош сандар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1206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1783080"/>
            <a:ext cx="51206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Мисал: 4 + 5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1848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6712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1576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440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1304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1848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1576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304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9529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393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257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4121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9529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4393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9257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4121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88985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13048" y="2926080"/>
            <a:ext cx="548640" cy="548640"/>
          </a:xfrm>
          <a:prstGeom prst="ellipse">
            <a:avLst/>
          </a:prstGeom>
          <a:noFill/>
          <a:ln w="381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35204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1">
                <a:solidFill>
                  <a:srgbClr val="A84400"/>
                </a:solidFill>
                <a:latin typeface="PT Sans"/>
              </a:rPr>
              <a:t>бир ашыкча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7" y="388620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7" y="443484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+ 4 + 1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7" y="498348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8 + 1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7" y="553212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1737360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1616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4807" y="1737360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+ 4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3608" y="2148840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3 + 3 + 1 =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79007" y="3246120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16168" y="3383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7" y="3246120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93608" y="3657600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2 + 2 + 1 = 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7" y="4754879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16168" y="489204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7" y="4754879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+ 4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93608" y="5166359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4 + 4 + 1 = 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7" grpId="0" animBg="1"/>
      <p:bldP spid="51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ыкманы тандайм?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2964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Ийкемдүү эсеп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6 + 1 =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+1: «6… 7» →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2439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39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5 + 3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1039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5 жана дагы 3 →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5112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112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+ 3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3712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10дун курамы →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6928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 + 4 = 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кош сан →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2439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19600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2439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 + 4 = 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11039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3 + 3 + 1 → 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5112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2272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112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+ 2 = 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3712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+2: «7… 8, 9» → 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5760720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5760720"/>
            <a:ext cx="51206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«Мен … деп ойлодум, анткени …»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79" y="5760720"/>
            <a:ext cx="4251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Ката – үйрөнүүнүн бир бөлүгү.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3" grpId="0" animBg="1"/>
      <p:bldP spid="27" grpId="0" animBg="1"/>
      <p:bldP spid="31" grpId="0" animBg="1"/>
      <p:bldP spid="35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1-сабак: Бөлүк + бөлүк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1-сабак · 40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07A5A"/>
                </a:solidFill>
                <a:latin typeface="PT Sans"/>
              </a:rPr>
              <a:t>1-сабак: Бөлүк + бөлүк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Буюм → сүрөт → сан. Тилкени кадам-кадам чийебиз.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Буюм менен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Тилке модели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Чыгуу билети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1–26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2-сабак: Оозеки ыкмалар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2-сабак · 40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A84400"/>
                </a:solidFill>
                <a:latin typeface="PT Sans"/>
              </a:rPr>
              <a:t>2-сабак: Оозеки ыкмалар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5 жана дагы, 10дун курамы, кош сандар. Тилке машыгуусу.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Оозеки ыкма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Тилке машыгуусу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Окуя маселе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27–41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Кошумча слайддар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Кошумча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24418C"/>
                </a:solidFill>
                <a:latin typeface="PT Sans"/>
              </a:rPr>
              <a:t>Кошумча слайддар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Кайталоо, кыйналган балдар, тез бүткөндөр. Мугалимге 3 слайд.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Спираль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Акыркы сан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Мугалим үчүн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42–48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