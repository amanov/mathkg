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53"/>
    <p:sldId id="256" r:id="rId7"/>
    <p:sldId id="257" r:id="rId9"/>
    <p:sldId id="258" r:id="rId10"/>
    <p:sldId id="259" r:id="rId11"/>
    <p:sldId id="261" r:id="rId13"/>
    <p:sldId id="262" r:id="rId14"/>
    <p:sldId id="265" r:id="rId17"/>
    <p:sldId id="266" r:id="rId18"/>
    <p:sldId id="267" r:id="rId19"/>
    <p:sldId id="268" r:id="rId20"/>
    <p:sldId id="269" r:id="rId21"/>
    <p:sldId id="271" r:id="rId23"/>
    <p:sldId id="272" r:id="rId24"/>
    <p:sldId id="273" r:id="rId25"/>
    <p:sldId id="276" r:id="rId28"/>
    <p:sldId id="277" r:id="rId29"/>
    <p:sldId id="278" r:id="rId30"/>
    <p:sldId id="279" r:id="rId31"/>
    <p:sldId id="281" r:id="rId33"/>
    <p:sldId id="282" r:id="rId34"/>
    <p:sldId id="285" r:id="rId37"/>
    <p:sldId id="291" r:id="rId43"/>
    <p:sldId id="289" r:id="rId41"/>
    <p:sldId id="290" r:id="rId42"/>
    <p:sldId id="293" r:id="rId45"/>
    <p:sldId id="302" r:id="rId54"/>
    <p:sldId id="297" r:id="rId49"/>
    <p:sldId id="298" r:id="rId50"/>
    <p:sldId id="270" r:id="rId22"/>
    <p:sldId id="283" r:id="rId35"/>
    <p:sldId id="299" r:id="rId51"/>
    <p:sldId id="300" r:id="rId52"/>
    <p:sldId id="274" r:id="rId26"/>
    <p:sldId id="275" r:id="rId27"/>
    <p:sldId id="284" r:id="rId36"/>
    <p:sldId id="280" r:id="rId32"/>
    <p:sldId id="286" r:id="rId38"/>
    <p:sldId id="287" r:id="rId39"/>
    <p:sldId id="288" r:id="rId40"/>
    <p:sldId id="292" r:id="rId44"/>
    <p:sldId id="303" r:id="rId55"/>
    <p:sldId id="260" r:id="rId12"/>
    <p:sldId id="263" r:id="rId15"/>
    <p:sldId id="264" r:id="rId16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Кызыктыруу (Engage). Тыйынды тааныштырыңыз: ал жаңгак чогултканды жакшы көрөт, бирок санаганда шашып калат. Балдардан сураңыз: «Канча жаңгак?» Жоопторду угуңуз, азыр туура-туура эмес деп айтпаңыз. Тыйындын «куйругум тоскоол болуп жатат» деген сөзүнө күлүп алыңыз – бул сабактын аягындагы «Ким туура?» суроосуна даярдык.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Lee: Сингапурда «мен математиканы билбейм» деген сөз кабыл алынбайт). Ар бир эрежени балдар менен чогуу окуп, мисал айтыңыз. Сабак бою ушул сөздөрдү колдонуңуз: «Азырынча чыкпай жатат», «Катаң бизге жаңы нерсе үйрөттү», «Кантип ойлодуң?». Балдардын алдында «математика кыйын», «мен да билчү эмесмин» дебеңиз. Ылдамдыкты эмес, аракетти жана ыкманы мактаңыз.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Максатты балдарга жөнөкөй сөз менен айтыңыз. Оң жактагы үч кадам – Сингапур ыкмасындагы КСА: буюм (конкреттүү) → сүрөт (сүрөттүү) → сан жана белги (абстракттуу). Ийгилик критерийлери (А1–А3): балдар «Мен … алам» деп чогуу окушат. Сабактын аягында (чыгуу билети жана рефлексия) аларга кайра кайрылабыз.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критерийлери. Ар бир сапты балдар менен чогуу окуңуз: «Мен … алам». Оң жактагы мисал – далил: бала ушундай кыла алса, критерий аткарылды. Сабактын ичинде ушул саптарга кайрылыңыз (чечүүчү суроо, чыгуу билети, рефлексия). Бардык балдар бир сабакта бардык критерийге жетпейт – бул нормалдуу.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 (Wenxi Lee: Сингапур программасы класстан класска улам тереңдейт). Балдарга бүгүнкү сабак мурун билгенге кантип курулуп жатканын көрсөтүңүз: «Силер санаганды билесиңер. Бүгүн эки бөлүктү бириктиребиз. Кийин 20 ичинде кошобуз жана кемитебиз». 2-класста ушул эле тилке модели салыштыруу жана көп кадамдуу маселелер үчүн колдонулат.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1-бөлүк: Даярдык. Primary Mathematics түзүлүшү: Даярдык (буюм, турмуш) → Тартуу (мугалим менен, сүрөт узак) → Өздөштүрүү (өз алдынча). Балдарга бул бөлүктө эмне кыларыбызды айтыңыз.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Даярдык суроолору (Primary Mathematics: «Даярдык» фазасы). Ар бир суроону балдар мини-тактага же манжасы менен жооп беришет. Жооптор: 1) 7; 2) 6; 3) 8; 4) 5 көп. Бирөө-экөө жаңылса, сабак алдында кайра санатыңыз: чекиттерди бирден тийип санайбыз, он-кадрда 5 – бир сап.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 түшүнүгү (Wenxi Lee, 7-ой): кичинекей балдар үчүн саноо сөздөрү менен «канча» деген суроонун байланышы өзүнөн-өзү түшүнүктүү эмес. 1) Чогуу санагыла: акыркы айткан сан – баары канча. 2) Жаңгактардын ордун алмаштырсак, алар дагы эле 5. 3) Нөл: уяда эч нерсе жок = 0; 5 = 5 + 0. Жооптор басканда чыгат: 5; 5;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КСА үч кадамы: Конкреттүү (кубиктер, жаңгактар колдо), Сүрөттүү (он-кадр, тилке модели), Абстракттуу (сан жана белги). Бүгүн ар бир суроону ушул үч жол менен көрөбүз. Ар бир жупка 5 капкак же таш бериңиз (3 бир түстө, 2 башка түстө) жана бириктиртиңиз.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Изилдөө (Explore), Кызматташуу. Ар бир жупка 5 буюм бериңиз (таштар, бурчак же жаңгак) жана эки кагаз «уя». Тапшырма: 5 буюмду эки уяга салгыла. Канча ар кандай жол таптыңар? Мисал катары 4 жана 1ди көрсөтүңүз. Мүмкүн болгон жооптор: 5 жана 0, 4 жана 1, 3 жана 2, 2 жана 3, 1 жана 4, 0 жана 5. Акырында «ар дайым канча буюм?» деп сураңыз – ар дайым 5. Бул бөлүк жана бүтүн идеясына алып барат. Буюм ар бир жуптун колунда болсун: бир окуучу бөлөт, экинчиси айтат, анан алмашышат. Кубик керек эмес: таш, бурчак, жаңгак же бөтөлкө капкагы жетиштүү. Кызматташуу эрежелери: «Кезек менен», «Угабыз», «Бөлүшөбүз». Байкоо чек-листин колдонуңуз (баалоо куралдары, 3-бет): 4 жупту байкап, Х2 жана А1 белгилеңиз. Сураңыз: «Дагы жол барбы? Кантип билесиң?»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Конкреттүү → Сүрөттүү. Ар бир жупка 10 жумуртканын кутусу (он-кадр; же чакмак дептерге 2 × 5 тор) жана 6 буюм: 3 таш жана 3 бурчак (эки түс = эки башка буюм). Жуптар он-кадрды толтуруп, ар кандай бөлүштүрүшөт, анан слайддагыны текшеришет. Жооптор: 1) 5 + 1 = 6; 2) 4 + 2 = 6; 3) 3 + 3 = 6; 4) 2 + 4 = 6. Сураңыз: «Жашылдар азайса, кызгылттар эмне болот? Баары дайыма канча?»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2-бөлүк: Тартуу. Primary Mathematics түзүлүшү: Даярдык (буюм, турмуш) → Тартуу (мугалим менен, сүрөт узак) → Өздөштүрүү (өз алдынча). Балдарга бул бөлүктө эмне кыларыбызды айтыңыз.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Сүрөттүү кадам узартылат (Wenxi Lee, 3–4-ой). Адегенде эч кандай сан айтпайбыз жана эсептебейбиз. 1) «Эмнени көрүп турасың?» 2) «Эмне болуп жатат?» 3) «Кандай суроо берсе болот?» Ар бир баланын окуясын угуңуз. Акырында гана басыңыз: сан курамы жана тилке чыгат, ошондо гана эсептейбиз (4 + 2 =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Түшүндүрүү (Explain). Тыйындын жаңгактарына кайтыңыз. Жогорку тегерек – БҮТҮН (баары), төмөнкүлөр – БӨЛҮКТӨР. Балдар менен бирге айтыңыз: «Үч – бөлүк, эки – бөлүк, беш – бүтүн». Сингапур ыкмасында бул «сан курамы» схемасы.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Сүрөттүү → Абстракттуу. Ар бир сан курамында бир сан жашыруун. Бүтүн жашыруун болсо – кошобуз, бөлүк жашыруун болсо – «канча жетпейт?» деп сурайбыз (кубик же манжа менен). Жооптор: 1) 1; 2) 5; 3) 4; 4) 3; 5) 8; 6) 3.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Абстракттуу кадам. Белгилерди тааныштырыңыз: «+» – кошуу (бириктиребиз), «=» – барабар (ошончо болот). Хор менен окугула: «Үч кошуу эки барабар беш». Колду бириктирип, «+» белгисин көрсөтүүнү сунуштаңыз.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 (Сингапур). Ар бир кутуча – бир жаңгак. Жашыл – биринчи бөлүк, кызгылт – экинчи бөлүк. Үстүндөгү чоң кашаа – бүтүн. Балдар кутучаларды бирден санап чыгышат: 1, 2, 3, 4,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 – Сингапур программасынын «таажысы» жана атайын үйрөнүлүүчү көндүм (Wenxi Lee, 2-ой). Ар бир басууда бир кадам чыгат. Ар бир кадамды балдар менен үн чыгарып айтыңыз жана алар мини-тактага чогуу чийишет. Кутучалар бирдей чоңдукта болсун: бир кутуча = бир жаңгак. Белгисизди «?» менен белгилейбиз. Проектор жок болсо: окуучулар чакмак дептерге чийишет (1 чакмак = 1 бирдик) же кагаз тилкелерди кесип коюшат.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моделинин кыска машыгуулары (жөнөкөйдөн татаалга). 1) кубиктерден тилке; 2) тилкеге сан жаз; 3) сүйлөмдөн тилке чий; 4) белгисиз бөлүк (Помпондо 4 топ). Ар бир деңгээлди балдар мини-тактага чийишет, анан басыңыз – жооп чыгат. Жооптор: 1) 3 жашыл + 2 кызгылт кутуча; 2) 5, 3, бүтүн 8; 3) 2 + 4, бүтүн 6; 4) 7 – бүтүн, 3 – бөлүк, белгисиз бөлүк 4. Басма нускасы: «Тилке модели машыгуусу» барагы.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Сүрөттүү → Абстракттуу. Ар бир кутуча – бир жаңгак. Жашыл – бир бөлүк, кызгылт – экинчи бөлүк, үзүк сызык – белгисиз. Балдар тилкени окуп, кошууну жазышат. Жооптор: 1) 4 + 2 = 6; 2) 3 + 4 = 7; 3) 5 + 3 = 8 (белгисиз бөлүк 3); 4) 4 + 2 = 6 (белгисиз бөлүк 4). 3–4-суроолор кыйыныраак: «бүтүн белгилүү, бир бөлүгү белгисиз».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Чечүүчү суроо (hinge question). Балдар манжасы менен көрсөтүшөт: 1, 2 же 3 – бир убакта. 1) 7 – туура. 2) 8 – бирге жаңылуу: 4тү кайра санап кошту (Тыйындын «куйругу»). 3) 43 – сандарды жанаштыруу: «+» белгисин түшүнбөйт. Ката коддору: 8 = M1, 43 = M2. Көпчүлүгү 2 же 3 көрсөтсө, 15-слайдга («Тилкени кадам-кадам чийебиз») кайтам: ошол эле 4 + 3тү тилке менен кадам-кадам кайра чийебиз. Көпчүлүгү 1 болсо, улантам.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 көрсөтөм. Ойлогонуңузду үн чыгарып айтыңыз: «Адегенде 4 алма. Анан дагы 2 келди. Мен бириктирем. Схемага 4 жана 2ни жазам. Бүтүн – 6. Сан менен: 4 + 2 = 6». Акырында «4төн баштап, 5, 6 деп уланта санасак да болот» деп көрсөтүңүз.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Биз чогуу. Балдар манжа же буюм менен санап, жоопту мини-тактага жазышат (же манжаларын көрсөтүшөт). Суроолор: Бөлүктөр кайсылар? Бүтүнү белгисизби? Кандай кошуу жазабыз? Жооп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чогуу текшериңиз: 5тен баштап уланта санайбыз – 6, 7, 8. Кимде 8 чыкты? Ким башкача санады? Ар кандай ыкманы (бирден саноо, уланта саноо) мактаңыз.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Сүрөттүү. Сан огунда биринчи сандан баштап, экинчи сан канча болсо, ошончо секиребиз. Балдар манжасы менен «секиришет» жана үн чыгарып санашат: «5... 6, 7, 8». Кеңеш: чоң сандан баштоо жеңилирээк (2 + 6 → 6дан баштап 2 секирүү). Жооптор: 1) 4 + 2 = 6; 2) 6 + 3 = 9; 3) 7 + 2 = 9.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3-бөлүк: Өздөштүрүү. Primary Mathematics түзүлүшү: Даярдык (буюм, турмуш) → Тартуу (мугалим менен, сүрөт узак) → Өздөштүрүү (өз алдынча). Балдарга бул бөлүктө эмне кыларыбызды айтыңыз.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Сен өзүң (Колдонуу). Ар бир окуучу мини-тактага жазат. Жооптор: 1) 2 + 2 = 4; 2) 4 + 1 = 5; 3) 3 + 3 = 6; 4) 5 + 2 = 7. Кыйналган балдарга буюм же сүрөттөгү жаңгактарды санатыңыз.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Оозеки эсеп. Он-кадрдын үстүнкү жана астынкы сабында бирдей сан. Слайдды тез көрсөтүп (2–3 секунд), балдар санабай айтууга аракет кылышат. Жооптор: 1) 2 + 2 = 4; 2) 3 + 3 = 6; 3) 4 + 4 = 8; 4) 5 + 5 = 10. Акырында: «5 + 5 = 10 – он-кадр толду!»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Колдонуу. Ар бир маселеде: 1) окуйбуз; 2) бөлүктөр жана бүтүн кайсы? 3) тилке модели; 4) кошуу; 5) жооп сөз менен. Балдар тилкени мини-тактага чийишет. Жооптор: 1) 3 + 4 = 7 алма; 2) 6 + 2 = 8 сабиз; 3) 5 + 4 = 9, бактан 4 жаңгак (белгисиз бөлүк, кыйыныраак).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Сынчыл ой жүгүртүү. Туурасы – Помпон: 2 + 3 = 5. Тыйын жаңгактар менен кошо өзүнүн куйругун да санап алды! Сураңыз: Тыйын эмнеде жаңылды? Ага кантип жардам беребиз? (Санаганда ар бир буюмду бир жолу гана тийип санайбыз.) Баалоо (А6, Х1): «Помпон» деп гана айтты = 2-деңгээл; себебин айтты = 3; Тыйынга кантип жардам берүүнү айтты = 4. Х5: Тыйынга сылык жардам беребиз.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Эвристика «үлгү изде» (Сынчыл ой). Кубик тизмектери тепкич сыяктуу: жашылдар бирден азаят, кызгылттар бирден көбөйөт, баары дайыма 7. Балдар үлгүнү улантып, калган саптарды айтышат (чыкылдатканда чыгат): 4 + 3, 3 + 4, 2 + 5, 1 + 6, 0 + 7. Сураңыз: «Канча жол бар? (8) 4 + 3 менен 3 + 4тө эмне окшош?» Кубиктер менен жасап көрсөтүү – конкреттүү кадам. Сингапур ыкмасы: ар бир түшүнүк КСА (Конкреттүү – Сүрөттүү – Абстракттуу) үч кадамы менен өтөт. Жооптор слайд көрсөтүү режиминде (F5) ар бир чыкылдатууда бирден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Түзүү (Create), Кызматташуу. Жуптар 7 жаңгакты (буюмду) эки уяга ар кандай жол менен бөлүшөт жана ар бирин схемага, анан кошуу менен жазышат. Мисалы: 6 + 1, 5 + 2, 4 + 3. Кайсы жуп эң көп жол тапты? «4 + 3 менен 3 + 4 окшошпу?» деп сураңыз. Кызматташуу эрежелери: «Кезек менен», «Угабыз», «Бөлүшөбүз». Байкоо чек-листин колдонуңуз (3-бет): 4 жупту байкаңыз (Х2, А7). Схемалар ирети менен (6+1, 5+2, 4+3 …) = 4-деңгээл.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Байланыштыруу (Connect). Кошуу турмушта ар дайым бар. Балдар өздөрү мисал ойлоп табышат. Үй тапшырмасы катары: үйдөн бир кошуу таап, сүрөтүн тартып келүү (мисалы, бут кийимдер, кашыктар).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Баалоо (Evaluate). Билетти басып таратыңыз (кийинки слайд, жарым барак) же мини-тактага чыгартыңыз. Жооптор: 1) 3 + 1 = 4; 2) 6 = 4 + 2; 3) ар кандай сүрөт, мисалы 2 жана 5 буюм, бүтүнү 7. Окуучу өзүн сүрөт менен баалайт жана бир холистикалык суроого жооп берет (Х2). Сабактан кийин билеттерди 3 топко бөлүңүз: ○ жардам керек, ◐ дагы машыгат, ● даяр (баалоо куралдары, 4-бет).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Басып чыгарып, ортосунан кесиңиз: бир баракта эки билет. Кодду мугалим гана колдонот.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Кыскача. Балдар хор менен кайталашат. Тыйынга кайрылыңыз: «Эми Тыйын куйругун санабайт!»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Оозеки талкуу (Lesson Debrief). Сураңыз: «Бүгүн эмне үйрөндүк? Кайсы ыкма жакты?» Балдар жаккан ыкманы манжасы менен көрсөтүшөт (1–5) жана 2–3 бала себебин айтат. Ар бир ыкма менен 3 + 2 = 5ти кайра көрсөтүүгө болот.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Рефлексия (Х1). Ар бир критерийди окуп, балдар өздөрүн көрсөтүшөт: манжасы менен 1 (жардам керек), 2 (дагы машыгам), 3 (түшүндүм). Анан 2–3 балага суроо бериңиз: «Бүгүн эмне үйрөндүң? Эмне кыйын болду?» Жоопторду класстык жазуу барагына белгилеңиз.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 гана (балдарга көрсөтүлбөйт). Wenxi Lee: натыйжа китептен эмес, мугалимдин даярдыгынан көз каранды.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 гана. Ой жүгүртүү маданиятын сөз менен түзөбүз (Wenxi Lee, 5-ой).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 гана. Даярдык чеги (definition of done): «10 ичинде кошуудан» «20 ичинде кошууга» жана кемитүүгө ушул шарттар аткарылганда өтөбүз. Далилдер: чыгуу билеттери, чечүүчү суроолор, кыска тест жана класстын трекери (baaloo-kuraldary папкасы). Даяр эмес балдар класс менен бирге алга жылат, бирок күн сайын 5 мүнөт кичи топто КСА килемчеси менен иштешет. Тема спираль менен кийин кайра келет.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Оозеки ыкма (1-түшүн → 2-ыкма → 3-эркин эсеп). Адегенде буюм менен (жумуртка кутусу, таш), анан сүрөт, анан эстен. Ылдамдык боюнча эч кимди тизмеге койбойм: «Кантип ойлодуң?» деп сурайм. Эркин эсеп = туура + үнөмдүү + ийкемдүү. Ар бир жупка: 10 жумуртканын кутусу (же чакмак дептерге чийилген 2 × 5 тор) жана 10 таш же бурчак. Үстүнкү сап толсо – 5. Мугалим кутуну 2 секунд көрсөтөт, балдар санабай айтышат: «5 жана 2 – 7». Жооптор басканда чыгат: 6 = 5 + 1; 8 = 5 + 3; 9 = 5 + 4. Кошууга байланыш: 5 + 3 = 8, анткени 5 жана дагы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Оозеки ыкма (1-түшүн → 2-ыкма → 3-эркин эсеп). Адегенде буюм менен (жумуртка кутусу, таш), анан сүрөт, анан эстен. Ылдамдык боюнча эч кимди тизмеге койбойм: «Кантип ойлодуң?» деп сурайм. Эркин эсеп = туура + үнөмдүү + ийкемдүү. 10го толуктоо: «7ге канча кошсок, 10 болот?» Жумуртка кутусунда бош уяларды санайбыз. Жуптар: бири кутуга таш салат, экинчиси бош уяларды айтат, анан алмашышат. Жооптор: 6 + 4, 8 + 2, 4 + 6, 9 + 1, 5 + 5, 7 + 3. Бул фактылар кийин 20 ичинде кошууда керек (8 + 3 = 8 + 2 + 1).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Оозеки ыкма (1-түшүн → 2-ыкма → 3-эркин эсеп). Адегенде буюм менен (жумуртка кутусу, таш), анан сүрөт, анан эстен. Ылдамдык боюнча эч кимди тизмеге койбойм: «Кантип ойлодуң?» деп сурайм. Эркин эсеп = туура + үнөмдүү + ийкемдүү. Жакын кош сандар: эки сан бирге гана айырмаланса, кош сандан баштайбыз. Буюм менен: 4 таш жана 5 бурчак катар коюлат, бир бурчак «ашыкча». 4 + 5 = 4 + 4 + 1 = 9. Ар бир сап «=» менен башталат. Жооптор: 3 + 4 = 3 + 3 + 1 = 7; 2 + 3 = 2 + 2 + 1 = 5; 5 + 4 = 4 + 4 + 1 = 9. Ким башка жол менен тапса (уланта санаса), аны да мактайм: бул ыкма гана тандоо, милдет эмес.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Оозеки ыкма (1-түшүн → 2-ыкма → 3-эркин эсеп). Адегенде буюм менен (жумуртка кутусу, таш), анан сүрөт, анан эстен. Ылдамдык боюнча эч кимди тизмеге койбойм: «Кантип ойлодуң?» деп сурайм. Эркин эсеп = туура + үнөмдүү + ийкемдүү. Ийкемдүүлүк: ар бир мисал үчүн ыңгайлуу ыкманы тандайбыз. Балдар жупта «Кантип ойлодуң?» деп айтышат, анан басканда бир ыкма чыгат. Башка туура ыкма да кабыл алынат. Жооптор: 6 + 1 = 7; 5 + 3 = 8; 7 + 3 = 10; 4 + 4 = 8; 3 + 4 = 7; 7 + 2 =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Мугалимге: 1-сабак (40 мүнөт) ушул бөлүктүн слайддары. Убакыт планы «Класста колдонуу» картасында. Слайддардын баарын көрсөтүү милдет эмес: убакыт жетпесе, «Текшеребиз» жана «Эстеп кал!» слайддарын өткөрүп жиберем.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Мугалимге: 2-сабак. Башында «Оозеки беш мүнөт» (5 жана дагы, 10дун курамы, жакын кош сандар), анан тилке машыгуусу жана текст маселелер. Аягында 2-сабактын чыгуу билети (баалоо куралдары, 3b). Ар бир жупка: жумуртка кутусу, 10 таш же бурчак, кагаз тилкелер.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Мугалимге: бул слайддар сабактын негизги планына кирбейт. «Акыркы сан» – алдын ала текшерүүдө 0–2 упай алган балдар үчүн. «Бир маселе – үч жол» – КСАны кайталоо. Акыркы 3 слайд балдарга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Тыйындын жаңгактары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Кызыктыруу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Кызыктыруу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Эстөө</a:t>
            </a:r>
          </a:p>
        </p:txBody>
      </p:sp>
      <p:sp>
        <p:nvSpPr>
          <p:cNvPr id="12" name="Cloud 11"/>
          <p:cNvSpPr/>
          <p:nvPr/>
        </p:nvSpPr>
        <p:spPr>
          <a:xfrm>
            <a:off x="2347722" y="2608326"/>
            <a:ext cx="1325880" cy="2320290"/>
          </a:xfrm>
          <a:prstGeom prst="cloud">
            <a:avLst/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5486" y="3006090"/>
            <a:ext cx="596646" cy="7955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459382" y="2170785"/>
            <a:ext cx="0" cy="304953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26794" y="2011680"/>
            <a:ext cx="291693" cy="291693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2360980" y="2170785"/>
            <a:ext cx="0" cy="304953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228392" y="2011680"/>
            <a:ext cx="291693" cy="291693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19606" y="4928616"/>
            <a:ext cx="424281" cy="291693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82545" y="4928616"/>
            <a:ext cx="424281" cy="291693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8136" y="2409444"/>
            <a:ext cx="1789938" cy="2651760"/>
          </a:xfrm>
          <a:prstGeom prst="roundRect">
            <a:avLst>
              <a:gd name="adj" fmla="val 48000"/>
            </a:avLst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52194" y="4000500"/>
            <a:ext cx="861822" cy="86182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9829" y="2833725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44238" y="2982224"/>
            <a:ext cx="265176" cy="265176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84015" y="3008741"/>
            <a:ext cx="84856" cy="8485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42769" y="2833725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07178" y="2982224"/>
            <a:ext cx="265176" cy="265176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46955" y="3008741"/>
            <a:ext cx="84856" cy="8485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ord 27"/>
          <p:cNvSpPr/>
          <p:nvPr/>
        </p:nvSpPr>
        <p:spPr>
          <a:xfrm>
            <a:off x="1698040" y="3284524"/>
            <a:ext cx="556869" cy="424281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" y="5326380"/>
            <a:ext cx="19888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A84400"/>
                </a:solidFill>
                <a:latin typeface="PT Sans"/>
              </a:rPr>
              <a:t>Тыйын</a:t>
            </a:r>
          </a:p>
        </p:txBody>
      </p:sp>
      <p:sp>
        <p:nvSpPr>
          <p:cNvPr id="30" name="Rounded Rectangular Callout 29"/>
          <p:cNvSpPr/>
          <p:nvPr/>
        </p:nvSpPr>
        <p:spPr>
          <a:xfrm>
            <a:off x="3977639" y="1783080"/>
            <a:ext cx="4023360" cy="1234440"/>
          </a:xfrm>
          <a:prstGeom prst="wedgeRoundRectCallout">
            <a:avLst>
              <a:gd name="adj1" fmla="val -62000"/>
              <a:gd name="adj2" fmla="val 35000"/>
              <a:gd name="adj3" fmla="val 1666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0">
                <a:solidFill>
                  <a:srgbClr val="1F2430"/>
                </a:solidFill>
                <a:latin typeface="PT Sans"/>
              </a:rPr>
              <a:t>Мен 3 жаңгак таптым… анан дагы 2 таптым! Баары канча? Куйругум санатпай жатат!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333756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51960" y="395569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03166" y="384048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20640" y="395569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71846" y="384048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89320" y="395569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40526" y="384048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80960" y="3337560"/>
            <a:ext cx="2286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55279" y="395569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6486" y="384048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23959" y="395569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75166" y="384048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5120640"/>
            <a:ext cx="7772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D3557"/>
                </a:solidFill>
                <a:latin typeface="PT Sans"/>
              </a:rPr>
              <a:t>Тыйында канча жаңгак бар?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Биздин эреже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Ой жүгүртүү маданияты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783080"/>
            <a:ext cx="55504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2057400"/>
            <a:ext cx="548640" cy="54864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965960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Ката – үйрөнүүнүн бир бөлүгү.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834639"/>
            <a:ext cx="4434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Катаны көрсөк, «Эмне үйрөндүк?» деп сурайбыз.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83080"/>
            <a:ext cx="55504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7376" y="2057400"/>
            <a:ext cx="548640" cy="54864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1965960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«Билбейм» эмес – «азырынча билбейм».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834639"/>
            <a:ext cx="4434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Ар бир аракет бизди алдыга жылдырат.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3977639"/>
            <a:ext cx="55504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4251959"/>
            <a:ext cx="548640" cy="54864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160520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Кыйын болсо – мээбиз өсүп жатат.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029200"/>
            <a:ext cx="4434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Токтобойбуз, башка ыкма менен аракет кылабыз.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977639"/>
            <a:ext cx="55504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37376" y="4251959"/>
            <a:ext cx="548640" cy="54864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4160520"/>
            <a:ext cx="4434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Адегенде сүрөт, анан сан.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5029200"/>
            <a:ext cx="4434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Чийип, түшүнүп, анан эсептейбиз.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эмне үйрөнөбүз?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Максат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Мен эки бөлүктү бириктирип, бүтүндү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Мен «+» жана «=» белгилерин окуйм.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Мен 10 ичинде кошом: 3 + 2 = 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Кантип үйрөнөбүз?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Буюм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колго кармап санайбыз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Сүрөт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чийип көрөбүз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Сан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белги менен жазабыз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61872" y="2880360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" y="4160520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1872" y="5440680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Бүттү деп кантип билем?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Максат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Ийгилик критерийлери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Мен … алам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645920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Мына далилим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11329416" cy="6949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276856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103120"/>
            <a:ext cx="530352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Мен бүтүндү эки бөлүккө бөлөм жана бириктирем.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103120"/>
            <a:ext cx="4928616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007A5A"/>
                </a:solidFill>
                <a:latin typeface="PT Sans"/>
              </a:rPr>
              <a:t>6 = 4 + 2 деп сан курамын толтурам.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2871215"/>
            <a:ext cx="11329416" cy="6949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044951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2871215"/>
            <a:ext cx="530352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Мен 10 ичинде кошом.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871215"/>
            <a:ext cx="4928616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007A5A"/>
                </a:solidFill>
                <a:latin typeface="PT Sans"/>
              </a:rPr>
              <a:t>5 + 3 = 8. Бирден санабай, 5тен уланта санайм.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3639311"/>
            <a:ext cx="11329416" cy="6949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813048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639311"/>
            <a:ext cx="530352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Мен кошууну сүрөт менен көрсөтөм.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3639311"/>
            <a:ext cx="4928616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007A5A"/>
                </a:solidFill>
                <a:latin typeface="PT Sans"/>
              </a:rPr>
              <a:t>3 + 4тү он-кадрда же тилкеде көрсөтүп, 7 деп жазам.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" y="4407408"/>
            <a:ext cx="11329416" cy="6949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581144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07408"/>
            <a:ext cx="530352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Мен окуядан кошуу таап, жазам.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407408"/>
            <a:ext cx="4928616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007A5A"/>
                </a:solidFill>
                <a:latin typeface="PT Sans"/>
              </a:rPr>
              <a:t>Тыйында 4 жаңгак, 3 дагы келди: 4 + 3 = 7.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" y="5175504"/>
            <a:ext cx="11329416" cy="6949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5349240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175504"/>
            <a:ext cx="530352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Мен катаны таап, оңдойм.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5175504"/>
            <a:ext cx="4928616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007A5A"/>
                </a:solidFill>
                <a:latin typeface="PT Sans"/>
              </a:rPr>
              <a:t>5 + 3 = 9 туура эмес: 8 болот, анткени…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589788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Сабактын аягында чыгуу билети ушул критерийлерди текшерет.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Спираль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43/48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5067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Спираль · бүгүнкү тема кайда?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301752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108960"/>
            <a:ext cx="36118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4A5A70"/>
                </a:solidFill>
                <a:latin typeface="PT Sans"/>
              </a:rPr>
              <a:t>Мурун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3657600"/>
            <a:ext cx="3246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Саноо: 1ден 10го чейин. Акыркы сан – баары канча.</a:t>
            </a:r>
          </a:p>
        </p:txBody>
      </p:sp>
      <p:sp>
        <p:nvSpPr>
          <p:cNvPr id="15" name="Oval 14"/>
          <p:cNvSpPr/>
          <p:nvPr/>
        </p:nvSpPr>
        <p:spPr>
          <a:xfrm>
            <a:off x="1229868" y="4617720"/>
            <a:ext cx="347472" cy="347472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50492" y="4617720"/>
            <a:ext cx="347472" cy="347472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71116" y="4617720"/>
            <a:ext cx="347472" cy="347472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91740" y="4617720"/>
            <a:ext cx="347472" cy="347472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12364" y="4617720"/>
            <a:ext cx="347472" cy="347472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4148" y="4983479"/>
            <a:ext cx="4389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4772" y="4983479"/>
            <a:ext cx="4389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5396" y="4983479"/>
            <a:ext cx="4389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6020" y="4983479"/>
            <a:ext cx="4389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6644" y="4983479"/>
            <a:ext cx="4389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2468879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2560320"/>
            <a:ext cx="36118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007A5A"/>
                </a:solidFill>
                <a:latin typeface="PT Sans"/>
              </a:rPr>
              <a:t>Бүгүн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108959"/>
            <a:ext cx="3246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Бөлүк + бөлүк = бүтүн. 10 ичинде кошуу.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390388" y="3931920"/>
            <a:ext cx="685800" cy="731520"/>
          </a:xfrm>
          <a:prstGeom prst="line">
            <a:avLst/>
          </a:prstGeom>
          <a:ln w="20002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76188" y="3931920"/>
            <a:ext cx="685800" cy="731520"/>
          </a:xfrm>
          <a:prstGeom prst="line">
            <a:avLst/>
          </a:prstGeom>
          <a:ln w="20002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801868" y="36576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5116068" y="43891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6487668" y="43891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3188" y="5440679"/>
            <a:ext cx="457200" cy="36576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0388" y="5440679"/>
            <a:ext cx="457200" cy="36576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47588" y="5440679"/>
            <a:ext cx="457200" cy="36576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4788" y="5440679"/>
            <a:ext cx="457200" cy="36576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1988" y="5440679"/>
            <a:ext cx="457200" cy="36576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933188" y="5843016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04788" y="5843016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933188" y="5952744"/>
            <a:ext cx="1371600" cy="0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04588" y="5971031"/>
            <a:ext cx="1828800" cy="2489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04788" y="5843016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19188" y="5843016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304788" y="5952744"/>
            <a:ext cx="914400" cy="0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847588" y="5971031"/>
            <a:ext cx="1828800" cy="2489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933188" y="5294375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19188" y="5294375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933188" y="5294375"/>
            <a:ext cx="228600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61788" y="4991608"/>
            <a:ext cx="1828800" cy="2844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0728" y="1920239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0728" y="2011679"/>
            <a:ext cx="36118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Кийин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3608" y="2560320"/>
            <a:ext cx="3246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20 ичинде кошуу, кемитүү. 2-класс: салыштыруу.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2168" y="3611879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07A5A"/>
                </a:solidFill>
                <a:latin typeface="PT Sans"/>
              </a:rPr>
              <a:t>Помпон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33688" y="363931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363931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65208" y="363931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30968" y="363931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96728" y="363931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933688" y="3968496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762488" y="3968496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933688" y="4078224"/>
            <a:ext cx="1828800" cy="0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762488" y="3968496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762488" y="3968496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762488" y="4078224"/>
            <a:ext cx="0" cy="0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933688" y="3493007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762488" y="3493007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933688" y="3493007"/>
            <a:ext cx="182880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202168" y="4114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Тыйын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33688" y="414223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99448" y="414223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65208" y="414223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30968" y="414223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96728" y="4142231"/>
            <a:ext cx="365760" cy="292608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762488" y="4142231"/>
            <a:ext cx="365760" cy="292608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128248" y="4142231"/>
            <a:ext cx="365760" cy="292608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8933688" y="4471416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762488" y="4471416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933688" y="4581144"/>
            <a:ext cx="1828800" cy="0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762488" y="4471416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494008" y="4471416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762488" y="4581144"/>
            <a:ext cx="731520" cy="0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213848" y="4599431"/>
            <a:ext cx="1828800" cy="213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8933688" y="3995927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1494008" y="3995927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33688" y="3995927"/>
            <a:ext cx="256032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293608" y="4892040"/>
            <a:ext cx="3246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6B7280"/>
                </a:solidFill>
                <a:latin typeface="PT Sans"/>
              </a:rPr>
              <a:t>Ким канча көп?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1-бөлүк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6/48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1600200"/>
            <a:ext cx="777240" cy="777240"/>
          </a:xfrm>
          <a:prstGeom prst="ellipse">
            <a:avLst/>
          </a:prstGeom>
          <a:solidFill>
            <a:srgbClr val="007A5A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PT Sans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103120" y="1600200"/>
            <a:ext cx="777240" cy="777240"/>
          </a:xfrm>
          <a:prstGeom prst="ellipse">
            <a:avLst/>
          </a:prstGeom>
          <a:noFill/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4A5A70"/>
                </a:solidFill>
                <a:latin typeface="PT Sans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0" y="1600200"/>
            <a:ext cx="777240" cy="777240"/>
          </a:xfrm>
          <a:prstGeom prst="ellipse">
            <a:avLst/>
          </a:prstGeom>
          <a:noFill/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4A5A70"/>
                </a:solidFill>
                <a:latin typeface="PT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 i="0">
                <a:solidFill>
                  <a:srgbClr val="007A5A"/>
                </a:solidFill>
                <a:latin typeface="PT Sans"/>
              </a:rPr>
              <a:t>Даярдык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033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1">
                <a:solidFill>
                  <a:srgbClr val="6B7280"/>
                </a:solidFill>
                <a:latin typeface="PT Sans"/>
              </a:rPr>
              <a:t>Буюм менен ачабыз: санайбыз, бөлөбүз, он-кадрга салабыз.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Даяр суроолор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Буюм менен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Он-кадр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Даярбызбы?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Даярдык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Даярдык · Эске салуу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Эстөө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82880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Канча чекит?</a:t>
            </a:r>
          </a:p>
        </p:txBody>
      </p:sp>
      <p:sp>
        <p:nvSpPr>
          <p:cNvPr id="15" name="Oval 14"/>
          <p:cNvSpPr/>
          <p:nvPr/>
        </p:nvSpPr>
        <p:spPr>
          <a:xfrm>
            <a:off x="1207007" y="2423160"/>
            <a:ext cx="411480" cy="41148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55648" y="2423160"/>
            <a:ext cx="411480" cy="41148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7" y="2423160"/>
            <a:ext cx="411480" cy="41148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52927" y="2423160"/>
            <a:ext cx="411480" cy="41148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01568" y="2423160"/>
            <a:ext cx="411480" cy="41148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07007" y="2971800"/>
            <a:ext cx="411480" cy="41148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55648" y="2971800"/>
            <a:ext cx="411480" cy="41148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08576" y="3154680"/>
            <a:ext cx="11887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182880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Он-кадрда канча?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6016" y="242316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34656" y="242316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242316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31936" y="242316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0576" y="242316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86016" y="297180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34656" y="297180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297180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31936" y="297180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0576" y="297180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62825" y="249996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11465" y="249996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60105" y="249996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8745" y="249996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7385" y="249996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62825" y="304860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87584" y="3154680"/>
            <a:ext cx="11887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6928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" y="4069079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7ден кийин кайсы сан келет?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5528" y="4937759"/>
            <a:ext cx="466344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5413248" y="4864607"/>
            <a:ext cx="146304" cy="146304"/>
          </a:xfrm>
          <a:prstGeom prst="triangl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86968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2647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325880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51560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764792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490472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203704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929384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642615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368296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81528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807208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20439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246120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959352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685032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398264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123944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837176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562856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276088" y="4855464"/>
            <a:ext cx="0" cy="16459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001768" y="5029199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08576" y="5394959"/>
            <a:ext cx="11887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08776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345936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94576" y="4069079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Кайсында көп?</a:t>
            </a:r>
          </a:p>
        </p:txBody>
      </p:sp>
      <p:sp>
        <p:nvSpPr>
          <p:cNvPr id="74" name="Oval 73"/>
          <p:cNvSpPr/>
          <p:nvPr/>
        </p:nvSpPr>
        <p:spPr>
          <a:xfrm>
            <a:off x="6986016" y="478322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018934" y="4709159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507223" y="478322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540142" y="4709159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028431" y="478322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061350" y="4709159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49640" y="478322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582558" y="4709159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070848" y="478322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103766" y="4709159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986016" y="537758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7018934" y="5303520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507223" y="537758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540142" y="5303520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028431" y="5377586"/>
            <a:ext cx="411480" cy="337413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061350" y="5303520"/>
            <a:ext cx="345643" cy="139903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838944" y="5394959"/>
            <a:ext cx="17373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5 көп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2" grpId="0" animBg="1"/>
      <p:bldP spid="70" grpId="0" animBg="1"/>
      <p:bldP spid="9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Акыркы сан – баары канча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Даярдык · Сан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44/48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Даярдык · Сан түшүнүгү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3895" y="1188720"/>
            <a:ext cx="295351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Конкреттүү → Сүрөттүү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847088"/>
            <a:ext cx="28011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Санайбыз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30248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3699" y="29260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520439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1435607" y="30248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79499" y="29260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3520439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2121408" y="30248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65299" y="29260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75688" y="3520439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2807208" y="30248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51099" y="29260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1488" y="3520439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3493008" y="30248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36899" y="29260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3520439"/>
            <a:ext cx="640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7" y="42062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Акыркы сан – баары канча?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1724" y="5120640"/>
            <a:ext cx="12801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2439" y="173736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19600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8239" y="1847088"/>
            <a:ext cx="28011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Ордун алмаштыр</a:t>
            </a:r>
          </a:p>
        </p:txBody>
      </p:sp>
      <p:sp>
        <p:nvSpPr>
          <p:cNvPr id="36" name="Oval 35"/>
          <p:cNvSpPr/>
          <p:nvPr/>
        </p:nvSpPr>
        <p:spPr>
          <a:xfrm>
            <a:off x="4648200" y="275051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92091" y="265176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836920" y="261335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80811" y="251460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34199" y="297911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78091" y="288036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105400" y="366491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49291" y="356616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85559" y="375635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29451" y="365760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5320" y="4343400"/>
            <a:ext cx="325831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Эми канча?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97195" y="512064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дагы эле 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5112" y="173736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72272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0912" y="1847088"/>
            <a:ext cx="28011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Бош уя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3752" y="2606039"/>
            <a:ext cx="2526792" cy="10058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>
            <a:off x="9261348" y="3977639"/>
            <a:ext cx="685800" cy="640081"/>
          </a:xfrm>
          <a:prstGeom prst="line">
            <a:avLst/>
          </a:prstGeom>
          <a:ln w="1714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947148" y="3977639"/>
            <a:ext cx="685800" cy="640081"/>
          </a:xfrm>
          <a:prstGeom prst="line">
            <a:avLst/>
          </a:prstGeom>
          <a:ln w="1714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672828" y="37033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55" name="Oval 54"/>
          <p:cNvSpPr/>
          <p:nvPr/>
        </p:nvSpPr>
        <p:spPr>
          <a:xfrm>
            <a:off x="8987028" y="43434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6" name="Oval 55"/>
          <p:cNvSpPr/>
          <p:nvPr/>
        </p:nvSpPr>
        <p:spPr>
          <a:xfrm>
            <a:off x="10358628" y="43434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07068" y="5120640"/>
            <a:ext cx="12801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7991" y="2606039"/>
            <a:ext cx="325831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Уяда канча?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7" grpId="0" animBg="1"/>
      <p:bldP spid="5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Бир маселе –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45/48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4768596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КСА · Конкреттүү – Сүрөттүү – Абстракттуу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737360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737360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Тыйында 3 жаңгак бар эле, дагы 2 жаңгак тапты. Баары канча?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65176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697480"/>
            <a:ext cx="3520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Конкреттүү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10896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6B7280"/>
                </a:solidFill>
                <a:latin typeface="PT Sans"/>
              </a:rPr>
              <a:t>колго кармайбыз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86784" y="4224528"/>
            <a:ext cx="310896" cy="329184"/>
          </a:xfrm>
          <a:prstGeom prst="rightArrow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4256" y="265176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2697480"/>
            <a:ext cx="3520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Сүрөттүү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10896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6B7280"/>
                </a:solidFill>
                <a:latin typeface="PT Sans"/>
              </a:rPr>
              <a:t>чийип көрөбүз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91271" y="4224528"/>
            <a:ext cx="310896" cy="329184"/>
          </a:xfrm>
          <a:prstGeom prst="rightArrow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38744" y="265176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2697480"/>
            <a:ext cx="3520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Абстракттуу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310896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6B7280"/>
                </a:solidFill>
                <a:latin typeface="PT Sans"/>
              </a:rPr>
              <a:t>сан менен жазабыз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3794760"/>
            <a:ext cx="502920" cy="50292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3564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35608" y="3794760"/>
            <a:ext cx="502920" cy="50292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86484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38528" y="3794760"/>
            <a:ext cx="502920" cy="50292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89404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41448" y="3794760"/>
            <a:ext cx="502920" cy="50292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92324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44368" y="3794760"/>
            <a:ext cx="502920" cy="50292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95244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448056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капкак же таш</a:t>
            </a:r>
          </a:p>
        </p:txBody>
      </p:sp>
      <p:sp>
        <p:nvSpPr>
          <p:cNvPr id="36" name="Oval 35"/>
          <p:cNvSpPr/>
          <p:nvPr/>
        </p:nvSpPr>
        <p:spPr>
          <a:xfrm>
            <a:off x="1024128" y="50983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54851" y="50292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99616" y="50983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530339" y="50292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975104" y="50983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005827" y="50292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24328" y="50983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655051" y="50292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9816" y="50983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130539" y="50292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548640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жаңгактар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3611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13248" y="3611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70448" y="3611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27648" y="3611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84848" y="3611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560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132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704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276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7848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020056" y="36758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477256" y="36758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934456" y="36758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91656" y="3675888"/>
            <a:ext cx="329184" cy="32918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48856" y="3675888"/>
            <a:ext cx="329184" cy="32918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956048" y="5029200"/>
            <a:ext cx="457200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13248" y="5029200"/>
            <a:ext cx="457200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70448" y="5029200"/>
            <a:ext cx="457200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27648" y="5029200"/>
            <a:ext cx="457200" cy="41148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784848" y="5029200"/>
            <a:ext cx="457200" cy="41148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956048" y="5477256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327648" y="5477256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56048" y="5586984"/>
            <a:ext cx="1371600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727448" y="5605272"/>
            <a:ext cx="1828800" cy="2844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327648" y="5477256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242048" y="5477256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327648" y="5586984"/>
            <a:ext cx="91440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70448" y="5605272"/>
            <a:ext cx="1828800" cy="2844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4956048" y="4882896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42048" y="4882896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956048" y="4882896"/>
            <a:ext cx="228600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84648" y="4544568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38744" y="3749039"/>
            <a:ext cx="35204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/>
            </a:r>
            <a:r>
              <a:rPr sz="5400" b="1">
                <a:solidFill>
                  <a:srgbClr val="007A5A"/>
                </a:solidFill>
                <a:latin typeface="PT Sans"/>
              </a:rPr>
              <a:t>3</a:t>
            </a:r>
            <a:r>
              <a:rPr sz="5400" b="1">
                <a:solidFill>
                  <a:srgbClr val="1F2430"/>
                </a:solidFill>
                <a:latin typeface="PT Sans"/>
              </a:rPr>
              <a:t> + </a:t>
            </a:r>
            <a:r>
              <a:rPr sz="5400" b="1">
                <a:solidFill>
                  <a:srgbClr val="A84400"/>
                </a:solidFill>
                <a:latin typeface="PT Sans"/>
              </a:rPr>
              <a:t>2</a:t>
            </a:r>
            <a:r>
              <a:rPr sz="5400" b="1">
                <a:solidFill>
                  <a:srgbClr val="1F2430"/>
                </a:solidFill>
                <a:latin typeface="PT Sans"/>
              </a:rPr>
              <a:t> = </a:t>
            </a:r>
            <a:r>
              <a:rPr sz="54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38744" y="4846320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«Үч кошуу эки барабар беш»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5 жаңгакты эки уяга бөл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Изилдөө · Буюм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611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Изилдөө · 3C: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73736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Мисал: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737360"/>
            <a:ext cx="986637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жупка: 5 таш, бурчак, жаңгак же капкак жана 2 кагаз уя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" y="2286000"/>
            <a:ext cx="36576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" y="228600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1-уя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298734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0236" y="288036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09928" y="298734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57476" y="288036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87168" y="298734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34716" y="288036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64408" y="298734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11956" y="288036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36008" y="2286000"/>
            <a:ext cx="36576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228600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2-уя</a:t>
            </a:r>
          </a:p>
        </p:txBody>
      </p:sp>
      <p:sp>
        <p:nvSpPr>
          <p:cNvPr id="26" name="Oval 25"/>
          <p:cNvSpPr/>
          <p:nvPr/>
        </p:nvSpPr>
        <p:spPr>
          <a:xfrm>
            <a:off x="4956048" y="298734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03596" y="288036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286000"/>
            <a:ext cx="3200400" cy="1600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24418C"/>
                </a:solidFill>
                <a:latin typeface="PT Sans"/>
              </a:rPr>
              <a:t>4 жана 1</a:t>
            </a:r>
          </a:p>
          <a:p>
            <a:pPr algn="ctr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1148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Эми силер! Дагы кандай жол бар?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8" y="4754880"/>
            <a:ext cx="24688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  жана  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4754880"/>
            <a:ext cx="24688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  жана 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368" y="4754880"/>
            <a:ext cx="24688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  жана  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62287" y="4754880"/>
            <a:ext cx="24688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  жана  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5779008"/>
            <a:ext cx="2011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Жуп эрежеси: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5779008"/>
            <a:ext cx="2011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Кезек менен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5779008"/>
            <a:ext cx="2011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Угабыз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5779008"/>
            <a:ext cx="2011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Бөлүшөбүз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6ны эки түскө бөл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Изилдөө · Он-кадр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611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Изилдөө · 3C: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2051" y="1188720"/>
            <a:ext cx="1705356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8216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62072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288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8216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95144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2072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29000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40657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07585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74513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41441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08369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40657" y="279513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205740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33087" y="2880360"/>
            <a:ext cx="17373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+ 1 = 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45936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0296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07223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1080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08008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0296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07223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74152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41080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08008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19665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86593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53521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20449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87377" y="2228209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019665" y="279513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03536" y="205740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12096" y="2880360"/>
            <a:ext cx="17373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+ 2 =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66928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1288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28216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95144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62072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29000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61288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728216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95144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62072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29000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40657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807585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74513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941441" y="4468489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508369" y="4468489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240657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24528" y="4297679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33087" y="5120640"/>
            <a:ext cx="17373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+ 3 = 6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08776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45936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0296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07223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74152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41080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08008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40296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07223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74152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41080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08008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019665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586593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153521" y="4468489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720449" y="4468489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87377" y="4468489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019665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03536" y="4297679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12096" y="5120640"/>
            <a:ext cx="17373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+ 4 =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2" grpId="0" animBg="1"/>
      <p:bldP spid="72" grpId="0" animBg="1"/>
      <p:bldP spid="9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Тартуу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2-бөлүк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10/48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1600200"/>
            <a:ext cx="777240" cy="777240"/>
          </a:xfrm>
          <a:prstGeom prst="ellipse">
            <a:avLst/>
          </a:prstGeom>
          <a:noFill/>
          <a:ln w="254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4A5A70"/>
                </a:solidFill>
                <a:latin typeface="PT Sans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103120" y="1600200"/>
            <a:ext cx="777240" cy="777240"/>
          </a:xfrm>
          <a:prstGeom prst="ellipse">
            <a:avLst/>
          </a:prstGeom>
          <a:solidFill>
            <a:srgbClr val="A84400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PT Sans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0" y="1600200"/>
            <a:ext cx="777240" cy="777240"/>
          </a:xfrm>
          <a:prstGeom prst="ellipse">
            <a:avLst/>
          </a:prstGeom>
          <a:noFill/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4A5A70"/>
                </a:solidFill>
                <a:latin typeface="PT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 i="0">
                <a:solidFill>
                  <a:srgbClr val="A84400"/>
                </a:solidFill>
                <a:latin typeface="PT Sans"/>
              </a:rPr>
              <a:t>Тартуу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033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1">
                <a:solidFill>
                  <a:srgbClr val="6B7280"/>
                </a:solidFill>
                <a:latin typeface="PT Sans"/>
              </a:rPr>
              <a:t>Адегенде сүрөт, анан сан. Тилке моделин кадам-кадам үйрөнөбүз.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A84400"/>
                </a:solidFill>
                <a:latin typeface="PT Sans"/>
              </a:rPr>
              <a:t>Сүрөттү айт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A84400"/>
                </a:solidFill>
                <a:latin typeface="PT Sans"/>
              </a:rPr>
              <a:t>Тилке модели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A84400"/>
                </a:solidFill>
                <a:latin typeface="PT Sans"/>
              </a:rPr>
              <a:t>Чогуу чыгарабыз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Сүрөттү айтып бер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Тартуу · Сүрөт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927348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Тартуу · Адегенде сүрөт, анан сан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2051" y="1188720"/>
            <a:ext cx="1705356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67665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oud 13"/>
          <p:cNvSpPr/>
          <p:nvPr/>
        </p:nvSpPr>
        <p:spPr>
          <a:xfrm>
            <a:off x="1737360" y="2560320"/>
            <a:ext cx="914400" cy="1600200"/>
          </a:xfrm>
          <a:prstGeom prst="cloud">
            <a:avLst/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11680" y="2834640"/>
            <a:ext cx="4114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1124712" y="2258568"/>
            <a:ext cx="0" cy="210312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33271" y="2148840"/>
            <a:ext cx="201168" cy="201168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746504" y="2258568"/>
            <a:ext cx="0" cy="210312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655064" y="2148840"/>
            <a:ext cx="201168" cy="201168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4160520"/>
            <a:ext cx="292608" cy="201168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4160520"/>
            <a:ext cx="292608" cy="201168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2423160"/>
            <a:ext cx="1234440" cy="1828800"/>
          </a:xfrm>
          <a:prstGeom prst="roundRect">
            <a:avLst>
              <a:gd name="adj" fmla="val 48000"/>
            </a:avLst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3520440"/>
            <a:ext cx="594360" cy="5943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9848" y="27157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3233" y="2818180"/>
            <a:ext cx="182880" cy="182880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10665" y="2836468"/>
            <a:ext cx="58521" cy="58521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27048" y="27157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40433" y="2818180"/>
            <a:ext cx="182880" cy="182880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67865" y="2836468"/>
            <a:ext cx="58521" cy="58521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ord 29"/>
          <p:cNvSpPr/>
          <p:nvPr/>
        </p:nvSpPr>
        <p:spPr>
          <a:xfrm>
            <a:off x="1289304" y="3026664"/>
            <a:ext cx="384048" cy="292608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43484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Тыйын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023360"/>
            <a:ext cx="2011680" cy="100584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6080" y="432108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56803" y="425196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83280" y="432108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4003" y="425196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40480" y="432108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71203" y="425196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297680" y="432108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28403" y="425196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5461711" y="2258568"/>
            <a:ext cx="186537" cy="4663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352897" y="2134209"/>
            <a:ext cx="217627" cy="217627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6005779" y="2258568"/>
            <a:ext cx="186537" cy="4663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083503" y="2134209"/>
            <a:ext cx="217627" cy="217627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554980" y="3890772"/>
            <a:ext cx="233172" cy="170992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04738" y="3890772"/>
            <a:ext cx="233172" cy="170992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282946" y="2647187"/>
            <a:ext cx="1126998" cy="1360170"/>
          </a:xfrm>
          <a:prstGeom prst="ellipse">
            <a:avLst/>
          </a:prstGeom>
          <a:solidFill>
            <a:srgbClr val="DDE8F7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438394" y="3618737"/>
            <a:ext cx="101041" cy="101041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137910" y="3541013"/>
            <a:ext cx="101041" cy="101041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27014" y="3774185"/>
            <a:ext cx="101041" cy="101041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16118" y="2958084"/>
            <a:ext cx="295351" cy="2953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572234" y="3040782"/>
            <a:ext cx="147675" cy="147675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594386" y="3055549"/>
            <a:ext cx="47256" cy="4725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889193" y="2958084"/>
            <a:ext cx="295351" cy="2953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945309" y="3040782"/>
            <a:ext cx="147675" cy="147675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967461" y="3055549"/>
            <a:ext cx="47256" cy="4725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ord 56"/>
          <p:cNvSpPr/>
          <p:nvPr/>
        </p:nvSpPr>
        <p:spPr>
          <a:xfrm>
            <a:off x="5694883" y="3245662"/>
            <a:ext cx="310896" cy="23317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44084" y="4085081"/>
            <a:ext cx="11658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Помпон</a:t>
            </a:r>
          </a:p>
        </p:txBody>
      </p:sp>
      <p:sp>
        <p:nvSpPr>
          <p:cNvPr id="59" name="Oval 58"/>
          <p:cNvSpPr/>
          <p:nvPr/>
        </p:nvSpPr>
        <p:spPr>
          <a:xfrm>
            <a:off x="5394960" y="413820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425683" y="406908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870448" y="413820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01171" y="406908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H="1">
            <a:off x="4800600" y="4297680"/>
            <a:ext cx="320040" cy="13716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7452360" y="1837943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01000" y="1783080"/>
            <a:ext cx="3749039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Эмнени көрүп турасың?</a:t>
            </a:r>
          </a:p>
        </p:txBody>
      </p:sp>
      <p:sp>
        <p:nvSpPr>
          <p:cNvPr id="66" name="Oval 65"/>
          <p:cNvSpPr/>
          <p:nvPr/>
        </p:nvSpPr>
        <p:spPr>
          <a:xfrm>
            <a:off x="7452360" y="2523744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01000" y="2468880"/>
            <a:ext cx="3749039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Эмне болуп жатат?</a:t>
            </a:r>
          </a:p>
        </p:txBody>
      </p:sp>
      <p:sp>
        <p:nvSpPr>
          <p:cNvPr id="68" name="Oval 67"/>
          <p:cNvSpPr/>
          <p:nvPr/>
        </p:nvSpPr>
        <p:spPr>
          <a:xfrm>
            <a:off x="7452360" y="3209544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1000" y="3154680"/>
            <a:ext cx="3749039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Кандай суроо берсе болот?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7424927" y="3931920"/>
            <a:ext cx="2249424" cy="1563624"/>
            <a:chOff x="7424927" y="3931920"/>
            <a:chExt cx="2249424" cy="1563624"/>
          </a:xfrm>
        </p:grpSpPr>
        <p:cxnSp>
          <p:nvCxnSpPr>
            <p:cNvPr id="70" name="Connector 69"/>
            <p:cNvCxnSpPr/>
            <p:nvPr/>
          </p:nvCxnSpPr>
          <p:spPr>
            <a:xfrm flipH="1">
              <a:off x="7772400" y="4279392"/>
              <a:ext cx="777240" cy="868680"/>
            </a:xfrm>
            <a:prstGeom prst="line">
              <a:avLst/>
            </a:prstGeom>
            <a:ln w="20002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8549640" y="4279392"/>
              <a:ext cx="777240" cy="868680"/>
            </a:xfrm>
            <a:prstGeom prst="line">
              <a:avLst/>
            </a:prstGeom>
            <a:ln w="20002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>
            <a:xfrm>
              <a:off x="8202167" y="3931920"/>
              <a:ext cx="694944" cy="694944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A5A7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wrap="square" tIns="0" bIns="0"/>
            <a:lstStyle/>
            <a:p>
              <a:pPr algn="ctr"/>
              <a:r>
                <a:rPr sz="2000" b="1">
                  <a:solidFill>
                    <a:srgbClr val="A84400"/>
                  </a:solidFill>
                  <a:latin typeface="PT Sans"/>
                </a:rPr>
                <a:t>?</a:t>
              </a:r>
            </a:p>
          </p:txBody>
        </p:sp>
        <p:sp>
          <p:nvSpPr>
            <p:cNvPr id="73" name="Oval 72"/>
            <p:cNvSpPr/>
            <p:nvPr/>
          </p:nvSpPr>
          <p:spPr>
            <a:xfrm>
              <a:off x="7424927" y="4800600"/>
              <a:ext cx="694944" cy="694944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wrap="square" tIns="0" bIns="0"/>
            <a:lstStyle/>
            <a:p>
              <a:pPr algn="ctr"/>
              <a:r>
                <a:rPr sz="2000" b="1">
                  <a:solidFill>
                    <a:srgbClr val="1F2430"/>
                  </a:solidFill>
                  <a:latin typeface="PT Sans"/>
                </a:rPr>
                <a:t>4</a:t>
              </a:r>
            </a:p>
          </p:txBody>
        </p:sp>
        <p:sp>
          <p:nvSpPr>
            <p:cNvPr id="74" name="Oval 73"/>
            <p:cNvSpPr/>
            <p:nvPr/>
          </p:nvSpPr>
          <p:spPr>
            <a:xfrm>
              <a:off x="8979407" y="4800600"/>
              <a:ext cx="694944" cy="694944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wrap="square" tIns="0" bIns="0"/>
            <a:lstStyle/>
            <a:p>
              <a:pPr algn="ctr"/>
              <a:r>
                <a:rPr sz="2000" b="1">
                  <a:solidFill>
                    <a:srgbClr val="1F2430"/>
                  </a:solidFill>
                  <a:latin typeface="PT Sans"/>
                </a:rPr>
                <a:t>2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555480" y="3894328"/>
            <a:ext cx="2651759" cy="1246631"/>
            <a:chOff x="9555480" y="3894328"/>
            <a:chExt cx="2651759" cy="1246631"/>
          </a:xfrm>
        </p:grpSpPr>
        <p:sp>
          <p:nvSpPr>
            <p:cNvPr id="76" name="Rectangle 75"/>
            <p:cNvSpPr/>
            <p:nvPr/>
          </p:nvSpPr>
          <p:spPr>
            <a:xfrm>
              <a:off x="9921240" y="4343400"/>
              <a:ext cx="274320" cy="384048"/>
            </a:xfrm>
            <a:prstGeom prst="rect">
              <a:avLst/>
            </a:prstGeom>
            <a:solidFill>
              <a:srgbClr val="B5E2D3"/>
            </a:solidFill>
            <a:ln w="158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0195560" y="4343400"/>
              <a:ext cx="274320" cy="384048"/>
            </a:xfrm>
            <a:prstGeom prst="rect">
              <a:avLst/>
            </a:prstGeom>
            <a:solidFill>
              <a:srgbClr val="B5E2D3"/>
            </a:solidFill>
            <a:ln w="158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0469880" y="4343400"/>
              <a:ext cx="274320" cy="384048"/>
            </a:xfrm>
            <a:prstGeom prst="rect">
              <a:avLst/>
            </a:prstGeom>
            <a:solidFill>
              <a:srgbClr val="B5E2D3"/>
            </a:solidFill>
            <a:ln w="158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0744200" y="4343400"/>
              <a:ext cx="274320" cy="384048"/>
            </a:xfrm>
            <a:prstGeom prst="rect">
              <a:avLst/>
            </a:prstGeom>
            <a:solidFill>
              <a:srgbClr val="B5E2D3"/>
            </a:solidFill>
            <a:ln w="158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1018519" y="4343400"/>
              <a:ext cx="274320" cy="384048"/>
            </a:xfrm>
            <a:prstGeom prst="rect">
              <a:avLst/>
            </a:prstGeom>
            <a:solidFill>
              <a:srgbClr val="F5E9E0"/>
            </a:solidFill>
            <a:ln w="1587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1292840" y="4343400"/>
              <a:ext cx="274320" cy="384048"/>
            </a:xfrm>
            <a:prstGeom prst="rect">
              <a:avLst/>
            </a:prstGeom>
            <a:solidFill>
              <a:srgbClr val="F5E9E0"/>
            </a:solidFill>
            <a:ln w="1587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2" name="Connector 81"/>
            <p:cNvCxnSpPr/>
            <p:nvPr/>
          </p:nvCxnSpPr>
          <p:spPr>
            <a:xfrm>
              <a:off x="9921240" y="4764024"/>
              <a:ext cx="0" cy="109728"/>
            </a:xfrm>
            <a:prstGeom prst="line">
              <a:avLst/>
            </a:prstGeom>
            <a:ln w="1587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11018519" y="4764024"/>
              <a:ext cx="0" cy="109728"/>
            </a:xfrm>
            <a:prstGeom prst="line">
              <a:avLst/>
            </a:prstGeom>
            <a:ln w="1587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9921240" y="4873752"/>
              <a:ext cx="1097279" cy="0"/>
            </a:xfrm>
            <a:prstGeom prst="line">
              <a:avLst/>
            </a:prstGeom>
            <a:ln w="1587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9555480" y="4892040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007A5A"/>
                  </a:solidFill>
                  <a:latin typeface="PT Sans"/>
                </a:rPr>
                <a:t>4</a:t>
              </a:r>
            </a:p>
          </p:txBody>
        </p:sp>
        <p:cxnSp>
          <p:nvCxnSpPr>
            <p:cNvPr id="86" name="Connector 85"/>
            <p:cNvCxnSpPr/>
            <p:nvPr/>
          </p:nvCxnSpPr>
          <p:spPr>
            <a:xfrm>
              <a:off x="11018519" y="4764024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>
              <a:off x="11567159" y="4764024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11018519" y="4873752"/>
              <a:ext cx="548640" cy="0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10378439" y="4892040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A84400"/>
                  </a:solidFill>
                  <a:latin typeface="PT Sans"/>
                </a:rPr>
                <a:t>2</a:t>
              </a:r>
            </a:p>
          </p:txBody>
        </p:sp>
        <p:cxnSp>
          <p:nvCxnSpPr>
            <p:cNvPr id="90" name="Connector 89"/>
            <p:cNvCxnSpPr/>
            <p:nvPr/>
          </p:nvCxnSpPr>
          <p:spPr>
            <a:xfrm flipV="1">
              <a:off x="9921240" y="4197096"/>
              <a:ext cx="0" cy="109728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 flipV="1">
              <a:off x="11567159" y="4197096"/>
              <a:ext cx="0" cy="109728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9921240" y="4197096"/>
              <a:ext cx="1645919" cy="0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9829800" y="3894328"/>
              <a:ext cx="1828800" cy="28447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600" b="1" i="0">
                  <a:solidFill>
                    <a:srgbClr val="1D3557"/>
                  </a:solidFill>
                  <a:latin typeface="PT Sans"/>
                </a:rPr>
                <a:t>6</a:t>
              </a:r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7406640" y="5669280"/>
            <a:ext cx="4343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4 + 2 =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Бөлүк, бөлүк – бүтүн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Түшүндүрүү · Сүрөт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Түшүндүрүү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828800" y="2487168"/>
            <a:ext cx="1463040" cy="182880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91840" y="2487168"/>
            <a:ext cx="1463040" cy="182880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33472" y="1828800"/>
            <a:ext cx="1316736" cy="131673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170432" y="3657600"/>
            <a:ext cx="1316736" cy="131673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4096512" y="3657600"/>
            <a:ext cx="1316736" cy="131673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96596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бүтүн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бөлүк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0749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бөлүк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828800"/>
            <a:ext cx="507492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965960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Тыйындын жаңгактары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0" y="27962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0491" y="26974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99831" y="27962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43723" y="26974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13064" y="279623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56955" y="269748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69748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3 – бөлүк</a:t>
            </a:r>
          </a:p>
        </p:txBody>
      </p:sp>
      <p:sp>
        <p:nvSpPr>
          <p:cNvPr id="29" name="Oval 28"/>
          <p:cNvSpPr/>
          <p:nvPr/>
        </p:nvSpPr>
        <p:spPr>
          <a:xfrm>
            <a:off x="7086600" y="361919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0491" y="352044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9831" y="3619195"/>
            <a:ext cx="548640" cy="44988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43723" y="3520440"/>
            <a:ext cx="460857" cy="18653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52044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2 – бөлүк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0" y="4343400"/>
            <a:ext cx="4526280" cy="0"/>
          </a:xfrm>
          <a:prstGeom prst="line">
            <a:avLst/>
          </a:prstGeom>
          <a:ln w="15875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086600" y="46411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17323" y="45720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80375" y="46411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11099" y="45720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74152" y="46411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4875" y="45720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67928" y="46411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98651" y="45720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61704" y="4641128"/>
            <a:ext cx="384048" cy="314919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92427" y="4572000"/>
            <a:ext cx="322600" cy="130576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4498848"/>
            <a:ext cx="1920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5 – бүтүн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Сан курамын толтур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Түшүндүрүү · Сан курамы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30/48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Түшүндүрүү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7883" y="1188720"/>
            <a:ext cx="30495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 → Абстракттуу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362407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556004" y="2286000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24684" y="2286000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040636" y="190195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1171956" y="2926080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909316" y="2926080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0" name="Oval 19"/>
          <p:cNvSpPr/>
          <p:nvPr/>
        </p:nvSpPr>
        <p:spPr>
          <a:xfrm>
            <a:off x="2909316" y="2926080"/>
            <a:ext cx="768096" cy="7680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737360"/>
            <a:ext cx="362407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408675" y="2286000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77355" y="2286000"/>
            <a:ext cx="868681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893307" y="190195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6" name="Oval 25"/>
          <p:cNvSpPr/>
          <p:nvPr/>
        </p:nvSpPr>
        <p:spPr>
          <a:xfrm>
            <a:off x="5024627" y="2926080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6761988" y="2926080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5893307" y="1901952"/>
            <a:ext cx="768096" cy="7680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5112" y="1737360"/>
            <a:ext cx="362407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2272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9261348" y="2286000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30028" y="2286000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45980" y="190195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34" name="Oval 33"/>
          <p:cNvSpPr/>
          <p:nvPr/>
        </p:nvSpPr>
        <p:spPr>
          <a:xfrm>
            <a:off x="8877300" y="2926080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5" name="Oval 34"/>
          <p:cNvSpPr/>
          <p:nvPr/>
        </p:nvSpPr>
        <p:spPr>
          <a:xfrm>
            <a:off x="10614660" y="2926080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8877300" y="2926080"/>
            <a:ext cx="768096" cy="7680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005072"/>
            <a:ext cx="362407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6928" y="4142232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56004" y="4553712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424684" y="4553712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040636" y="4169663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42" name="Oval 41"/>
          <p:cNvSpPr/>
          <p:nvPr/>
        </p:nvSpPr>
        <p:spPr>
          <a:xfrm>
            <a:off x="1171956" y="51937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2909316" y="51937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4" name="Oval 43"/>
          <p:cNvSpPr/>
          <p:nvPr/>
        </p:nvSpPr>
        <p:spPr>
          <a:xfrm>
            <a:off x="2909316" y="5193792"/>
            <a:ext cx="768096" cy="7680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82439" y="4005072"/>
            <a:ext cx="362407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19600" y="4142232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5408675" y="4553712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277355" y="4553712"/>
            <a:ext cx="868681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893307" y="4169663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50" name="Oval 49"/>
          <p:cNvSpPr/>
          <p:nvPr/>
        </p:nvSpPr>
        <p:spPr>
          <a:xfrm>
            <a:off x="5024627" y="51937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1" name="Oval 50"/>
          <p:cNvSpPr/>
          <p:nvPr/>
        </p:nvSpPr>
        <p:spPr>
          <a:xfrm>
            <a:off x="6761988" y="51937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5893307" y="4169663"/>
            <a:ext cx="768096" cy="7680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5112" y="4005072"/>
            <a:ext cx="362407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72272" y="4142232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9261348" y="4553712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130028" y="4553712"/>
            <a:ext cx="868680" cy="1024128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745980" y="4169663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58" name="Oval 57"/>
          <p:cNvSpPr/>
          <p:nvPr/>
        </p:nvSpPr>
        <p:spPr>
          <a:xfrm>
            <a:off x="8877300" y="51937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59" name="Oval 58"/>
          <p:cNvSpPr/>
          <p:nvPr/>
        </p:nvSpPr>
        <p:spPr>
          <a:xfrm>
            <a:off x="10614660" y="51937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8877300" y="5193792"/>
            <a:ext cx="768096" cy="7680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8" grpId="0" animBg="1"/>
      <p:bldP spid="36" grpId="0" animBg="1"/>
      <p:bldP spid="44" grpId="0" animBg="1"/>
      <p:bldP spid="52" grpId="0" animBg="1"/>
      <p:bldP spid="6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Кошууну жазабыз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Түшүндүрүү · Сан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Түшүндүрүү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828800"/>
            <a:ext cx="11329416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0" b="1" i="0">
                <a:solidFill>
                  <a:srgbClr val="1F2430"/>
                </a:solidFill>
                <a:latin typeface="PT Sans"/>
              </a:rPr>
              <a:t/>
            </a:r>
            <a:r>
              <a:rPr sz="11000" b="1">
                <a:solidFill>
                  <a:srgbClr val="007A5A"/>
                </a:solidFill>
                <a:latin typeface="PT Sans"/>
              </a:rPr>
              <a:t>3</a:t>
            </a:r>
            <a:r>
              <a:rPr sz="11000" b="1">
                <a:solidFill>
                  <a:srgbClr val="1D3557"/>
                </a:solidFill>
                <a:latin typeface="PT Sans"/>
              </a:rPr>
              <a:t> + </a:t>
            </a:r>
            <a:r>
              <a:rPr sz="11000" b="1">
                <a:solidFill>
                  <a:srgbClr val="A84400"/>
                </a:solidFill>
                <a:latin typeface="PT Sans"/>
              </a:rPr>
              <a:t>2</a:t>
            </a:r>
            <a:r>
              <a:rPr sz="11000" b="1">
                <a:solidFill>
                  <a:srgbClr val="1D3557"/>
                </a:solidFill>
                <a:latin typeface="PT Sans"/>
              </a:rPr>
              <a:t> = </a:t>
            </a:r>
            <a:r>
              <a:rPr sz="110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52044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бөлүк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52044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кошуу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2044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бөлүк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2044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барабар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52044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бүтүн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4572000"/>
            <a:ext cx="8449056" cy="8686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A84400"/>
                </a:solidFill>
                <a:latin typeface="PT Sans"/>
              </a:rPr>
              <a:t>«Үч кошуу эки барабар беш»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менен көрөбүз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Түшүндүрүү · Тилке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Түшүндүрүү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743200"/>
            <a:ext cx="914400" cy="7772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743200"/>
            <a:ext cx="914400" cy="7772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2743200"/>
            <a:ext cx="914400" cy="7772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743200"/>
            <a:ext cx="914400" cy="7772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743200"/>
            <a:ext cx="914400" cy="7772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840480" y="3566160"/>
            <a:ext cx="0" cy="13716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3566160"/>
            <a:ext cx="0" cy="13716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40480" y="3703320"/>
            <a:ext cx="2743200" cy="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40480" y="374903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0" y="35661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2480" y="35661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0" y="3703320"/>
            <a:ext cx="18288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79" y="374903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840480" y="25603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412480" y="25603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40480" y="2560320"/>
            <a:ext cx="457200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54879" y="21488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343400"/>
            <a:ext cx="11329416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/>
            </a:r>
            <a:r>
              <a:rPr sz="5400" b="1">
                <a:solidFill>
                  <a:srgbClr val="007A5A"/>
                </a:solidFill>
                <a:latin typeface="PT Sans"/>
              </a:rPr>
              <a:t>3</a:t>
            </a:r>
            <a:r>
              <a:rPr sz="5400" b="1">
                <a:solidFill>
                  <a:srgbClr val="1F2430"/>
                </a:solidFill>
                <a:latin typeface="PT Sans"/>
              </a:rPr>
              <a:t> + </a:t>
            </a:r>
            <a:r>
              <a:rPr sz="5400" b="1">
                <a:solidFill>
                  <a:srgbClr val="A84400"/>
                </a:solidFill>
                <a:latin typeface="PT Sans"/>
              </a:rPr>
              <a:t>2</a:t>
            </a:r>
            <a:r>
              <a:rPr sz="5400" b="1">
                <a:solidFill>
                  <a:srgbClr val="1F2430"/>
                </a:solidFill>
                <a:latin typeface="PT Sans"/>
              </a:rPr>
              <a:t> = </a:t>
            </a:r>
            <a:r>
              <a:rPr sz="54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54864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Бир кутуча = бир жаңгак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Тилкени кадам-кадам чийебиз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модели · Көндүм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Тартуу · Тилке модели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2051" y="1188720"/>
            <a:ext cx="1705356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37360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Тыйында 4 жаңгак бар. Помпон ага дагы 3 жаңгак берди. Баары канча?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75488" y="2697480"/>
            <a:ext cx="5257799" cy="475488"/>
            <a:chOff x="475488" y="2697480"/>
            <a:chExt cx="5257799" cy="475488"/>
          </a:xfrm>
        </p:grpSpPr>
        <p:sp>
          <p:nvSpPr>
            <p:cNvPr id="15" name="Oval 14"/>
            <p:cNvSpPr/>
            <p:nvPr/>
          </p:nvSpPr>
          <p:spPr>
            <a:xfrm>
              <a:off x="475488" y="2743200"/>
              <a:ext cx="384048" cy="384048"/>
            </a:xfrm>
            <a:prstGeom prst="ellipse">
              <a:avLst/>
            </a:prstGeom>
            <a:noFill/>
            <a:ln w="1905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 tIns="0" bIns="0"/>
            <a:lstStyle/>
            <a:p>
              <a:pPr algn="ctr"/>
              <a:r>
                <a:rPr sz="1500" b="1">
                  <a:solidFill>
                    <a:srgbClr val="1D3557"/>
                  </a:solidFill>
                  <a:latin typeface="PT Sans"/>
                </a:rPr>
                <a:t>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8407" y="2697480"/>
              <a:ext cx="4754880" cy="475488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2000" b="0" i="0">
                  <a:solidFill>
                    <a:srgbClr val="1F2430"/>
                  </a:solidFill>
                  <a:latin typeface="PT Sans"/>
                </a:rPr>
                <a:t>Окуйбуз: ким? эмне?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75488" y="3264408"/>
            <a:ext cx="5257799" cy="475488"/>
            <a:chOff x="475488" y="3264408"/>
            <a:chExt cx="5257799" cy="475488"/>
          </a:xfrm>
        </p:grpSpPr>
        <p:sp>
          <p:nvSpPr>
            <p:cNvPr id="18" name="Oval 17"/>
            <p:cNvSpPr/>
            <p:nvPr/>
          </p:nvSpPr>
          <p:spPr>
            <a:xfrm>
              <a:off x="475488" y="3310128"/>
              <a:ext cx="384048" cy="384048"/>
            </a:xfrm>
            <a:prstGeom prst="ellipse">
              <a:avLst/>
            </a:prstGeom>
            <a:noFill/>
            <a:ln w="1905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 tIns="0" bIns="0"/>
            <a:lstStyle/>
            <a:p>
              <a:pPr algn="ctr"/>
              <a:r>
                <a:rPr sz="1500" b="1">
                  <a:solidFill>
                    <a:srgbClr val="1D3557"/>
                  </a:solidFill>
                  <a:latin typeface="PT Sans"/>
                </a:rPr>
                <a:t>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8407" y="3264408"/>
              <a:ext cx="4754880" cy="475488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2000" b="0" i="0">
                  <a:solidFill>
                    <a:srgbClr val="1F2430"/>
                  </a:solidFill>
                  <a:latin typeface="PT Sans"/>
                </a:rPr>
                <a:t>Биринчи бөлүк: 4 кутуча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75488" y="3831336"/>
            <a:ext cx="5257799" cy="475488"/>
            <a:chOff x="475488" y="3831336"/>
            <a:chExt cx="5257799" cy="475488"/>
          </a:xfrm>
        </p:grpSpPr>
        <p:sp>
          <p:nvSpPr>
            <p:cNvPr id="21" name="Oval 20"/>
            <p:cNvSpPr/>
            <p:nvPr/>
          </p:nvSpPr>
          <p:spPr>
            <a:xfrm>
              <a:off x="475488" y="3877056"/>
              <a:ext cx="384048" cy="384048"/>
            </a:xfrm>
            <a:prstGeom prst="ellipse">
              <a:avLst/>
            </a:prstGeom>
            <a:noFill/>
            <a:ln w="1905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 tIns="0" bIns="0"/>
            <a:lstStyle/>
            <a:p>
              <a:pPr algn="ctr"/>
              <a:r>
                <a:rPr sz="1500" b="1">
                  <a:solidFill>
                    <a:srgbClr val="1D3557"/>
                  </a:solidFill>
                  <a:latin typeface="PT Sans"/>
                </a:rPr>
                <a:t>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78407" y="3831336"/>
              <a:ext cx="4754880" cy="475488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2000" b="0" i="0">
                  <a:solidFill>
                    <a:srgbClr val="1F2430"/>
                  </a:solidFill>
                  <a:latin typeface="PT Sans"/>
                </a:rPr>
                <a:t>Экинчи бөлүк: 3 кутуча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5488" y="4398264"/>
            <a:ext cx="5257799" cy="475488"/>
            <a:chOff x="475488" y="4398264"/>
            <a:chExt cx="5257799" cy="475488"/>
          </a:xfrm>
        </p:grpSpPr>
        <p:sp>
          <p:nvSpPr>
            <p:cNvPr id="24" name="Oval 23"/>
            <p:cNvSpPr/>
            <p:nvPr/>
          </p:nvSpPr>
          <p:spPr>
            <a:xfrm>
              <a:off x="475488" y="4443984"/>
              <a:ext cx="384048" cy="384048"/>
            </a:xfrm>
            <a:prstGeom prst="ellipse">
              <a:avLst/>
            </a:prstGeom>
            <a:noFill/>
            <a:ln w="1905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 tIns="0" bIns="0"/>
            <a:lstStyle/>
            <a:p>
              <a:pPr algn="ctr"/>
              <a:r>
                <a:rPr sz="1500" b="1">
                  <a:solidFill>
                    <a:srgbClr val="1D3557"/>
                  </a:solidFill>
                  <a:latin typeface="PT Sans"/>
                </a:rPr>
                <a:t>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78407" y="4398264"/>
              <a:ext cx="4754880" cy="475488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2000" b="0" i="0">
                  <a:solidFill>
                    <a:srgbClr val="1F2430"/>
                  </a:solidFill>
                  <a:latin typeface="PT Sans"/>
                </a:rPr>
                <a:t>Бүтүн белгисиз: «?»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75488" y="4965192"/>
            <a:ext cx="5257799" cy="475488"/>
            <a:chOff x="475488" y="4965192"/>
            <a:chExt cx="5257799" cy="475488"/>
          </a:xfrm>
        </p:grpSpPr>
        <p:sp>
          <p:nvSpPr>
            <p:cNvPr id="27" name="Oval 26"/>
            <p:cNvSpPr/>
            <p:nvPr/>
          </p:nvSpPr>
          <p:spPr>
            <a:xfrm>
              <a:off x="475488" y="5010912"/>
              <a:ext cx="384048" cy="384048"/>
            </a:xfrm>
            <a:prstGeom prst="ellipse">
              <a:avLst/>
            </a:prstGeom>
            <a:noFill/>
            <a:ln w="1905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 tIns="0" bIns="0"/>
            <a:lstStyle/>
            <a:p>
              <a:pPr algn="ctr"/>
              <a:r>
                <a:rPr sz="1500" b="1">
                  <a:solidFill>
                    <a:srgbClr val="1D3557"/>
                  </a:solidFill>
                  <a:latin typeface="PT Sans"/>
                </a:rPr>
                <a:t>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8407" y="4965192"/>
              <a:ext cx="4754880" cy="475488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2000" b="0" i="0">
                  <a:solidFill>
                    <a:srgbClr val="1F2430"/>
                  </a:solidFill>
                  <a:latin typeface="PT Sans"/>
                </a:rPr>
                <a:t>Эсептейбиз: 4 + 3 = 7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5488" y="5532120"/>
            <a:ext cx="5257799" cy="475488"/>
            <a:chOff x="475488" y="5532120"/>
            <a:chExt cx="5257799" cy="475488"/>
          </a:xfrm>
        </p:grpSpPr>
        <p:sp>
          <p:nvSpPr>
            <p:cNvPr id="30" name="Oval 29"/>
            <p:cNvSpPr/>
            <p:nvPr/>
          </p:nvSpPr>
          <p:spPr>
            <a:xfrm>
              <a:off x="475488" y="5577840"/>
              <a:ext cx="384048" cy="384048"/>
            </a:xfrm>
            <a:prstGeom prst="ellipse">
              <a:avLst/>
            </a:prstGeom>
            <a:noFill/>
            <a:ln w="1905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 tIns="0" bIns="0"/>
            <a:lstStyle/>
            <a:p>
              <a:pPr algn="ctr"/>
              <a:r>
                <a:rPr sz="1500" b="1">
                  <a:solidFill>
                    <a:srgbClr val="1D3557"/>
                  </a:solidFill>
                  <a:latin typeface="PT Sans"/>
                </a:rPr>
                <a:t>6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78407" y="5532120"/>
              <a:ext cx="4754880" cy="475488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2000" b="0" i="0">
                  <a:solidFill>
                    <a:srgbClr val="1F2430"/>
                  </a:solidFill>
                  <a:latin typeface="PT Sans"/>
                </a:rPr>
                <a:t>Жооп: 7 жаңгак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4937760" y="3749039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жаңгак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6309360" y="3749039"/>
            <a:ext cx="2743200" cy="1068832"/>
            <a:chOff x="6309360" y="3749039"/>
            <a:chExt cx="2743200" cy="1068832"/>
          </a:xfrm>
        </p:grpSpPr>
        <p:sp>
          <p:nvSpPr>
            <p:cNvPr id="34" name="Rectangle 33"/>
            <p:cNvSpPr/>
            <p:nvPr/>
          </p:nvSpPr>
          <p:spPr>
            <a:xfrm>
              <a:off x="6309360" y="3749039"/>
              <a:ext cx="685800" cy="54864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995160" y="3749039"/>
              <a:ext cx="685800" cy="54864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680960" y="3749039"/>
              <a:ext cx="685800" cy="54864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66760" y="3749039"/>
              <a:ext cx="685800" cy="54864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6309360" y="4334255"/>
              <a:ext cx="0" cy="109728"/>
            </a:xfrm>
            <a:prstGeom prst="line">
              <a:avLst/>
            </a:prstGeom>
            <a:ln w="2222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9052560" y="4334255"/>
              <a:ext cx="0" cy="109728"/>
            </a:xfrm>
            <a:prstGeom prst="line">
              <a:avLst/>
            </a:prstGeom>
            <a:ln w="2222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6309360" y="4443983"/>
              <a:ext cx="2743200" cy="0"/>
            </a:xfrm>
            <a:prstGeom prst="line">
              <a:avLst/>
            </a:prstGeom>
            <a:ln w="2222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766560" y="4462271"/>
              <a:ext cx="1828800" cy="35560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2000" b="1" i="0">
                  <a:solidFill>
                    <a:srgbClr val="007A5A"/>
                  </a:solidFill>
                  <a:latin typeface="PT Sans"/>
                </a:rPr>
                <a:t>4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9052560" y="3749039"/>
            <a:ext cx="2057400" cy="1068832"/>
            <a:chOff x="9052560" y="3749039"/>
            <a:chExt cx="2057400" cy="1068832"/>
          </a:xfrm>
        </p:grpSpPr>
        <p:sp>
          <p:nvSpPr>
            <p:cNvPr id="43" name="Rectangle 42"/>
            <p:cNvSpPr/>
            <p:nvPr/>
          </p:nvSpPr>
          <p:spPr>
            <a:xfrm>
              <a:off x="9052560" y="3749039"/>
              <a:ext cx="685800" cy="54864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38360" y="3749039"/>
              <a:ext cx="685800" cy="54864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424160" y="3749039"/>
              <a:ext cx="685800" cy="54864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9052560" y="4334255"/>
              <a:ext cx="0" cy="109728"/>
            </a:xfrm>
            <a:prstGeom prst="line">
              <a:avLst/>
            </a:prstGeom>
            <a:ln w="2222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11109960" y="4334255"/>
              <a:ext cx="0" cy="109728"/>
            </a:xfrm>
            <a:prstGeom prst="line">
              <a:avLst/>
            </a:prstGeom>
            <a:ln w="2222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9052560" y="4443983"/>
              <a:ext cx="2057400" cy="0"/>
            </a:xfrm>
            <a:prstGeom prst="line">
              <a:avLst/>
            </a:prstGeom>
            <a:ln w="2222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9166860" y="4462271"/>
              <a:ext cx="1828800" cy="35560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2000" b="1" i="0">
                  <a:solidFill>
                    <a:srgbClr val="A84400"/>
                  </a:solidFill>
                  <a:latin typeface="PT Sans"/>
                </a:rPr>
                <a:t>3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309360" y="3193287"/>
            <a:ext cx="4800600" cy="519176"/>
            <a:chOff x="6309360" y="3193287"/>
            <a:chExt cx="4800600" cy="519176"/>
          </a:xfrm>
        </p:grpSpPr>
        <p:cxnSp>
          <p:nvCxnSpPr>
            <p:cNvPr id="51" name="Connector 50"/>
            <p:cNvCxnSpPr/>
            <p:nvPr/>
          </p:nvCxnSpPr>
          <p:spPr>
            <a:xfrm flipV="1">
              <a:off x="6309360" y="3602735"/>
              <a:ext cx="0" cy="109728"/>
            </a:xfrm>
            <a:prstGeom prst="line">
              <a:avLst/>
            </a:prstGeom>
            <a:ln w="2222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 flipV="1">
              <a:off x="11109960" y="3602735"/>
              <a:ext cx="0" cy="109728"/>
            </a:xfrm>
            <a:prstGeom prst="line">
              <a:avLst/>
            </a:prstGeom>
            <a:ln w="2222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6309360" y="3602735"/>
              <a:ext cx="4800600" cy="0"/>
            </a:xfrm>
            <a:prstGeom prst="line">
              <a:avLst/>
            </a:prstGeom>
            <a:ln w="2222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795260" y="3193287"/>
              <a:ext cx="1828800" cy="39116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2200" b="1" i="0">
                  <a:solidFill>
                    <a:srgbClr val="A84400"/>
                  </a:solidFill>
                  <a:latin typeface="PT Sans"/>
                </a:rPr>
                <a:t>?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309360" y="5074920"/>
            <a:ext cx="4800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24418C"/>
                </a:solidFill>
                <a:latin typeface="PT Sans"/>
              </a:rPr>
              <a:t>4 + 3 = 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5669280"/>
            <a:ext cx="37033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Баары 7 жаңгак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"/>
                            </p:stCondLst>
                            <p:childTnLst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6" grpId="0" animBg="1"/>
      <p:bldP spid="57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4 деңгээл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модели · Машыгуу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34/48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Тартуу · Тилке модели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2051" y="1188720"/>
            <a:ext cx="1705356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55504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874519"/>
            <a:ext cx="14630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007A5A"/>
                </a:solidFill>
                <a:latin typeface="PT Sans"/>
              </a:rPr>
              <a:t>1-деңгээл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184708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Кубиктерди тилкеге айлант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1288" y="24688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4732" y="25923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72768" y="24688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96212" y="25923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84248" y="24688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7691" y="25923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95728" y="246888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19172" y="25923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7208" y="246888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30652" y="25923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61288" y="3154680"/>
            <a:ext cx="411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72768" y="3154680"/>
            <a:ext cx="411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84248" y="3154680"/>
            <a:ext cx="411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95728" y="3154680"/>
            <a:ext cx="411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07208" y="3154680"/>
            <a:ext cx="411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6" name="Group 45"/>
          <p:cNvGrpSpPr/>
          <p:nvPr/>
        </p:nvGrpSpPr>
        <p:grpSpPr>
          <a:xfrm>
            <a:off x="1161288" y="3008376"/>
            <a:ext cx="2057400" cy="704088"/>
            <a:chOff x="1161288" y="3008376"/>
            <a:chExt cx="2057400" cy="704088"/>
          </a:xfrm>
        </p:grpSpPr>
        <p:sp>
          <p:nvSpPr>
            <p:cNvPr id="32" name="Rectangle 31"/>
            <p:cNvSpPr/>
            <p:nvPr/>
          </p:nvSpPr>
          <p:spPr>
            <a:xfrm>
              <a:off x="1161288" y="3154680"/>
              <a:ext cx="411480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72768" y="3154680"/>
              <a:ext cx="411480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984248" y="3154680"/>
              <a:ext cx="411480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395728" y="3154680"/>
              <a:ext cx="411480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807208" y="3154680"/>
              <a:ext cx="411480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1161288" y="360273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2395728" y="360273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1161288" y="3712464"/>
              <a:ext cx="1234440" cy="0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2395728" y="360273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3218688" y="360273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2395728" y="3712464"/>
              <a:ext cx="822960" cy="0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 flipV="1">
              <a:off x="1161288" y="300837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 flipV="1">
              <a:off x="3218688" y="300837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1161288" y="3008376"/>
              <a:ext cx="2057400" cy="0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ounded Rectangle 46"/>
          <p:cNvSpPr/>
          <p:nvPr/>
        </p:nvSpPr>
        <p:spPr>
          <a:xfrm>
            <a:off x="6208776" y="1737360"/>
            <a:ext cx="55504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45936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58984" y="1874519"/>
            <a:ext cx="14630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007A5A"/>
                </a:solidFill>
                <a:latin typeface="PT Sans"/>
              </a:rPr>
              <a:t>2-деңгээл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184708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Тилкеге сан жаз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0296" y="2697480"/>
            <a:ext cx="384048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24344" y="2697480"/>
            <a:ext cx="384048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08392" y="2697480"/>
            <a:ext cx="384048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92440" y="2697480"/>
            <a:ext cx="384048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76488" y="2697480"/>
            <a:ext cx="384048" cy="41148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60536" y="2697480"/>
            <a:ext cx="384048" cy="41148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44584" y="2697480"/>
            <a:ext cx="384048" cy="41148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28632" y="2697480"/>
            <a:ext cx="384048" cy="41148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940296" y="3145536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860536" y="3145536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940296" y="3255264"/>
            <a:ext cx="1920240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860536" y="3145536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12680" y="3145536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860536" y="3255264"/>
            <a:ext cx="1152144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40296" y="2551176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12680" y="2551176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940296" y="2551176"/>
            <a:ext cx="307238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6940296" y="2248408"/>
            <a:ext cx="3410712" cy="1274063"/>
            <a:chOff x="6940296" y="2248408"/>
            <a:chExt cx="3410712" cy="1274063"/>
          </a:xfrm>
        </p:grpSpPr>
        <p:sp>
          <p:nvSpPr>
            <p:cNvPr id="68" name="Rectangle 67"/>
            <p:cNvSpPr/>
            <p:nvPr/>
          </p:nvSpPr>
          <p:spPr>
            <a:xfrm>
              <a:off x="6940296" y="269748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7324344" y="269748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708392" y="269748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8092440" y="269748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476488" y="269748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860536" y="2697480"/>
              <a:ext cx="384048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244584" y="2697480"/>
              <a:ext cx="384048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9628632" y="2697480"/>
              <a:ext cx="384048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Connector 75"/>
            <p:cNvCxnSpPr/>
            <p:nvPr/>
          </p:nvCxnSpPr>
          <p:spPr>
            <a:xfrm>
              <a:off x="6940296" y="314553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8860536" y="314553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6940296" y="3255264"/>
              <a:ext cx="1920240" cy="0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986016" y="3273552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007A5A"/>
                  </a:solidFill>
                  <a:latin typeface="PT Sans"/>
                </a:rPr>
                <a:t>5</a:t>
              </a:r>
            </a:p>
          </p:txBody>
        </p:sp>
        <p:cxnSp>
          <p:nvCxnSpPr>
            <p:cNvPr id="80" name="Connector 79"/>
            <p:cNvCxnSpPr/>
            <p:nvPr/>
          </p:nvCxnSpPr>
          <p:spPr>
            <a:xfrm>
              <a:off x="8860536" y="314553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0012680" y="314553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8860536" y="3255264"/>
              <a:ext cx="1152144" cy="0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8522208" y="3273552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A84400"/>
                  </a:solidFill>
                  <a:latin typeface="PT Sans"/>
                </a:rPr>
                <a:t>3</a:t>
              </a:r>
            </a:p>
          </p:txBody>
        </p:sp>
        <p:cxnSp>
          <p:nvCxnSpPr>
            <p:cNvPr id="84" name="Connector 83"/>
            <p:cNvCxnSpPr/>
            <p:nvPr/>
          </p:nvCxnSpPr>
          <p:spPr>
            <a:xfrm flipV="1">
              <a:off x="6940296" y="255117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 flipV="1">
              <a:off x="10012680" y="255117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>
              <a:off x="6940296" y="2551176"/>
              <a:ext cx="3072384" cy="0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7562088" y="2248408"/>
              <a:ext cx="1828800" cy="28447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600" b="1" i="0">
                  <a:solidFill>
                    <a:srgbClr val="1D3557"/>
                  </a:solidFill>
                  <a:latin typeface="PT Sans"/>
                </a:rPr>
                <a:t>8</a:t>
              </a:r>
            </a:p>
          </p:txBody>
        </p:sp>
      </p:grpSp>
      <p:sp>
        <p:nvSpPr>
          <p:cNvPr id="89" name="Rounded Rectangle 88"/>
          <p:cNvSpPr/>
          <p:nvPr/>
        </p:nvSpPr>
        <p:spPr>
          <a:xfrm>
            <a:off x="429768" y="4023360"/>
            <a:ext cx="55504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66928" y="416052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79976" y="4160520"/>
            <a:ext cx="14630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A84400"/>
                </a:solidFill>
                <a:latin typeface="PT Sans"/>
              </a:rPr>
              <a:t>3-деңгээл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5568" y="4133088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Тилке чий: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D3557"/>
                </a:solidFill>
                <a:latin typeface="PT Sans"/>
              </a:rPr>
              <a:t>Тыйында 2 топ, Помпондо 4 топ. Баары?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630936" y="4854448"/>
            <a:ext cx="2980944" cy="1274063"/>
            <a:chOff x="630936" y="4854448"/>
            <a:chExt cx="2980944" cy="1274063"/>
          </a:xfrm>
        </p:grpSpPr>
        <p:sp>
          <p:nvSpPr>
            <p:cNvPr id="93" name="Rectangle 92"/>
            <p:cNvSpPr/>
            <p:nvPr/>
          </p:nvSpPr>
          <p:spPr>
            <a:xfrm>
              <a:off x="1161288" y="530352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545336" y="530352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929384" y="5303520"/>
              <a:ext cx="384048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2313432" y="5303520"/>
              <a:ext cx="384048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697479" y="5303520"/>
              <a:ext cx="384048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081528" y="5303520"/>
              <a:ext cx="384048" cy="411480"/>
            </a:xfrm>
            <a:prstGeom prst="rect">
              <a:avLst/>
            </a:prstGeom>
            <a:solidFill>
              <a:srgbClr val="F5E9E0"/>
            </a:solidFill>
            <a:ln w="1905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9" name="Connector 98"/>
            <p:cNvCxnSpPr/>
            <p:nvPr/>
          </p:nvCxnSpPr>
          <p:spPr>
            <a:xfrm>
              <a:off x="1161288" y="575157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1929384" y="575157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1161288" y="5861304"/>
              <a:ext cx="768096" cy="0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630936" y="5879592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007A5A"/>
                  </a:solidFill>
                  <a:latin typeface="PT Sans"/>
                </a:rPr>
                <a:t>2</a:t>
              </a:r>
            </a:p>
          </p:txBody>
        </p:sp>
        <p:cxnSp>
          <p:nvCxnSpPr>
            <p:cNvPr id="103" name="Connector 102"/>
            <p:cNvCxnSpPr/>
            <p:nvPr/>
          </p:nvCxnSpPr>
          <p:spPr>
            <a:xfrm>
              <a:off x="1929384" y="575157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>
              <a:off x="3465576" y="575157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>
              <a:off x="1929384" y="5861304"/>
              <a:ext cx="1536192" cy="0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1783080" y="5879592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A84400"/>
                  </a:solidFill>
                  <a:latin typeface="PT Sans"/>
                </a:rPr>
                <a:t>4</a:t>
              </a:r>
            </a:p>
          </p:txBody>
        </p:sp>
        <p:cxnSp>
          <p:nvCxnSpPr>
            <p:cNvPr id="107" name="Connector 106"/>
            <p:cNvCxnSpPr/>
            <p:nvPr/>
          </p:nvCxnSpPr>
          <p:spPr>
            <a:xfrm flipV="1">
              <a:off x="1161288" y="515721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/>
            <p:nvPr/>
          </p:nvCxnSpPr>
          <p:spPr>
            <a:xfrm flipV="1">
              <a:off x="3465576" y="515721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108"/>
            <p:cNvCxnSpPr/>
            <p:nvPr/>
          </p:nvCxnSpPr>
          <p:spPr>
            <a:xfrm>
              <a:off x="1161288" y="5157216"/>
              <a:ext cx="2304288" cy="0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399032" y="4854448"/>
              <a:ext cx="1828800" cy="28447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600" b="1" i="0">
                  <a:solidFill>
                    <a:srgbClr val="1D3557"/>
                  </a:solidFill>
                  <a:latin typeface="PT Sans"/>
                </a:rPr>
                <a:t>6</a:t>
              </a:r>
            </a:p>
          </p:txBody>
        </p:sp>
      </p:grpSp>
      <p:sp>
        <p:nvSpPr>
          <p:cNvPr id="112" name="Rounded Rectangle 111"/>
          <p:cNvSpPr/>
          <p:nvPr/>
        </p:nvSpPr>
        <p:spPr>
          <a:xfrm>
            <a:off x="6208776" y="4023360"/>
            <a:ext cx="55504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345936" y="416052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158984" y="4160520"/>
            <a:ext cx="14630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24418C"/>
                </a:solidFill>
                <a:latin typeface="PT Sans"/>
              </a:rPr>
              <a:t>4-деңгээл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94576" y="4133088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Тилке чий: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D3557"/>
                </a:solidFill>
                <a:latin typeface="PT Sans"/>
              </a:rPr>
              <a:t>Баары 7 топ. 3ү Тыйындыкы. Помпондуку?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6601967" y="4854448"/>
            <a:ext cx="3172969" cy="1274063"/>
            <a:chOff x="6601967" y="4854448"/>
            <a:chExt cx="3172969" cy="1274063"/>
          </a:xfrm>
        </p:grpSpPr>
        <p:sp>
          <p:nvSpPr>
            <p:cNvPr id="116" name="Rectangle 115"/>
            <p:cNvSpPr/>
            <p:nvPr/>
          </p:nvSpPr>
          <p:spPr>
            <a:xfrm>
              <a:off x="6940296" y="530352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7324344" y="530352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7708392" y="5303520"/>
              <a:ext cx="384048" cy="411480"/>
            </a:xfrm>
            <a:prstGeom prst="rect">
              <a:avLst/>
            </a:prstGeom>
            <a:solidFill>
              <a:srgbClr val="B5E2D3"/>
            </a:solidFill>
            <a:ln w="1905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8092440" y="5303520"/>
              <a:ext cx="1536192" cy="4114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4A5A7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0" name="Connector 119"/>
            <p:cNvCxnSpPr/>
            <p:nvPr/>
          </p:nvCxnSpPr>
          <p:spPr>
            <a:xfrm>
              <a:off x="6940296" y="575157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 120"/>
            <p:cNvCxnSpPr/>
            <p:nvPr/>
          </p:nvCxnSpPr>
          <p:spPr>
            <a:xfrm>
              <a:off x="8092440" y="5751576"/>
              <a:ext cx="0" cy="109728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 121"/>
            <p:cNvCxnSpPr/>
            <p:nvPr/>
          </p:nvCxnSpPr>
          <p:spPr>
            <a:xfrm>
              <a:off x="6940296" y="5861304"/>
              <a:ext cx="1152144" cy="0"/>
            </a:xfrm>
            <a:prstGeom prst="line">
              <a:avLst/>
            </a:prstGeom>
            <a:ln w="19050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6601967" y="5879592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007A5A"/>
                  </a:solidFill>
                  <a:latin typeface="PT Sans"/>
                </a:rPr>
                <a:t>3</a:t>
              </a:r>
            </a:p>
          </p:txBody>
        </p:sp>
        <p:cxnSp>
          <p:nvCxnSpPr>
            <p:cNvPr id="124" name="Connector 123"/>
            <p:cNvCxnSpPr/>
            <p:nvPr/>
          </p:nvCxnSpPr>
          <p:spPr>
            <a:xfrm>
              <a:off x="8092440" y="575157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 124"/>
            <p:cNvCxnSpPr/>
            <p:nvPr/>
          </p:nvCxnSpPr>
          <p:spPr>
            <a:xfrm>
              <a:off x="9628632" y="5751576"/>
              <a:ext cx="0" cy="109728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>
              <a:off x="8092440" y="5861304"/>
              <a:ext cx="1536192" cy="0"/>
            </a:xfrm>
            <a:prstGeom prst="line">
              <a:avLst/>
            </a:prstGeom>
            <a:ln w="19050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7946136" y="5879592"/>
              <a:ext cx="1828800" cy="24891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400" b="1" i="0">
                  <a:solidFill>
                    <a:srgbClr val="A84400"/>
                  </a:solidFill>
                  <a:latin typeface="PT Sans"/>
                </a:rPr>
                <a:t>?</a:t>
              </a:r>
            </a:p>
          </p:txBody>
        </p:sp>
        <p:cxnSp>
          <p:nvCxnSpPr>
            <p:cNvPr id="128" name="Connector 127"/>
            <p:cNvCxnSpPr/>
            <p:nvPr/>
          </p:nvCxnSpPr>
          <p:spPr>
            <a:xfrm flipV="1">
              <a:off x="6940296" y="515721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 128"/>
            <p:cNvCxnSpPr/>
            <p:nvPr/>
          </p:nvCxnSpPr>
          <p:spPr>
            <a:xfrm flipV="1">
              <a:off x="9628632" y="5157216"/>
              <a:ext cx="0" cy="109728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 129"/>
            <p:cNvCxnSpPr/>
            <p:nvPr/>
          </p:nvCxnSpPr>
          <p:spPr>
            <a:xfrm>
              <a:off x="6940296" y="5157216"/>
              <a:ext cx="2688336" cy="0"/>
            </a:xfrm>
            <a:prstGeom prst="line">
              <a:avLst/>
            </a:prstGeom>
            <a:ln w="19050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7370063" y="4854448"/>
              <a:ext cx="1828800" cy="284479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600" b="1" i="0">
                  <a:solidFill>
                    <a:srgbClr val="1D3557"/>
                  </a:solidFill>
                  <a:latin typeface="PT Sans"/>
                </a:rPr>
                <a:t>7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10277856" y="5623560"/>
            <a:ext cx="1371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Кыйын = өсүү!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Тилкени окуп, жаз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Түшүндүрүү · Тилке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35/48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Түшүндүрүү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7883" y="1188720"/>
            <a:ext cx="30495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 → Абстракттуу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7007" y="230428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8487" y="230428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29967" y="230428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41448" y="230428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52928" y="230428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64408" y="230428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207007" y="279806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52928" y="279806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07007" y="2907792"/>
            <a:ext cx="1645921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15567" y="292608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52928" y="279806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75887" y="279806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52928" y="2907792"/>
            <a:ext cx="822959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50008" y="292608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207007" y="215798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75887" y="215798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07007" y="2157984"/>
            <a:ext cx="246888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27048" y="1784096"/>
            <a:ext cx="1828800" cy="355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3218688"/>
            <a:ext cx="26517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 + 2 = 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22776" y="3218688"/>
            <a:ext cx="1874519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+ 2 = 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45936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86016" y="230428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97496" y="230428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08975" y="230428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0456" y="230428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31936" y="230428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43416" y="230428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54896" y="230428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986016" y="279806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20456" y="279806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986016" y="2907792"/>
            <a:ext cx="1234440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88836" y="292608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20456" y="279806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66376" y="279806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220456" y="2907792"/>
            <a:ext cx="164592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129016" y="292608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6986016" y="215798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866376" y="215798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86016" y="2157984"/>
            <a:ext cx="288036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511796" y="1784096"/>
            <a:ext cx="1828800" cy="355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8856" y="3218688"/>
            <a:ext cx="26517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 + 4 = 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01784" y="3218688"/>
            <a:ext cx="1874519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+ 4 = 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8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66928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07007" y="454456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18487" y="454456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29967" y="454456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441448" y="454456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52928" y="4544568"/>
            <a:ext cx="4114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64408" y="4544568"/>
            <a:ext cx="12344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207007" y="503834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264408" y="503834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207007" y="5148072"/>
            <a:ext cx="2057401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321307" y="5166359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5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264408" y="50383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498848" y="50383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264408" y="5148072"/>
            <a:ext cx="123444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967228" y="5166359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1207007" y="4398264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98848" y="4398264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207007" y="4398264"/>
            <a:ext cx="3291841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938528" y="4024375"/>
            <a:ext cx="1828800" cy="355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9848" y="5458968"/>
            <a:ext cx="26517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5 + ? = 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922776" y="5458968"/>
            <a:ext cx="1874519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+ 3 = 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08776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45936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86016" y="4544568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31936" y="454456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043415" y="4544568"/>
            <a:ext cx="4114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6986016" y="50383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631936" y="50383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986016" y="5148072"/>
            <a:ext cx="164592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894575" y="5166359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631936" y="50383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454896" y="50383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31936" y="5148072"/>
            <a:ext cx="82296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129016" y="5166359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6986016" y="4398264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454896" y="4398264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986016" y="4398264"/>
            <a:ext cx="246888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306056" y="4024375"/>
            <a:ext cx="1828800" cy="355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48856" y="5458968"/>
            <a:ext cx="26517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? + 2 = 6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701784" y="5458968"/>
            <a:ext cx="1874519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+ 2 =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57" grpId="0" animBg="1"/>
      <p:bldP spid="79" grpId="0" animBg="1"/>
      <p:bldP spid="9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Кайсы жооп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Текшерүү · Чечүүчү суроо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AfL · Чечүүчү суроо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98687" y="121615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А2 · А3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37360"/>
            <a:ext cx="11329416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0" b="1" i="0">
                <a:solidFill>
                  <a:srgbClr val="1F2430"/>
                </a:solidFill>
                <a:latin typeface="PT Sans"/>
              </a:rPr>
              <a:t/>
            </a:r>
            <a:r>
              <a:rPr sz="8800" b="1">
                <a:solidFill>
                  <a:srgbClr val="007A5A"/>
                </a:solidFill>
                <a:latin typeface="PT Sans"/>
              </a:rPr>
              <a:t>4</a:t>
            </a:r>
            <a:r>
              <a:rPr sz="8800" b="1">
                <a:solidFill>
                  <a:srgbClr val="1F2430"/>
                </a:solidFill>
                <a:latin typeface="PT Sans"/>
              </a:rPr>
              <a:t> + </a:t>
            </a:r>
            <a:r>
              <a:rPr sz="8800" b="1">
                <a:solidFill>
                  <a:srgbClr val="A84400"/>
                </a:solidFill>
                <a:latin typeface="PT Sans"/>
              </a:rPr>
              <a:t>3</a:t>
            </a:r>
            <a:r>
              <a:rPr sz="8800" b="1">
                <a:solidFill>
                  <a:srgbClr val="1F2430"/>
                </a:solidFill>
                <a:latin typeface="PT Sans"/>
              </a:rPr>
              <a:t> = </a:t>
            </a:r>
            <a:r>
              <a:rPr sz="8800" b="1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337560"/>
            <a:ext cx="2834640" cy="1600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66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1089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337560"/>
            <a:ext cx="2834640" cy="1600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66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4389120" y="31089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337560"/>
            <a:ext cx="2834640" cy="1600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6600" b="1">
                <a:solidFill>
                  <a:srgbClr val="1D3557"/>
                </a:solidFill>
                <a:latin typeface="PT Sans"/>
              </a:rPr>
              <a:t>43</a:t>
            </a:r>
          </a:p>
        </p:txBody>
      </p:sp>
      <p:sp>
        <p:nvSpPr>
          <p:cNvPr id="19" name="Oval 18"/>
          <p:cNvSpPr/>
          <p:nvPr/>
        </p:nvSpPr>
        <p:spPr>
          <a:xfrm>
            <a:off x="7818119" y="31089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2578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Манжаң менен көрсөт: 1, 2 же 3?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Помпондун алмалары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Мисал · Мен көрсөтөм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Помпондо 4 алма бар эле. Тыйын дагы 2 алма алып келди. Баары канча алма?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3774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1015898" y="2916936"/>
            <a:ext cx="208483" cy="521208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4283" y="2777947"/>
            <a:ext cx="243230" cy="24323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623974" y="2916936"/>
            <a:ext cx="208483" cy="521208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710842" y="2777947"/>
            <a:ext cx="243230" cy="24323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20140" y="4741164"/>
            <a:ext cx="260603" cy="191109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11045" y="4741164"/>
            <a:ext cx="260603" cy="191109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6102" y="3351276"/>
            <a:ext cx="1259586" cy="1520189"/>
          </a:xfrm>
          <a:prstGeom prst="ellipse">
            <a:avLst/>
          </a:prstGeom>
          <a:solidFill>
            <a:srgbClr val="DDE8F7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9838" y="4437126"/>
            <a:ext cx="112928" cy="112928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71650" y="4350258"/>
            <a:ext cx="112928" cy="112928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24178" y="4610862"/>
            <a:ext cx="112928" cy="112928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6706" y="3698748"/>
            <a:ext cx="330098" cy="3300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9424" y="3791175"/>
            <a:ext cx="165049" cy="165049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4182" y="3807680"/>
            <a:ext cx="52815" cy="52815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93672" y="3698748"/>
            <a:ext cx="330098" cy="3300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56391" y="3791175"/>
            <a:ext cx="165049" cy="165049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81148" y="3807680"/>
            <a:ext cx="52815" cy="52815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ord 28"/>
          <p:cNvSpPr/>
          <p:nvPr/>
        </p:nvSpPr>
        <p:spPr>
          <a:xfrm>
            <a:off x="1276502" y="4020159"/>
            <a:ext cx="347472" cy="26060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" y="4958333"/>
            <a:ext cx="13030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Помпон</a:t>
            </a:r>
          </a:p>
        </p:txBody>
      </p:sp>
      <p:sp>
        <p:nvSpPr>
          <p:cNvPr id="31" name="Oval 30"/>
          <p:cNvSpPr/>
          <p:nvPr/>
        </p:nvSpPr>
        <p:spPr>
          <a:xfrm>
            <a:off x="2423160" y="3037636"/>
            <a:ext cx="548640" cy="482803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2697479" y="2916936"/>
            <a:ext cx="45720" cy="13716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118104" y="3037636"/>
            <a:ext cx="548640" cy="482803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3392424" y="2916936"/>
            <a:ext cx="45720" cy="13716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813048" y="3037636"/>
            <a:ext cx="548640" cy="482803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4087368" y="2916936"/>
            <a:ext cx="45719" cy="13716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507992" y="3037636"/>
            <a:ext cx="548640" cy="482803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4782312" y="2916936"/>
            <a:ext cx="45719" cy="13716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23160" y="36118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4 алма</a:t>
            </a:r>
          </a:p>
        </p:txBody>
      </p:sp>
      <p:sp>
        <p:nvSpPr>
          <p:cNvPr id="40" name="Oval 39"/>
          <p:cNvSpPr/>
          <p:nvPr/>
        </p:nvSpPr>
        <p:spPr>
          <a:xfrm>
            <a:off x="2423160" y="4226356"/>
            <a:ext cx="548640" cy="482803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2697479" y="4105656"/>
            <a:ext cx="45720" cy="13716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118104" y="4226356"/>
            <a:ext cx="548640" cy="482803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3392424" y="4105656"/>
            <a:ext cx="45720" cy="13716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423160" y="48006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дагы 2 алма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5852160" y="3154680"/>
            <a:ext cx="914400" cy="12344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66560" y="3154680"/>
            <a:ext cx="914400" cy="12344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309360" y="269748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48" name="Oval 47"/>
          <p:cNvSpPr/>
          <p:nvPr/>
        </p:nvSpPr>
        <p:spPr>
          <a:xfrm>
            <a:off x="5394960" y="393192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9" name="Oval 48"/>
          <p:cNvSpPr/>
          <p:nvPr/>
        </p:nvSpPr>
        <p:spPr>
          <a:xfrm>
            <a:off x="7223760" y="393192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8503920" y="27432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2724912"/>
            <a:ext cx="2743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Санайбыз</a:t>
            </a:r>
          </a:p>
        </p:txBody>
      </p:sp>
      <p:sp>
        <p:nvSpPr>
          <p:cNvPr id="52" name="Oval 51"/>
          <p:cNvSpPr/>
          <p:nvPr/>
        </p:nvSpPr>
        <p:spPr>
          <a:xfrm>
            <a:off x="8503920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34272" y="3410712"/>
            <a:ext cx="2743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Схема чийебиз</a:t>
            </a:r>
          </a:p>
        </p:txBody>
      </p:sp>
      <p:sp>
        <p:nvSpPr>
          <p:cNvPr id="54" name="Oval 53"/>
          <p:cNvSpPr/>
          <p:nvPr/>
        </p:nvSpPr>
        <p:spPr>
          <a:xfrm>
            <a:off x="8503920" y="41148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34272" y="4096512"/>
            <a:ext cx="2743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Жазабыз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4892040"/>
            <a:ext cx="62179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/>
            </a:r>
            <a:r>
              <a:rPr sz="5400" b="1">
                <a:solidFill>
                  <a:srgbClr val="007A5A"/>
                </a:solidFill>
                <a:latin typeface="PT Sans"/>
              </a:rPr>
              <a:t>4</a:t>
            </a:r>
            <a:r>
              <a:rPr sz="5400" b="1">
                <a:solidFill>
                  <a:srgbClr val="1F2430"/>
                </a:solidFill>
                <a:latin typeface="PT Sans"/>
              </a:rPr>
              <a:t> + </a:t>
            </a:r>
            <a:r>
              <a:rPr sz="5400" b="1">
                <a:solidFill>
                  <a:srgbClr val="A84400"/>
                </a:solidFill>
                <a:latin typeface="PT Sans"/>
              </a:rPr>
              <a:t>2</a:t>
            </a:r>
            <a:r>
              <a:rPr sz="5400" b="1">
                <a:solidFill>
                  <a:srgbClr val="1F2430"/>
                </a:solidFill>
                <a:latin typeface="PT Sans"/>
              </a:rPr>
              <a:t> = </a:t>
            </a:r>
            <a:r>
              <a:rPr sz="54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Чогуу чыгарабыз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Мисал · Чогуу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Тыйын эртең менен 5 жаңгак, кечинде 3 жаңгак тапты. Баары канча?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3774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Биз чогуу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87944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1441" y="278892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61288" y="287944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01521" y="278892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01368" y="287944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41601" y="278892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41448" y="287944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81681" y="278892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81528" y="287944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21761" y="278892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33375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эртең менен</a:t>
            </a:r>
          </a:p>
        </p:txBody>
      </p:sp>
      <p:sp>
        <p:nvSpPr>
          <p:cNvPr id="24" name="Oval 23"/>
          <p:cNvSpPr/>
          <p:nvPr/>
        </p:nvSpPr>
        <p:spPr>
          <a:xfrm>
            <a:off x="521207" y="397672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1441" y="388620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288" y="397672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01521" y="388620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01368" y="3976725"/>
            <a:ext cx="502920" cy="412394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41601" y="3886200"/>
            <a:ext cx="422452" cy="17099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43484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кечинде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572000" y="2697480"/>
            <a:ext cx="914400" cy="11887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86400" y="2697480"/>
            <a:ext cx="914400" cy="11887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029200" y="224028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4" name="Oval 33"/>
          <p:cNvSpPr/>
          <p:nvPr/>
        </p:nvSpPr>
        <p:spPr>
          <a:xfrm>
            <a:off x="4114800" y="342900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5943600" y="342900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2926080"/>
            <a:ext cx="530352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45552" y="2926080"/>
            <a:ext cx="530352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75904" y="2926080"/>
            <a:ext cx="530352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06256" y="2926080"/>
            <a:ext cx="530352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36608" y="2926080"/>
            <a:ext cx="530352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6960" y="2926080"/>
            <a:ext cx="53035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97312" y="2926080"/>
            <a:ext cx="53035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27663" y="2926080"/>
            <a:ext cx="53035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315200" y="3520440"/>
            <a:ext cx="0" cy="13716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66960" y="3520440"/>
            <a:ext cx="0" cy="13716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15200" y="3657600"/>
            <a:ext cx="2651760" cy="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269479" y="37033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66960" y="3520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558016" y="3520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966960" y="3657600"/>
            <a:ext cx="1591056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90888" y="37033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315200" y="274320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558016" y="274320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15200" y="2743200"/>
            <a:ext cx="4242816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065008" y="2331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" y="4846320"/>
            <a:ext cx="11329416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1F2430"/>
                </a:solidFill>
                <a:latin typeface="PT Sans"/>
              </a:rPr>
              <a:t/>
            </a:r>
            <a:r>
              <a:rPr sz="6000" b="1">
                <a:solidFill>
                  <a:srgbClr val="007A5A"/>
                </a:solidFill>
                <a:latin typeface="PT Sans"/>
              </a:rPr>
              <a:t>5</a:t>
            </a:r>
            <a:r>
              <a:rPr sz="6000" b="1">
                <a:solidFill>
                  <a:srgbClr val="1F2430"/>
                </a:solidFill>
                <a:latin typeface="PT Sans"/>
              </a:rPr>
              <a:t> + </a:t>
            </a:r>
            <a:r>
              <a:rPr sz="6000" b="1">
                <a:solidFill>
                  <a:srgbClr val="A84400"/>
                </a:solidFill>
                <a:latin typeface="PT Sans"/>
              </a:rPr>
              <a:t>3</a:t>
            </a:r>
            <a:r>
              <a:rPr sz="6000" b="1">
                <a:solidFill>
                  <a:srgbClr val="1F2430"/>
                </a:solidFill>
                <a:latin typeface="PT Sans"/>
              </a:rPr>
              <a:t> = </a:t>
            </a:r>
            <a:r>
              <a:rPr sz="60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Текшеребиз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Мисал · Чогуу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19/48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6288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3464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584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0880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3176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0352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472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7220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340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516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636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18120" y="1578254"/>
            <a:ext cx="640080" cy="52486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9326" y="1463040"/>
            <a:ext cx="537667" cy="217627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214884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8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77440" y="3337560"/>
            <a:ext cx="914400" cy="11887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291840" y="3337560"/>
            <a:ext cx="914400" cy="11887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834640" y="288036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37" name="Oval 36"/>
          <p:cNvSpPr/>
          <p:nvPr/>
        </p:nvSpPr>
        <p:spPr>
          <a:xfrm>
            <a:off x="1920240" y="406908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3749039" y="4069080"/>
            <a:ext cx="914400" cy="914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611880"/>
            <a:ext cx="5943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29400" y="3611880"/>
            <a:ext cx="5943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23759" y="3611880"/>
            <a:ext cx="5943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18120" y="3611880"/>
            <a:ext cx="5943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3611880"/>
            <a:ext cx="5943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6840" y="3611880"/>
            <a:ext cx="59436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01200" y="3611880"/>
            <a:ext cx="59436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95559" y="3611880"/>
            <a:ext cx="59436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035040" y="4206240"/>
            <a:ext cx="0" cy="13716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06840" y="4206240"/>
            <a:ext cx="0" cy="13716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35040" y="4343400"/>
            <a:ext cx="2971800" cy="0"/>
          </a:xfrm>
          <a:prstGeom prst="line">
            <a:avLst/>
          </a:prstGeom>
          <a:ln w="2222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49340" y="43891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06840" y="42062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89920" y="42062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343400"/>
            <a:ext cx="178308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26780" y="43891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6035040" y="34290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789920" y="34290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035040" y="3429000"/>
            <a:ext cx="475488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40879" y="30175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" y="5074920"/>
            <a:ext cx="11329416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1F2430"/>
                </a:solidFill>
                <a:latin typeface="PT Sans"/>
              </a:rPr>
              <a:t/>
            </a:r>
            <a:r>
              <a:rPr sz="6000" b="1">
                <a:solidFill>
                  <a:srgbClr val="007A5A"/>
                </a:solidFill>
                <a:latin typeface="PT Sans"/>
              </a:rPr>
              <a:t>5</a:t>
            </a:r>
            <a:r>
              <a:rPr sz="6000" b="1">
                <a:solidFill>
                  <a:srgbClr val="1F2430"/>
                </a:solidFill>
                <a:latin typeface="PT Sans"/>
              </a:rPr>
              <a:t> + </a:t>
            </a:r>
            <a:r>
              <a:rPr sz="6000" b="1">
                <a:solidFill>
                  <a:srgbClr val="A84400"/>
                </a:solidFill>
                <a:latin typeface="PT Sans"/>
              </a:rPr>
              <a:t>3</a:t>
            </a:r>
            <a:r>
              <a:rPr sz="6000" b="1">
                <a:solidFill>
                  <a:srgbClr val="1F2430"/>
                </a:solidFill>
                <a:latin typeface="PT Sans"/>
              </a:rPr>
              <a:t> = </a:t>
            </a:r>
            <a:r>
              <a:rPr sz="60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Сан огунда уланта сана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Мисал · Сан огу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37/48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Түшүндүрүү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2051" y="1188720"/>
            <a:ext cx="1705356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514600"/>
            <a:ext cx="804672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8823960" y="2441448"/>
            <a:ext cx="146304" cy="146304"/>
          </a:xfrm>
          <a:prstGeom prst="triangl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1440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4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1732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9456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612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7180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4904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060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2628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007A5A"/>
                </a:solidFill>
                <a:latin typeface="PT Sans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7784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5508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076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09559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35239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2432304"/>
            <a:ext cx="0" cy="16459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12480" y="2606040"/>
            <a:ext cx="548640" cy="381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37" name="Oval 36"/>
          <p:cNvSpPr/>
          <p:nvPr/>
        </p:nvSpPr>
        <p:spPr>
          <a:xfrm>
            <a:off x="4727448" y="2441448"/>
            <a:ext cx="146304" cy="146304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c 37"/>
          <p:cNvSpPr/>
          <p:nvPr/>
        </p:nvSpPr>
        <p:spPr>
          <a:xfrm>
            <a:off x="4800600" y="2087117"/>
            <a:ext cx="777240" cy="854964"/>
          </a:xfrm>
          <a:prstGeom prst="arc">
            <a:avLst>
              <a:gd name="adj1" fmla="val 10800000"/>
              <a:gd name="adj2" fmla="val 0"/>
            </a:avLst>
          </a:prstGeom>
          <a:noFill/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1756917"/>
            <a:ext cx="777240" cy="33020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40" name="Arc 39"/>
          <p:cNvSpPr/>
          <p:nvPr/>
        </p:nvSpPr>
        <p:spPr>
          <a:xfrm>
            <a:off x="5577840" y="2087117"/>
            <a:ext cx="777240" cy="854964"/>
          </a:xfrm>
          <a:prstGeom prst="arc">
            <a:avLst>
              <a:gd name="adj1" fmla="val 10800000"/>
              <a:gd name="adj2" fmla="val 0"/>
            </a:avLst>
          </a:prstGeom>
          <a:noFill/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1756917"/>
            <a:ext cx="777240" cy="33020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42" name="Arc 41"/>
          <p:cNvSpPr/>
          <p:nvPr/>
        </p:nvSpPr>
        <p:spPr>
          <a:xfrm>
            <a:off x="6355080" y="2087117"/>
            <a:ext cx="777240" cy="854964"/>
          </a:xfrm>
          <a:prstGeom prst="arc">
            <a:avLst>
              <a:gd name="adj1" fmla="val 10800000"/>
              <a:gd name="adj2" fmla="val 0"/>
            </a:avLst>
          </a:prstGeom>
          <a:noFill/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1756917"/>
            <a:ext cx="777240" cy="33020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05740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24418C"/>
                </a:solidFill>
                <a:latin typeface="PT Sans"/>
              </a:rPr>
              <a:t>5 + 3 =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60604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6B7280"/>
                </a:solidFill>
                <a:latin typeface="PT Sans"/>
              </a:rPr>
              <a:t>Мисал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29768" y="3154680"/>
            <a:ext cx="11329416" cy="0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75488" y="361188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97280" y="3794760"/>
            <a:ext cx="6492239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7543800" y="3721608"/>
            <a:ext cx="146304" cy="146304"/>
          </a:xfrm>
          <a:prstGeom prst="triangl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18872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14400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810512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536192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432304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157984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54096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779776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675887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401568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4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297679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023359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919472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645152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541264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266944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16305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888736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84847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510527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40664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132320" y="3886200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72" name="Oval 71"/>
          <p:cNvSpPr/>
          <p:nvPr/>
        </p:nvSpPr>
        <p:spPr>
          <a:xfrm>
            <a:off x="3602735" y="3721608"/>
            <a:ext cx="146304" cy="146304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rc 72"/>
          <p:cNvSpPr/>
          <p:nvPr/>
        </p:nvSpPr>
        <p:spPr>
          <a:xfrm>
            <a:off x="3675887" y="3452774"/>
            <a:ext cx="621792" cy="683971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75887" y="3221634"/>
            <a:ext cx="621792" cy="23114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75" name="Arc 74"/>
          <p:cNvSpPr/>
          <p:nvPr/>
        </p:nvSpPr>
        <p:spPr>
          <a:xfrm>
            <a:off x="4297679" y="3452774"/>
            <a:ext cx="621792" cy="683971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79" y="3221634"/>
            <a:ext cx="621792" cy="23114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34290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 + 2 = ?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829800" y="3447288"/>
            <a:ext cx="12801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79" name="Oval 78"/>
          <p:cNvSpPr/>
          <p:nvPr/>
        </p:nvSpPr>
        <p:spPr>
          <a:xfrm>
            <a:off x="475488" y="455371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97280" y="4736592"/>
            <a:ext cx="6492239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Isosceles Triangle 80"/>
          <p:cNvSpPr/>
          <p:nvPr/>
        </p:nvSpPr>
        <p:spPr>
          <a:xfrm rot="5400000">
            <a:off x="7543800" y="4663440"/>
            <a:ext cx="146304" cy="146304"/>
          </a:xfrm>
          <a:prstGeom prst="triangl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1188720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14400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810512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536192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432304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157984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054096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779776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675887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401568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297679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023359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919472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645152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6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541264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266944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163055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888736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784847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6510527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406640" y="4654296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7132320" y="4828032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04" name="Oval 103"/>
          <p:cNvSpPr/>
          <p:nvPr/>
        </p:nvSpPr>
        <p:spPr>
          <a:xfrm>
            <a:off x="4846320" y="4663440"/>
            <a:ext cx="146304" cy="146304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rc 104"/>
          <p:cNvSpPr/>
          <p:nvPr/>
        </p:nvSpPr>
        <p:spPr>
          <a:xfrm>
            <a:off x="4919472" y="4394606"/>
            <a:ext cx="621792" cy="683971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919472" y="4163466"/>
            <a:ext cx="621792" cy="23114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107" name="Arc 106"/>
          <p:cNvSpPr/>
          <p:nvPr/>
        </p:nvSpPr>
        <p:spPr>
          <a:xfrm>
            <a:off x="5541264" y="4394606"/>
            <a:ext cx="621792" cy="683971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541264" y="4163466"/>
            <a:ext cx="621792" cy="23114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109" name="Arc 108"/>
          <p:cNvSpPr/>
          <p:nvPr/>
        </p:nvSpPr>
        <p:spPr>
          <a:xfrm>
            <a:off x="6163056" y="4394606"/>
            <a:ext cx="621792" cy="683971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63056" y="4163466"/>
            <a:ext cx="621792" cy="23114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63840" y="4370832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6 + 3 = 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829800" y="4389120"/>
            <a:ext cx="12801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113" name="Oval 112"/>
          <p:cNvSpPr/>
          <p:nvPr/>
        </p:nvSpPr>
        <p:spPr>
          <a:xfrm>
            <a:off x="475488" y="549554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097280" y="5678424"/>
            <a:ext cx="6492239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Isosceles Triangle 114"/>
          <p:cNvSpPr/>
          <p:nvPr/>
        </p:nvSpPr>
        <p:spPr>
          <a:xfrm rot="5400000">
            <a:off x="7543800" y="5605272"/>
            <a:ext cx="146304" cy="146304"/>
          </a:xfrm>
          <a:prstGeom prst="triangl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1188720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914400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810512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536192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2432304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157984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3054096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2779776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3675887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401568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4297679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4023359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4919472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4645152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5541264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5266944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7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6163055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888736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6784847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6510527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7406640" y="5596128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7132320" y="5769864"/>
            <a:ext cx="548640" cy="2667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38" name="Oval 137"/>
          <p:cNvSpPr/>
          <p:nvPr/>
        </p:nvSpPr>
        <p:spPr>
          <a:xfrm>
            <a:off x="5468112" y="5605272"/>
            <a:ext cx="146304" cy="146304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Arc 138"/>
          <p:cNvSpPr/>
          <p:nvPr/>
        </p:nvSpPr>
        <p:spPr>
          <a:xfrm>
            <a:off x="5541264" y="5336438"/>
            <a:ext cx="621792" cy="683971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541264" y="5105298"/>
            <a:ext cx="621792" cy="23114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141" name="Arc 140"/>
          <p:cNvSpPr/>
          <p:nvPr/>
        </p:nvSpPr>
        <p:spPr>
          <a:xfrm>
            <a:off x="6163055" y="5336438"/>
            <a:ext cx="621792" cy="683971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163055" y="5105298"/>
            <a:ext cx="621792" cy="23114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63840" y="5312664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7 + 2 = ?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829800" y="5330952"/>
            <a:ext cx="12801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112" grpId="0" animBg="1"/>
      <p:bldP spid="144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Өздөштүрүү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3-бөлүк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20/48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1600200"/>
            <a:ext cx="777240" cy="777240"/>
          </a:xfrm>
          <a:prstGeom prst="ellipse">
            <a:avLst/>
          </a:prstGeom>
          <a:noFill/>
          <a:ln w="254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4A5A70"/>
                </a:solidFill>
                <a:latin typeface="PT Sans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103120" y="1600200"/>
            <a:ext cx="777240" cy="777240"/>
          </a:xfrm>
          <a:prstGeom prst="ellipse">
            <a:avLst/>
          </a:prstGeom>
          <a:noFill/>
          <a:ln w="254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4A5A70"/>
                </a:solidFill>
                <a:latin typeface="PT Sans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0" y="1600200"/>
            <a:ext cx="777240" cy="777240"/>
          </a:xfrm>
          <a:prstGeom prst="ellipse">
            <a:avLst/>
          </a:prstGeom>
          <a:solidFill>
            <a:srgbClr val="24418C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PT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 i="0">
                <a:solidFill>
                  <a:srgbClr val="24418C"/>
                </a:solidFill>
                <a:latin typeface="PT Sans"/>
              </a:rPr>
              <a:t>Өздөштүрүү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033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1">
                <a:solidFill>
                  <a:srgbClr val="6B7280"/>
                </a:solidFill>
                <a:latin typeface="PT Sans"/>
              </a:rPr>
              <a:t>Өз алдынча чыгарабыз, текшеребиз жана ойлонобуз.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24418C"/>
                </a:solidFill>
                <a:latin typeface="PT Sans"/>
              </a:rPr>
              <a:t>Өзүң чыгар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24418C"/>
                </a:solidFill>
                <a:latin typeface="PT Sans"/>
              </a:rPr>
              <a:t>Ойлон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61772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24418C"/>
                </a:solidFill>
                <a:latin typeface="PT Sans"/>
              </a:rPr>
              <a:t>Баала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Өзүң чыгар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Колдонуу · Өзүң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Жаңгактарды сана, анан жаз.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18872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187452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252728" y="201168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55648" y="201168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32888" y="201168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35808" y="201168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560320"/>
            <a:ext cx="5550408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F2430"/>
                </a:solidFill>
                <a:latin typeface="PT Sans"/>
              </a:rPr>
              <a:t/>
            </a:r>
            <a:r>
              <a:rPr sz="4800" b="1">
                <a:solidFill>
                  <a:srgbClr val="1F2430"/>
                </a:solidFill>
                <a:latin typeface="PT Sans"/>
              </a:rPr>
              <a:t>2</a:t>
            </a:r>
            <a:r>
              <a:rPr sz="4800" b="1">
                <a:solidFill>
                  <a:srgbClr val="1F2430"/>
                </a:solidFill>
                <a:latin typeface="PT Sans"/>
              </a:rPr>
              <a:t> + </a:t>
            </a:r>
            <a:r>
              <a:rPr sz="4800" b="1">
                <a:solidFill>
                  <a:srgbClr val="1F2430"/>
                </a:solidFill>
                <a:latin typeface="PT Sans"/>
              </a:rPr>
              <a:t>2</a:t>
            </a:r>
            <a:r>
              <a:rPr sz="4800" b="1">
                <a:solidFill>
                  <a:srgbClr val="1F2430"/>
                </a:solidFill>
                <a:latin typeface="PT Sans"/>
              </a:rPr>
              <a:t> = </a:t>
            </a:r>
            <a:r>
              <a:rPr sz="4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73168" y="3063240"/>
            <a:ext cx="109728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69164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187452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7031736" y="201168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34656" y="201168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37576" y="201168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201168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17736" y="201168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2560320"/>
            <a:ext cx="5550408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F2430"/>
                </a:solidFill>
                <a:latin typeface="PT Sans"/>
              </a:rPr>
              <a:t/>
            </a:r>
            <a:r>
              <a:rPr sz="4800" b="1">
                <a:solidFill>
                  <a:srgbClr val="1F2430"/>
                </a:solidFill>
                <a:latin typeface="PT Sans"/>
              </a:rPr>
              <a:t>4</a:t>
            </a:r>
            <a:r>
              <a:rPr sz="4800" b="1">
                <a:solidFill>
                  <a:srgbClr val="1F2430"/>
                </a:solidFill>
                <a:latin typeface="PT Sans"/>
              </a:rPr>
              <a:t> + </a:t>
            </a:r>
            <a:r>
              <a:rPr sz="4800" b="1">
                <a:solidFill>
                  <a:srgbClr val="1F2430"/>
                </a:solidFill>
                <a:latin typeface="PT Sans"/>
              </a:rPr>
              <a:t>1</a:t>
            </a:r>
            <a:r>
              <a:rPr sz="4800" b="1">
                <a:solidFill>
                  <a:srgbClr val="1F2430"/>
                </a:solidFill>
                <a:latin typeface="PT Sans"/>
              </a:rPr>
              <a:t> = </a:t>
            </a:r>
            <a:r>
              <a:rPr sz="4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52176" y="3063240"/>
            <a:ext cx="109728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" y="393192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2647" y="411480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1252728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55648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258568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35808" y="425196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38728" y="425196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41648" y="425196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4800600"/>
            <a:ext cx="5550408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F2430"/>
                </a:solidFill>
                <a:latin typeface="PT Sans"/>
              </a:rPr>
              <a:t/>
            </a:r>
            <a:r>
              <a:rPr sz="4800" b="1">
                <a:solidFill>
                  <a:srgbClr val="1F2430"/>
                </a:solidFill>
                <a:latin typeface="PT Sans"/>
              </a:rPr>
              <a:t>3</a:t>
            </a:r>
            <a:r>
              <a:rPr sz="4800" b="1">
                <a:solidFill>
                  <a:srgbClr val="1F2430"/>
                </a:solidFill>
                <a:latin typeface="PT Sans"/>
              </a:rPr>
              <a:t> + </a:t>
            </a:r>
            <a:r>
              <a:rPr sz="4800" b="1">
                <a:solidFill>
                  <a:srgbClr val="1F2430"/>
                </a:solidFill>
                <a:latin typeface="PT Sans"/>
              </a:rPr>
              <a:t>3</a:t>
            </a:r>
            <a:r>
              <a:rPr sz="4800" b="1">
                <a:solidFill>
                  <a:srgbClr val="1F2430"/>
                </a:solidFill>
                <a:latin typeface="PT Sans"/>
              </a:rPr>
              <a:t> = </a:t>
            </a:r>
            <a:r>
              <a:rPr sz="4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3168" y="5303520"/>
            <a:ext cx="109728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6" y="393192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91656" y="411480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7031736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34656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37576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40496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43416" y="4251960"/>
            <a:ext cx="411480" cy="41148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20656" y="425196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3576" y="4251960"/>
            <a:ext cx="411480" cy="41148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08776" y="4800600"/>
            <a:ext cx="5550408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F2430"/>
                </a:solidFill>
                <a:latin typeface="PT Sans"/>
              </a:rPr>
              <a:t/>
            </a:r>
            <a:r>
              <a:rPr sz="4800" b="1">
                <a:solidFill>
                  <a:srgbClr val="1F2430"/>
                </a:solidFill>
                <a:latin typeface="PT Sans"/>
              </a:rPr>
              <a:t>5</a:t>
            </a:r>
            <a:r>
              <a:rPr sz="4800" b="1">
                <a:solidFill>
                  <a:srgbClr val="1F2430"/>
                </a:solidFill>
                <a:latin typeface="PT Sans"/>
              </a:rPr>
              <a:t> + </a:t>
            </a:r>
            <a:r>
              <a:rPr sz="4800" b="1">
                <a:solidFill>
                  <a:srgbClr val="1F2430"/>
                </a:solidFill>
                <a:latin typeface="PT Sans"/>
              </a:rPr>
              <a:t>2</a:t>
            </a:r>
            <a:r>
              <a:rPr sz="4800" b="1">
                <a:solidFill>
                  <a:srgbClr val="1F2430"/>
                </a:solidFill>
                <a:latin typeface="PT Sans"/>
              </a:rPr>
              <a:t> = </a:t>
            </a:r>
            <a:r>
              <a:rPr sz="4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52176" y="5303520"/>
            <a:ext cx="109728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8" grpId="0" animBg="1"/>
      <p:bldP spid="38" grpId="0" animBg="1"/>
      <p:bldP spid="4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Кош сандар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эсеп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31/48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Оозеки эсеп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Эстөө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7883" y="1188720"/>
            <a:ext cx="30495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 → Абстракттуу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8216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62072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288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8216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95144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2072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29000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40657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07585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40657" y="279513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07585" y="279513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205740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 + 2 = 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2880360"/>
            <a:ext cx="10972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173736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45936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0296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07223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4152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08008" y="214884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0296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07223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74152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08008" y="271576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19665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86593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53521" y="222820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19665" y="279513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86593" y="279513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53521" y="279513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03536" y="2057400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 + 3 = 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77856" y="2880360"/>
            <a:ext cx="10972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6928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1288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28216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95144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62072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29000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1288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728216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95144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62072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29000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40657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07585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374513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941441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40657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807585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374513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941441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24528" y="4297679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 + 4 = ?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98848" y="5120640"/>
            <a:ext cx="10972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08776" y="3977639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45936" y="41148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0296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07223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74152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41080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08008" y="4389120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40296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07223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74152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41080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08008" y="4956048"/>
            <a:ext cx="56692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019665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586593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153521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720449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87377" y="4468489"/>
            <a:ext cx="408188" cy="408188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019665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586593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153521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720449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287377" y="5035417"/>
            <a:ext cx="408188" cy="408188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03536" y="4297679"/>
            <a:ext cx="1645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 + 5 = ?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277856" y="5120640"/>
            <a:ext cx="10972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0" grpId="0" animBg="1"/>
      <p:bldP spid="72" grpId="0" animBg="1"/>
      <p:bldP spid="96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менен чыгар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Колдонуу · Текст маселе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36/48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Колдонуу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7883" y="1188720"/>
            <a:ext cx="30495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 → Абстракттуу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113294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783080"/>
            <a:ext cx="516636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Тыйында 3 алма бар эле. Помпон ага дагы 4 алма берди. Баары канча алма?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19456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84264" y="219456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13448" y="219456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42632" y="2194560"/>
            <a:ext cx="329184" cy="384048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71816" y="2194560"/>
            <a:ext cx="329184" cy="384048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2194560"/>
            <a:ext cx="329184" cy="384048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0184" y="2194560"/>
            <a:ext cx="329184" cy="384048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355080" y="261518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42632" y="261518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55080" y="2724912"/>
            <a:ext cx="987552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34456" y="2743200"/>
            <a:ext cx="1828800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42632" y="261518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59368" y="261518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42632" y="2724912"/>
            <a:ext cx="1316736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86600" y="2743200"/>
            <a:ext cx="1828800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355080" y="2048255"/>
            <a:ext cx="0" cy="109729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659368" y="2048255"/>
            <a:ext cx="0" cy="109729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55080" y="2048255"/>
            <a:ext cx="2304288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92824" y="1727707"/>
            <a:ext cx="1828800" cy="3022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2148840"/>
            <a:ext cx="182880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+ 4 = 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" y="3246120"/>
            <a:ext cx="113294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" y="338327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291839"/>
            <a:ext cx="516636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Помпон эртең менен 6 сабиз, кечинде 2 сабиз жеди. Баары канча сабиз?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70332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84264" y="370332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13448" y="370332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42632" y="370332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71816" y="370332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01000" y="3703320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30183" y="3703320"/>
            <a:ext cx="329184" cy="384048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59367" y="3703320"/>
            <a:ext cx="329184" cy="384048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355080" y="412394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30183" y="4123944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55080" y="4233672"/>
            <a:ext cx="1975103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28231" y="4251959"/>
            <a:ext cx="1828800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6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30183" y="41239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988552" y="4123944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330183" y="4233672"/>
            <a:ext cx="658369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744967" y="4251959"/>
            <a:ext cx="1828800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6355080" y="3557015"/>
            <a:ext cx="0" cy="109729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88552" y="3557015"/>
            <a:ext cx="0" cy="109729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355080" y="3557015"/>
            <a:ext cx="2633472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757416" y="3236467"/>
            <a:ext cx="1828800" cy="3022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38360" y="3657600"/>
            <a:ext cx="182880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+ 2 = 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9768" y="4754879"/>
            <a:ext cx="1132941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66928" y="489204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" y="4800599"/>
            <a:ext cx="516636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Тыйын 9 жаңгак чогултту: 5и токойдон, калганын бактан. Бактан канча?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5212079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84264" y="5212079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13448" y="5212079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42632" y="5212079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671816" y="5212079"/>
            <a:ext cx="329184" cy="384048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01000" y="5212079"/>
            <a:ext cx="1316736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6355080" y="5632703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01000" y="5632703"/>
            <a:ext cx="0" cy="109728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355080" y="5742431"/>
            <a:ext cx="1645920" cy="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63640" y="5760719"/>
            <a:ext cx="1828800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5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001000" y="5632703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317736" y="5632703"/>
            <a:ext cx="0" cy="10972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001000" y="5742431"/>
            <a:ext cx="1316736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744967" y="5760719"/>
            <a:ext cx="1828800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6355080" y="5065775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317736" y="5065775"/>
            <a:ext cx="0" cy="109728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355080" y="5065775"/>
            <a:ext cx="2962656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922008" y="4745227"/>
            <a:ext cx="1828800" cy="3022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738360" y="5166359"/>
            <a:ext cx="182880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+ 4 =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9" grpId="0" animBg="1"/>
      <p:bldP spid="81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Тереңдетүү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717035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Тереңдетүү · 3C: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Талдоо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189006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70908" y="178308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189006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8148" y="178308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189006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8268" y="178308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189006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5508" y="178308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890064"/>
            <a:ext cx="594360" cy="487375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62748" y="1783080"/>
            <a:ext cx="499262" cy="202082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" y="2651760"/>
            <a:ext cx="555040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loud 22"/>
          <p:cNvSpPr/>
          <p:nvPr/>
        </p:nvSpPr>
        <p:spPr>
          <a:xfrm>
            <a:off x="1520647" y="3080613"/>
            <a:ext cx="749808" cy="1312163"/>
          </a:xfrm>
          <a:prstGeom prst="cloud">
            <a:avLst/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45589" y="3305556"/>
            <a:ext cx="337413" cy="4498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1018275" y="2833176"/>
            <a:ext cx="0" cy="172456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43295" y="2743200"/>
            <a:ext cx="164957" cy="164957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1528145" y="2833176"/>
            <a:ext cx="0" cy="172456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453164" y="2743200"/>
            <a:ext cx="164957" cy="164957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5781" y="4392777"/>
            <a:ext cx="239938" cy="164957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70685" y="4392777"/>
            <a:ext cx="239938" cy="164957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" y="2968142"/>
            <a:ext cx="1012240" cy="1499616"/>
          </a:xfrm>
          <a:prstGeom prst="roundRect">
            <a:avLst>
              <a:gd name="adj" fmla="val 48000"/>
            </a:avLst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0762" y="3867912"/>
            <a:ext cx="487375" cy="4873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3287" y="3208080"/>
            <a:ext cx="299923" cy="2999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6263" y="3292059"/>
            <a:ext cx="149961" cy="149961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8757" y="3307055"/>
            <a:ext cx="47987" cy="47987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48191" y="3208080"/>
            <a:ext cx="299923" cy="2999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41167" y="3292059"/>
            <a:ext cx="149961" cy="149961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63661" y="3307055"/>
            <a:ext cx="47987" cy="47987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ord 38"/>
          <p:cNvSpPr/>
          <p:nvPr/>
        </p:nvSpPr>
        <p:spPr>
          <a:xfrm>
            <a:off x="1153241" y="3463015"/>
            <a:ext cx="314919" cy="239938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" y="4617720"/>
            <a:ext cx="112471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Тыйын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4328" y="2926080"/>
            <a:ext cx="3200400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 + 3 = 6
«Мен 6 санадым!»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8776" y="2651760"/>
            <a:ext cx="555040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6722303" y="2893161"/>
            <a:ext cx="179953" cy="449885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617329" y="2773192"/>
            <a:ext cx="209946" cy="20994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7247168" y="2893161"/>
            <a:ext cx="179954" cy="449885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322149" y="2773192"/>
            <a:ext cx="209946" cy="20994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12280" y="4467758"/>
            <a:ext cx="224942" cy="164957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149693" y="4467758"/>
            <a:ext cx="224942" cy="164957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49847" y="3268065"/>
            <a:ext cx="1087221" cy="1312163"/>
          </a:xfrm>
          <a:prstGeom prst="ellipse">
            <a:avLst/>
          </a:prstGeom>
          <a:solidFill>
            <a:srgbClr val="DDE8F7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99808" y="4205325"/>
            <a:ext cx="97475" cy="97475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74636" y="4130344"/>
            <a:ext cx="97475" cy="97475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074712" y="4355287"/>
            <a:ext cx="97475" cy="97475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74789" y="3567988"/>
            <a:ext cx="284927" cy="28492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28925" y="3647768"/>
            <a:ext cx="142463" cy="142463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50295" y="3662014"/>
            <a:ext cx="45588" cy="45588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34697" y="3567988"/>
            <a:ext cx="284927" cy="28492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188833" y="3647768"/>
            <a:ext cx="142463" cy="142463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210203" y="3662014"/>
            <a:ext cx="45588" cy="45588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ord 58"/>
          <p:cNvSpPr/>
          <p:nvPr/>
        </p:nvSpPr>
        <p:spPr>
          <a:xfrm>
            <a:off x="6947245" y="3845417"/>
            <a:ext cx="299923" cy="22494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2356" y="4655210"/>
            <a:ext cx="112471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Помпон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3336" y="2926080"/>
            <a:ext cx="3200400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 + 3 = 5
«Мен 5 санадым!»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" y="52578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Тыйын эмнени кошуп санап алды?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" y="5779008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Мындай айт: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94560" y="5779008"/>
            <a:ext cx="4297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«Мен … деп ойлойм, анткени …»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66560" y="5779008"/>
            <a:ext cx="4297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«Тыйын … санап алды.»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7нин курамы: үлгү изде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Тереңдетүү · Эвристика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38/48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717035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Тереңдетүү · 3C: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Талдоо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9967" y="1188720"/>
            <a:ext cx="23774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Эвристика: үлгү изде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7830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7844" y="19065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25880" y="17830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9324" y="19065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7360" y="17830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60804" y="19065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8840" y="17830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72284" y="19065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0" y="17830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83763" y="19065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17830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5244" y="19065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17830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06724" y="19065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1709928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7 + 0 =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33172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7844" y="245516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25880" y="233172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49324" y="245516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37360" y="233172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60804" y="245516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48840" y="233172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72284" y="245516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0" y="233172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83763" y="245516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71800" y="233172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95244" y="245516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233172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06724" y="245516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2258568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6 + 1 = 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288036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7844" y="30038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25880" y="288036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49324" y="30038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37360" y="288036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60804" y="30038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48840" y="288036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272284" y="30038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0" y="288036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683763" y="30038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71800" y="28803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95244" y="30038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83280" y="28803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06724" y="30038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0520" y="2807208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5 + 2 = 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342900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7844" y="355244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25880" y="342900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49324" y="355244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37360" y="342900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60804" y="355244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48840" y="342900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72284" y="355244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60320" y="342900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683763" y="355244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71800" y="342900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95244" y="355244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83280" y="342900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506724" y="355244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60520" y="3355848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7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72200" y="3410712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4 + 3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7844" y="410108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25880" y="3977639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449324" y="410108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737360" y="3977639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860804" y="410108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48840" y="3977639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272284" y="410108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60320" y="3977639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683763" y="410108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971800" y="3977639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095244" y="410108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383280" y="3977639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06724" y="410108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60520" y="3904487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7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72200" y="3959352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3 + 4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4400" y="45262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37844" y="46497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25880" y="452628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449324" y="46497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737360" y="452628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860804" y="46497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148840" y="452628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272284" y="46497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560320" y="452628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683763" y="46497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971800" y="452628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095244" y="46497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83280" y="452628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06724" y="46497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60520" y="4453128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7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72200" y="4507992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2 + 5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4400" y="5074920"/>
            <a:ext cx="411480" cy="41148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37844" y="519836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325880" y="507492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449324" y="519836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37360" y="507492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60804" y="519836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148840" y="507492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272284" y="519836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560320" y="507492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683763" y="519836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971800" y="507492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095244" y="519836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383280" y="507492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506724" y="519836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60520" y="5001768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7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172200" y="5056632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1 + 6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0" y="56235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37844" y="57470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325880" y="56235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449324" y="57470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737360" y="56235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860804" y="57470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148840" y="56235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2272284" y="57470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560320" y="56235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683763" y="57470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971800" y="56235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095244" y="57470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383280" y="5623560"/>
            <a:ext cx="411480" cy="41148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506724" y="57470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160520" y="5550408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? + ? = 7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172200" y="5605272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0 + 7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001000" y="1783080"/>
            <a:ext cx="3758184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183879" y="1874519"/>
            <a:ext cx="3383280" cy="4160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Эмнени байкадың?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Жашылдар ...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Кызгылттар ...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Баары дайыма ...</a:t>
            </a:r>
          </a:p>
          <a:p>
            <a:pPr algn="l">
              <a:lnSpc>
                <a:spcPct val="105000"/>
              </a:lnSpc>
              <a:spcBef>
                <a:spcPts val="1800"/>
              </a:spcBef>
            </a:pPr>
            <a:r>
              <a:rPr sz="2200" b="1" i="0">
                <a:solidFill>
                  <a:srgbClr val="1D3557"/>
                </a:solidFill>
                <a:latin typeface="PT Sans"/>
              </a:rPr>
              <a:t>Канча жол бар?</a:t>
            </a:r>
          </a:p>
          <a:p>
            <a:pPr algn="l">
              <a:lnSpc>
                <a:spcPct val="105000"/>
              </a:lnSpc>
              <a:spcBef>
                <a:spcPts val="4000"/>
              </a:spcBef>
            </a:pPr>
            <a:r>
              <a:rPr sz="1600" b="1" i="0">
                <a:solidFill>
                  <a:srgbClr val="A84400"/>
                </a:solidFill>
                <a:latin typeface="PT Sans"/>
              </a:rPr>
              <a:t>Кыйын болсо – жакшы! Мээң өсүп жатат.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9" grpId="0" animBg="1"/>
      <p:bldP spid="105" grpId="0" animBg="1"/>
      <p:bldP spid="121" grpId="0" animBg="1"/>
      <p:bldP spid="137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7 жаңгакты бөл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Тереңдетүү · Түзүү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39/48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927348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5E · Тереңдетүү · 3C: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Түзүү</a:t>
            </a:r>
          </a:p>
        </p:txBody>
      </p:sp>
      <p:sp>
        <p:nvSpPr>
          <p:cNvPr id="12" name="Oval 11"/>
          <p:cNvSpPr/>
          <p:nvPr/>
        </p:nvSpPr>
        <p:spPr>
          <a:xfrm>
            <a:off x="521207" y="1976567"/>
            <a:ext cx="566928" cy="464880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562" y="1874519"/>
            <a:ext cx="476219" cy="192755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728" y="1976567"/>
            <a:ext cx="566928" cy="464880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98082" y="1874519"/>
            <a:ext cx="476219" cy="192755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84248" y="1976567"/>
            <a:ext cx="566928" cy="464880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29602" y="1874519"/>
            <a:ext cx="476219" cy="192755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15768" y="1976567"/>
            <a:ext cx="566928" cy="464880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61122" y="1874519"/>
            <a:ext cx="476219" cy="192755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47288" y="1976567"/>
            <a:ext cx="566928" cy="464880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92642" y="1874519"/>
            <a:ext cx="476219" cy="192755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78808" y="1976567"/>
            <a:ext cx="566928" cy="464880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24162" y="1874519"/>
            <a:ext cx="476219" cy="192755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10328" y="1976567"/>
            <a:ext cx="566928" cy="464880"/>
          </a:xfrm>
          <a:prstGeom prst="ellipse">
            <a:avLst/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55682" y="1874519"/>
            <a:ext cx="476219" cy="192755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1828800"/>
            <a:ext cx="58978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7 = ? + ?  Канча жол бар?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25880" y="3227832"/>
            <a:ext cx="868680" cy="109728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94560" y="3227832"/>
            <a:ext cx="868679" cy="109728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755648" y="278892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30" name="Oval 29"/>
          <p:cNvSpPr/>
          <p:nvPr/>
        </p:nvSpPr>
        <p:spPr>
          <a:xfrm>
            <a:off x="886968" y="388620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2624327" y="388620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39" y="5120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6 + 1 = 7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5212080" y="3227832"/>
            <a:ext cx="868680" cy="109728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80760" y="3227832"/>
            <a:ext cx="868680" cy="109728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641848" y="278892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4773168" y="388620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7" name="Oval 36"/>
          <p:cNvSpPr/>
          <p:nvPr/>
        </p:nvSpPr>
        <p:spPr>
          <a:xfrm>
            <a:off x="6510528" y="388620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120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? + ? = 7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9098280" y="3227832"/>
            <a:ext cx="868680" cy="109728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66960" y="3227832"/>
            <a:ext cx="868680" cy="109728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528048" y="278892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42" name="Oval 41"/>
          <p:cNvSpPr/>
          <p:nvPr/>
        </p:nvSpPr>
        <p:spPr>
          <a:xfrm>
            <a:off x="8659368" y="388620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3" name="Oval 42"/>
          <p:cNvSpPr/>
          <p:nvPr/>
        </p:nvSpPr>
        <p:spPr>
          <a:xfrm>
            <a:off x="10396728" y="3886200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8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120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? + ? =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5779008"/>
            <a:ext cx="2011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Жуп эрежеси: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5779008"/>
            <a:ext cx="2011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Кезек менен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5779008"/>
            <a:ext cx="2011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Угабыз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5779008"/>
            <a:ext cx="20116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Бөлүшөбүз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Үйдө жана класста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40/48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3C: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828800"/>
            <a:ext cx="11329416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21762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828800"/>
            <a:ext cx="731520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Дасторкондо 3 кесе жана 2 чыны. Баары канча идиш?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3 + 2 =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200400"/>
            <a:ext cx="11329416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3547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00400"/>
            <a:ext cx="731520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Катарда 4 кыз жана 4 бала. Баары канча бала?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00400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4 + 4 =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4572000"/>
            <a:ext cx="11329416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49194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72000"/>
            <a:ext cx="731520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Сен ойлоп тап! Үйүңдөн кошуу тап.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572000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? + ? = 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Баалоо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61872"/>
            <a:ext cx="11329416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5087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261872"/>
            <a:ext cx="6949440" cy="8778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 + 1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5270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527048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2249424"/>
            <a:ext cx="11329416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49631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249424"/>
            <a:ext cx="6949440" cy="8778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 = 4 + ?   (схемасын чий)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5146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А1 · А4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51460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3236976"/>
            <a:ext cx="11329416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48386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36976"/>
            <a:ext cx="6949440" cy="8778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 + 5 үчүн сүрөт тарт, анан чыгар.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50215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А4 · А7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3502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Түзүү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" y="4297680"/>
            <a:ext cx="11329416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97680"/>
            <a:ext cx="21945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Өзүңдү баала: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2834640" y="4480560"/>
            <a:ext cx="548640" cy="548640"/>
          </a:xfrm>
          <a:prstGeom prst="smileyFace">
            <a:avLst>
              <a:gd name="adj" fmla="val 4653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297680"/>
            <a:ext cx="17373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9" name="Smiley Face 28"/>
          <p:cNvSpPr/>
          <p:nvPr/>
        </p:nvSpPr>
        <p:spPr>
          <a:xfrm>
            <a:off x="5212080" y="4480560"/>
            <a:ext cx="548640" cy="548640"/>
          </a:xfrm>
          <a:prstGeom prst="smileyFace">
            <a:avLst>
              <a:gd name="adj" fmla="val 0"/>
            </a:avLst>
          </a:prstGeom>
          <a:solidFill>
            <a:srgbClr val="FFFFFF"/>
          </a:solidFill>
          <a:ln w="222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297680"/>
            <a:ext cx="17373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31" name="Smiley Face 30"/>
          <p:cNvSpPr/>
          <p:nvPr/>
        </p:nvSpPr>
        <p:spPr>
          <a:xfrm>
            <a:off x="7589520" y="4480560"/>
            <a:ext cx="548640" cy="548640"/>
          </a:xfrm>
          <a:prstGeom prst="smileyFace">
            <a:avLst>
              <a:gd name="adj" fmla="val -4653"/>
            </a:avLst>
          </a:prstGeom>
          <a:solidFill>
            <a:srgbClr val="FFFFFF"/>
          </a:solidFill>
          <a:ln w="222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4297680"/>
            <a:ext cx="17373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4A5A70"/>
                </a:solidFill>
                <a:latin typeface="PT Sans"/>
              </a:rPr>
              <a:t>Жардам керек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4581144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Х1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349240"/>
            <a:ext cx="11329416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349240"/>
            <a:ext cx="6035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Бүгүн жупуңа жардам бердиңби?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486400"/>
            <a:ext cx="10515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Ооба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5486400"/>
            <a:ext cx="10515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Бир аз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5486400"/>
            <a:ext cx="10515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Жок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5522976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Х2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 – басма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Баалоо · Басып чыгаруу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5550408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" y="123444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123444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Аты: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75887" y="1554480"/>
            <a:ext cx="2103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12647" y="1783080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73736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3 + 1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1737360"/>
            <a:ext cx="960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4A5A70"/>
                </a:solidFill>
                <a:latin typeface="PT Sans"/>
              </a:rPr>
              <a:t>А3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2167128"/>
            <a:ext cx="4754880" cy="4114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2715768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670048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6 = 4 + ?   (схемасын чий)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2670048"/>
            <a:ext cx="960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4A5A70"/>
                </a:solidFill>
                <a:latin typeface="PT Sans"/>
              </a:rPr>
              <a:t>А1 · А4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3099815"/>
            <a:ext cx="4754880" cy="4114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2647" y="3648456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602736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2 + 5 үчүн сүрөт тарт, анан чыгар.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3602736"/>
            <a:ext cx="960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4A5A70"/>
                </a:solidFill>
                <a:latin typeface="PT Sans"/>
              </a:rPr>
              <a:t>А4 · А7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032504"/>
            <a:ext cx="4754880" cy="4114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" y="4572000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Өзүңдү баала: бирөөнү тегеректе.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749808" y="4919472"/>
            <a:ext cx="457200" cy="457200"/>
          </a:xfrm>
          <a:prstGeom prst="smileyFace">
            <a:avLst>
              <a:gd name="adj" fmla="val 4653"/>
            </a:avLst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25295" y="4919472"/>
            <a:ext cx="1280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9" name="Smiley Face 28"/>
          <p:cNvSpPr/>
          <p:nvPr/>
        </p:nvSpPr>
        <p:spPr>
          <a:xfrm>
            <a:off x="2532888" y="4919472"/>
            <a:ext cx="457200" cy="457200"/>
          </a:xfrm>
          <a:prstGeom prst="smileyFace">
            <a:avLst>
              <a:gd name="adj" fmla="val 0"/>
            </a:avLst>
          </a:prstGeom>
          <a:solidFill>
            <a:srgbClr val="FFFFFF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8376" y="4919472"/>
            <a:ext cx="1280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31" name="Smiley Face 30"/>
          <p:cNvSpPr/>
          <p:nvPr/>
        </p:nvSpPr>
        <p:spPr>
          <a:xfrm>
            <a:off x="4315968" y="4919472"/>
            <a:ext cx="457200" cy="457200"/>
          </a:xfrm>
          <a:prstGeom prst="smileyFace">
            <a:avLst>
              <a:gd name="adj" fmla="val -4653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4919472"/>
            <a:ext cx="1280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Жардам керек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" y="548640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Бүгүн жупуңа жардам бердиңби?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84448" y="5577840"/>
            <a:ext cx="71323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007A5A"/>
                </a:solidFill>
                <a:latin typeface="PT Sans"/>
              </a:rPr>
              <a:t>Ооба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1688" y="5577840"/>
            <a:ext cx="71323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007A5A"/>
                </a:solidFill>
                <a:latin typeface="PT Sans"/>
              </a:rPr>
              <a:t>Бир аз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38928" y="5577840"/>
            <a:ext cx="71323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007A5A"/>
                </a:solidFill>
                <a:latin typeface="PT Sans"/>
              </a:rPr>
              <a:t>Жок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776" y="1188720"/>
            <a:ext cx="5550408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123444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123444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Аты: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54896" y="1554480"/>
            <a:ext cx="2103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391656" y="1783080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3136" y="173736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3 + 1 = 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89336" y="1737360"/>
            <a:ext cx="960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4A5A70"/>
                </a:solidFill>
                <a:latin typeface="PT Sans"/>
              </a:rPr>
              <a:t>А3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03136" y="2167128"/>
            <a:ext cx="4754880" cy="4114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91656" y="2715768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3136" y="2670048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6 = 4 + ?   (схемасын чий)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89336" y="2670048"/>
            <a:ext cx="960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4A5A70"/>
                </a:solidFill>
                <a:latin typeface="PT Sans"/>
              </a:rPr>
              <a:t>А1 · А4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03136" y="3099815"/>
            <a:ext cx="4754880" cy="4114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91656" y="3648456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3602736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2 + 5 үчүн сүрөт тарт, анан чыгар.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89336" y="3602736"/>
            <a:ext cx="960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4A5A70"/>
                </a:solidFill>
                <a:latin typeface="PT Sans"/>
              </a:rPr>
              <a:t>А4 · А7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03136" y="4032504"/>
            <a:ext cx="4754880" cy="4114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1656" y="4572000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Өзүңдү баала: бирөөнү тегеректе.</a:t>
            </a:r>
          </a:p>
        </p:txBody>
      </p:sp>
      <p:sp>
        <p:nvSpPr>
          <p:cNvPr id="54" name="Smiley Face 53"/>
          <p:cNvSpPr/>
          <p:nvPr/>
        </p:nvSpPr>
        <p:spPr>
          <a:xfrm>
            <a:off x="6528816" y="4919472"/>
            <a:ext cx="457200" cy="457200"/>
          </a:xfrm>
          <a:prstGeom prst="smileyFace">
            <a:avLst>
              <a:gd name="adj" fmla="val 4653"/>
            </a:avLst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04304" y="4919472"/>
            <a:ext cx="1280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56" name="Smiley Face 55"/>
          <p:cNvSpPr/>
          <p:nvPr/>
        </p:nvSpPr>
        <p:spPr>
          <a:xfrm>
            <a:off x="8311896" y="4919472"/>
            <a:ext cx="457200" cy="457200"/>
          </a:xfrm>
          <a:prstGeom prst="smileyFace">
            <a:avLst>
              <a:gd name="adj" fmla="val 0"/>
            </a:avLst>
          </a:prstGeom>
          <a:solidFill>
            <a:srgbClr val="FFFFFF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87384" y="4919472"/>
            <a:ext cx="1280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58" name="Smiley Face 57"/>
          <p:cNvSpPr/>
          <p:nvPr/>
        </p:nvSpPr>
        <p:spPr>
          <a:xfrm>
            <a:off x="10094976" y="4919472"/>
            <a:ext cx="457200" cy="457200"/>
          </a:xfrm>
          <a:prstGeom prst="smileyFace">
            <a:avLst>
              <a:gd name="adj" fmla="val -4653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70463" y="4919472"/>
            <a:ext cx="1280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Жардам керек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91656" y="548640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Бүгүн жупуңа жардам бердиңби?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63456" y="5577840"/>
            <a:ext cx="71323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007A5A"/>
                </a:solidFill>
                <a:latin typeface="PT Sans"/>
              </a:rPr>
              <a:t>Ооба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40696" y="5577840"/>
            <a:ext cx="71323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007A5A"/>
                </a:solidFill>
                <a:latin typeface="PT Sans"/>
              </a:rPr>
              <a:t>Бир аз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917936" y="5577840"/>
            <a:ext cx="71323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007A5A"/>
                </a:solidFill>
                <a:latin typeface="PT Sans"/>
              </a:rPr>
              <a:t>Жок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095847" y="1097280"/>
            <a:ext cx="0" cy="5166360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Эстеп кал!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Кыскача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61872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5087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1261872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Эки бөлүктү бириктиребиз – бул кошуу.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261872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бөлүк + бөлүк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58568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50545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258568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«+» – кошуу белгиси.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58568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255264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350215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255264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«=» – барабар белгиси.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55264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251960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44988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4251960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кошуу эки барабар беш.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251960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 + 2 =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358384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Бөлүк + бөлүк = бүтүн!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Кайсы ыкма жакты?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41/48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Тартуу · Оозеки талкуу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Баалоо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6916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Бүгүн эмне үйрөндүк?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377440"/>
            <a:ext cx="21195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9496" y="2487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343400"/>
            <a:ext cx="211957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Кубиктер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5157" y="3429000"/>
            <a:ext cx="365760" cy="36576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4885" y="353872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0917" y="3429000"/>
            <a:ext cx="365760" cy="36576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0645" y="353872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6677" y="3429000"/>
            <a:ext cx="365760" cy="36576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16405" y="353872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72437" y="3429000"/>
            <a:ext cx="365760" cy="36576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82165" y="353872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38197" y="3429000"/>
            <a:ext cx="365760" cy="365760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47925" y="3538728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32227" y="2377440"/>
            <a:ext cx="21195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841955" y="2487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2227" y="4343400"/>
            <a:ext cx="211957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Он-кадр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77616" y="31089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3376" y="31089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9136" y="31089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4896" y="31089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0656" y="31089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77616" y="3474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43376" y="3474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09136" y="3474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74896" y="3474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0656" y="3474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8823" y="3160166"/>
            <a:ext cx="263347" cy="263347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94583" y="3160166"/>
            <a:ext cx="263347" cy="263347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60343" y="3160166"/>
            <a:ext cx="263347" cy="263347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26103" y="3160166"/>
            <a:ext cx="263347" cy="263347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91863" y="3160166"/>
            <a:ext cx="263347" cy="263347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34686" y="2377440"/>
            <a:ext cx="21195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144414" y="2487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4686" y="4343400"/>
            <a:ext cx="211957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Сан курамы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5500116" y="3154679"/>
            <a:ext cx="594360" cy="777241"/>
          </a:xfrm>
          <a:prstGeom prst="line">
            <a:avLst/>
          </a:prstGeom>
          <a:ln w="1714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94476" y="3154679"/>
            <a:ext cx="594360" cy="777241"/>
          </a:xfrm>
          <a:prstGeom prst="line">
            <a:avLst/>
          </a:prstGeom>
          <a:ln w="1714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820156" y="28803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50" name="Oval 49"/>
          <p:cNvSpPr/>
          <p:nvPr/>
        </p:nvSpPr>
        <p:spPr>
          <a:xfrm>
            <a:off x="5225796" y="36576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6414516" y="36576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37145" y="2377440"/>
            <a:ext cx="21195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46873" y="2487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7145" y="4343400"/>
            <a:ext cx="211957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82535" y="3520440"/>
            <a:ext cx="365760" cy="347472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48295" y="3520440"/>
            <a:ext cx="365760" cy="347472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14055" y="3520440"/>
            <a:ext cx="365760" cy="347472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79815" y="3520440"/>
            <a:ext cx="365760" cy="347472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45575" y="3520440"/>
            <a:ext cx="365760" cy="347472"/>
          </a:xfrm>
          <a:prstGeom prst="rect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482535" y="3904488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79815" y="3904488"/>
            <a:ext cx="0" cy="109728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82535" y="4014216"/>
            <a:ext cx="1097280" cy="0"/>
          </a:xfrm>
          <a:prstGeom prst="line">
            <a:avLst/>
          </a:prstGeom>
          <a:ln w="158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116775" y="4032504"/>
            <a:ext cx="1828800" cy="2311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579815" y="3904488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311335" y="3904488"/>
            <a:ext cx="0" cy="109728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579815" y="4014216"/>
            <a:ext cx="731520" cy="0"/>
          </a:xfrm>
          <a:prstGeom prst="line">
            <a:avLst/>
          </a:prstGeom>
          <a:ln w="158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031175" y="4032504"/>
            <a:ext cx="1828800" cy="2311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7482535" y="3374136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311335" y="3374136"/>
            <a:ext cx="0" cy="109728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482535" y="3374136"/>
            <a:ext cx="182880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482535" y="3089148"/>
            <a:ext cx="1828800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39604" y="2377440"/>
            <a:ext cx="21195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49332" y="2487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39604" y="4343400"/>
            <a:ext cx="211957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Сан огу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693554" y="3749039"/>
            <a:ext cx="210312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11750954" y="3675887"/>
            <a:ext cx="146304" cy="146304"/>
          </a:xfrm>
          <a:prstGeom prst="triangl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9784994" y="3666744"/>
            <a:ext cx="0" cy="164591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510674" y="3840479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699394" y="3666744"/>
            <a:ext cx="0" cy="164591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425074" y="3840479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1613794" y="3666744"/>
            <a:ext cx="0" cy="164591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1339474" y="3840479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83" name="Oval 82"/>
          <p:cNvSpPr/>
          <p:nvPr/>
        </p:nvSpPr>
        <p:spPr>
          <a:xfrm>
            <a:off x="9711842" y="3675887"/>
            <a:ext cx="146304" cy="146304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rc 83"/>
          <p:cNvSpPr/>
          <p:nvPr/>
        </p:nvSpPr>
        <p:spPr>
          <a:xfrm>
            <a:off x="9784994" y="3246120"/>
            <a:ext cx="91440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222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84994" y="3047999"/>
            <a:ext cx="914400" cy="19812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86" name="Arc 85"/>
          <p:cNvSpPr/>
          <p:nvPr/>
        </p:nvSpPr>
        <p:spPr>
          <a:xfrm>
            <a:off x="10699394" y="3246120"/>
            <a:ext cx="91440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222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99394" y="3047999"/>
            <a:ext cx="914400" cy="19812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A84400"/>
                </a:solidFill>
                <a:latin typeface="PT Sans"/>
              </a:rPr>
              <a:t>+1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768" y="50292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Кайсы ыкма жакты? Манжаң менен көрсөт: 1, 2, 3, 4 же 5.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9768" y="557784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Мындай айт: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194560" y="5577840"/>
            <a:ext cx="49377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«Мага … жакты, анткени …»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315200" y="5577840"/>
            <a:ext cx="4434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«Бүгүн мен … үйрөндүм»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эмне үйрөндүм?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Рефлексия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6187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490472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261872"/>
            <a:ext cx="67665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Мен эки бөлүктү бириктирип, бүтүндү табам.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8778240" y="1408175"/>
            <a:ext cx="512064" cy="512064"/>
          </a:xfrm>
          <a:prstGeom prst="smileyFace">
            <a:avLst>
              <a:gd name="adj" fmla="val 4653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9738360" y="1408175"/>
            <a:ext cx="512064" cy="512064"/>
          </a:xfrm>
          <a:prstGeom prst="smileyFace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miley Face 14"/>
          <p:cNvSpPr/>
          <p:nvPr/>
        </p:nvSpPr>
        <p:spPr>
          <a:xfrm>
            <a:off x="10698480" y="1408175"/>
            <a:ext cx="512064" cy="512064"/>
          </a:xfrm>
          <a:prstGeom prst="smileyFace">
            <a:avLst>
              <a:gd name="adj" fmla="val -4653"/>
            </a:avLst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" y="217627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404872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176272"/>
            <a:ext cx="67665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Мен «+» жана «=» белгилерин окуйм.</a:t>
            </a:r>
          </a:p>
        </p:txBody>
      </p:sp>
      <p:sp>
        <p:nvSpPr>
          <p:cNvPr id="19" name="Smiley Face 18"/>
          <p:cNvSpPr/>
          <p:nvPr/>
        </p:nvSpPr>
        <p:spPr>
          <a:xfrm>
            <a:off x="8778240" y="2322576"/>
            <a:ext cx="512064" cy="512064"/>
          </a:xfrm>
          <a:prstGeom prst="smileyFace">
            <a:avLst>
              <a:gd name="adj" fmla="val 4653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miley Face 19"/>
          <p:cNvSpPr/>
          <p:nvPr/>
        </p:nvSpPr>
        <p:spPr>
          <a:xfrm>
            <a:off x="9738360" y="2322576"/>
            <a:ext cx="512064" cy="512064"/>
          </a:xfrm>
          <a:prstGeom prst="smileyFace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miley Face 20"/>
          <p:cNvSpPr/>
          <p:nvPr/>
        </p:nvSpPr>
        <p:spPr>
          <a:xfrm>
            <a:off x="10698480" y="2322576"/>
            <a:ext cx="512064" cy="512064"/>
          </a:xfrm>
          <a:prstGeom prst="smileyFace">
            <a:avLst>
              <a:gd name="adj" fmla="val -4653"/>
            </a:avLst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" y="309067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319272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А3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090672"/>
            <a:ext cx="67665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Мен 10 ичинде кошом: 3 + 2 = 5.</a:t>
            </a:r>
          </a:p>
        </p:txBody>
      </p:sp>
      <p:sp>
        <p:nvSpPr>
          <p:cNvPr id="25" name="Smiley Face 24"/>
          <p:cNvSpPr/>
          <p:nvPr/>
        </p:nvSpPr>
        <p:spPr>
          <a:xfrm>
            <a:off x="8778240" y="3236976"/>
            <a:ext cx="512064" cy="512064"/>
          </a:xfrm>
          <a:prstGeom prst="smileyFace">
            <a:avLst>
              <a:gd name="adj" fmla="val 4653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miley Face 25"/>
          <p:cNvSpPr/>
          <p:nvPr/>
        </p:nvSpPr>
        <p:spPr>
          <a:xfrm>
            <a:off x="9738360" y="3236976"/>
            <a:ext cx="512064" cy="512064"/>
          </a:xfrm>
          <a:prstGeom prst="smileyFace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miley Face 26"/>
          <p:cNvSpPr/>
          <p:nvPr/>
        </p:nvSpPr>
        <p:spPr>
          <a:xfrm>
            <a:off x="10698480" y="3236976"/>
            <a:ext cx="512064" cy="512064"/>
          </a:xfrm>
          <a:prstGeom prst="smileyFace">
            <a:avLst>
              <a:gd name="adj" fmla="val -4653"/>
            </a:avLst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768" y="4114800"/>
            <a:ext cx="11329416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10689336" cy="1600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Бүгүн эмне үйрөндүм?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Эмне кыйын болду?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Мен … үйрөндүм.   Мага … кыйын болду.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4251960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4A5A70"/>
                </a:solidFill>
                <a:latin typeface="PT Sans"/>
              </a:rPr>
              <a:t>Х1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46/48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Мугалим үчүн · 1-бет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737360"/>
            <a:ext cx="363931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83080"/>
            <a:ext cx="363931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Кадам-кадам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" y="23774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Буюм → кубик тизмеги → тилке.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32918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Бир кутуча = бир буюм (1-класс).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42062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Кутучалар бирдей чоңдукта.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51206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Белгисиз: үзүк сызык жана «?».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737360"/>
            <a:ext cx="363931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783080"/>
            <a:ext cx="363931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Класстан класска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774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1-класс: бөлүк – бүтүн (кошуу).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1-класс аягы: кемитүү, салыштыруу.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2062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2–3-класс: эки тилке, көп кадам.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1206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4–6-класс: бөлчөк, катыш, пайыз.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737360"/>
            <a:ext cx="363931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1783080"/>
            <a:ext cx="363931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Кыйынчылыктар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3774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Кутучаларды санабай чийет → кубик менен кайтала.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32918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Бүтүн менен бөлүктү чаташтырат → «баары» сөзүн изде.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42062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Чийбей эле эсептейт → «адегенде сүрөт» эрежеси.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512064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Ар бир сабакта 2–3 мүнөт тилке машыгуусу.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Сабактагы сөздөр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47/48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Мугалим үчүн · 2-бет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737360"/>
            <a:ext cx="555040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83080"/>
            <a:ext cx="555040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688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«Азырынча чыкпай жатат. Кайсы ыкманы колдонсок болот?»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3832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«Катаң бизге эмне үйрөттү?»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976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«Кантип ойлодуң? Сүрөтүңдү көрсөт.»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2120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«Сен көп аракет кылдың – ошондуктан чыкты.»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737360"/>
            <a:ext cx="555040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783080"/>
            <a:ext cx="555040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Айтпайбыз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4688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«Математика кыйын, баары эле билбейт.»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3832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«Мен да математиканы билчү эмесмин.»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2976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«Сен математикага жөндөмсүзсүң.»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5212080"/>
            <a:ext cx="5029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«Тезирээк! Ойлонбой эле жаз.»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Кийинки темага өтөбүзбү?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48/48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Мугалим үчүн · 3-бет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737360"/>
            <a:ext cx="555040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83080"/>
            <a:ext cx="555040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Класс даяр, эгерде…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737360"/>
            <a:ext cx="555040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783080"/>
            <a:ext cx="555040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Окуучу даяр, эгерде…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286000"/>
            <a:ext cx="518464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Чыгуу билеттери</a:t>
            </a:r>
          </a:p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Класстын 80%ы ● же ★ (3 суроонун 3ү туура).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3035808"/>
            <a:ext cx="518464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Чечүүчү суроолор</a:t>
            </a:r>
          </a:p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3- жана 4-суроого класстын 80%ы туура жооп берди (белгисиз бөлүк).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" y="3785615"/>
            <a:ext cx="518464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Кыска тест</a:t>
            </a:r>
          </a:p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Класстын 80%ы 12/18 же андан көп упай алды.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4535424"/>
            <a:ext cx="518464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Каталар</a:t>
            </a:r>
          </a:p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M2 (44) жана M3 (6 + 0 = 0) катасы бар ар бир бала кайра окутулуп, кайра текшерилди.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2395728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6" y="2286000"/>
            <a:ext cx="481888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10 ичинде кошууну тез табат (эстен же уланта санап).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1656" y="3145536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3035808"/>
            <a:ext cx="481888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Белгисиз бөлүктү тилке же курам менен табат.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6" y="3895344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3785615"/>
            <a:ext cx="481888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Бир кошууну 3 жол менен көрсөтөт: буюм, сүрөт, сан.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1656" y="464515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6" y="4535424"/>
            <a:ext cx="481888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Окуя маселеге туюнтма жазат.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" y="5440680"/>
            <a:ext cx="11329416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" y="5440680"/>
            <a:ext cx="10963656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Даяр эмес болсо: 1–2 сабак КСА килемчеси менен кайра окутуу, анан кайра чыгуу билети. Тема кийинки класста спираль менен дагы келет.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5 жана дагы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28/48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Оозеки ыкма · 5 жана дагы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3895" y="1188720"/>
            <a:ext cx="295351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Конкреттүү → Сүрөттүү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1132941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19" y="1947672"/>
            <a:ext cx="3054096" cy="1353312"/>
          </a:xfrm>
          <a:prstGeom prst="roundRect">
            <a:avLst>
              <a:gd name="adj" fmla="val 15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5972" y="2182124"/>
            <a:ext cx="317479" cy="317479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53896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32900" y="2182124"/>
            <a:ext cx="317479" cy="317479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20824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99828" y="2182124"/>
            <a:ext cx="317479" cy="317479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87751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66756" y="2182124"/>
            <a:ext cx="317479" cy="317479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54679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33684" y="2182124"/>
            <a:ext cx="317479" cy="317479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6968" y="26700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5972" y="2749052"/>
            <a:ext cx="317479" cy="317479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53896" y="26700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32900" y="2749052"/>
            <a:ext cx="317479" cy="317479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20824" y="26700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87751" y="26700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54679" y="26700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87368" y="178308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7 = 5 + 2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7368" y="2514600"/>
            <a:ext cx="7498079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Үстүнкү сап толук – 5. Анан дагы 2.</a:t>
            </a:r>
          </a:p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10 жумуртканын кутусу = он-кадр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3794760"/>
            <a:ext cx="362407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8" y="393192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8804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56004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13204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70404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27604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8804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56004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3204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70404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27604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62812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20012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077211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34412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91612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2812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5029200"/>
            <a:ext cx="362407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 = 5 + 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35964" y="553212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= 5 + 1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82439" y="3794760"/>
            <a:ext cx="362407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19600" y="393192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51475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08675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65875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23075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80275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51475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08675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5875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23075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80275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015483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72683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29883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387083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844283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015483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472683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929883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82439" y="5029200"/>
            <a:ext cx="362407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8 = 5 + ?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88636" y="553212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= 5 + 3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5112" y="3794760"/>
            <a:ext cx="362407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272272" y="393192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41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613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185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757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632948" y="40690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804148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61348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718548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75748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632948" y="45262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68156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325356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782556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239756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696956" y="41330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868156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325356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782556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239756" y="4590288"/>
            <a:ext cx="329184" cy="329184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35112" y="5029200"/>
            <a:ext cx="362407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9 = 5 + ?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941308" y="553212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= 5 + 4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75" grpId="0" animBg="1"/>
      <p:bldP spid="98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10дун курамы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29/48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29641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Оозеки ыкма · 10го толуктоо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7883" y="1188720"/>
            <a:ext cx="30495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 → Абстракттуу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11329416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1828800"/>
            <a:ext cx="1865376" cy="877824"/>
          </a:xfrm>
          <a:prstGeom prst="roundRect">
            <a:avLst>
              <a:gd name="adj" fmla="val 15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228" y="2010948"/>
            <a:ext cx="184343" cy="184343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4712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1412" y="2010948"/>
            <a:ext cx="184343" cy="184343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53896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80596" y="2010948"/>
            <a:ext cx="184343" cy="184343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83080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09780" y="2010948"/>
            <a:ext cx="184343" cy="184343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12263" y="1984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38964" y="2010948"/>
            <a:ext cx="184343" cy="184343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23134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228" y="2340132"/>
            <a:ext cx="184343" cy="184343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4712" y="23134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1412" y="2340132"/>
            <a:ext cx="184343" cy="184343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53896" y="23134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83080" y="23134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12263" y="23134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07208" y="1737360"/>
            <a:ext cx="877824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Бош уялар канча?  7 + 3 = 10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10дун курамы: 7 жана 3 – «он достор».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2926080"/>
            <a:ext cx="362407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9496" y="303580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5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07592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18488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29384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40280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6695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07592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8488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29384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40280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0221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51117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62013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972909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83805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0221" y="369198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24328" y="3063240"/>
            <a:ext cx="1383791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6 + ? = 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44368" y="374904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82439" y="2926080"/>
            <a:ext cx="362407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392167" y="303580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9367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60263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71159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82055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92952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49367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60263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71159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82055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2952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92893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03789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514685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825581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136477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892893" y="369198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203789" y="369198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514685" y="369198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76999" y="3063240"/>
            <a:ext cx="1383791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8 + ? = 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797039" y="374904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35112" y="2926080"/>
            <a:ext cx="362407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44839" y="303580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02040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012935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323831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634727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45623" y="33375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702040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12935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23831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634727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945623" y="36484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745565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056461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367357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678253" y="338108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29672" y="3063240"/>
            <a:ext cx="1383791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4 + ? = 10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649712" y="374904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9768" y="4572000"/>
            <a:ext cx="362407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39496" y="468172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96695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307592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18488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929384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240280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96695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307592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618488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29384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240280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40221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351117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662013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972909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283805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40221" y="533790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351117" y="533790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662013" y="533790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972909" y="533790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24328" y="4709160"/>
            <a:ext cx="1383791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9 + ? = 10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944368" y="539496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282439" y="4572000"/>
            <a:ext cx="362407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92167" y="468172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849367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160263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471159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782055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092952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849367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160263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471159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782055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092952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892893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203789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514685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25581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136477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76999" y="4709160"/>
            <a:ext cx="1383791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5 + ? = 10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797039" y="539496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135112" y="4572000"/>
            <a:ext cx="362407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244839" y="468172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702040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012935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323831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634727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945623" y="498348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02040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012935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323831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634727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945623" y="529437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745565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056461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367357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678253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989149" y="5027005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745565" y="533790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056461" y="5337901"/>
            <a:ext cx="223845" cy="223845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329672" y="4709160"/>
            <a:ext cx="1383791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7 + ? = 10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649712" y="539496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74" grpId="0" animBg="1"/>
      <p:bldP spid="92" grpId="0" animBg="1"/>
      <p:bldP spid="115" grpId="0" animBg="1"/>
      <p:bldP spid="134" grpId="0" animBg="1"/>
      <p:bldP spid="155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жакын кош сандар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32/48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611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Оозеки ыкма · Жакын кош сандар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7883" y="1188720"/>
            <a:ext cx="30495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КСА: Сүрөттүү → Абстракттуу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1737360"/>
            <a:ext cx="51206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783080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Мисал: 4 + 5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8488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15768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64408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13048" y="237744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18488" y="292608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67128" y="292608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15768" y="292608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64408" y="292608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13048" y="2926080"/>
            <a:ext cx="548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95297" y="245424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43937" y="245424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92577" y="245424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41217" y="2454249"/>
            <a:ext cx="395020" cy="3950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95297" y="3002889"/>
            <a:ext cx="395020" cy="39502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3937" y="3002889"/>
            <a:ext cx="395020" cy="39502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92577" y="3002889"/>
            <a:ext cx="395020" cy="39502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41217" y="3002889"/>
            <a:ext cx="395020" cy="39502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89857" y="3002889"/>
            <a:ext cx="395020" cy="39502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13048" y="2926080"/>
            <a:ext cx="548640" cy="548640"/>
          </a:xfrm>
          <a:prstGeom prst="ellipse">
            <a:avLst/>
          </a:prstGeom>
          <a:noFill/>
          <a:ln w="381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35204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1">
                <a:solidFill>
                  <a:srgbClr val="A84400"/>
                </a:solidFill>
                <a:latin typeface="PT Sans"/>
              </a:rPr>
              <a:t>бир ашыкча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7" y="3886200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+ 5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7" y="4434840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 + 4 + 1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7" y="4983480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8 + 1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7" y="5532120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79007" y="1737360"/>
            <a:ext cx="598017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1616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1737360"/>
            <a:ext cx="182880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 + 4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93608" y="2148840"/>
            <a:ext cx="3282696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= 3 + 3 + 1 = 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79007" y="3246120"/>
            <a:ext cx="598017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16168" y="338327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7" y="3246120"/>
            <a:ext cx="182880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 + 3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93608" y="3657600"/>
            <a:ext cx="3282696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= 2 + 2 + 1 = 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79007" y="4754879"/>
            <a:ext cx="598017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16168" y="489204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7" y="4754879"/>
            <a:ext cx="182880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 + 4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93608" y="5166359"/>
            <a:ext cx="3282696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= 4 + 4 + 1 =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51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Кайсы ыкманы тандайм?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33/48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188720"/>
            <a:ext cx="329641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Оозеки ыкма · Ийкемдүү эсеп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24567" y="121615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Талдоо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737360"/>
            <a:ext cx="36240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828800"/>
            <a:ext cx="362407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6 + 1 =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43200"/>
            <a:ext cx="3166872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+1: «6… 7» →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39" y="1737360"/>
            <a:ext cx="36240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19600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2439" y="1828800"/>
            <a:ext cx="362407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5 + 3 =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1039" y="2743200"/>
            <a:ext cx="3166872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5 жана дагы 3 →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5112" y="1737360"/>
            <a:ext cx="36240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2272" y="187451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5112" y="1828800"/>
            <a:ext cx="362407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7 + 3 =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3712" y="2743200"/>
            <a:ext cx="3166872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10дун курамы →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3749039"/>
            <a:ext cx="36240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38862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840479"/>
            <a:ext cx="362407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4 + 4 = 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54879"/>
            <a:ext cx="3166872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кош сан →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2439" y="3749039"/>
            <a:ext cx="36240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19600" y="38862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2439" y="3840479"/>
            <a:ext cx="362407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3 + 4 = 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11039" y="4754879"/>
            <a:ext cx="3166872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3 + 3 + 1 → 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5112" y="3749039"/>
            <a:ext cx="36240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2272" y="388620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5112" y="3840479"/>
            <a:ext cx="3624072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7 + 2 = 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3712" y="4754879"/>
            <a:ext cx="3166872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+2: «7… 8, 9» →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576072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Мындай айт: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5760720"/>
            <a:ext cx="51206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«Мен … деп ойлодум, анткени …»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5760720"/>
            <a:ext cx="4251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A84400"/>
                </a:solidFill>
                <a:latin typeface="PT Sans"/>
              </a:rPr>
              <a:t>Ката – үйрөнүүнүн бир бөлүгү.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3" grpId="0" animBg="1"/>
      <p:bldP spid="27" grpId="0" animBg="1"/>
      <p:bldP spid="31" grpId="0" animBg="1"/>
      <p:bldP spid="35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1-сабак: Бөлүк + бөлүк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Сабактын бөлүгү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00200"/>
            <a:ext cx="38404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1-сабак · 40 мүнөт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07A5A"/>
                </a:solidFill>
                <a:latin typeface="PT Sans"/>
              </a:rPr>
              <a:t>1-сабак: Бөлүк + бөлүк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Буюм → сүрөт → сан. Тилкени кадам-кадам чийебиз.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Буюм менен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Тилке модели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Чыгуу билети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206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Слайддар 1–26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2-сабак: Оозеки ыкмалар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Сабактын бөлүгү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27/48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00200"/>
            <a:ext cx="38404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2-сабак · 40 мүнөт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A84400"/>
                </a:solidFill>
                <a:latin typeface="PT Sans"/>
              </a:rPr>
              <a:t>2-сабак: Оозеки ыкмалар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5 жана дагы, 10дун курамы, кош сандар. Тилке машыгуусу.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Оозеки ыкма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Тилке машыгуусу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Окуя маселе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206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Слайддар 27–41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Кошумча слайддар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 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Сабактын бөлүгү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42/48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00200"/>
            <a:ext cx="38404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Кошумча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24418C"/>
                </a:solidFill>
                <a:latin typeface="PT Sans"/>
              </a:rPr>
              <a:t>Кошумча слайддар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Кайталоо, кыйналган балдар, тез бүткөндөр. Мугалимге 3 слайд.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24418C"/>
                </a:solidFill>
                <a:latin typeface="PT Sans"/>
              </a:rPr>
              <a:t>Спираль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24418C"/>
                </a:solidFill>
                <a:latin typeface="PT Sans"/>
              </a:rPr>
              <a:t>Акыркы сан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434840"/>
            <a:ext cx="32004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24418C"/>
                </a:solidFill>
                <a:latin typeface="PT Sans"/>
              </a:rPr>
              <a:t>Мугалим үчүн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206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Слайддар 42–48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