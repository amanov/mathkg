
<file path=[Content_Types].xml><?xml version="1.0" encoding="utf-8"?>
<Types xmlns="http://schemas.openxmlformats.org/package/2006/content-types">
  <Default Extension="fntdata" ContentType="application/x-fontdata"/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2011" cy="6858000" type="screen4x3"/>
  <p:notesSz cx="6858000" cy="9144000"/>
  <p:embeddedFontLst>
    <p:embeddedFont>
      <p:font typeface="PT Sans" pitchFamily="34" charset="0"/>
      <p:regular r:id="rId21"/>
      <p:bold r:id="rId22"/>
      <p:italic r:id="rId23"/>
      <p:boldItalic r:id="rId2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font" Target="fonts/font1.fntdata"/><Relationship Id="rId22" Type="http://schemas.openxmlformats.org/officeDocument/2006/relationships/font" Target="fonts/font2.fntdata"/><Relationship Id="rId23" Type="http://schemas.openxmlformats.org/officeDocument/2006/relationships/font" Target="fonts/font3.fntdata"/><Relationship Id="rId24" Type="http://schemas.openxmlformats.org/officeDocument/2006/relationships/font" Target="fonts/font4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Бул — «Кошуу жана кемитүү: 1–2 орундуу» темасынын негизги түшүндүрүү презентациясы (MathKG барагы /integers-adding-subtracting-1-2-digit/, «Сабакка киришүү» бөлүмү). Болжол менен 35–40 мүнөт. Сабактын максаты: окуучулар маселеде эмне белгисиз экенин тилке менен аныктап, кошууну же кемитүүнү тандашат, эки-үч кадамдуу туюнтмаларды солдон оңго эсептешет. Керектүү нерселер: мини-такталар, маркерлер. Жооптор чыкылдатуу менен ачылат.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Максаттарды окуп бериңиз. Түстөрдү түшүндүрүңүз: жашыл — биринчи бөлүк же негизги ой, кызгылт сары — экинчи бөлүк же «көңүл бур», көк — бүтүн жана жооп. Үзүк сызыктуу кутуча жана «?» — биз издеген белгисиз сан. Түс жалгыз белги эмес: ар бир бөлүктө сан же «?» жазылат.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Кайталоо (3–4 мүнөт). Окуучулар мини-тактага жазып, бир убакта көтөрүшөт. Ар бир чыкылдатуу бир жоопту ачат. 83 − 59 жана 100 − 64 — ондукту майдалоо. 100 − 64: жүздүктү ондуктарга, ондукту бирдиктерге.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Илгич суроо. Маселени үн чыгарып окуңуз. Окуучулар 30 секунд ойлонуп, бармагы менен добуш беришет. Азыр туура жоопту айтпаңыз. Негизги ката түшүнүк: «көп» — дайыма кошуу эмес. Бул маселеге 7-слайдда кайтабыз.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Эки модель. Бөлүк-бүтүн: бүтүн белгисиз — кошобуз, бөлүк белгисиз — кемитебиз. Салыштыруу: эки тилке бир сызыктан башталат; айырма — үзүк сызыктуу бөлүк. Чоң сан белгисиз болсо — кошобуз, кичине же айырма белгисиз болсо — кемитебиз.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Мен көрсөтөм: ар бир чыкылдатуу бир кадамды ачат. Ар бир кадамдан мурун окуучулардан сураңыз: «Эми эмне кылабыз?» Текшерүү: 17 + 17 = 34. Тилкеде эки бөлүк бирдей узундукта — бул туура.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Мен көрсөтөм: ар бир чыкылдатуу бир кадамды ачат. Ар бир кадамдан мурун окуучулардан сураңыз: «Эми эмне кылабыз?» Илгич суроонун жообу: Нурай туура, 16 сом. Тилкеде Бектин тилкеси кыска, айырма 18 — Мадинанын тилкесинен алып салабыз.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Сол жак — чогуу чыгарабыз: окуучулар ар бир кадамды айтып турат, сиз ачасыз. Оң жак — окуучулар өз алдынча мини-тактада чыгарып, бир убакта көтөрүшөт; андан кийин гана моделди жана жоопту ачыңыз. Оң жак: «улуу» — чоң сан белгисиз. Салыштырууда чоң санды табуу үчүн кошобуз.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Мен көрсөтөм: ар бир чыкылдатуу бир кадамды ачат. Ар бир кадамдан мурун окуучулардан сураңыз: «Эми эмне кылабыз?» Ката: адегенде 38 + 16 = 54 эсептөө (92 − 54 = 38). + жана − бирдей даражада, солдон оңго аткарылат.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Сол жак — чогуу чыгарабыз: окуучулар ар бир кадамды айтып турат, сиз ачасыз. Оң жак — окуучулар өз алдынча мини-тактада чыгарып, бир убакта көтөрүшөт; андан кийин гана моделди жана жоопту ачыңыз. Сол жак: бүтүн 65, эки бөлүк белгилүү, үчүнчү бөлүк белгисиз. Эки жол: 65 − 28 − 19 же 65 − (28 + 19). Эки жол тең 18 берет.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Текшерүү суроосу (hinge). Бардык окуучулар бир убакта А, Б же В деп көрсөтүшөт. Туура жооп: Б. А (27) — «аз» деген сөздү көрүп кемиткен. В (46) — маселени түшүнбөй, сандардын бирин көчүргөн. Б — туура: Нурбекте көбүрөөк, чоң сан белгисиз — кошобуз.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Өз алдынча иш (8–10 мүнөт). Окуучулар дептерге же мини-тактага модель тартып чыгарышат. Жоопторду бирден ачып, текшериңиз. Солдон оңго эсептөөнү көзөмөлдөңүз. 4-маселе: бүтүн 91, бөлүк 47 — кемитебиз.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Жыйынтык. Окуучулар эрежелерди өз сөзү менен айтып беришсин. «Көп» жана «аз» деген сөздөр амалды аныктабайт — белгисиздин орду аныктайт. Кийинки сабак: көбөйтүү.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2000" y="216000"/>
            <a:ext cx="11328011" cy="792000"/>
          </a:xfrm>
          <a:prstGeom prst="roundRect">
            <a:avLst>
              <a:gd name="adj" fmla="val 23272"/>
            </a:avLst>
          </a:prstGeom>
          <a:noFill/>
          <a:ln w="19050">
            <a:solidFill>
              <a:srgbClr val="1D35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6320" y="384960"/>
            <a:ext cx="103680" cy="45408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6080" y="384960"/>
            <a:ext cx="103680" cy="45408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5840" y="384960"/>
            <a:ext cx="103680" cy="45408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8400" y="216000"/>
            <a:ext cx="10161612" cy="792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D3557"/>
                </a:solidFill>
                <a:latin typeface="PT Sans"/>
              </a:rPr>
              <a:t>Кошуу жана кемитүү: 1–2 орундуу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000" y="1584000"/>
            <a:ext cx="11328011" cy="792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4800" b="1" i="0">
                <a:solidFill>
                  <a:srgbClr val="1D3557"/>
                </a:solidFill>
                <a:latin typeface="PT Sans"/>
              </a:rPr>
              <a:t>Кошобузбу же кемитебизби?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" y="2448000"/>
            <a:ext cx="11328011" cy="504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3200" b="0" i="0">
                <a:solidFill>
                  <a:srgbClr val="4A5A70"/>
                </a:solidFill>
                <a:latin typeface="PT Sans"/>
              </a:rPr>
              <a:t>Бөлүк-бүтүн жана салыштыруу тилкелери</a:t>
            </a:r>
          </a:p>
        </p:txBody>
      </p:sp>
      <p:sp>
        <p:nvSpPr>
          <p:cNvPr id="9" name="Rectangle 8"/>
          <p:cNvSpPr/>
          <p:nvPr/>
        </p:nvSpPr>
        <p:spPr>
          <a:xfrm>
            <a:off x="1908000" y="3582000"/>
            <a:ext cx="8376011" cy="432000"/>
          </a:xfrm>
          <a:prstGeom prst="rect">
            <a:avLst/>
          </a:prstGeom>
          <a:solidFill>
            <a:srgbClr val="B5E2D3"/>
          </a:solidFill>
          <a:ln w="16510">
            <a:solidFill>
              <a:srgbClr val="007A5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1184" y="3599880"/>
            <a:ext cx="489643" cy="396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47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08000" y="4194000"/>
            <a:ext cx="6772094" cy="432000"/>
          </a:xfrm>
          <a:prstGeom prst="rect">
            <a:avLst/>
          </a:prstGeom>
          <a:solidFill>
            <a:srgbClr val="F5E9E0"/>
          </a:solidFill>
          <a:ln w="16510">
            <a:solidFill>
              <a:srgbClr val="A844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49225" y="4211880"/>
            <a:ext cx="489643" cy="396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38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0094" y="4194000"/>
            <a:ext cx="1603917" cy="432000"/>
          </a:xfrm>
          <a:prstGeom prst="rect">
            <a:avLst/>
          </a:prstGeom>
          <a:solidFill>
            <a:srgbClr val="FFFFFF"/>
          </a:solidFill>
          <a:ln w="20637">
            <a:solidFill>
              <a:srgbClr val="24418C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38053" y="4211880"/>
            <a:ext cx="288000" cy="396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24418C"/>
                </a:solidFill>
                <a:latin typeface="PT Sans"/>
              </a:rPr>
              <a:t>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87037" y="5400000"/>
            <a:ext cx="4817937" cy="48624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87037" y="5400000"/>
            <a:ext cx="4817937" cy="486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Сабактын көрсөтүү – түшүндүрүү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2000" y="6317880"/>
            <a:ext cx="5760000" cy="396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2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80011" y="6317880"/>
            <a:ext cx="2880000" cy="396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0000"/>
              </a:lnSpc>
            </a:pPr>
            <a:r>
              <a:rPr sz="2400" b="0" i="0">
                <a:solidFill>
                  <a:srgbClr val="6B7280"/>
                </a:solidFill>
                <a:latin typeface="PT Sans"/>
              </a:rPr>
              <a:t>1/13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2000" y="216000"/>
            <a:ext cx="11328011" cy="792000"/>
          </a:xfrm>
          <a:prstGeom prst="roundRect">
            <a:avLst>
              <a:gd name="adj" fmla="val 23272"/>
            </a:avLst>
          </a:prstGeom>
          <a:noFill/>
          <a:ln w="19050">
            <a:solidFill>
              <a:srgbClr val="1D35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6320" y="384960"/>
            <a:ext cx="103680" cy="45408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6080" y="384960"/>
            <a:ext cx="103680" cy="45408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5840" y="384960"/>
            <a:ext cx="103680" cy="45408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8400" y="216000"/>
            <a:ext cx="6933712" cy="792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D3557"/>
                </a:solidFill>
                <a:latin typeface="PT Sans"/>
              </a:rPr>
              <a:t>Сабактын максаты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44112" y="216000"/>
            <a:ext cx="3227899" cy="792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0000"/>
              </a:lnSpc>
            </a:pPr>
            <a:r>
              <a:rPr sz="2400" b="0" i="0">
                <a:solidFill>
                  <a:srgbClr val="4A5A70"/>
                </a:solidFill>
                <a:latin typeface="PT Sans"/>
              </a:rPr>
              <a:t>Бүтүн сандар › + жана 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000" y="1224000"/>
            <a:ext cx="6408000" cy="4932000"/>
          </a:xfrm>
          <a:prstGeom prst="roundRect">
            <a:avLst>
              <a:gd name="adj" fmla="val 3737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432000" y="1866280"/>
            <a:ext cx="6408000" cy="0"/>
          </a:xfrm>
          <a:prstGeom prst="line">
            <a:avLst/>
          </a:prstGeom>
          <a:ln w="19050">
            <a:solidFill>
              <a:srgbClr val="1D3557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612000" y="1224000"/>
            <a:ext cx="6048000" cy="6422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Бүгүн биз үйрөнөбүз</a:t>
            </a:r>
          </a:p>
        </p:txBody>
      </p:sp>
      <p:sp>
        <p:nvSpPr>
          <p:cNvPr id="11" name="Oval 10"/>
          <p:cNvSpPr/>
          <p:nvPr/>
        </p:nvSpPr>
        <p:spPr>
          <a:xfrm>
            <a:off x="720000" y="2134910"/>
            <a:ext cx="396000" cy="396000"/>
          </a:xfrm>
          <a:prstGeom prst="ellipse">
            <a:avLst/>
          </a:prstGeom>
          <a:noFill/>
          <a:ln w="19050">
            <a:solidFill>
              <a:srgbClr val="1D35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0000" y="2134910"/>
            <a:ext cx="396000" cy="396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0000" y="2118280"/>
            <a:ext cx="5292000" cy="13237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Тилкеге карап амалды тандайбыз:</a:t>
            </a:r>
          </a:p>
          <a:p>
            <a:pPr algn="l">
              <a:lnSpc>
                <a:spcPct val="100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бүтүн белгисиз — кошобуз, бөлүк</a:t>
            </a:r>
          </a:p>
          <a:p>
            <a:pPr algn="l">
              <a:lnSpc>
                <a:spcPct val="100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белгисиз — кемитебиз.</a:t>
            </a:r>
          </a:p>
        </p:txBody>
      </p:sp>
      <p:sp>
        <p:nvSpPr>
          <p:cNvPr id="14" name="Oval 13"/>
          <p:cNvSpPr/>
          <p:nvPr/>
        </p:nvSpPr>
        <p:spPr>
          <a:xfrm>
            <a:off x="720000" y="3638690"/>
            <a:ext cx="396000" cy="396000"/>
          </a:xfrm>
          <a:prstGeom prst="ellipse">
            <a:avLst/>
          </a:prstGeom>
          <a:noFill/>
          <a:ln w="19050">
            <a:solidFill>
              <a:srgbClr val="1D35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0000" y="3638690"/>
            <a:ext cx="396000" cy="396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0000" y="3622060"/>
            <a:ext cx="5292000" cy="894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Салыштырууда айырманы кемитүү</a:t>
            </a:r>
          </a:p>
          <a:p>
            <a:pPr algn="l">
              <a:lnSpc>
                <a:spcPct val="100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менен табабыз.</a:t>
            </a:r>
          </a:p>
        </p:txBody>
      </p:sp>
      <p:sp>
        <p:nvSpPr>
          <p:cNvPr id="17" name="Oval 16"/>
          <p:cNvSpPr/>
          <p:nvPr/>
        </p:nvSpPr>
        <p:spPr>
          <a:xfrm>
            <a:off x="720000" y="4713210"/>
            <a:ext cx="396000" cy="396000"/>
          </a:xfrm>
          <a:prstGeom prst="ellipse">
            <a:avLst/>
          </a:prstGeom>
          <a:noFill/>
          <a:ln w="19050">
            <a:solidFill>
              <a:srgbClr val="1D35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0000" y="4713210"/>
            <a:ext cx="396000" cy="396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60000" y="4696580"/>
            <a:ext cx="5292000" cy="894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+ жана − аралаш туюнтмаларды</a:t>
            </a:r>
          </a:p>
          <a:p>
            <a:pPr algn="l">
              <a:lnSpc>
                <a:spcPct val="100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солдон оңго эсептейбиз.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28000" y="1224000"/>
            <a:ext cx="4632011" cy="4932000"/>
          </a:xfrm>
          <a:prstGeom prst="roundRect">
            <a:avLst>
              <a:gd name="adj" fmla="val 3979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7128000" y="1866280"/>
            <a:ext cx="4632011" cy="0"/>
          </a:xfrm>
          <a:prstGeom prst="line">
            <a:avLst/>
          </a:prstGeom>
          <a:ln w="19050">
            <a:solidFill>
              <a:srgbClr val="1D3557"/>
            </a:solidFill>
          </a:ln>
        </p:spPr>
      </p:cxnSp>
      <p:sp>
        <p:nvSpPr>
          <p:cNvPr id="22" name="TextBox 21"/>
          <p:cNvSpPr txBox="1"/>
          <p:nvPr/>
        </p:nvSpPr>
        <p:spPr>
          <a:xfrm>
            <a:off x="7308000" y="1224000"/>
            <a:ext cx="4272011" cy="6422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Түстөрдүн мааниси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16000" y="2154280"/>
            <a:ext cx="936000" cy="46800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68000" y="2082280"/>
            <a:ext cx="2976011" cy="612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1-бөлүк · негизги ой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16000" y="3090279"/>
            <a:ext cx="936000" cy="46800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68000" y="3018279"/>
            <a:ext cx="2976011" cy="612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2-бөлүк · көңүл бур!</a:t>
            </a:r>
          </a:p>
        </p:txBody>
      </p:sp>
      <p:cxnSp>
        <p:nvCxnSpPr>
          <p:cNvPr id="27" name="Connector 26"/>
          <p:cNvCxnSpPr/>
          <p:nvPr/>
        </p:nvCxnSpPr>
        <p:spPr>
          <a:xfrm flipV="1">
            <a:off x="7416000" y="4278280"/>
            <a:ext cx="0" cy="216000"/>
          </a:xfrm>
          <a:prstGeom prst="line">
            <a:avLst/>
          </a:prstGeom>
          <a:ln w="20320">
            <a:solidFill>
              <a:srgbClr val="24418C"/>
            </a:solidFill>
          </a:ln>
        </p:spPr>
      </p:cxnSp>
      <p:cxnSp>
        <p:nvCxnSpPr>
          <p:cNvPr id="28" name="Connector 27"/>
          <p:cNvCxnSpPr/>
          <p:nvPr/>
        </p:nvCxnSpPr>
        <p:spPr>
          <a:xfrm>
            <a:off x="7416000" y="4278280"/>
            <a:ext cx="936000" cy="0"/>
          </a:xfrm>
          <a:prstGeom prst="line">
            <a:avLst/>
          </a:prstGeom>
          <a:ln w="20320">
            <a:solidFill>
              <a:srgbClr val="24418C"/>
            </a:solidFill>
          </a:ln>
        </p:spPr>
      </p:cxnSp>
      <p:cxnSp>
        <p:nvCxnSpPr>
          <p:cNvPr id="29" name="Connector 28"/>
          <p:cNvCxnSpPr/>
          <p:nvPr/>
        </p:nvCxnSpPr>
        <p:spPr>
          <a:xfrm>
            <a:off x="8352000" y="4278280"/>
            <a:ext cx="0" cy="216000"/>
          </a:xfrm>
          <a:prstGeom prst="line">
            <a:avLst/>
          </a:prstGeom>
          <a:ln w="20320">
            <a:solidFill>
              <a:srgbClr val="24418C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7884000" y="4134279"/>
            <a:ext cx="0" cy="144001"/>
          </a:xfrm>
          <a:prstGeom prst="line">
            <a:avLst/>
          </a:prstGeom>
          <a:ln w="20320">
            <a:solidFill>
              <a:srgbClr val="24418C"/>
            </a:solidFill>
          </a:ln>
        </p:spPr>
      </p:cxnSp>
      <p:sp>
        <p:nvSpPr>
          <p:cNvPr id="31" name="TextBox 30"/>
          <p:cNvSpPr txBox="1"/>
          <p:nvPr/>
        </p:nvSpPr>
        <p:spPr>
          <a:xfrm>
            <a:off x="8568000" y="3954279"/>
            <a:ext cx="2976011" cy="612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бүтүн · жооп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416000" y="4962280"/>
            <a:ext cx="936000" cy="468000"/>
          </a:xfrm>
          <a:prstGeom prst="rect">
            <a:avLst/>
          </a:prstGeom>
          <a:solidFill>
            <a:srgbClr val="FFFFFF"/>
          </a:solidFill>
          <a:ln w="25400">
            <a:solidFill>
              <a:srgbClr val="24418C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40000" y="4998160"/>
            <a:ext cx="288000" cy="396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24418C"/>
                </a:solidFill>
                <a:latin typeface="PT Sans"/>
              </a:rPr>
              <a:t>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68000" y="4890280"/>
            <a:ext cx="2976011" cy="612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белгисиз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2000" y="6317880"/>
            <a:ext cx="5760000" cy="396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2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80011" y="6317880"/>
            <a:ext cx="2880000" cy="396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0000"/>
              </a:lnSpc>
            </a:pPr>
            <a:r>
              <a:rPr sz="2400" b="0" i="0">
                <a:solidFill>
                  <a:srgbClr val="6B7280"/>
                </a:solidFill>
                <a:latin typeface="PT Sans"/>
              </a:rPr>
              <a:t>2/13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2000" y="216000"/>
            <a:ext cx="11328011" cy="792000"/>
          </a:xfrm>
          <a:prstGeom prst="roundRect">
            <a:avLst>
              <a:gd name="adj" fmla="val 23272"/>
            </a:avLst>
          </a:prstGeom>
          <a:noFill/>
          <a:ln w="19050">
            <a:solidFill>
              <a:srgbClr val="1D35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6320" y="384960"/>
            <a:ext cx="103680" cy="45408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6080" y="384960"/>
            <a:ext cx="103680" cy="45408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5840" y="384960"/>
            <a:ext cx="103680" cy="45408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8400" y="216000"/>
            <a:ext cx="6933712" cy="792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D3557"/>
                </a:solidFill>
                <a:latin typeface="PT Sans"/>
              </a:rPr>
              <a:t>Кел, эске салабыз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44112" y="216000"/>
            <a:ext cx="3227899" cy="792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0000"/>
              </a:lnSpc>
            </a:pPr>
            <a:r>
              <a:rPr sz="2400" b="0" i="0">
                <a:solidFill>
                  <a:srgbClr val="4A5A70"/>
                </a:solidFill>
                <a:latin typeface="PT Sans"/>
              </a:rPr>
              <a:t>Бүтүн сандар › + жана 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" y="1224000"/>
            <a:ext cx="11328011" cy="4292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2600" b="0" i="1">
                <a:solidFill>
                  <a:srgbClr val="6B7280"/>
                </a:solidFill>
                <a:latin typeface="PT Sans"/>
              </a:rPr>
              <a:t>Мини-тактага эсептеп жаз.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000" y="1728000"/>
            <a:ext cx="5520005" cy="2106000"/>
          </a:xfrm>
          <a:prstGeom prst="roundRect">
            <a:avLst>
              <a:gd name="adj" fmla="val 8752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84000" y="2565000"/>
            <a:ext cx="432000" cy="432000"/>
          </a:xfrm>
          <a:prstGeom prst="ellipse">
            <a:avLst/>
          </a:prstGeom>
          <a:noFill/>
          <a:ln w="19050">
            <a:solidFill>
              <a:srgbClr val="1D35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4000" y="2565000"/>
            <a:ext cx="432000" cy="432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6000" y="1728000"/>
            <a:ext cx="2109148" cy="2106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1F2430"/>
                </a:solidFill>
                <a:latin typeface="PT Sans"/>
              </a:rPr>
              <a:t>47 + 38 =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7148" y="1728000"/>
            <a:ext cx="2330857" cy="2106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24418C"/>
                </a:solidFill>
                <a:latin typeface="PT Sans"/>
              </a:rPr>
              <a:t>85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0005" y="1728000"/>
            <a:ext cx="5520005" cy="2106000"/>
          </a:xfrm>
          <a:prstGeom prst="roundRect">
            <a:avLst>
              <a:gd name="adj" fmla="val 8752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92005" y="2565000"/>
            <a:ext cx="432000" cy="432000"/>
          </a:xfrm>
          <a:prstGeom prst="ellipse">
            <a:avLst/>
          </a:prstGeom>
          <a:noFill/>
          <a:ln w="19050">
            <a:solidFill>
              <a:srgbClr val="1D35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005" y="2565000"/>
            <a:ext cx="432000" cy="432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04005" y="1728000"/>
            <a:ext cx="2109148" cy="2106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1F2430"/>
                </a:solidFill>
                <a:latin typeface="PT Sans"/>
              </a:rPr>
              <a:t>83 − 59 =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85154" y="1728000"/>
            <a:ext cx="2330857" cy="2106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24418C"/>
                </a:solidFill>
                <a:latin typeface="PT Sans"/>
              </a:rPr>
              <a:t>24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2000" y="4050000"/>
            <a:ext cx="5520005" cy="2106000"/>
          </a:xfrm>
          <a:prstGeom prst="roundRect">
            <a:avLst>
              <a:gd name="adj" fmla="val 8752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84000" y="4887000"/>
            <a:ext cx="432000" cy="432000"/>
          </a:xfrm>
          <a:prstGeom prst="ellipse">
            <a:avLst/>
          </a:prstGeom>
          <a:noFill/>
          <a:ln w="19050">
            <a:solidFill>
              <a:srgbClr val="1D35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4000" y="4887000"/>
            <a:ext cx="432000" cy="432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96000" y="4050000"/>
            <a:ext cx="2109148" cy="2106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1F2430"/>
                </a:solidFill>
                <a:latin typeface="PT Sans"/>
              </a:rPr>
              <a:t>35 + 24 =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7148" y="4050000"/>
            <a:ext cx="2330857" cy="2106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24418C"/>
                </a:solidFill>
                <a:latin typeface="PT Sans"/>
              </a:rPr>
              <a:t>59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40005" y="4050000"/>
            <a:ext cx="5520005" cy="2106000"/>
          </a:xfrm>
          <a:prstGeom prst="roundRect">
            <a:avLst>
              <a:gd name="adj" fmla="val 8752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92005" y="4887000"/>
            <a:ext cx="432000" cy="432000"/>
          </a:xfrm>
          <a:prstGeom prst="ellipse">
            <a:avLst/>
          </a:prstGeom>
          <a:noFill/>
          <a:ln w="19050">
            <a:solidFill>
              <a:srgbClr val="1D35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005" y="4887000"/>
            <a:ext cx="432000" cy="432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04005" y="4050000"/>
            <a:ext cx="2397184" cy="2106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1F2430"/>
                </a:solidFill>
                <a:latin typeface="PT Sans"/>
              </a:rPr>
              <a:t>100 − 64 =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73190" y="4050000"/>
            <a:ext cx="2042821" cy="2106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24418C"/>
                </a:solidFill>
                <a:latin typeface="PT Sans"/>
              </a:rPr>
              <a:t>36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2000" y="6317880"/>
            <a:ext cx="5760000" cy="396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2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80011" y="6317880"/>
            <a:ext cx="2880000" cy="396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0000"/>
              </a:lnSpc>
            </a:pPr>
            <a:r>
              <a:rPr sz="2400" b="0" i="0">
                <a:solidFill>
                  <a:srgbClr val="6B7280"/>
                </a:solidFill>
                <a:latin typeface="PT Sans"/>
              </a:rPr>
              <a:t>3/13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2000" y="216000"/>
            <a:ext cx="11328011" cy="792000"/>
          </a:xfrm>
          <a:prstGeom prst="roundRect">
            <a:avLst>
              <a:gd name="adj" fmla="val 23272"/>
            </a:avLst>
          </a:prstGeom>
          <a:noFill/>
          <a:ln w="19050">
            <a:solidFill>
              <a:srgbClr val="1D35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6320" y="384960"/>
            <a:ext cx="103680" cy="45408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6080" y="384960"/>
            <a:ext cx="103680" cy="45408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5840" y="384960"/>
            <a:ext cx="103680" cy="45408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8400" y="216000"/>
            <a:ext cx="6933712" cy="792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D3557"/>
                </a:solidFill>
                <a:latin typeface="PT Sans"/>
              </a:rPr>
              <a:t>Ким туура?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44112" y="216000"/>
            <a:ext cx="3227899" cy="792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0000"/>
              </a:lnSpc>
            </a:pPr>
            <a:r>
              <a:rPr sz="2400" b="0" i="0">
                <a:solidFill>
                  <a:srgbClr val="4A5A70"/>
                </a:solidFill>
                <a:latin typeface="PT Sans"/>
              </a:rPr>
              <a:t>Бүтүн сандар › + жана 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000" y="1224000"/>
            <a:ext cx="11328011" cy="1176560"/>
          </a:xfrm>
          <a:prstGeom prst="roundRect">
            <a:avLst>
              <a:gd name="adj" fmla="val 15666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0000" y="1350000"/>
            <a:ext cx="10752011" cy="96055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2800" b="0" i="0">
                <a:solidFill>
                  <a:srgbClr val="1F2430"/>
                </a:solidFill>
                <a:latin typeface="PT Sans"/>
              </a:rPr>
              <a:t>Мадинада 34 сом бар. Ал Бектен 18 сом көп. Бекте канча сом</a:t>
            </a:r>
          </a:p>
          <a:p>
            <a:pPr algn="l">
              <a:lnSpc>
                <a:spcPct val="100000"/>
              </a:lnSpc>
            </a:pPr>
            <a:r>
              <a:rPr sz="2800" b="0" i="0">
                <a:solidFill>
                  <a:srgbClr val="1F2430"/>
                </a:solidFill>
                <a:latin typeface="PT Sans"/>
              </a:rPr>
              <a:t>бар?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000" y="2688560"/>
            <a:ext cx="5520005" cy="2891440"/>
          </a:xfrm>
          <a:prstGeom prst="roundRect">
            <a:avLst>
              <a:gd name="adj" fmla="val 6374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432000" y="3330840"/>
            <a:ext cx="5520005" cy="0"/>
          </a:xfrm>
          <a:prstGeom prst="line">
            <a:avLst/>
          </a:prstGeom>
          <a:ln w="19050">
            <a:solidFill>
              <a:srgbClr val="1D3557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612000" y="2688560"/>
            <a:ext cx="5160005" cy="6422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Айбек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0000" y="3474840"/>
            <a:ext cx="4944005" cy="96055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2800" b="0" i="0">
                <a:solidFill>
                  <a:srgbClr val="1F2430"/>
                </a:solidFill>
                <a:latin typeface="PT Sans"/>
              </a:rPr>
              <a:t>«Көп» деген сөз бар —</a:t>
            </a:r>
          </a:p>
          <a:p>
            <a:pPr algn="l">
              <a:lnSpc>
                <a:spcPct val="100000"/>
              </a:lnSpc>
            </a:pPr>
            <a:r>
              <a:rPr sz="2800" b="0" i="0">
                <a:solidFill>
                  <a:srgbClr val="1F2430"/>
                </a:solidFill>
                <a:latin typeface="PT Sans"/>
              </a:rPr>
              <a:t>кошом: 34 + 18 = 52 сом.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0005" y="2688560"/>
            <a:ext cx="5520005" cy="2891440"/>
          </a:xfrm>
          <a:prstGeom prst="roundRect">
            <a:avLst>
              <a:gd name="adj" fmla="val 6374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6240005" y="3330840"/>
            <a:ext cx="5520006" cy="0"/>
          </a:xfrm>
          <a:prstGeom prst="line">
            <a:avLst/>
          </a:prstGeom>
          <a:ln w="19050">
            <a:solidFill>
              <a:srgbClr val="1D3557"/>
            </a:solidFill>
          </a:ln>
        </p:spPr>
      </p:cxnSp>
      <p:sp>
        <p:nvSpPr>
          <p:cNvPr id="16" name="TextBox 15"/>
          <p:cNvSpPr txBox="1"/>
          <p:nvPr/>
        </p:nvSpPr>
        <p:spPr>
          <a:xfrm>
            <a:off x="6420005" y="2688560"/>
            <a:ext cx="5160005" cy="6422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Нурай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28005" y="3474840"/>
            <a:ext cx="4944005" cy="142283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2800" b="0" i="0">
                <a:solidFill>
                  <a:srgbClr val="1F2430"/>
                </a:solidFill>
                <a:latin typeface="PT Sans"/>
              </a:rPr>
              <a:t>Бекте азыраак. Мадинадан 18</a:t>
            </a:r>
          </a:p>
          <a:p>
            <a:pPr algn="l">
              <a:lnSpc>
                <a:spcPct val="100000"/>
              </a:lnSpc>
            </a:pPr>
            <a:r>
              <a:rPr sz="2800" b="0" i="0">
                <a:solidFill>
                  <a:srgbClr val="1F2430"/>
                </a:solidFill>
                <a:latin typeface="PT Sans"/>
              </a:rPr>
              <a:t>сомду алып салам: 34 − 18</a:t>
            </a:r>
          </a:p>
          <a:p>
            <a:pPr algn="l">
              <a:lnSpc>
                <a:spcPct val="100000"/>
              </a:lnSpc>
            </a:pPr>
            <a:r>
              <a:rPr sz="2800" b="0" i="0">
                <a:solidFill>
                  <a:srgbClr val="1F2430"/>
                </a:solidFill>
                <a:latin typeface="PT Sans"/>
              </a:rPr>
              <a:t>= 16 сом.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2000" y="5688000"/>
            <a:ext cx="11328011" cy="49827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0000"/>
              </a:lnSpc>
            </a:pPr>
            <a:r>
              <a:rPr sz="2800" b="1" i="0">
                <a:solidFill>
                  <a:srgbClr val="A84400"/>
                </a:solidFill>
                <a:latin typeface="PT Sans"/>
              </a:rPr>
              <a:t>Ким туура? Салыштыруу тилкесин тарт.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2000" y="6317880"/>
            <a:ext cx="5760000" cy="396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2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80011" y="6317880"/>
            <a:ext cx="2880000" cy="396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0000"/>
              </a:lnSpc>
            </a:pPr>
            <a:r>
              <a:rPr sz="2400" b="0" i="0">
                <a:solidFill>
                  <a:srgbClr val="6B7280"/>
                </a:solidFill>
                <a:latin typeface="PT Sans"/>
              </a:rPr>
              <a:t>4/13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2000" y="216000"/>
            <a:ext cx="11328011" cy="792000"/>
          </a:xfrm>
          <a:prstGeom prst="roundRect">
            <a:avLst>
              <a:gd name="adj" fmla="val 23272"/>
            </a:avLst>
          </a:prstGeom>
          <a:noFill/>
          <a:ln w="19050">
            <a:solidFill>
              <a:srgbClr val="1D35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6320" y="384960"/>
            <a:ext cx="103680" cy="45408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6080" y="384960"/>
            <a:ext cx="103680" cy="45408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5840" y="384960"/>
            <a:ext cx="103680" cy="45408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8400" y="216000"/>
            <a:ext cx="6933712" cy="792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D3557"/>
                </a:solidFill>
                <a:latin typeface="PT Sans"/>
              </a:rPr>
              <a:t>Эки тилке модели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44112" y="216000"/>
            <a:ext cx="3227899" cy="792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0000"/>
              </a:lnSpc>
            </a:pPr>
            <a:r>
              <a:rPr sz="2400" b="0" i="0">
                <a:solidFill>
                  <a:srgbClr val="4A5A70"/>
                </a:solidFill>
                <a:latin typeface="PT Sans"/>
              </a:rPr>
              <a:t>Бүтүн сандар › + жана 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000" y="1224000"/>
            <a:ext cx="5520005" cy="4932000"/>
          </a:xfrm>
          <a:prstGeom prst="roundRect">
            <a:avLst>
              <a:gd name="adj" fmla="val 3737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432000" y="1866280"/>
            <a:ext cx="5520005" cy="0"/>
          </a:xfrm>
          <a:prstGeom prst="line">
            <a:avLst/>
          </a:prstGeom>
          <a:ln w="19050">
            <a:solidFill>
              <a:srgbClr val="1D3557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612000" y="1224000"/>
            <a:ext cx="5160005" cy="6422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Бөлүк жана бүтүн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4000" y="3503486"/>
            <a:ext cx="1939522" cy="432000"/>
          </a:xfrm>
          <a:prstGeom prst="rect">
            <a:avLst/>
          </a:prstGeom>
          <a:solidFill>
            <a:srgbClr val="B5E2D3"/>
          </a:solidFill>
          <a:ln w="16510">
            <a:solidFill>
              <a:srgbClr val="007A5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08939" y="3521366"/>
            <a:ext cx="489643" cy="396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29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23522" y="3503486"/>
            <a:ext cx="3076483" cy="432000"/>
          </a:xfrm>
          <a:prstGeom prst="rect">
            <a:avLst/>
          </a:prstGeom>
          <a:solidFill>
            <a:srgbClr val="F5E9E0"/>
          </a:solidFill>
          <a:ln w="16510">
            <a:solidFill>
              <a:srgbClr val="A844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16942" y="3521366"/>
            <a:ext cx="489643" cy="396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46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684000" y="3363086"/>
            <a:ext cx="0" cy="84240"/>
          </a:xfrm>
          <a:prstGeom prst="line">
            <a:avLst/>
          </a:prstGeom>
          <a:ln w="16510">
            <a:solidFill>
              <a:srgbClr val="24418C"/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684000" y="3363086"/>
            <a:ext cx="5016005" cy="0"/>
          </a:xfrm>
          <a:prstGeom prst="line">
            <a:avLst/>
          </a:prstGeom>
          <a:ln w="16510">
            <a:solidFill>
              <a:srgbClr val="24418C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5700005" y="3363086"/>
            <a:ext cx="0" cy="84240"/>
          </a:xfrm>
          <a:prstGeom prst="line">
            <a:avLst/>
          </a:prstGeom>
          <a:ln w="16510">
            <a:solidFill>
              <a:srgbClr val="24418C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3192002" y="3297566"/>
            <a:ext cx="0" cy="65520"/>
          </a:xfrm>
          <a:prstGeom prst="line">
            <a:avLst/>
          </a:prstGeom>
          <a:ln w="16510">
            <a:solidFill>
              <a:srgbClr val="24418C"/>
            </a:solidFill>
          </a:ln>
        </p:spPr>
      </p:cxnSp>
      <p:sp>
        <p:nvSpPr>
          <p:cNvPr id="19" name="Rounded Rectangle 18"/>
          <p:cNvSpPr/>
          <p:nvPr/>
        </p:nvSpPr>
        <p:spPr>
          <a:xfrm>
            <a:off x="2902181" y="2862794"/>
            <a:ext cx="579643" cy="416052"/>
          </a:xfrm>
          <a:prstGeom prst="roundRect">
            <a:avLst>
              <a:gd name="adj" fmla="val 17997"/>
            </a:avLst>
          </a:prstGeom>
          <a:solidFill>
            <a:srgbClr val="FFFFFF"/>
          </a:solidFill>
          <a:ln w="20637">
            <a:solidFill>
              <a:srgbClr val="24418C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48002" y="2872700"/>
            <a:ext cx="288000" cy="396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24418C"/>
                </a:solidFill>
                <a:latin typeface="PT Sans"/>
              </a:rPr>
              <a:t>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44200" y="4860000"/>
            <a:ext cx="1390818" cy="4292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4418C"/>
                </a:solidFill>
                <a:latin typeface="PT Sans"/>
              </a:rPr>
              <a:t>Бүтүн = ?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3607018" y="4988230"/>
            <a:ext cx="288000" cy="172800"/>
          </a:xfrm>
          <a:prstGeom prst="rightArrow">
            <a:avLst/>
          </a:prstGeom>
          <a:solidFill>
            <a:srgbClr val="244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67018" y="4860000"/>
            <a:ext cx="344786" cy="4292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4418C"/>
                </a:solidFill>
                <a:latin typeface="PT Sans"/>
              </a:rPr>
              <a:t>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28515" y="5400000"/>
            <a:ext cx="1422187" cy="4292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A84400"/>
                </a:solidFill>
                <a:latin typeface="PT Sans"/>
              </a:rPr>
              <a:t>Бөлүк = ?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3622703" y="5528230"/>
            <a:ext cx="288000" cy="172800"/>
          </a:xfrm>
          <a:prstGeom prst="rightArrow">
            <a:avLst/>
          </a:prstGeom>
          <a:solidFill>
            <a:srgbClr val="A844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82703" y="5400000"/>
            <a:ext cx="344786" cy="4292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A84400"/>
                </a:solidFill>
                <a:latin typeface="PT Sans"/>
              </a:rPr>
              <a:t>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40005" y="1224000"/>
            <a:ext cx="5520005" cy="4932000"/>
          </a:xfrm>
          <a:prstGeom prst="roundRect">
            <a:avLst>
              <a:gd name="adj" fmla="val 3737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6240005" y="1866280"/>
            <a:ext cx="5520006" cy="0"/>
          </a:xfrm>
          <a:prstGeom prst="line">
            <a:avLst/>
          </a:prstGeom>
          <a:ln w="19050">
            <a:solidFill>
              <a:srgbClr val="1D3557"/>
            </a:solidFill>
          </a:ln>
        </p:spPr>
      </p:cxnSp>
      <p:sp>
        <p:nvSpPr>
          <p:cNvPr id="29" name="TextBox 28"/>
          <p:cNvSpPr txBox="1"/>
          <p:nvPr/>
        </p:nvSpPr>
        <p:spPr>
          <a:xfrm>
            <a:off x="6420005" y="1224000"/>
            <a:ext cx="5160005" cy="6422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Салыштыруу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92005" y="2607140"/>
            <a:ext cx="5016005" cy="432000"/>
          </a:xfrm>
          <a:prstGeom prst="rect">
            <a:avLst/>
          </a:prstGeom>
          <a:solidFill>
            <a:srgbClr val="B5E2D3"/>
          </a:solidFill>
          <a:ln w="16510">
            <a:solidFill>
              <a:srgbClr val="007A5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55187" y="2625020"/>
            <a:ext cx="489643" cy="396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72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92005" y="3219140"/>
            <a:ext cx="3135003" cy="432000"/>
          </a:xfrm>
          <a:prstGeom prst="rect">
            <a:avLst/>
          </a:prstGeom>
          <a:solidFill>
            <a:srgbClr val="F5E9E0"/>
          </a:solidFill>
          <a:ln w="16510">
            <a:solidFill>
              <a:srgbClr val="A844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14686" y="3237020"/>
            <a:ext cx="489643" cy="396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45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27009" y="3219140"/>
            <a:ext cx="1881002" cy="432000"/>
          </a:xfrm>
          <a:prstGeom prst="rect">
            <a:avLst/>
          </a:prstGeom>
          <a:solidFill>
            <a:srgbClr val="FFFFFF"/>
          </a:solidFill>
          <a:ln w="20637">
            <a:solidFill>
              <a:srgbClr val="24418C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423510" y="3237020"/>
            <a:ext cx="288000" cy="396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24418C"/>
                </a:solidFill>
                <a:latin typeface="PT Sans"/>
              </a:rPr>
              <a:t>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9181" y="4320000"/>
            <a:ext cx="1736868" cy="4292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4418C"/>
                </a:solidFill>
                <a:latin typeface="PT Sans"/>
              </a:rPr>
              <a:t>Айырма = ?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9588049" y="4448230"/>
            <a:ext cx="288000" cy="172800"/>
          </a:xfrm>
          <a:prstGeom prst="rightArrow">
            <a:avLst/>
          </a:prstGeom>
          <a:solidFill>
            <a:srgbClr val="244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948049" y="4320000"/>
            <a:ext cx="344786" cy="4292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4418C"/>
                </a:solidFill>
                <a:latin typeface="PT Sans"/>
              </a:rPr>
              <a:t>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99983" y="4860000"/>
            <a:ext cx="1695263" cy="4292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A84400"/>
                </a:solidFill>
                <a:latin typeface="PT Sans"/>
              </a:rPr>
              <a:t>Чоң сан = ?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9567247" y="4988230"/>
            <a:ext cx="288000" cy="172800"/>
          </a:xfrm>
          <a:prstGeom prst="rightArrow">
            <a:avLst/>
          </a:prstGeom>
          <a:solidFill>
            <a:srgbClr val="A844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927247" y="4860000"/>
            <a:ext cx="344786" cy="4292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A84400"/>
                </a:solidFill>
                <a:latin typeface="PT Sans"/>
              </a:rPr>
              <a:t>+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44078" y="5400000"/>
            <a:ext cx="2207073" cy="4292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A84400"/>
                </a:solidFill>
                <a:latin typeface="PT Sans"/>
              </a:rPr>
              <a:t>Кичине сан = ?</a:t>
            </a:r>
          </a:p>
        </p:txBody>
      </p:sp>
      <p:sp>
        <p:nvSpPr>
          <p:cNvPr id="43" name="Right Arrow 42"/>
          <p:cNvSpPr/>
          <p:nvPr/>
        </p:nvSpPr>
        <p:spPr>
          <a:xfrm>
            <a:off x="9823152" y="5528230"/>
            <a:ext cx="288000" cy="172800"/>
          </a:xfrm>
          <a:prstGeom prst="rightArrow">
            <a:avLst/>
          </a:prstGeom>
          <a:solidFill>
            <a:srgbClr val="A844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183152" y="5400000"/>
            <a:ext cx="344786" cy="4292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A84400"/>
                </a:solidFill>
                <a:latin typeface="PT Sans"/>
              </a:rPr>
              <a:t>−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2000" y="6317880"/>
            <a:ext cx="5760000" cy="396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2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880011" y="6317880"/>
            <a:ext cx="2880000" cy="396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0000"/>
              </a:lnSpc>
            </a:pPr>
            <a:r>
              <a:rPr sz="2400" b="0" i="0">
                <a:solidFill>
                  <a:srgbClr val="6B7280"/>
                </a:solidFill>
                <a:latin typeface="PT Sans"/>
              </a:rPr>
              <a:t>5/13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2000" y="216000"/>
            <a:ext cx="11328011" cy="792000"/>
          </a:xfrm>
          <a:prstGeom prst="roundRect">
            <a:avLst>
              <a:gd name="adj" fmla="val 23272"/>
            </a:avLst>
          </a:prstGeom>
          <a:noFill/>
          <a:ln w="19050">
            <a:solidFill>
              <a:srgbClr val="1D35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6320" y="384960"/>
            <a:ext cx="103680" cy="45408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6080" y="384960"/>
            <a:ext cx="103680" cy="45408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5840" y="384960"/>
            <a:ext cx="103680" cy="45408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8400" y="216000"/>
            <a:ext cx="6933712" cy="792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D3557"/>
                </a:solidFill>
                <a:latin typeface="PT Sans"/>
              </a:rPr>
              <a:t>Бөлүк белгисиз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44112" y="216000"/>
            <a:ext cx="3227899" cy="792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0000"/>
              </a:lnSpc>
            </a:pPr>
            <a:r>
              <a:rPr sz="2400" b="0" i="0">
                <a:solidFill>
                  <a:srgbClr val="4A5A70"/>
                </a:solidFill>
                <a:latin typeface="PT Sans"/>
              </a:rPr>
              <a:t>Бүтүн сандар › + жана 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000" y="1224000"/>
            <a:ext cx="11328011" cy="1176560"/>
          </a:xfrm>
          <a:prstGeom prst="roundRect">
            <a:avLst>
              <a:gd name="adj" fmla="val 15666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0000" y="1350000"/>
            <a:ext cx="10752011" cy="96055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2800" b="0" i="0">
                <a:solidFill>
                  <a:srgbClr val="1F2430"/>
                </a:solidFill>
                <a:latin typeface="PT Sans"/>
              </a:rPr>
              <a:t>Класста 34 окуучу бар эле. 17 окуучу экскурсияга кетти. Класста</a:t>
            </a:r>
          </a:p>
          <a:p>
            <a:pPr algn="l">
              <a:lnSpc>
                <a:spcPct val="100000"/>
              </a:lnSpc>
            </a:pPr>
            <a:r>
              <a:rPr sz="2800" b="0" i="0">
                <a:solidFill>
                  <a:srgbClr val="1F2430"/>
                </a:solidFill>
                <a:latin typeface="PT Sans"/>
              </a:rPr>
              <a:t>канча окуучу калды?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000" y="2544560"/>
            <a:ext cx="2194524" cy="48624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2000" y="2544560"/>
            <a:ext cx="2194524" cy="486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Мен көрсөтөм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0000" y="4137217"/>
            <a:ext cx="2892005" cy="54000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12377" y="4176077"/>
            <a:ext cx="547250" cy="462279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17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32006" y="4137217"/>
            <a:ext cx="2892005" cy="540000"/>
          </a:xfrm>
          <a:prstGeom prst="rect">
            <a:avLst/>
          </a:prstGeom>
          <a:solidFill>
            <a:srgbClr val="FFFFFF"/>
          </a:solidFill>
          <a:ln w="25400">
            <a:solidFill>
              <a:srgbClr val="24418C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25287" y="4176077"/>
            <a:ext cx="305442" cy="462279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800" b="1" i="0">
                <a:solidFill>
                  <a:srgbClr val="24418C"/>
                </a:solidFill>
                <a:latin typeface="PT Sans"/>
              </a:rPr>
              <a:t>?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5940000" y="3964417"/>
            <a:ext cx="0" cy="103680"/>
          </a:xfrm>
          <a:prstGeom prst="line">
            <a:avLst/>
          </a:prstGeom>
          <a:ln w="20320">
            <a:solidFill>
              <a:srgbClr val="24418C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5940000" y="3964417"/>
            <a:ext cx="5784011" cy="0"/>
          </a:xfrm>
          <a:prstGeom prst="line">
            <a:avLst/>
          </a:prstGeom>
          <a:ln w="20320">
            <a:solidFill>
              <a:srgbClr val="24418C"/>
            </a:solidFill>
          </a:ln>
        </p:spPr>
      </p:cxnSp>
      <p:cxnSp>
        <p:nvCxnSpPr>
          <p:cNvPr id="18" name="Connector 17"/>
          <p:cNvCxnSpPr/>
          <p:nvPr/>
        </p:nvCxnSpPr>
        <p:spPr>
          <a:xfrm>
            <a:off x="11724011" y="3964417"/>
            <a:ext cx="0" cy="103680"/>
          </a:xfrm>
          <a:prstGeom prst="line">
            <a:avLst/>
          </a:prstGeom>
          <a:ln w="20320">
            <a:solidFill>
              <a:srgbClr val="24418C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8832006" y="3883777"/>
            <a:ext cx="0" cy="80640"/>
          </a:xfrm>
          <a:prstGeom prst="line">
            <a:avLst/>
          </a:prstGeom>
          <a:ln w="20320">
            <a:solidFill>
              <a:srgbClr val="24418C"/>
            </a:solidFill>
          </a:ln>
        </p:spPr>
      </p:cxnSp>
      <p:sp>
        <p:nvSpPr>
          <p:cNvPr id="20" name="TextBox 19"/>
          <p:cNvSpPr txBox="1"/>
          <p:nvPr/>
        </p:nvSpPr>
        <p:spPr>
          <a:xfrm>
            <a:off x="8558380" y="3386900"/>
            <a:ext cx="547250" cy="462279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800" b="1" i="0">
                <a:solidFill>
                  <a:srgbClr val="24418C"/>
                </a:solidFill>
                <a:latin typeface="PT Sans"/>
              </a:rPr>
              <a:t>34</a:t>
            </a:r>
          </a:p>
        </p:txBody>
      </p:sp>
      <p:sp>
        <p:nvSpPr>
          <p:cNvPr id="21" name="Oval 20"/>
          <p:cNvSpPr/>
          <p:nvPr/>
        </p:nvSpPr>
        <p:spPr>
          <a:xfrm>
            <a:off x="432000" y="3174919"/>
            <a:ext cx="396000" cy="396000"/>
          </a:xfrm>
          <a:prstGeom prst="ellipse">
            <a:avLst/>
          </a:prstGeom>
          <a:noFill/>
          <a:ln w="19050">
            <a:solidFill>
              <a:srgbClr val="1D35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2000" y="3174919"/>
            <a:ext cx="396000" cy="396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2000" y="3174800"/>
            <a:ext cx="4716000" cy="828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Бүтүн — 34 окуучу, бир бөлүк —</a:t>
            </a:r>
          </a:p>
          <a:p>
            <a:pPr algn="l">
              <a:lnSpc>
                <a:spcPct val="100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кеткен 17 окуучу.</a:t>
            </a:r>
          </a:p>
        </p:txBody>
      </p:sp>
      <p:sp>
        <p:nvSpPr>
          <p:cNvPr id="24" name="Oval 23"/>
          <p:cNvSpPr/>
          <p:nvPr/>
        </p:nvSpPr>
        <p:spPr>
          <a:xfrm>
            <a:off x="432000" y="4183399"/>
            <a:ext cx="396000" cy="396000"/>
          </a:xfrm>
          <a:prstGeom prst="ellipse">
            <a:avLst/>
          </a:prstGeom>
          <a:noFill/>
          <a:ln w="19050">
            <a:solidFill>
              <a:srgbClr val="1D35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2000" y="4183399"/>
            <a:ext cx="396000" cy="396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2000" y="4183280"/>
            <a:ext cx="4716000" cy="828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Калган бөлүк белгисиз —</a:t>
            </a:r>
          </a:p>
          <a:p>
            <a:pPr algn="l">
              <a:lnSpc>
                <a:spcPct val="100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кемитебиз.</a:t>
            </a:r>
          </a:p>
        </p:txBody>
      </p:sp>
      <p:sp>
        <p:nvSpPr>
          <p:cNvPr id="27" name="Oval 26"/>
          <p:cNvSpPr/>
          <p:nvPr/>
        </p:nvSpPr>
        <p:spPr>
          <a:xfrm>
            <a:off x="432000" y="5191879"/>
            <a:ext cx="396000" cy="396000"/>
          </a:xfrm>
          <a:prstGeom prst="ellipse">
            <a:avLst/>
          </a:prstGeom>
          <a:noFill/>
          <a:ln w="19050">
            <a:solidFill>
              <a:srgbClr val="1D35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2000" y="5191879"/>
            <a:ext cx="396000" cy="396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2000" y="5191759"/>
            <a:ext cx="4716000" cy="432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Мамычалап: 14 − 7 = 7; 2 − 1 = 1.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04000" y="5652000"/>
            <a:ext cx="5856011" cy="6303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0000"/>
              </a:lnSpc>
            </a:pPr>
            <a:r>
              <a:rPr sz="3600" b="1" i="0">
                <a:solidFill>
                  <a:srgbClr val="1F2430"/>
                </a:solidFill>
                <a:latin typeface="PT Sans"/>
              </a:rPr>
              <a:t>34 − 17 =</a:t>
            </a:r>
            <a:r>
              <a:rPr sz="3600" b="1" i="0">
                <a:solidFill>
                  <a:srgbClr val="24418C"/>
                </a:solidFill>
                <a:latin typeface="PT Sans"/>
              </a:rPr>
              <a:t> 17 окуучу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32000" y="6317880"/>
            <a:ext cx="5760000" cy="396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2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880011" y="6317880"/>
            <a:ext cx="2880000" cy="396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0000"/>
              </a:lnSpc>
            </a:pPr>
            <a:r>
              <a:rPr sz="2400" b="0" i="0">
                <a:solidFill>
                  <a:srgbClr val="6B7280"/>
                </a:solidFill>
                <a:latin typeface="PT Sans"/>
              </a:rPr>
              <a:t>6/13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2000" y="216000"/>
            <a:ext cx="11328011" cy="792000"/>
          </a:xfrm>
          <a:prstGeom prst="roundRect">
            <a:avLst>
              <a:gd name="adj" fmla="val 23272"/>
            </a:avLst>
          </a:prstGeom>
          <a:noFill/>
          <a:ln w="19050">
            <a:solidFill>
              <a:srgbClr val="1D35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6320" y="384960"/>
            <a:ext cx="103680" cy="45408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6080" y="384960"/>
            <a:ext cx="103680" cy="45408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5840" y="384960"/>
            <a:ext cx="103680" cy="45408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8400" y="216000"/>
            <a:ext cx="6933712" cy="792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D3557"/>
                </a:solidFill>
                <a:latin typeface="PT Sans"/>
              </a:rPr>
              <a:t>Салыштыруу: Мадина жана Бек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44112" y="216000"/>
            <a:ext cx="3227899" cy="792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0000"/>
              </a:lnSpc>
            </a:pPr>
            <a:r>
              <a:rPr sz="2400" b="0" i="0">
                <a:solidFill>
                  <a:srgbClr val="4A5A70"/>
                </a:solidFill>
                <a:latin typeface="PT Sans"/>
              </a:rPr>
              <a:t>Бүтүн сандар › + жана 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000" y="1224000"/>
            <a:ext cx="11328011" cy="1176560"/>
          </a:xfrm>
          <a:prstGeom prst="roundRect">
            <a:avLst>
              <a:gd name="adj" fmla="val 15666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0000" y="1350000"/>
            <a:ext cx="10752011" cy="96055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2800" b="0" i="0">
                <a:solidFill>
                  <a:srgbClr val="1F2430"/>
                </a:solidFill>
                <a:latin typeface="PT Sans"/>
              </a:rPr>
              <a:t>Мадинада 34 сом бар. Ал Бектен 18 сом көп. Бекте канча сом</a:t>
            </a:r>
          </a:p>
          <a:p>
            <a:pPr algn="l">
              <a:lnSpc>
                <a:spcPct val="100000"/>
              </a:lnSpc>
            </a:pPr>
            <a:r>
              <a:rPr sz="2800" b="0" i="0">
                <a:solidFill>
                  <a:srgbClr val="1F2430"/>
                </a:solidFill>
                <a:latin typeface="PT Sans"/>
              </a:rPr>
              <a:t>бар?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000" y="2544560"/>
            <a:ext cx="2194524" cy="48624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2000" y="2544560"/>
            <a:ext cx="2194524" cy="486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Мен көрсөтөм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0000" y="3360279"/>
            <a:ext cx="1161982" cy="54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0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Мадина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09982" y="3360279"/>
            <a:ext cx="4514029" cy="54000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93371" y="3399140"/>
            <a:ext cx="547250" cy="462279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34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0000" y="4152279"/>
            <a:ext cx="1161982" cy="54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0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Бек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09982" y="4152279"/>
            <a:ext cx="2124249" cy="540000"/>
          </a:xfrm>
          <a:prstGeom prst="rect">
            <a:avLst/>
          </a:prstGeom>
          <a:solidFill>
            <a:srgbClr val="FFFFFF"/>
          </a:solidFill>
          <a:ln w="25400">
            <a:solidFill>
              <a:srgbClr val="24418C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19385" y="4191140"/>
            <a:ext cx="305442" cy="462279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800" b="1" i="0">
                <a:solidFill>
                  <a:srgbClr val="24418C"/>
                </a:solidFill>
                <a:latin typeface="PT Sans"/>
              </a:rPr>
              <a:t>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34231" y="4152279"/>
            <a:ext cx="2389780" cy="540000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55496" y="4191140"/>
            <a:ext cx="547250" cy="462279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18</a:t>
            </a:r>
          </a:p>
        </p:txBody>
      </p:sp>
      <p:sp>
        <p:nvSpPr>
          <p:cNvPr id="20" name="Oval 19"/>
          <p:cNvSpPr/>
          <p:nvPr/>
        </p:nvSpPr>
        <p:spPr>
          <a:xfrm>
            <a:off x="432000" y="3174919"/>
            <a:ext cx="396000" cy="396000"/>
          </a:xfrm>
          <a:prstGeom prst="ellipse">
            <a:avLst/>
          </a:prstGeom>
          <a:noFill/>
          <a:ln w="19050">
            <a:solidFill>
              <a:srgbClr val="1D35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2000" y="3174919"/>
            <a:ext cx="396000" cy="396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2000" y="3174800"/>
            <a:ext cx="4716000" cy="828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Мадинада көбүрөөк — анын</a:t>
            </a:r>
          </a:p>
          <a:p>
            <a:pPr algn="l">
              <a:lnSpc>
                <a:spcPct val="100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тилкеси узун: 34.</a:t>
            </a:r>
          </a:p>
        </p:txBody>
      </p:sp>
      <p:sp>
        <p:nvSpPr>
          <p:cNvPr id="23" name="Oval 22"/>
          <p:cNvSpPr/>
          <p:nvPr/>
        </p:nvSpPr>
        <p:spPr>
          <a:xfrm>
            <a:off x="432000" y="4183399"/>
            <a:ext cx="396000" cy="396000"/>
          </a:xfrm>
          <a:prstGeom prst="ellipse">
            <a:avLst/>
          </a:prstGeom>
          <a:noFill/>
          <a:ln w="19050">
            <a:solidFill>
              <a:srgbClr val="1D35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2000" y="4183399"/>
            <a:ext cx="396000" cy="396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2000" y="4183280"/>
            <a:ext cx="4716000" cy="432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Бектин тилкеси 18 сомго кыска.</a:t>
            </a:r>
          </a:p>
        </p:txBody>
      </p:sp>
      <p:sp>
        <p:nvSpPr>
          <p:cNvPr id="26" name="Oval 25"/>
          <p:cNvSpPr/>
          <p:nvPr/>
        </p:nvSpPr>
        <p:spPr>
          <a:xfrm>
            <a:off x="432000" y="4795639"/>
            <a:ext cx="396000" cy="396000"/>
          </a:xfrm>
          <a:prstGeom prst="ellipse">
            <a:avLst/>
          </a:prstGeom>
          <a:noFill/>
          <a:ln w="19050">
            <a:solidFill>
              <a:srgbClr val="1D35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2000" y="4795639"/>
            <a:ext cx="396000" cy="396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2000" y="4795520"/>
            <a:ext cx="4716000" cy="432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Бек = ? — кемитебиз.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04000" y="5652000"/>
            <a:ext cx="5856011" cy="6303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0000"/>
              </a:lnSpc>
            </a:pPr>
            <a:r>
              <a:rPr sz="3600" b="1" i="0">
                <a:solidFill>
                  <a:srgbClr val="1F2430"/>
                </a:solidFill>
                <a:latin typeface="PT Sans"/>
              </a:rPr>
              <a:t>34 − 18 =</a:t>
            </a:r>
            <a:r>
              <a:rPr sz="3600" b="1" i="0">
                <a:solidFill>
                  <a:srgbClr val="24418C"/>
                </a:solidFill>
                <a:latin typeface="PT Sans"/>
              </a:rPr>
              <a:t> 16 сом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32000" y="6317880"/>
            <a:ext cx="5760000" cy="396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2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880011" y="6317880"/>
            <a:ext cx="2880000" cy="396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0000"/>
              </a:lnSpc>
            </a:pPr>
            <a:r>
              <a:rPr sz="2400" b="0" i="0">
                <a:solidFill>
                  <a:srgbClr val="6B7280"/>
                </a:solidFill>
                <a:latin typeface="PT Sans"/>
              </a:rPr>
              <a:t>7/13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2000" y="216000"/>
            <a:ext cx="11328011" cy="792000"/>
          </a:xfrm>
          <a:prstGeom prst="roundRect">
            <a:avLst>
              <a:gd name="adj" fmla="val 23272"/>
            </a:avLst>
          </a:prstGeom>
          <a:noFill/>
          <a:ln w="19050">
            <a:solidFill>
              <a:srgbClr val="1D35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6320" y="384960"/>
            <a:ext cx="103680" cy="45408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6080" y="384960"/>
            <a:ext cx="103680" cy="45408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5840" y="384960"/>
            <a:ext cx="103680" cy="45408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8400" y="216000"/>
            <a:ext cx="6933712" cy="792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D3557"/>
                </a:solidFill>
                <a:latin typeface="PT Sans"/>
              </a:rPr>
              <a:t>Салыштыруу: жуп мисалдар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44112" y="216000"/>
            <a:ext cx="3227899" cy="792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0000"/>
              </a:lnSpc>
            </a:pPr>
            <a:r>
              <a:rPr sz="2400" b="0" i="0">
                <a:solidFill>
                  <a:srgbClr val="4A5A70"/>
                </a:solidFill>
                <a:latin typeface="PT Sans"/>
              </a:rPr>
              <a:t>Бүтүн сандар › + жана 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000" y="1224000"/>
            <a:ext cx="5520005" cy="4932000"/>
          </a:xfrm>
          <a:prstGeom prst="roundRect">
            <a:avLst>
              <a:gd name="adj" fmla="val 3737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432000" y="1866280"/>
            <a:ext cx="5520005" cy="0"/>
          </a:xfrm>
          <a:prstGeom prst="line">
            <a:avLst/>
          </a:prstGeom>
          <a:ln w="19050">
            <a:solidFill>
              <a:srgbClr val="1D3557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612000" y="1224000"/>
            <a:ext cx="5160005" cy="6422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Чогуу чыгарабыз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4000" y="1974280"/>
            <a:ext cx="5016005" cy="13237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Айпериде 92 бет китеп бар, ал</a:t>
            </a:r>
          </a:p>
          <a:p>
            <a:pPr algn="l">
              <a:lnSpc>
                <a:spcPct val="100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58 бетин окуду. Дагы канча бет</a:t>
            </a:r>
          </a:p>
          <a:p>
            <a:pPr algn="l">
              <a:lnSpc>
                <a:spcPct val="100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окуу калды?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4000" y="4561376"/>
            <a:ext cx="3162264" cy="432000"/>
          </a:xfrm>
          <a:prstGeom prst="rect">
            <a:avLst/>
          </a:prstGeom>
          <a:solidFill>
            <a:srgbClr val="B5E2D3"/>
          </a:solidFill>
          <a:ln w="16510">
            <a:solidFill>
              <a:srgbClr val="007A5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20310" y="4579256"/>
            <a:ext cx="489643" cy="396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58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6264" y="4561376"/>
            <a:ext cx="1853741" cy="432000"/>
          </a:xfrm>
          <a:prstGeom prst="rect">
            <a:avLst/>
          </a:prstGeom>
          <a:solidFill>
            <a:srgbClr val="FFFFFF"/>
          </a:solidFill>
          <a:ln w="20637">
            <a:solidFill>
              <a:srgbClr val="24418C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29135" y="4579256"/>
            <a:ext cx="288000" cy="396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24418C"/>
                </a:solidFill>
                <a:latin typeface="PT Sans"/>
              </a:rPr>
              <a:t>?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684000" y="4420976"/>
            <a:ext cx="0" cy="84240"/>
          </a:xfrm>
          <a:prstGeom prst="line">
            <a:avLst/>
          </a:prstGeom>
          <a:ln w="16510">
            <a:solidFill>
              <a:srgbClr val="24418C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684000" y="4420976"/>
            <a:ext cx="5016005" cy="0"/>
          </a:xfrm>
          <a:prstGeom prst="line">
            <a:avLst/>
          </a:prstGeom>
          <a:ln w="16510">
            <a:solidFill>
              <a:srgbClr val="24418C"/>
            </a:solidFill>
          </a:ln>
        </p:spPr>
      </p:cxnSp>
      <p:cxnSp>
        <p:nvCxnSpPr>
          <p:cNvPr id="18" name="Connector 17"/>
          <p:cNvCxnSpPr/>
          <p:nvPr/>
        </p:nvCxnSpPr>
        <p:spPr>
          <a:xfrm>
            <a:off x="5700005" y="4420976"/>
            <a:ext cx="0" cy="84240"/>
          </a:xfrm>
          <a:prstGeom prst="line">
            <a:avLst/>
          </a:prstGeom>
          <a:ln w="16510">
            <a:solidFill>
              <a:srgbClr val="24418C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3192002" y="4355456"/>
            <a:ext cx="0" cy="65520"/>
          </a:xfrm>
          <a:prstGeom prst="line">
            <a:avLst/>
          </a:prstGeom>
          <a:ln w="16510">
            <a:solidFill>
              <a:srgbClr val="24418C"/>
            </a:solidFill>
          </a:ln>
        </p:spPr>
      </p:cxnSp>
      <p:sp>
        <p:nvSpPr>
          <p:cNvPr id="20" name="TextBox 19"/>
          <p:cNvSpPr txBox="1"/>
          <p:nvPr/>
        </p:nvSpPr>
        <p:spPr>
          <a:xfrm>
            <a:off x="2947181" y="3930590"/>
            <a:ext cx="489643" cy="396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24418C"/>
                </a:solidFill>
                <a:latin typeface="PT Sans"/>
              </a:rPr>
              <a:t>92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8000" y="5616000"/>
            <a:ext cx="5088005" cy="56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0000"/>
              </a:lnSpc>
            </a:pPr>
            <a:r>
              <a:rPr sz="3200" b="1" i="0">
                <a:solidFill>
                  <a:srgbClr val="1F2430"/>
                </a:solidFill>
                <a:latin typeface="PT Sans"/>
              </a:rPr>
              <a:t>92 − 58 =</a:t>
            </a:r>
            <a:r>
              <a:rPr sz="3200" b="1" i="0">
                <a:solidFill>
                  <a:srgbClr val="24418C"/>
                </a:solidFill>
                <a:latin typeface="PT Sans"/>
              </a:rPr>
              <a:t> 34 бет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005" y="1224000"/>
            <a:ext cx="5520005" cy="4932000"/>
          </a:xfrm>
          <a:prstGeom prst="roundRect">
            <a:avLst>
              <a:gd name="adj" fmla="val 3737"/>
            </a:avLst>
          </a:prstGeom>
          <a:solidFill>
            <a:srgbClr val="FFFFFF"/>
          </a:solidFill>
          <a:ln w="19050">
            <a:solidFill>
              <a:srgbClr val="A844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6240005" y="1866280"/>
            <a:ext cx="5520006" cy="0"/>
          </a:xfrm>
          <a:prstGeom prst="line">
            <a:avLst/>
          </a:prstGeom>
          <a:ln w="19050">
            <a:solidFill>
              <a:srgbClr val="A84400"/>
            </a:solidFill>
          </a:ln>
        </p:spPr>
      </p:cxnSp>
      <p:sp>
        <p:nvSpPr>
          <p:cNvPr id="24" name="TextBox 23"/>
          <p:cNvSpPr txBox="1"/>
          <p:nvPr/>
        </p:nvSpPr>
        <p:spPr>
          <a:xfrm>
            <a:off x="6420005" y="1224000"/>
            <a:ext cx="5160005" cy="6422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800" b="1" i="0">
                <a:solidFill>
                  <a:srgbClr val="A84400"/>
                </a:solidFill>
                <a:latin typeface="PT Sans"/>
              </a:rPr>
              <a:t>Сенин кезегиң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005" y="1974280"/>
            <a:ext cx="5016005" cy="894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Асан 26 жашта. Агасы андан 18</a:t>
            </a:r>
          </a:p>
          <a:p>
            <a:pPr algn="l">
              <a:lnSpc>
                <a:spcPct val="100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жаш улуу. Агасы канча жашта?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005" y="3720400"/>
            <a:ext cx="816592" cy="432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0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Агасы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16598" y="3720400"/>
            <a:ext cx="4091413" cy="432000"/>
          </a:xfrm>
          <a:prstGeom prst="rect">
            <a:avLst/>
          </a:prstGeom>
          <a:solidFill>
            <a:srgbClr val="FFFFFF"/>
          </a:solidFill>
          <a:ln w="20637">
            <a:solidFill>
              <a:srgbClr val="24418C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18305" y="3738280"/>
            <a:ext cx="288000" cy="396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24418C"/>
                </a:solidFill>
                <a:latin typeface="PT Sans"/>
              </a:rPr>
              <a:t>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005" y="4332400"/>
            <a:ext cx="816592" cy="432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0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Асан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16598" y="4332400"/>
            <a:ext cx="2417653" cy="432000"/>
          </a:xfrm>
          <a:prstGeom prst="rect">
            <a:avLst/>
          </a:prstGeom>
          <a:solidFill>
            <a:srgbClr val="F5E9E0"/>
          </a:solidFill>
          <a:ln w="16510">
            <a:solidFill>
              <a:srgbClr val="A844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80603" y="4350280"/>
            <a:ext cx="489643" cy="396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26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834252" y="4332400"/>
            <a:ext cx="1673759" cy="432000"/>
          </a:xfrm>
          <a:prstGeom prst="rect">
            <a:avLst/>
          </a:prstGeom>
          <a:solidFill>
            <a:srgbClr val="FFFFFF"/>
          </a:solidFill>
          <a:ln w="16510">
            <a:solidFill>
              <a:srgbClr val="4A5A7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426310" y="4350280"/>
            <a:ext cx="489643" cy="396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18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56005" y="5616000"/>
            <a:ext cx="5088005" cy="56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0000"/>
              </a:lnSpc>
            </a:pPr>
            <a:r>
              <a:rPr sz="3200" b="1" i="0">
                <a:solidFill>
                  <a:srgbClr val="1F2430"/>
                </a:solidFill>
                <a:latin typeface="PT Sans"/>
              </a:rPr>
              <a:t>26 + 18 =</a:t>
            </a:r>
            <a:r>
              <a:rPr sz="3200" b="1" i="0">
                <a:solidFill>
                  <a:srgbClr val="24418C"/>
                </a:solidFill>
                <a:latin typeface="PT Sans"/>
              </a:rPr>
              <a:t> 44 жаш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32000" y="6317880"/>
            <a:ext cx="5760000" cy="396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2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880011" y="6317880"/>
            <a:ext cx="2880000" cy="396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0000"/>
              </a:lnSpc>
            </a:pPr>
            <a:r>
              <a:rPr sz="2400" b="0" i="0">
                <a:solidFill>
                  <a:srgbClr val="6B7280"/>
                </a:solidFill>
                <a:latin typeface="PT Sans"/>
              </a:rPr>
              <a:t>8/13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2000" y="216000"/>
            <a:ext cx="11328011" cy="792000"/>
          </a:xfrm>
          <a:prstGeom prst="roundRect">
            <a:avLst>
              <a:gd name="adj" fmla="val 23272"/>
            </a:avLst>
          </a:prstGeom>
          <a:noFill/>
          <a:ln w="19050">
            <a:solidFill>
              <a:srgbClr val="1D35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6320" y="384960"/>
            <a:ext cx="103680" cy="45408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6080" y="384960"/>
            <a:ext cx="103680" cy="45408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5840" y="384960"/>
            <a:ext cx="103680" cy="45408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8400" y="216000"/>
            <a:ext cx="6933712" cy="792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D3557"/>
                </a:solidFill>
                <a:latin typeface="PT Sans"/>
              </a:rPr>
              <a:t>Эки кадам: солдон оңго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44112" y="216000"/>
            <a:ext cx="3227899" cy="792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0000"/>
              </a:lnSpc>
            </a:pPr>
            <a:r>
              <a:rPr sz="2400" b="0" i="0">
                <a:solidFill>
                  <a:srgbClr val="4A5A70"/>
                </a:solidFill>
                <a:latin typeface="PT Sans"/>
              </a:rPr>
              <a:t>Бүтүн сандар › + жана 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000" y="1224000"/>
            <a:ext cx="2194524" cy="48624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2000" y="1224000"/>
            <a:ext cx="2194524" cy="486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Мен көрсөтөм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60329" y="2340729"/>
            <a:ext cx="2856585" cy="68351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A84400"/>
                </a:solidFill>
                <a:latin typeface="PT Sans"/>
              </a:rPr>
              <a:t>92</a:t>
            </a:r>
            <a:r>
              <a:rPr sz="3600" b="1" i="0">
                <a:solidFill>
                  <a:srgbClr val="A84400"/>
                </a:solidFill>
                <a:latin typeface="PT Sans"/>
              </a:rPr>
              <a:t> − </a:t>
            </a:r>
            <a:r>
              <a:rPr sz="3600" b="1" i="0">
                <a:solidFill>
                  <a:srgbClr val="A84400"/>
                </a:solidFill>
                <a:latin typeface="PT Sans"/>
              </a:rPr>
              <a:t>38</a:t>
            </a:r>
            <a:r>
              <a:rPr sz="3600" b="1" i="0">
                <a:solidFill>
                  <a:srgbClr val="1F2430"/>
                </a:solidFill>
                <a:latin typeface="PT Sans"/>
              </a:rPr>
              <a:t> + </a:t>
            </a:r>
            <a:r>
              <a:rPr sz="3600" b="1" i="0">
                <a:solidFill>
                  <a:srgbClr val="1F2430"/>
                </a:solidFill>
                <a:latin typeface="PT Sans"/>
              </a:rPr>
              <a:t>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3713" y="3024243"/>
            <a:ext cx="3213201" cy="68351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1F2430"/>
                </a:solidFill>
                <a:latin typeface="PT Sans"/>
              </a:rPr>
              <a:t>= </a:t>
            </a:r>
            <a:r>
              <a:rPr sz="3600" b="1" i="0">
                <a:solidFill>
                  <a:srgbClr val="24418C"/>
                </a:solidFill>
                <a:latin typeface="PT Sans"/>
              </a:rPr>
              <a:t>54</a:t>
            </a:r>
            <a:r>
              <a:rPr sz="3600" b="1" i="0">
                <a:solidFill>
                  <a:srgbClr val="A84400"/>
                </a:solidFill>
                <a:latin typeface="PT Sans"/>
              </a:rPr>
              <a:t> + </a:t>
            </a:r>
            <a:r>
              <a:rPr sz="3600" b="1" i="0">
                <a:solidFill>
                  <a:srgbClr val="A84400"/>
                </a:solidFill>
                <a:latin typeface="PT Sans"/>
              </a:rPr>
              <a:t>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3713" y="3707757"/>
            <a:ext cx="3213201" cy="68351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1F2430"/>
                </a:solidFill>
                <a:latin typeface="PT Sans"/>
              </a:rPr>
              <a:t>= </a:t>
            </a:r>
            <a:r>
              <a:rPr sz="3600" b="1" i="0">
                <a:solidFill>
                  <a:srgbClr val="24418C"/>
                </a:solidFill>
                <a:latin typeface="PT Sans"/>
              </a:rPr>
              <a:t>70</a:t>
            </a:r>
          </a:p>
        </p:txBody>
      </p:sp>
      <p:sp>
        <p:nvSpPr>
          <p:cNvPr id="13" name="Oval 12"/>
          <p:cNvSpPr/>
          <p:nvPr/>
        </p:nvSpPr>
        <p:spPr>
          <a:xfrm>
            <a:off x="432000" y="1854360"/>
            <a:ext cx="396000" cy="396000"/>
          </a:xfrm>
          <a:prstGeom prst="ellipse">
            <a:avLst/>
          </a:prstGeom>
          <a:noFill/>
          <a:ln w="19050">
            <a:solidFill>
              <a:srgbClr val="1D35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2000" y="1854360"/>
            <a:ext cx="396000" cy="396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2000" y="1854240"/>
            <a:ext cx="4716000" cy="828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+ жана − гана бар — солдон оңго</a:t>
            </a:r>
          </a:p>
          <a:p>
            <a:pPr algn="l">
              <a:lnSpc>
                <a:spcPct val="100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эсептейбиз.</a:t>
            </a:r>
          </a:p>
        </p:txBody>
      </p:sp>
      <p:sp>
        <p:nvSpPr>
          <p:cNvPr id="16" name="Oval 15"/>
          <p:cNvSpPr/>
          <p:nvPr/>
        </p:nvSpPr>
        <p:spPr>
          <a:xfrm>
            <a:off x="432000" y="2862839"/>
            <a:ext cx="396000" cy="396000"/>
          </a:xfrm>
          <a:prstGeom prst="ellipse">
            <a:avLst/>
          </a:prstGeom>
          <a:noFill/>
          <a:ln w="19050">
            <a:solidFill>
              <a:srgbClr val="1D35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2000" y="2862839"/>
            <a:ext cx="396000" cy="396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2000" y="2862720"/>
            <a:ext cx="4716000" cy="432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Адегенде: кемитүү — 92 − 38 = 54</a:t>
            </a:r>
          </a:p>
        </p:txBody>
      </p:sp>
      <p:sp>
        <p:nvSpPr>
          <p:cNvPr id="19" name="Oval 18"/>
          <p:cNvSpPr/>
          <p:nvPr/>
        </p:nvSpPr>
        <p:spPr>
          <a:xfrm>
            <a:off x="432000" y="3475079"/>
            <a:ext cx="396000" cy="396000"/>
          </a:xfrm>
          <a:prstGeom prst="ellipse">
            <a:avLst/>
          </a:prstGeom>
          <a:noFill/>
          <a:ln w="19050">
            <a:solidFill>
              <a:srgbClr val="1D35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2000" y="3475079"/>
            <a:ext cx="396000" cy="396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2000" y="3474959"/>
            <a:ext cx="4716000" cy="432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Акырында: кошуу — 54 + 16 = 70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04000" y="5652000"/>
            <a:ext cx="5856011" cy="6303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0000"/>
              </a:lnSpc>
            </a:pPr>
            <a:r>
              <a:rPr sz="3600" b="1" i="0">
                <a:solidFill>
                  <a:srgbClr val="1F2430"/>
                </a:solidFill>
                <a:latin typeface="PT Sans"/>
              </a:rPr>
              <a:t>92 − 38 + 16 =</a:t>
            </a:r>
            <a:r>
              <a:rPr sz="3600" b="1" i="0">
                <a:solidFill>
                  <a:srgbClr val="24418C"/>
                </a:solidFill>
                <a:latin typeface="PT Sans"/>
              </a:rPr>
              <a:t> 70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2000" y="6317880"/>
            <a:ext cx="5760000" cy="396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2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80011" y="6317880"/>
            <a:ext cx="2880000" cy="396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0000"/>
              </a:lnSpc>
            </a:pPr>
            <a:r>
              <a:rPr sz="2400" b="0" i="0">
                <a:solidFill>
                  <a:srgbClr val="6B7280"/>
                </a:solidFill>
                <a:latin typeface="PT Sans"/>
              </a:rPr>
              <a:t>9/13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2000" y="216000"/>
            <a:ext cx="11328011" cy="792000"/>
          </a:xfrm>
          <a:prstGeom prst="roundRect">
            <a:avLst>
              <a:gd name="adj" fmla="val 23272"/>
            </a:avLst>
          </a:prstGeom>
          <a:noFill/>
          <a:ln w="19050">
            <a:solidFill>
              <a:srgbClr val="1D35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6320" y="384960"/>
            <a:ext cx="103680" cy="45408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6080" y="384960"/>
            <a:ext cx="103680" cy="45408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5840" y="384960"/>
            <a:ext cx="103680" cy="45408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8400" y="216000"/>
            <a:ext cx="6933712" cy="792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D3557"/>
                </a:solidFill>
                <a:latin typeface="PT Sans"/>
              </a:rPr>
              <a:t>Эки кадамдуу маселелер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44112" y="216000"/>
            <a:ext cx="3227899" cy="792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0000"/>
              </a:lnSpc>
            </a:pPr>
            <a:r>
              <a:rPr sz="2400" b="0" i="0">
                <a:solidFill>
                  <a:srgbClr val="4A5A70"/>
                </a:solidFill>
                <a:latin typeface="PT Sans"/>
              </a:rPr>
              <a:t>Бүтүн сандар › + жана 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000" y="1224000"/>
            <a:ext cx="5520005" cy="4932000"/>
          </a:xfrm>
          <a:prstGeom prst="roundRect">
            <a:avLst>
              <a:gd name="adj" fmla="val 3737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432000" y="1866280"/>
            <a:ext cx="5520005" cy="0"/>
          </a:xfrm>
          <a:prstGeom prst="line">
            <a:avLst/>
          </a:prstGeom>
          <a:ln w="19050">
            <a:solidFill>
              <a:srgbClr val="1D3557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612000" y="1224000"/>
            <a:ext cx="5160005" cy="6422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Чогуу чыгарабыз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4000" y="1974280"/>
            <a:ext cx="5016005" cy="13237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Ажарда 65 сом бар эле. Ал 28</a:t>
            </a:r>
          </a:p>
          <a:p>
            <a:pPr algn="l">
              <a:lnSpc>
                <a:spcPct val="100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сомго нан, 19 сомго сүт алды.</a:t>
            </a:r>
          </a:p>
          <a:p>
            <a:pPr algn="l">
              <a:lnSpc>
                <a:spcPct val="100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Канча сом калды?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4000" y="4561376"/>
            <a:ext cx="2160741" cy="432000"/>
          </a:xfrm>
          <a:prstGeom prst="rect">
            <a:avLst/>
          </a:prstGeom>
          <a:solidFill>
            <a:srgbClr val="B5E2D3"/>
          </a:solidFill>
          <a:ln w="16510">
            <a:solidFill>
              <a:srgbClr val="007A5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19548" y="4579256"/>
            <a:ext cx="489643" cy="396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28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44741" y="4561376"/>
            <a:ext cx="1466217" cy="432000"/>
          </a:xfrm>
          <a:prstGeom prst="rect">
            <a:avLst/>
          </a:prstGeom>
          <a:solidFill>
            <a:srgbClr val="F5E9E0"/>
          </a:solidFill>
          <a:ln w="16510">
            <a:solidFill>
              <a:srgbClr val="A844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3028" y="4579256"/>
            <a:ext cx="489643" cy="396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19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10958" y="4561376"/>
            <a:ext cx="1389047" cy="432000"/>
          </a:xfrm>
          <a:prstGeom prst="rect">
            <a:avLst/>
          </a:prstGeom>
          <a:solidFill>
            <a:srgbClr val="FFFFFF"/>
          </a:solidFill>
          <a:ln w="20637">
            <a:solidFill>
              <a:srgbClr val="24418C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61482" y="4579256"/>
            <a:ext cx="288000" cy="396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24418C"/>
                </a:solidFill>
                <a:latin typeface="PT Sans"/>
              </a:rPr>
              <a:t>?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684000" y="4420976"/>
            <a:ext cx="0" cy="84240"/>
          </a:xfrm>
          <a:prstGeom prst="line">
            <a:avLst/>
          </a:prstGeom>
          <a:ln w="16510">
            <a:solidFill>
              <a:srgbClr val="24418C"/>
            </a:solidFill>
          </a:ln>
        </p:spPr>
      </p:cxnSp>
      <p:cxnSp>
        <p:nvCxnSpPr>
          <p:cNvPr id="19" name="Connector 18"/>
          <p:cNvCxnSpPr/>
          <p:nvPr/>
        </p:nvCxnSpPr>
        <p:spPr>
          <a:xfrm>
            <a:off x="684000" y="4420976"/>
            <a:ext cx="5016006" cy="0"/>
          </a:xfrm>
          <a:prstGeom prst="line">
            <a:avLst/>
          </a:prstGeom>
          <a:ln w="16510">
            <a:solidFill>
              <a:srgbClr val="24418C"/>
            </a:solidFill>
          </a:ln>
        </p:spPr>
      </p:cxnSp>
      <p:cxnSp>
        <p:nvCxnSpPr>
          <p:cNvPr id="20" name="Connector 19"/>
          <p:cNvCxnSpPr/>
          <p:nvPr/>
        </p:nvCxnSpPr>
        <p:spPr>
          <a:xfrm>
            <a:off x="5700006" y="4420976"/>
            <a:ext cx="0" cy="84240"/>
          </a:xfrm>
          <a:prstGeom prst="line">
            <a:avLst/>
          </a:prstGeom>
          <a:ln w="16510">
            <a:solidFill>
              <a:srgbClr val="24418C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3192003" y="4355456"/>
            <a:ext cx="0" cy="65520"/>
          </a:xfrm>
          <a:prstGeom prst="line">
            <a:avLst/>
          </a:prstGeom>
          <a:ln w="16510">
            <a:solidFill>
              <a:srgbClr val="24418C"/>
            </a:solidFill>
          </a:ln>
        </p:spPr>
      </p:cxnSp>
      <p:sp>
        <p:nvSpPr>
          <p:cNvPr id="22" name="TextBox 21"/>
          <p:cNvSpPr txBox="1"/>
          <p:nvPr/>
        </p:nvSpPr>
        <p:spPr>
          <a:xfrm>
            <a:off x="2947181" y="3930590"/>
            <a:ext cx="489643" cy="396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24418C"/>
                </a:solidFill>
                <a:latin typeface="PT Sans"/>
              </a:rPr>
              <a:t>65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8000" y="5616000"/>
            <a:ext cx="5088005" cy="56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0000"/>
              </a:lnSpc>
            </a:pPr>
            <a:r>
              <a:rPr sz="3200" b="1" i="0">
                <a:solidFill>
                  <a:srgbClr val="1F2430"/>
                </a:solidFill>
                <a:latin typeface="PT Sans"/>
              </a:rPr>
              <a:t>65 − 28 − 19 =</a:t>
            </a:r>
            <a:r>
              <a:rPr sz="3200" b="1" i="0">
                <a:solidFill>
                  <a:srgbClr val="24418C"/>
                </a:solidFill>
                <a:latin typeface="PT Sans"/>
              </a:rPr>
              <a:t> 18 сом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40005" y="1224000"/>
            <a:ext cx="5520005" cy="4932000"/>
          </a:xfrm>
          <a:prstGeom prst="roundRect">
            <a:avLst>
              <a:gd name="adj" fmla="val 3737"/>
            </a:avLst>
          </a:prstGeom>
          <a:solidFill>
            <a:srgbClr val="FFFFFF"/>
          </a:solidFill>
          <a:ln w="19050">
            <a:solidFill>
              <a:srgbClr val="A844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6240005" y="1866280"/>
            <a:ext cx="5520006" cy="0"/>
          </a:xfrm>
          <a:prstGeom prst="line">
            <a:avLst/>
          </a:prstGeom>
          <a:ln w="19050">
            <a:solidFill>
              <a:srgbClr val="A84400"/>
            </a:solidFill>
          </a:ln>
        </p:spPr>
      </p:cxnSp>
      <p:sp>
        <p:nvSpPr>
          <p:cNvPr id="26" name="TextBox 25"/>
          <p:cNvSpPr txBox="1"/>
          <p:nvPr/>
        </p:nvSpPr>
        <p:spPr>
          <a:xfrm>
            <a:off x="6420005" y="1224000"/>
            <a:ext cx="5160005" cy="6422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800" b="1" i="0">
                <a:solidFill>
                  <a:srgbClr val="A84400"/>
                </a:solidFill>
                <a:latin typeface="PT Sans"/>
              </a:rPr>
              <a:t>Сенин кезегиң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005" y="1974280"/>
            <a:ext cx="5016005" cy="13237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Автобуста 34 адам бар эле. 17</a:t>
            </a:r>
          </a:p>
          <a:p>
            <a:pPr algn="l">
              <a:lnSpc>
                <a:spcPct val="100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адам түшүп, 8 адам отурду. Эми</a:t>
            </a:r>
          </a:p>
          <a:p>
            <a:pPr algn="l">
              <a:lnSpc>
                <a:spcPct val="100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канча адам бар?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67295" y="3659597"/>
            <a:ext cx="2020163" cy="531621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A84400"/>
                </a:solidFill>
                <a:latin typeface="PT Sans"/>
              </a:rPr>
              <a:t>34</a:t>
            </a:r>
            <a:r>
              <a:rPr sz="2800" b="1" i="0">
                <a:solidFill>
                  <a:srgbClr val="A84400"/>
                </a:solidFill>
                <a:latin typeface="PT Sans"/>
              </a:rPr>
              <a:t> − </a:t>
            </a:r>
            <a:r>
              <a:rPr sz="2800" b="1" i="0">
                <a:solidFill>
                  <a:srgbClr val="A84400"/>
                </a:solidFill>
                <a:latin typeface="PT Sans"/>
              </a:rPr>
              <a:t>17</a:t>
            </a:r>
            <a:r>
              <a:rPr sz="2800" b="1" i="0">
                <a:solidFill>
                  <a:srgbClr val="1F2430"/>
                </a:solidFill>
                <a:latin typeface="PT Sans"/>
              </a:rPr>
              <a:t> + </a:t>
            </a:r>
            <a:r>
              <a:rPr sz="2800" b="1" i="0">
                <a:solidFill>
                  <a:srgbClr val="1F2430"/>
                </a:solidFill>
                <a:latin typeface="PT Sans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89927" y="4191219"/>
            <a:ext cx="2297531" cy="531621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= </a:t>
            </a:r>
            <a:r>
              <a:rPr sz="2800" b="1" i="0">
                <a:solidFill>
                  <a:srgbClr val="24418C"/>
                </a:solidFill>
                <a:latin typeface="PT Sans"/>
              </a:rPr>
              <a:t>17</a:t>
            </a:r>
            <a:r>
              <a:rPr sz="2800" b="1" i="0">
                <a:solidFill>
                  <a:srgbClr val="A84400"/>
                </a:solidFill>
                <a:latin typeface="PT Sans"/>
              </a:rPr>
              <a:t> + </a:t>
            </a:r>
            <a:r>
              <a:rPr sz="2800" b="1" i="0">
                <a:solidFill>
                  <a:srgbClr val="A84400"/>
                </a:solidFill>
                <a:latin typeface="PT Sans"/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89927" y="4722841"/>
            <a:ext cx="2297531" cy="531621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= </a:t>
            </a:r>
            <a:r>
              <a:rPr sz="2800" b="1" i="0">
                <a:solidFill>
                  <a:srgbClr val="24418C"/>
                </a:solidFill>
                <a:latin typeface="PT Sans"/>
              </a:rPr>
              <a:t>25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56005" y="5616000"/>
            <a:ext cx="5088005" cy="56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0000"/>
              </a:lnSpc>
            </a:pPr>
            <a:r>
              <a:rPr sz="3200" b="1" i="0">
                <a:solidFill>
                  <a:srgbClr val="1F2430"/>
                </a:solidFill>
                <a:latin typeface="PT Sans"/>
              </a:rPr>
              <a:t>34 − 17 + 8 =</a:t>
            </a:r>
            <a:r>
              <a:rPr sz="3200" b="1" i="0">
                <a:solidFill>
                  <a:srgbClr val="24418C"/>
                </a:solidFill>
                <a:latin typeface="PT Sans"/>
              </a:rPr>
              <a:t> 25 адам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32000" y="6317880"/>
            <a:ext cx="5760000" cy="396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2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880011" y="6317880"/>
            <a:ext cx="2880000" cy="396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0000"/>
              </a:lnSpc>
            </a:pPr>
            <a:r>
              <a:rPr sz="2400" b="0" i="0">
                <a:solidFill>
                  <a:srgbClr val="6B7280"/>
                </a:solidFill>
                <a:latin typeface="PT Sans"/>
              </a:rPr>
              <a:t>10/13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2000" y="216000"/>
            <a:ext cx="11328011" cy="792000"/>
          </a:xfrm>
          <a:prstGeom prst="roundRect">
            <a:avLst>
              <a:gd name="adj" fmla="val 23272"/>
            </a:avLst>
          </a:prstGeom>
          <a:noFill/>
          <a:ln w="19050">
            <a:solidFill>
              <a:srgbClr val="1D35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6320" y="384960"/>
            <a:ext cx="103680" cy="45408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6080" y="384960"/>
            <a:ext cx="103680" cy="45408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5840" y="384960"/>
            <a:ext cx="103680" cy="45408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8400" y="216000"/>
            <a:ext cx="6933712" cy="792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D3557"/>
                </a:solidFill>
                <a:latin typeface="PT Sans"/>
              </a:rPr>
              <a:t>Текшерүү суроосу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44112" y="216000"/>
            <a:ext cx="3227899" cy="792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0000"/>
              </a:lnSpc>
            </a:pPr>
            <a:r>
              <a:rPr sz="2400" b="0" i="0">
                <a:solidFill>
                  <a:srgbClr val="4A5A70"/>
                </a:solidFill>
                <a:latin typeface="PT Sans"/>
              </a:rPr>
              <a:t>Бүтүн сандар › + жана 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000" y="1224000"/>
            <a:ext cx="11328011" cy="1176560"/>
          </a:xfrm>
          <a:prstGeom prst="roundRect">
            <a:avLst>
              <a:gd name="adj" fmla="val 15666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0000" y="1350000"/>
            <a:ext cx="10752011" cy="96055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2800" b="0" i="0">
                <a:solidFill>
                  <a:srgbClr val="1F2430"/>
                </a:solidFill>
                <a:latin typeface="PT Sans"/>
              </a:rPr>
              <a:t>Айсулууда 46 марка бар. Ал Нурбектен 19 марка аз. Нурбекте</a:t>
            </a:r>
          </a:p>
          <a:p>
            <a:pPr algn="l">
              <a:lnSpc>
                <a:spcPct val="100000"/>
              </a:lnSpc>
            </a:pPr>
            <a:r>
              <a:rPr sz="2800" b="0" i="0">
                <a:solidFill>
                  <a:srgbClr val="1F2430"/>
                </a:solidFill>
                <a:latin typeface="PT Sans"/>
              </a:rPr>
              <a:t>канча марка бар?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2000" y="2508560"/>
            <a:ext cx="11328011" cy="4292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2600" b="0" i="1">
                <a:solidFill>
                  <a:srgbClr val="6B7280"/>
                </a:solidFill>
                <a:latin typeface="PT Sans"/>
              </a:rPr>
              <a:t>Кайсынысы туура? Бармагыңды көтөр: А, Б же В.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000" y="2976560"/>
            <a:ext cx="3584003" cy="2531440"/>
          </a:xfrm>
          <a:prstGeom prst="roundRect">
            <a:avLst>
              <a:gd name="adj" fmla="val 7281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000" y="2976560"/>
            <a:ext cx="648000" cy="25314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3200" b="1" i="0">
                <a:solidFill>
                  <a:srgbClr val="1D3557"/>
                </a:solidFill>
                <a:latin typeface="PT Sans"/>
              </a:rPr>
              <a:t>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6000" y="2976560"/>
            <a:ext cx="2504003" cy="25314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3600" b="1" i="0">
                <a:solidFill>
                  <a:srgbClr val="1F2430"/>
                </a:solidFill>
                <a:latin typeface="PT Sans"/>
              </a:rPr>
              <a:t>27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04003" y="2976560"/>
            <a:ext cx="3584003" cy="2531440"/>
          </a:xfrm>
          <a:prstGeom prst="roundRect">
            <a:avLst>
              <a:gd name="adj" fmla="val 7281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4003" y="2976560"/>
            <a:ext cx="648000" cy="25314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3200" b="1" i="0">
                <a:solidFill>
                  <a:srgbClr val="1D3557"/>
                </a:solidFill>
                <a:latin typeface="PT Sans"/>
              </a:rPr>
              <a:t>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68003" y="2976560"/>
            <a:ext cx="2504003" cy="25314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3600" b="1" i="0">
                <a:solidFill>
                  <a:srgbClr val="1F2430"/>
                </a:solidFill>
                <a:latin typeface="PT Sans"/>
              </a:rPr>
              <a:t>65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50003" y="2922560"/>
            <a:ext cx="3692003" cy="2639440"/>
          </a:xfrm>
          <a:prstGeom prst="roundRect">
            <a:avLst>
              <a:gd name="adj" fmla="val 7419"/>
            </a:avLst>
          </a:prstGeom>
          <a:noFill/>
          <a:ln w="50800">
            <a:solidFill>
              <a:srgbClr val="24418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76007" y="2976560"/>
            <a:ext cx="3584003" cy="2531440"/>
          </a:xfrm>
          <a:prstGeom prst="roundRect">
            <a:avLst>
              <a:gd name="adj" fmla="val 7281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56007" y="2976560"/>
            <a:ext cx="648000" cy="25314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3200" b="1" i="0">
                <a:solidFill>
                  <a:srgbClr val="1D3557"/>
                </a:solidFill>
                <a:latin typeface="PT Sans"/>
              </a:rPr>
              <a:t>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0007" y="2976560"/>
            <a:ext cx="2504003" cy="25314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3600" b="1" i="0">
                <a:solidFill>
                  <a:srgbClr val="1F2430"/>
                </a:solidFill>
                <a:latin typeface="PT Sans"/>
              </a:rPr>
              <a:t>46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2000" y="5652000"/>
            <a:ext cx="11328011" cy="5313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46 + 19 =</a:t>
            </a:r>
            <a:r>
              <a:rPr sz="3000" b="1" i="0">
                <a:solidFill>
                  <a:srgbClr val="24418C"/>
                </a:solidFill>
                <a:latin typeface="PT Sans"/>
              </a:rPr>
              <a:t> 65 марка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2000" y="6317880"/>
            <a:ext cx="5760000" cy="396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2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80011" y="6317880"/>
            <a:ext cx="2880000" cy="396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0000"/>
              </a:lnSpc>
            </a:pPr>
            <a:r>
              <a:rPr sz="2400" b="0" i="0">
                <a:solidFill>
                  <a:srgbClr val="6B7280"/>
                </a:solidFill>
                <a:latin typeface="PT Sans"/>
              </a:rPr>
              <a:t>11/13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2000" y="216000"/>
            <a:ext cx="11328011" cy="792000"/>
          </a:xfrm>
          <a:prstGeom prst="roundRect">
            <a:avLst>
              <a:gd name="adj" fmla="val 23272"/>
            </a:avLst>
          </a:prstGeom>
          <a:noFill/>
          <a:ln w="19050">
            <a:solidFill>
              <a:srgbClr val="1D35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6320" y="384960"/>
            <a:ext cx="103680" cy="45408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6080" y="384960"/>
            <a:ext cx="103680" cy="45408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5840" y="384960"/>
            <a:ext cx="103680" cy="45408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8400" y="216000"/>
            <a:ext cx="6933712" cy="792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D3557"/>
                </a:solidFill>
                <a:latin typeface="PT Sans"/>
              </a:rPr>
              <a:t>Өз алдынча иште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44112" y="216000"/>
            <a:ext cx="3227899" cy="792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0000"/>
              </a:lnSpc>
            </a:pPr>
            <a:r>
              <a:rPr sz="2400" b="0" i="0">
                <a:solidFill>
                  <a:srgbClr val="4A5A70"/>
                </a:solidFill>
                <a:latin typeface="PT Sans"/>
              </a:rPr>
              <a:t>Бүтүн сандар › + жана 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" y="1188000"/>
            <a:ext cx="11328011" cy="4292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2600" b="0" i="1">
                <a:solidFill>
                  <a:srgbClr val="6B7280"/>
                </a:solidFill>
                <a:latin typeface="PT Sans"/>
              </a:rPr>
              <a:t>Мини-тактага чыгар.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000" y="1656000"/>
            <a:ext cx="5520005" cy="2142000"/>
          </a:xfrm>
          <a:prstGeom prst="roundRect">
            <a:avLst>
              <a:gd name="adj" fmla="val 8605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76000" y="1800120"/>
            <a:ext cx="396000" cy="396000"/>
          </a:xfrm>
          <a:prstGeom prst="ellipse">
            <a:avLst/>
          </a:prstGeom>
          <a:noFill/>
          <a:ln w="19050">
            <a:solidFill>
              <a:srgbClr val="1D35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00" y="1800120"/>
            <a:ext cx="396000" cy="396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000" y="1656000"/>
            <a:ext cx="3209984" cy="2142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1F2430"/>
                </a:solidFill>
                <a:latin typeface="PT Sans"/>
              </a:rPr>
              <a:t>66 + 27 − 45 =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3984" y="1656000"/>
            <a:ext cx="1374021" cy="2142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24418C"/>
                </a:solidFill>
                <a:latin typeface="PT Sans"/>
              </a:rPr>
              <a:t>48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0005" y="1656000"/>
            <a:ext cx="5520005" cy="2142000"/>
          </a:xfrm>
          <a:prstGeom prst="roundRect">
            <a:avLst>
              <a:gd name="adj" fmla="val 8605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84005" y="1800120"/>
            <a:ext cx="396000" cy="396000"/>
          </a:xfrm>
          <a:prstGeom prst="ellipse">
            <a:avLst/>
          </a:prstGeom>
          <a:noFill/>
          <a:ln w="19050">
            <a:solidFill>
              <a:srgbClr val="1D35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4005" y="1800120"/>
            <a:ext cx="396000" cy="396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60005" y="1656000"/>
            <a:ext cx="3209984" cy="2142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1F2430"/>
                </a:solidFill>
                <a:latin typeface="PT Sans"/>
              </a:rPr>
              <a:t>92 − 38 + 16 =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990" y="1656000"/>
            <a:ext cx="1374021" cy="2142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24418C"/>
                </a:solidFill>
                <a:latin typeface="PT Sans"/>
              </a:rPr>
              <a:t>70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2000" y="4014000"/>
            <a:ext cx="5520005" cy="2142000"/>
          </a:xfrm>
          <a:prstGeom prst="roundRect">
            <a:avLst>
              <a:gd name="adj" fmla="val 8605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6000" y="4158120"/>
            <a:ext cx="396000" cy="396000"/>
          </a:xfrm>
          <a:prstGeom prst="ellipse">
            <a:avLst/>
          </a:prstGeom>
          <a:noFill/>
          <a:ln w="19050">
            <a:solidFill>
              <a:srgbClr val="1D35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6000" y="4158120"/>
            <a:ext cx="396000" cy="396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2000" y="4014000"/>
            <a:ext cx="3669597" cy="2142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F2430"/>
                </a:solidFill>
                <a:latin typeface="PT Sans"/>
              </a:rPr>
              <a:t>99 − 45 + 28 − 37 =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93596" y="4014000"/>
            <a:ext cx="914408" cy="2142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24418C"/>
                </a:solidFill>
                <a:latin typeface="PT Sans"/>
              </a:rPr>
              <a:t>45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40005" y="4014000"/>
            <a:ext cx="5520005" cy="2142000"/>
          </a:xfrm>
          <a:prstGeom prst="roundRect">
            <a:avLst>
              <a:gd name="adj" fmla="val 8605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84005" y="4158120"/>
            <a:ext cx="396000" cy="396000"/>
          </a:xfrm>
          <a:prstGeom prst="ellipse">
            <a:avLst/>
          </a:prstGeom>
          <a:noFill/>
          <a:ln w="19050">
            <a:solidFill>
              <a:srgbClr val="1D35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84005" y="4158120"/>
            <a:ext cx="396000" cy="396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88005" y="4122000"/>
            <a:ext cx="4728005" cy="13237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Эки сандын суммасы 91,</a:t>
            </a:r>
          </a:p>
          <a:p>
            <a:pPr algn="l">
              <a:lnSpc>
                <a:spcPct val="100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алардын бири 47. Экинчи</a:t>
            </a:r>
          </a:p>
          <a:p>
            <a:pPr algn="l">
              <a:lnSpc>
                <a:spcPct val="100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санды тап.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56005" y="5616000"/>
            <a:ext cx="5088005" cy="56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0000"/>
              </a:lnSpc>
            </a:pPr>
            <a:r>
              <a:rPr sz="3200" b="1" i="0">
                <a:solidFill>
                  <a:srgbClr val="1F2430"/>
                </a:solidFill>
                <a:latin typeface="PT Sans"/>
              </a:rPr>
              <a:t>91 − 47 =</a:t>
            </a:r>
            <a:r>
              <a:rPr sz="3200" b="1" i="0">
                <a:solidFill>
                  <a:srgbClr val="24418C"/>
                </a:solidFill>
                <a:latin typeface="PT Sans"/>
              </a:rPr>
              <a:t> 44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2000" y="6317880"/>
            <a:ext cx="5760000" cy="396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2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80011" y="6317880"/>
            <a:ext cx="2880000" cy="396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0000"/>
              </a:lnSpc>
            </a:pPr>
            <a:r>
              <a:rPr sz="2400" b="0" i="0">
                <a:solidFill>
                  <a:srgbClr val="6B7280"/>
                </a:solidFill>
                <a:latin typeface="PT Sans"/>
              </a:rPr>
              <a:t>12/13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2000" y="216000"/>
            <a:ext cx="11328011" cy="792000"/>
          </a:xfrm>
          <a:prstGeom prst="roundRect">
            <a:avLst>
              <a:gd name="adj" fmla="val 23272"/>
            </a:avLst>
          </a:prstGeom>
          <a:noFill/>
          <a:ln w="19050">
            <a:solidFill>
              <a:srgbClr val="1D35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6320" y="384960"/>
            <a:ext cx="103680" cy="45408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6080" y="384960"/>
            <a:ext cx="103680" cy="45408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5840" y="384960"/>
            <a:ext cx="103680" cy="45408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8400" y="216000"/>
            <a:ext cx="6933712" cy="792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D3557"/>
                </a:solidFill>
                <a:latin typeface="PT Sans"/>
              </a:rPr>
              <a:t>Кыскача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44112" y="216000"/>
            <a:ext cx="3227899" cy="792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0000"/>
              </a:lnSpc>
            </a:pPr>
            <a:r>
              <a:rPr sz="2400" b="0" i="0">
                <a:solidFill>
                  <a:srgbClr val="4A5A70"/>
                </a:solidFill>
                <a:latin typeface="PT Sans"/>
              </a:rPr>
              <a:t>Бүтүн сандар › + жана 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000" y="1260000"/>
            <a:ext cx="11328011" cy="891000"/>
          </a:xfrm>
          <a:prstGeom prst="roundRect">
            <a:avLst>
              <a:gd name="adj" fmla="val 20686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12000" y="1507500"/>
            <a:ext cx="396000" cy="396000"/>
          </a:xfrm>
          <a:prstGeom prst="ellipse">
            <a:avLst/>
          </a:prstGeom>
          <a:noFill/>
          <a:ln w="19050">
            <a:solidFill>
              <a:srgbClr val="1D35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000" y="1507500"/>
            <a:ext cx="396000" cy="396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76011" y="1260000"/>
            <a:ext cx="1440000" cy="891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000" y="1260000"/>
            <a:ext cx="8808011" cy="891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Бөлүктөр белгилүү, бүтүн белгисиз — кошобуз.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000" y="2259000"/>
            <a:ext cx="11328011" cy="891000"/>
          </a:xfrm>
          <a:prstGeom prst="roundRect">
            <a:avLst>
              <a:gd name="adj" fmla="val 20686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12000" y="2506500"/>
            <a:ext cx="396000" cy="396000"/>
          </a:xfrm>
          <a:prstGeom prst="ellipse">
            <a:avLst/>
          </a:prstGeom>
          <a:noFill/>
          <a:ln w="19050">
            <a:solidFill>
              <a:srgbClr val="1D35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000" y="2506500"/>
            <a:ext cx="396000" cy="396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76011" y="2259000"/>
            <a:ext cx="1440000" cy="891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2000" y="2259000"/>
            <a:ext cx="8808011" cy="891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Бүтүн белгилүү, бөлүк белгисиз — кемитебиз.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2000" y="3258000"/>
            <a:ext cx="11328011" cy="891000"/>
          </a:xfrm>
          <a:prstGeom prst="roundRect">
            <a:avLst>
              <a:gd name="adj" fmla="val 20686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12000" y="3505500"/>
            <a:ext cx="396000" cy="396000"/>
          </a:xfrm>
          <a:prstGeom prst="ellipse">
            <a:avLst/>
          </a:prstGeom>
          <a:noFill/>
          <a:ln w="19050">
            <a:solidFill>
              <a:srgbClr val="1D35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000" y="3505500"/>
            <a:ext cx="396000" cy="396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76011" y="3258000"/>
            <a:ext cx="1440000" cy="891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2000" y="3258000"/>
            <a:ext cx="8808011" cy="891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Салыштыруу: айырма же кичине сан белгисиз — кемитебиз;</a:t>
            </a:r>
          </a:p>
          <a:p>
            <a:pPr algn="l">
              <a:lnSpc>
                <a:spcPct val="100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чоң сан — кошобуз.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2000" y="4257000"/>
            <a:ext cx="11328011" cy="891000"/>
          </a:xfrm>
          <a:prstGeom prst="roundRect">
            <a:avLst>
              <a:gd name="adj" fmla="val 20686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12000" y="4504500"/>
            <a:ext cx="396000" cy="396000"/>
          </a:xfrm>
          <a:prstGeom prst="ellipse">
            <a:avLst/>
          </a:prstGeom>
          <a:noFill/>
          <a:ln w="19050">
            <a:solidFill>
              <a:srgbClr val="1D35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000" y="4504500"/>
            <a:ext cx="396000" cy="396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2000" y="4257000"/>
            <a:ext cx="10248011" cy="891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+ жана − аралаш болсо — солдон оңго.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872000" y="5364000"/>
            <a:ext cx="8448011" cy="756000"/>
          </a:xfrm>
          <a:prstGeom prst="roundRect">
            <a:avLst>
              <a:gd name="adj" fmla="val 2438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016000" y="5364000"/>
            <a:ext cx="8160011" cy="756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A84400"/>
                </a:solidFill>
                <a:latin typeface="PT Sans"/>
              </a:rPr>
              <a:t>Сөзгө эмес, тилкеге кара!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2000" y="6317880"/>
            <a:ext cx="5760000" cy="396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</a:pPr>
            <a:r>
              <a:rPr sz="2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80011" y="6317880"/>
            <a:ext cx="2880000" cy="396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0000"/>
              </a:lnSpc>
            </a:pPr>
            <a:r>
              <a:rPr sz="2400" b="0" i="0">
                <a:solidFill>
                  <a:srgbClr val="6B7280"/>
                </a:solidFill>
                <a:latin typeface="PT Sans"/>
              </a:rPr>
              <a:t>13/13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T Sa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T Sa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T Sa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T Sa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Кошуу жана кемитүү: 1–2 орундуу</dc:title>
  <dc:subject/>
  <dc:creator>Isa Amanov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