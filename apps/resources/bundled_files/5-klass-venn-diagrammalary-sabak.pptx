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 Окуучулар болжолдошсун: 15 + 12 = 27, бирок класста 26 гана окуучу. Кантип болот? Жоопту сабактын аягында (22-слайд) текшеребиз. Проектор жок болсо, эки тегеректи доскага чийем.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Нурай: экөөнү тең ойногон 5 окуучу эки жолу саналбайт. Бекжан – М1 (23 &gt; 20, мүмкүн эмес).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эки жип (ар бири 1 м, учтарын байлап тегерек кылабыз), 26 бөтөлкө капкагы же буурчак, эки кагаз жазуу («Футбол», «Тогуз коргоол»). Адегенде экөө тең жазылган 6 капкакты коюшат: жиптер кесилишип турушу керек экенин өздөрү табышат. Анан футбол гана, тогуз коргоол гана, калгандары сыртка. Класс чоң болсо, полго эки чоң жип тегерек коюп, окуучулар өздөрү ичине турушат.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Доскага тик бурчтук (класс) жана эки тегерек чийем. Ортодон баштайбыз: 6. Футбол гана 15 − 6 = 9, тогуз коргоол гана 12 − 6 = 6. Тилкеде футбол менен тогуз коргоолдун тилкелери 6 бөлүгүндө үстү-үстүнө түшөт: ошол «экөө тең». Класстын тилкеси: 9 + 6 + 6 + ? = 26. Окуучулар чакмак дептерге чийишет (1 чакмак = 1 окуучу).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дайым ортодон баштайм (М2). Бирикмеде кесилиш бир гана жолу саналат (М1). Тик бурчтук – баары; сыртын унутпайбыз (М3). Текшерүү: 4 бөлүктүн суммасы = баары. Кэрролл таблицасы да ошол эле 4 бөлүк: «А жана Б», «А, Б эмес», «Б, А эмес», «А да эмес, Б да эмес». Маселеде Пойанын 4 кадамы: түшүн (эмне белгилүү?), чий (Венн же тилке), эсепте, текшер.</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«ортону бир гана жолу саныйм».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М1; Б = ✓; В = М3; Г = М2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бирикме → эч бири → экөө тең. Жооптор: 14 + 10 − 5 = 19 окуучу; 27 − 20 = 7 окуучу; 16 + 13 − 24 = 5 окуучу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Ортодон баштайбыз: экөө тең 6. Футбол гана 15 − 6 = 9, тогуз коргоол гана 12 − 6 = 6. Тегеректердин ичинде 9 + 6 + 6 = 21, сыртында 26 − 21 = 5. Текшерүү: 9 + 6 + 6 + 5 = 26. Эмне үчүн 15 + 12 = 27 &gt; 26? Алтоо эки жолу саналды (М1).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{3, 4}; 12 + 9 − 5 = 16; 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5-класс · Математика</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Көптүктөр жана Венн диаграммалары</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Ат-Башыдагы мектеп ийримдери</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Бекжан менен Нурай Чынара эже менен футбол жана тогуз коргоол ийримдеринин тизмесин түзүшөт.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(2018), 5-класс «Көптүктөр»; Cambridge (маалыматтар: Венн жана Кэрролл диаграммалары).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Ат-Башыдагы мектеп ийримдери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Ат-Башыдагы мектепте күз башталганда ийримдерге жазылуу күнү болот.</a:t>
            </a:r>
          </a:p>
          <a:p>
            <a:pPr algn="l">
              <a:lnSpc>
                <a:spcPct val="105000"/>
              </a:lnSpc>
              <a:spcBef>
                <a:spcPts val="800"/>
              </a:spcBef>
            </a:pPr>
            <a:r>
              <a:rPr sz="2100" b="0" i="0">
                <a:solidFill>
                  <a:srgbClr val="1F2430"/>
                </a:solidFill>
                <a:latin typeface="PT Sans"/>
              </a:rPr>
              <a:t>5-«Б» класстын жетекчиси Чынара эже Бекжан менен Нурайга тизме түзүүнү тапшырды.</a:t>
            </a:r>
          </a:p>
          <a:p>
            <a:pPr algn="l">
              <a:lnSpc>
                <a:spcPct val="105000"/>
              </a:lnSpc>
              <a:spcBef>
                <a:spcPts val="800"/>
              </a:spcBef>
            </a:pPr>
            <a:r>
              <a:rPr sz="2100" b="0" i="0">
                <a:solidFill>
                  <a:srgbClr val="1F2430"/>
                </a:solidFill>
                <a:latin typeface="PT Sans"/>
              </a:rPr>
              <a:t>Классташтардын 15и футболго, 12си тогуз коргоолго жазылды. Алтоо экөөнө тең жазылды.</a:t>
            </a:r>
          </a:p>
          <a:p>
            <a:pPr algn="l">
              <a:lnSpc>
                <a:spcPct val="105000"/>
              </a:lnSpc>
              <a:spcBef>
                <a:spcPts val="800"/>
              </a:spcBef>
            </a:pPr>
            <a:r>
              <a:rPr sz="2100" b="0" i="0">
                <a:solidFill>
                  <a:srgbClr val="1F2430"/>
                </a:solidFill>
                <a:latin typeface="PT Sans"/>
              </a:rPr>
              <a:t>Класста 26 окуучу. Ийримсиз калгандарга Чынара эже комуз ийримин сунуштайт.</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26 окуучунун 15и футболго, 12си тогуз коргоолго, 6сы экөөнө тең жазылды. Канча окуучу эч бир ийримге жазылган жок?</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Көптүктү жана анын элементтерин таанып, { } жана ∈ белгилери менен жазам.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Элементтерди Венн диаграммасына жана Кэрролл таблицасына туура жайгаштырам (кесилиш, сырты).</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Эки көптүк менен саноо маселелерин Венн диаграммасы жана тилке менен чыгарам.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Элемент, кесилиш, бирикме</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Бир гана, эч бири</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Экөө тең, Кэрролл</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23 &gt; 20: мүмкүнбү?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жип тегеректер</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Ат-Башыдагы ийримдер</a:t>
            </a:r>
          </a:p>
          <a:p>
            <a:pPr algn="l">
              <a:lnSpc>
                <a:spcPct val="105000"/>
              </a:lnSpc>
            </a:pPr>
            <a:r>
              <a:rPr sz="1800" b="0" i="0">
                <a:solidFill>
                  <a:srgbClr val="1F2430"/>
                </a:solidFill>
                <a:latin typeface="PT Sans"/>
              </a:rPr>
              <a:t>• Класстын тизмеси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2-класс</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Сорттоо</a:t>
            </a:r>
          </a:p>
          <a:p>
            <a:pPr algn="l">
              <a:lnSpc>
                <a:spcPct val="105000"/>
              </a:lnSpc>
              <a:spcBef>
                <a:spcPts val="400"/>
              </a:spcBef>
            </a:pPr>
            <a:r>
              <a:rPr sz="1500" b="0" i="0">
                <a:solidFill>
                  <a:srgbClr val="1F2430"/>
                </a:solidFill>
                <a:latin typeface="PT Sans"/>
              </a:rPr>
              <a:t>• Венн, Кэрролл</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5-класс</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Көптүк, элемент</a:t>
            </a:r>
          </a:p>
          <a:p>
            <a:pPr algn="l">
              <a:lnSpc>
                <a:spcPct val="105000"/>
              </a:lnSpc>
              <a:spcBef>
                <a:spcPts val="400"/>
              </a:spcBef>
            </a:pPr>
            <a:r>
              <a:rPr sz="1500" b="0" i="0">
                <a:solidFill>
                  <a:srgbClr val="1F2430"/>
                </a:solidFill>
                <a:latin typeface="PT Sans"/>
              </a:rPr>
              <a:t>• ∩ жана ∪</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6-класс</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Маалымат</a:t>
            </a:r>
          </a:p>
          <a:p>
            <a:pPr algn="l">
              <a:lnSpc>
                <a:spcPct val="105000"/>
              </a:lnSpc>
              <a:spcBef>
                <a:spcPts val="400"/>
              </a:spcBef>
            </a:pPr>
            <a:r>
              <a:rPr sz="1500" b="0" i="0">
                <a:solidFill>
                  <a:srgbClr val="6B7280"/>
                </a:solidFill>
                <a:latin typeface="PT Sans"/>
              </a:rPr>
              <a:t>• Диаграммалар</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7-класс</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Логика</a:t>
            </a:r>
          </a:p>
          <a:p>
            <a:pPr algn="l">
              <a:lnSpc>
                <a:spcPct val="105000"/>
              </a:lnSpc>
              <a:spcBef>
                <a:spcPts val="400"/>
              </a:spcBef>
            </a:pPr>
            <a:r>
              <a:rPr sz="1500" b="0" i="0">
                <a:solidFill>
                  <a:srgbClr val="6B7280"/>
                </a:solidFill>
                <a:latin typeface="PT Sans"/>
              </a:rPr>
              <a:t>• Ыктымалдык</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18 жуппу?</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21 3кө бөлүнөбү?</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26 − 9 − 6</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15 + 12 − 6</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18 жуппу?</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Ооба</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21 3кө бөлүнөбү?</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Ооба: 3 × 7</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26 − 9 − 6</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11</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15 + 12 − 6</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Чынара эже: «20 окуучунун 12си футбол, 11и тогуз коргоол ойнойт, 5и экөөнү тең. Жок дегенде бирөөнү канча окуучу ойнойт?»</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Бекжан</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12 + 11 = 23</a:t>
            </a:r>
          </a:p>
          <a:p>
            <a:pPr algn="l">
              <a:lnSpc>
                <a:spcPct val="105000"/>
              </a:lnSpc>
            </a:pPr>
            <a:r>
              <a:rPr sz="2600" b="0" i="0">
                <a:solidFill>
                  <a:srgbClr val="1F2430"/>
                </a:solidFill>
                <a:latin typeface="PT Sans"/>
              </a:rPr>
              <a:t>23 окуучу</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Нурай</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12 + 11 − 5</a:t>
            </a:r>
          </a:p>
          <a:p>
            <a:pPr algn="l">
              <a:lnSpc>
                <a:spcPct val="105000"/>
              </a:lnSpc>
            </a:pPr>
            <a:r>
              <a:rPr sz="2600" b="0" i="0">
                <a:solidFill>
                  <a:srgbClr val="1F2430"/>
                </a:solidFill>
                <a:latin typeface="PT Sans"/>
              </a:rPr>
              <a:t>= 18</a:t>
            </a:r>
          </a:p>
          <a:p>
            <a:pPr algn="l">
              <a:lnSpc>
                <a:spcPct val="105000"/>
              </a:lnSpc>
            </a:pPr>
            <a:r>
              <a:rPr sz="2600" b="0" i="0">
                <a:solidFill>
                  <a:srgbClr val="1F2430"/>
                </a:solidFill>
                <a:latin typeface="PT Sans"/>
              </a:rPr>
              <a:t>18 окуучу</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Венн диаграммасы менен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2" name="venn-deco"/>
          <p:cNvSpPr/>
          <p:nvPr/>
        </p:nvSpPr>
        <p:spPr>
          <a:xfrm>
            <a:off x="3355848" y="3199028"/>
            <a:ext cx="1435395" cy="1555851"/>
          </a:xfrm>
          <a:prstGeom prst="ellipse">
            <a:avLst/>
          </a:prstGeom>
          <a:solidFill>
            <a:srgbClr val="B5E2D3">
              <a:alpha val="55000"/>
            </a:srgbClr>
          </a:solidFill>
          <a:ln w="23431">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enn-deco"/>
          <p:cNvSpPr/>
          <p:nvPr/>
        </p:nvSpPr>
        <p:spPr>
          <a:xfrm>
            <a:off x="4389332" y="3199028"/>
            <a:ext cx="1435395" cy="1555851"/>
          </a:xfrm>
          <a:prstGeom prst="ellipse">
            <a:avLst/>
          </a:prstGeom>
          <a:solidFill>
            <a:srgbClr val="BFCBE9">
              <a:alpha val="55000"/>
            </a:srgbClr>
          </a:solidFill>
          <a:ln w="23431">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venn-deco"/>
          <p:cNvSpPr txBox="1"/>
          <p:nvPr/>
        </p:nvSpPr>
        <p:spPr>
          <a:xfrm>
            <a:off x="3355848" y="2905836"/>
            <a:ext cx="987552" cy="267716"/>
          </a:xfrm>
          <a:prstGeom prst="rect">
            <a:avLst/>
          </a:prstGeom>
          <a:noFill/>
        </p:spPr>
        <p:txBody>
          <a:bodyPr wrap="none" lIns="0" rIns="0" tIns="0" bIns="0" anchor="ctr">
            <a:spAutoFit/>
          </a:bodyPr>
          <a:lstStyle/>
          <a:p>
            <a:pPr algn="ctr">
              <a:lnSpc>
                <a:spcPct val="95000"/>
              </a:lnSpc>
            </a:pPr>
            <a:r>
              <a:rPr sz="1400" b="1" i="0">
                <a:solidFill>
                  <a:srgbClr val="007A5A"/>
                </a:solidFill>
                <a:latin typeface="PT Sans"/>
              </a:rPr>
              <a:t>Футбол 12</a:t>
            </a:r>
          </a:p>
        </p:txBody>
      </p:sp>
      <p:sp>
        <p:nvSpPr>
          <p:cNvPr id="25" name="venn-deco"/>
          <p:cNvSpPr txBox="1"/>
          <p:nvPr/>
        </p:nvSpPr>
        <p:spPr>
          <a:xfrm>
            <a:off x="4936743" y="2905836"/>
            <a:ext cx="887984" cy="267716"/>
          </a:xfrm>
          <a:prstGeom prst="rect">
            <a:avLst/>
          </a:prstGeom>
          <a:noFill/>
        </p:spPr>
        <p:txBody>
          <a:bodyPr wrap="none" lIns="0" rIns="0" tIns="0" bIns="0" anchor="ctr">
            <a:spAutoFit/>
          </a:bodyPr>
          <a:lstStyle/>
          <a:p>
            <a:pPr algn="ctr">
              <a:lnSpc>
                <a:spcPct val="95000"/>
              </a:lnSpc>
            </a:pPr>
            <a:r>
              <a:rPr sz="1400" b="1" i="0">
                <a:solidFill>
                  <a:srgbClr val="24418C"/>
                </a:solidFill>
                <a:latin typeface="PT Sans"/>
              </a:rPr>
              <a:t>Т. к. 11</a:t>
            </a:r>
          </a:p>
        </p:txBody>
      </p:sp>
      <p:sp>
        <p:nvSpPr>
          <p:cNvPr id="26" name="venn-deco"/>
          <p:cNvSpPr txBox="1"/>
          <p:nvPr/>
        </p:nvSpPr>
        <p:spPr>
          <a:xfrm>
            <a:off x="3675486" y="3793566"/>
            <a:ext cx="39420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12</a:t>
            </a:r>
          </a:p>
        </p:txBody>
      </p:sp>
      <p:sp>
        <p:nvSpPr>
          <p:cNvPr id="27" name="venn-deco"/>
          <p:cNvSpPr txBox="1"/>
          <p:nvPr/>
        </p:nvSpPr>
        <p:spPr>
          <a:xfrm>
            <a:off x="5110881" y="3793566"/>
            <a:ext cx="39420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11</a:t>
            </a:r>
          </a:p>
        </p:txBody>
      </p:sp>
      <p:sp>
        <p:nvSpPr>
          <p:cNvPr id="28" name="venn-deco"/>
          <p:cNvSpPr/>
          <p:nvPr/>
        </p:nvSpPr>
        <p:spPr>
          <a:xfrm>
            <a:off x="9134856" y="3199028"/>
            <a:ext cx="1435395" cy="1555851"/>
          </a:xfrm>
          <a:prstGeom prst="ellipse">
            <a:avLst/>
          </a:prstGeom>
          <a:solidFill>
            <a:srgbClr val="B5E2D3">
              <a:alpha val="55000"/>
            </a:srgbClr>
          </a:solidFill>
          <a:ln w="23431">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enn-deco"/>
          <p:cNvSpPr/>
          <p:nvPr/>
        </p:nvSpPr>
        <p:spPr>
          <a:xfrm>
            <a:off x="10168340" y="3199028"/>
            <a:ext cx="1435395" cy="1555851"/>
          </a:xfrm>
          <a:prstGeom prst="ellipse">
            <a:avLst/>
          </a:prstGeom>
          <a:solidFill>
            <a:srgbClr val="BFCBE9">
              <a:alpha val="55000"/>
            </a:srgbClr>
          </a:solidFill>
          <a:ln w="23431">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venn-deco"/>
          <p:cNvSpPr/>
          <p:nvPr/>
        </p:nvSpPr>
        <p:spPr>
          <a:xfrm>
            <a:off x="10204512" y="3587991"/>
            <a:ext cx="329566" cy="777925"/>
          </a:xfrm>
          <a:prstGeom prst="ellipse">
            <a:avLst/>
          </a:prstGeom>
          <a:noFill/>
          <a:ln w="28117">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enn-deco"/>
          <p:cNvSpPr txBox="1"/>
          <p:nvPr/>
        </p:nvSpPr>
        <p:spPr>
          <a:xfrm>
            <a:off x="9134856" y="2905836"/>
            <a:ext cx="987552" cy="267716"/>
          </a:xfrm>
          <a:prstGeom prst="rect">
            <a:avLst/>
          </a:prstGeom>
          <a:noFill/>
        </p:spPr>
        <p:txBody>
          <a:bodyPr wrap="none" lIns="0" rIns="0" tIns="0" bIns="0" anchor="ctr">
            <a:spAutoFit/>
          </a:bodyPr>
          <a:lstStyle/>
          <a:p>
            <a:pPr algn="ctr">
              <a:lnSpc>
                <a:spcPct val="95000"/>
              </a:lnSpc>
            </a:pPr>
            <a:r>
              <a:rPr sz="1400" b="1" i="0">
                <a:solidFill>
                  <a:srgbClr val="007A5A"/>
                </a:solidFill>
                <a:latin typeface="PT Sans"/>
              </a:rPr>
              <a:t>Футбол 12</a:t>
            </a:r>
          </a:p>
        </p:txBody>
      </p:sp>
      <p:sp>
        <p:nvSpPr>
          <p:cNvPr id="32" name="venn-deco"/>
          <p:cNvSpPr txBox="1"/>
          <p:nvPr/>
        </p:nvSpPr>
        <p:spPr>
          <a:xfrm>
            <a:off x="10715752" y="2905836"/>
            <a:ext cx="887984" cy="267716"/>
          </a:xfrm>
          <a:prstGeom prst="rect">
            <a:avLst/>
          </a:prstGeom>
          <a:noFill/>
        </p:spPr>
        <p:txBody>
          <a:bodyPr wrap="none" lIns="0" rIns="0" tIns="0" bIns="0" anchor="ctr">
            <a:spAutoFit/>
          </a:bodyPr>
          <a:lstStyle/>
          <a:p>
            <a:pPr algn="ctr">
              <a:lnSpc>
                <a:spcPct val="95000"/>
              </a:lnSpc>
            </a:pPr>
            <a:r>
              <a:rPr sz="1400" b="1" i="0">
                <a:solidFill>
                  <a:srgbClr val="24418C"/>
                </a:solidFill>
                <a:latin typeface="PT Sans"/>
              </a:rPr>
              <a:t>Т. к. 11</a:t>
            </a:r>
          </a:p>
        </p:txBody>
      </p:sp>
      <p:sp>
        <p:nvSpPr>
          <p:cNvPr id="33" name="venn-deco"/>
          <p:cNvSpPr txBox="1"/>
          <p:nvPr/>
        </p:nvSpPr>
        <p:spPr>
          <a:xfrm>
            <a:off x="9525614" y="3793566"/>
            <a:ext cx="25196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7</a:t>
            </a:r>
          </a:p>
        </p:txBody>
      </p:sp>
      <p:sp>
        <p:nvSpPr>
          <p:cNvPr id="34" name="venn-deco"/>
          <p:cNvSpPr txBox="1"/>
          <p:nvPr/>
        </p:nvSpPr>
        <p:spPr>
          <a:xfrm>
            <a:off x="10243312" y="3793566"/>
            <a:ext cx="25196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5</a:t>
            </a:r>
          </a:p>
        </p:txBody>
      </p:sp>
      <p:sp>
        <p:nvSpPr>
          <p:cNvPr id="35" name="venn-deco"/>
          <p:cNvSpPr txBox="1"/>
          <p:nvPr/>
        </p:nvSpPr>
        <p:spPr>
          <a:xfrm>
            <a:off x="10961009" y="3793566"/>
            <a:ext cx="25196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партага эки жип тегерек кой. Капкак = окуучу. Ар бир капкакты туура жерге кой.</a:t>
            </a:r>
          </a:p>
        </p:txBody>
      </p:sp>
      <p:sp>
        <p:nvSpPr>
          <p:cNvPr id="12" name="Rounded Rectangle 11"/>
          <p:cNvSpPr/>
          <p:nvPr/>
        </p:nvSpPr>
        <p:spPr>
          <a:xfrm>
            <a:off x="502920" y="2103120"/>
            <a:ext cx="8138160" cy="3429000"/>
          </a:xfrm>
          <a:prstGeom prst="roundRect">
            <a:avLst>
              <a:gd name="adj" fmla="val 2133"/>
            </a:avLst>
          </a:prstGeom>
          <a:solidFill>
            <a:srgbClr val="FBF6EE"/>
          </a:solidFill>
          <a:ln w="15875">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 y="5148072"/>
            <a:ext cx="2743200" cy="365760"/>
          </a:xfrm>
          <a:prstGeom prst="rect">
            <a:avLst/>
          </a:prstGeom>
          <a:noFill/>
        </p:spPr>
        <p:txBody>
          <a:bodyPr wrap="square" anchor="t" lIns="45720" rIns="45720" tIns="27432" bIns="27432">
            <a:spAutoFit/>
          </a:bodyPr>
          <a:lstStyle/>
          <a:p>
            <a:pPr algn="l">
              <a:lnSpc>
                <a:spcPct val="105000"/>
              </a:lnSpc>
            </a:pPr>
            <a:r>
              <a:rPr sz="1400" b="0" i="1">
                <a:solidFill>
                  <a:srgbClr val="4A5A70"/>
                </a:solidFill>
                <a:latin typeface="PT Sans"/>
              </a:rPr>
              <a:t>Парта (класс: 26)</a:t>
            </a:r>
          </a:p>
        </p:txBody>
      </p:sp>
      <p:sp>
        <p:nvSpPr>
          <p:cNvPr id="14" name="Oval 13"/>
          <p:cNvSpPr/>
          <p:nvPr/>
        </p:nvSpPr>
        <p:spPr>
          <a:xfrm>
            <a:off x="1005840" y="2670048"/>
            <a:ext cx="3566160" cy="2606040"/>
          </a:xfrm>
          <a:prstGeom prst="ellipse">
            <a:avLst/>
          </a:prstGeom>
          <a:noFill/>
          <a:ln w="57150">
            <a:solidFill>
              <a:srgbClr val="B07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611880" y="2670048"/>
            <a:ext cx="3566160" cy="2606040"/>
          </a:xfrm>
          <a:prstGeom prst="ellipse">
            <a:avLst/>
          </a:prstGeom>
          <a:noFill/>
          <a:ln w="57150">
            <a:solidFill>
              <a:srgbClr val="B07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463040" y="2286000"/>
            <a:ext cx="1417320" cy="329184"/>
          </a:xfrm>
          <a:prstGeom prst="roundRect">
            <a:avLst>
              <a:gd name="adj" fmla="val 22222"/>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818132" y="2316734"/>
            <a:ext cx="707136" cy="267716"/>
          </a:xfrm>
          <a:prstGeom prst="rect">
            <a:avLst/>
          </a:prstGeom>
          <a:noFill/>
        </p:spPr>
        <p:txBody>
          <a:bodyPr wrap="none" lIns="0" rIns="0" tIns="0" bIns="0" anchor="ctr">
            <a:spAutoFit/>
          </a:bodyPr>
          <a:lstStyle/>
          <a:p>
            <a:pPr algn="ctr">
              <a:lnSpc>
                <a:spcPct val="95000"/>
              </a:lnSpc>
            </a:pPr>
            <a:r>
              <a:rPr sz="1400" b="1" i="0">
                <a:solidFill>
                  <a:srgbClr val="007A5A"/>
                </a:solidFill>
                <a:latin typeface="PT Sans"/>
              </a:rPr>
              <a:t>Футбол</a:t>
            </a:r>
          </a:p>
        </p:txBody>
      </p:sp>
      <p:sp>
        <p:nvSpPr>
          <p:cNvPr id="18" name="Rounded Rectangle 17"/>
          <p:cNvSpPr/>
          <p:nvPr/>
        </p:nvSpPr>
        <p:spPr>
          <a:xfrm>
            <a:off x="5074920" y="2286000"/>
            <a:ext cx="1874519" cy="329184"/>
          </a:xfrm>
          <a:prstGeom prst="roundRect">
            <a:avLst>
              <a:gd name="adj" fmla="val 22222"/>
            </a:avLst>
          </a:prstGeom>
          <a:solidFill>
            <a:srgbClr val="FFFFFF"/>
          </a:solid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10124" y="2316734"/>
            <a:ext cx="1404112" cy="267716"/>
          </a:xfrm>
          <a:prstGeom prst="rect">
            <a:avLst/>
          </a:prstGeom>
          <a:noFill/>
        </p:spPr>
        <p:txBody>
          <a:bodyPr wrap="none" lIns="0" rIns="0" tIns="0" bIns="0" anchor="ctr">
            <a:spAutoFit/>
          </a:bodyPr>
          <a:lstStyle/>
          <a:p>
            <a:pPr algn="ctr">
              <a:lnSpc>
                <a:spcPct val="95000"/>
              </a:lnSpc>
            </a:pPr>
            <a:r>
              <a:rPr sz="1400" b="1" i="0">
                <a:solidFill>
                  <a:srgbClr val="24418C"/>
                </a:solidFill>
                <a:latin typeface="PT Sans"/>
              </a:rPr>
              <a:t>Тогуз коргоол</a:t>
            </a:r>
          </a:p>
        </p:txBody>
      </p:sp>
      <p:sp>
        <p:nvSpPr>
          <p:cNvPr id="20" name="Oval 19"/>
          <p:cNvSpPr/>
          <p:nvPr/>
        </p:nvSpPr>
        <p:spPr>
          <a:xfrm>
            <a:off x="1860804" y="3479291"/>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2189988" y="3479291"/>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2519172" y="3479291"/>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860804" y="3808476"/>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2189988" y="3808476"/>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2519172" y="3808476"/>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860804" y="4137659"/>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2189988" y="4137659"/>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2519172" y="4137659"/>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762755" y="3479291"/>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4091939" y="3479291"/>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3762755" y="3808476"/>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4091939" y="3808476"/>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3762755" y="4137659"/>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4091939" y="4137659"/>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5500116" y="3479291"/>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5829300" y="3479291"/>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5500116" y="3808476"/>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829300" y="3808476"/>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500116" y="4137659"/>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29300" y="4137659"/>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973568" y="3241547"/>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973568" y="3570731"/>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973568" y="3899915"/>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973568" y="4229100"/>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7973568" y="4558283"/>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741920" y="2552700"/>
            <a:ext cx="792480" cy="234696"/>
          </a:xfrm>
          <a:prstGeom prst="rect">
            <a:avLst/>
          </a:prstGeom>
          <a:noFill/>
        </p:spPr>
        <p:txBody>
          <a:bodyPr wrap="none" lIns="0" rIns="0" tIns="0" bIns="0" anchor="ctr">
            <a:spAutoFit/>
          </a:bodyPr>
          <a:lstStyle/>
          <a:p>
            <a:pPr algn="ctr">
              <a:lnSpc>
                <a:spcPct val="95000"/>
              </a:lnSpc>
            </a:pPr>
            <a:r>
              <a:rPr sz="1200" b="1" i="1">
                <a:solidFill>
                  <a:srgbClr val="A84400"/>
                </a:solidFill>
                <a:latin typeface="PT Sans"/>
              </a:rPr>
              <a:t>сыртында</a:t>
            </a:r>
          </a:p>
        </p:txBody>
      </p:sp>
      <p:sp>
        <p:nvSpPr>
          <p:cNvPr id="47" name="TextBox 46"/>
          <p:cNvSpPr txBox="1"/>
          <p:nvPr/>
        </p:nvSpPr>
        <p:spPr>
          <a:xfrm>
            <a:off x="502920" y="5559552"/>
            <a:ext cx="8138160" cy="365760"/>
          </a:xfrm>
          <a:prstGeom prst="rect">
            <a:avLst/>
          </a:prstGeom>
          <a:noFill/>
        </p:spPr>
        <p:txBody>
          <a:bodyPr wrap="square" anchor="t" lIns="45720" rIns="45720" tIns="27432" bIns="27432">
            <a:spAutoFit/>
          </a:bodyPr>
          <a:lstStyle/>
          <a:p>
            <a:pPr algn="l">
              <a:lnSpc>
                <a:spcPct val="105000"/>
              </a:lnSpc>
            </a:pPr>
            <a:r>
              <a:rPr sz="1600" b="0" i="1">
                <a:solidFill>
                  <a:srgbClr val="4A5A70"/>
                </a:solidFill>
                <a:latin typeface="PT Sans"/>
              </a:rPr>
              <a:t>Капкак = 1 окуучу. Ар бир капкак бир гана жерде турат.</a:t>
            </a:r>
          </a:p>
        </p:txBody>
      </p:sp>
      <p:sp>
        <p:nvSpPr>
          <p:cNvPr id="48" name="Rounded Rectangle 47"/>
          <p:cNvSpPr/>
          <p:nvPr/>
        </p:nvSpPr>
        <p:spPr>
          <a:xfrm>
            <a:off x="8823960" y="2103120"/>
            <a:ext cx="2926080" cy="3794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0" y="2167128"/>
            <a:ext cx="2697480" cy="365760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2 жип (1 м), учу байланган</a:t>
            </a:r>
          </a:p>
          <a:p>
            <a:pPr algn="l">
              <a:lnSpc>
                <a:spcPct val="110000"/>
              </a:lnSpc>
            </a:pPr>
            <a:r>
              <a:rPr sz="1500" b="0" i="0">
                <a:solidFill>
                  <a:srgbClr val="1F2430"/>
                </a:solidFill>
                <a:latin typeface="PT Sans"/>
              </a:rPr>
              <a:t>• 26 капкак же буурчак</a:t>
            </a:r>
          </a:p>
          <a:p>
            <a:pPr algn="l">
              <a:lnSpc>
                <a:spcPct val="110000"/>
              </a:lnSpc>
            </a:pPr>
            <a:r>
              <a:rPr sz="1500" b="0" i="0">
                <a:solidFill>
                  <a:srgbClr val="1F2430"/>
                </a:solidFill>
                <a:latin typeface="PT Sans"/>
              </a:rPr>
              <a:t>• 2 кагаз жазуу</a:t>
            </a:r>
          </a:p>
          <a:p>
            <a:pPr algn="l">
              <a:lnSpc>
                <a:spcPct val="110000"/>
              </a:lnSpc>
            </a:pPr>
            <a:r>
              <a:rPr sz="1500" b="0" i="0">
                <a:solidFill>
                  <a:srgbClr val="1F2430"/>
                </a:solidFill>
                <a:latin typeface="PT Sans"/>
              </a:rPr>
              <a:t>• чакмак дептер</a:t>
            </a:r>
          </a:p>
          <a:p>
            <a:pPr algn="l">
              <a:lnSpc>
                <a:spcPct val="110000"/>
              </a:lnSpc>
            </a:pPr>
            <a:r>
              <a:rPr sz="1600" b="1" i="0">
                <a:solidFill>
                  <a:srgbClr val="24418C"/>
                </a:solidFill>
                <a:latin typeface="PT Sans"/>
              </a:rPr>
              <a:t>Адегенде ортого: экөө тең 6!</a:t>
            </a:r>
          </a:p>
        </p:txBody>
      </p:sp>
      <p:sp>
        <p:nvSpPr>
          <p:cNvPr id="50" name="Rounded Rectangle 49"/>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51" name="Rounded Rectangle 50"/>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52" name="Rounded Rectangle 51"/>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Венн диаграммасы жана тилке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Ар бир окуучу бир гана жерде: футбол гана, экөө тең, тогуз коргоол гана же сыртында.</a:t>
            </a:r>
          </a:p>
        </p:txBody>
      </p:sp>
      <p:sp>
        <p:nvSpPr>
          <p:cNvPr id="12" name="Rounded Rectangle 11"/>
          <p:cNvSpPr/>
          <p:nvPr/>
        </p:nvSpPr>
        <p:spPr>
          <a:xfrm>
            <a:off x="502920" y="2057400"/>
            <a:ext cx="5212080" cy="3429000"/>
          </a:xfrm>
          <a:prstGeom prst="roundRect">
            <a:avLst>
              <a:gd name="adj" fmla="val 2133"/>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85342" y="2532888"/>
            <a:ext cx="2207850" cy="2782062"/>
          </a:xfrm>
          <a:prstGeom prst="ellipse">
            <a:avLst/>
          </a:prstGeom>
          <a:solidFill>
            <a:srgbClr val="B5E2D3">
              <a:alpha val="55000"/>
            </a:srgbClr>
          </a:solidFill>
          <a:ln w="317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274995" y="2532888"/>
            <a:ext cx="2207850" cy="2782062"/>
          </a:xfrm>
          <a:prstGeom prst="ellipse">
            <a:avLst/>
          </a:prstGeom>
          <a:solidFill>
            <a:srgbClr val="BFCBE9">
              <a:alpha val="55000"/>
            </a:srgbClr>
          </a:solidFill>
          <a:ln w="317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342" y="2153920"/>
            <a:ext cx="1115568" cy="30073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Футбол 15</a:t>
            </a:r>
          </a:p>
        </p:txBody>
      </p:sp>
      <p:sp>
        <p:nvSpPr>
          <p:cNvPr id="16" name="TextBox 15"/>
          <p:cNvSpPr txBox="1"/>
          <p:nvPr/>
        </p:nvSpPr>
        <p:spPr>
          <a:xfrm>
            <a:off x="2684525" y="2162175"/>
            <a:ext cx="1798320" cy="284225"/>
          </a:xfrm>
          <a:prstGeom prst="rect">
            <a:avLst/>
          </a:prstGeom>
          <a:noFill/>
        </p:spPr>
        <p:txBody>
          <a:bodyPr wrap="none" lIns="0" rIns="0" tIns="0" bIns="0" anchor="ctr">
            <a:spAutoFit/>
          </a:bodyPr>
          <a:lstStyle/>
          <a:p>
            <a:pPr algn="ctr">
              <a:lnSpc>
                <a:spcPct val="95000"/>
              </a:lnSpc>
            </a:pPr>
            <a:r>
              <a:rPr sz="1500" b="1" i="0">
                <a:solidFill>
                  <a:srgbClr val="24418C"/>
                </a:solidFill>
                <a:latin typeface="PT Sans"/>
              </a:rPr>
              <a:t>Тогуз коргоол 12</a:t>
            </a:r>
          </a:p>
        </p:txBody>
      </p:sp>
      <p:sp>
        <p:nvSpPr>
          <p:cNvPr id="17" name="TextBox 16"/>
          <p:cNvSpPr txBox="1"/>
          <p:nvPr/>
        </p:nvSpPr>
        <p:spPr>
          <a:xfrm>
            <a:off x="4491990" y="2093976"/>
            <a:ext cx="1031443" cy="274320"/>
          </a:xfrm>
          <a:prstGeom prst="rect">
            <a:avLst/>
          </a:prstGeom>
          <a:noFill/>
        </p:spPr>
        <p:txBody>
          <a:bodyPr wrap="none" lIns="0" rIns="0" tIns="0" bIns="0" anchor="ctr">
            <a:spAutoFit/>
          </a:bodyPr>
          <a:lstStyle/>
          <a:p>
            <a:pPr algn="ctr">
              <a:lnSpc>
                <a:spcPct val="95000"/>
              </a:lnSpc>
            </a:pPr>
            <a:r>
              <a:rPr sz="1440" b="0" i="1">
                <a:solidFill>
                  <a:srgbClr val="4A5A70"/>
                </a:solidFill>
                <a:latin typeface="PT Sans"/>
              </a:rPr>
              <a:t>Класс: 26</a:t>
            </a:r>
          </a:p>
        </p:txBody>
      </p:sp>
      <p:sp>
        <p:nvSpPr>
          <p:cNvPr id="18" name="TextBox 17"/>
          <p:cNvSpPr txBox="1"/>
          <p:nvPr/>
        </p:nvSpPr>
        <p:spPr>
          <a:xfrm>
            <a:off x="1332849" y="3691001"/>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9</a:t>
            </a:r>
          </a:p>
        </p:txBody>
      </p:sp>
      <p:sp>
        <p:nvSpPr>
          <p:cNvPr id="19" name="TextBox 18"/>
          <p:cNvSpPr txBox="1"/>
          <p:nvPr/>
        </p:nvSpPr>
        <p:spPr>
          <a:xfrm>
            <a:off x="2436774" y="3691001"/>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6</a:t>
            </a:r>
          </a:p>
        </p:txBody>
      </p:sp>
      <p:sp>
        <p:nvSpPr>
          <p:cNvPr id="20" name="TextBox 19"/>
          <p:cNvSpPr txBox="1"/>
          <p:nvPr/>
        </p:nvSpPr>
        <p:spPr>
          <a:xfrm>
            <a:off x="3540699" y="3691001"/>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6</a:t>
            </a:r>
          </a:p>
        </p:txBody>
      </p:sp>
      <p:sp>
        <p:nvSpPr>
          <p:cNvPr id="21" name="TextBox 20"/>
          <p:cNvSpPr txBox="1"/>
          <p:nvPr/>
        </p:nvSpPr>
        <p:spPr>
          <a:xfrm>
            <a:off x="4860391" y="3813302"/>
            <a:ext cx="294640" cy="465836"/>
          </a:xfrm>
          <a:prstGeom prst="rect">
            <a:avLst/>
          </a:prstGeom>
          <a:noFill/>
        </p:spPr>
        <p:txBody>
          <a:bodyPr wrap="none" lIns="0" rIns="0" tIns="0" bIns="0" anchor="ctr">
            <a:spAutoFit/>
          </a:bodyPr>
          <a:lstStyle/>
          <a:p>
            <a:pPr algn="ctr">
              <a:lnSpc>
                <a:spcPct val="95000"/>
              </a:lnSpc>
            </a:pPr>
            <a:r>
              <a:rPr sz="2600" b="1" i="0">
                <a:solidFill>
                  <a:srgbClr val="A84400"/>
                </a:solidFill>
                <a:latin typeface="PT Sans"/>
              </a:rPr>
              <a:t>?</a:t>
            </a:r>
          </a:p>
        </p:txBody>
      </p:sp>
      <p:sp>
        <p:nvSpPr>
          <p:cNvPr id="22" name="TextBox 21"/>
          <p:cNvSpPr txBox="1"/>
          <p:nvPr/>
        </p:nvSpPr>
        <p:spPr>
          <a:xfrm>
            <a:off x="5897880" y="2240280"/>
            <a:ext cx="1554480" cy="411480"/>
          </a:xfrm>
          <a:prstGeom prst="rect">
            <a:avLst/>
          </a:prstGeom>
          <a:noFill/>
        </p:spPr>
        <p:txBody>
          <a:bodyPr wrap="square" anchor="ctr" lIns="45720" rIns="45720" tIns="27432" bIns="27432">
            <a:spAutoFit/>
          </a:bodyPr>
          <a:lstStyle/>
          <a:p>
            <a:pPr algn="r">
              <a:lnSpc>
                <a:spcPct val="105000"/>
              </a:lnSpc>
            </a:pPr>
            <a:r>
              <a:rPr sz="1500" b="1" i="0">
                <a:solidFill>
                  <a:srgbClr val="1F2430"/>
                </a:solidFill>
                <a:latin typeface="PT Sans"/>
              </a:rPr>
              <a:t>Футбол</a:t>
            </a:r>
          </a:p>
        </p:txBody>
      </p:sp>
      <p:sp>
        <p:nvSpPr>
          <p:cNvPr id="23" name="Rectangle 22"/>
          <p:cNvSpPr/>
          <p:nvPr/>
        </p:nvSpPr>
        <p:spPr>
          <a:xfrm>
            <a:off x="7498079" y="2240280"/>
            <a:ext cx="1275588"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9</a:t>
            </a:r>
          </a:p>
        </p:txBody>
      </p:sp>
      <p:sp>
        <p:nvSpPr>
          <p:cNvPr id="24" name="Rectangle 23"/>
          <p:cNvSpPr/>
          <p:nvPr/>
        </p:nvSpPr>
        <p:spPr>
          <a:xfrm>
            <a:off x="8773667" y="2240280"/>
            <a:ext cx="850392" cy="41148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25" name="TextBox 24"/>
          <p:cNvSpPr txBox="1"/>
          <p:nvPr/>
        </p:nvSpPr>
        <p:spPr>
          <a:xfrm>
            <a:off x="9669780" y="2240280"/>
            <a:ext cx="548640" cy="411480"/>
          </a:xfrm>
          <a:prstGeom prst="rect">
            <a:avLst/>
          </a:prstGeom>
          <a:noFill/>
        </p:spPr>
        <p:txBody>
          <a:bodyPr wrap="square" anchor="ctr" lIns="45720" rIns="45720" tIns="27432" bIns="27432">
            <a:spAutoFit/>
          </a:bodyPr>
          <a:lstStyle/>
          <a:p>
            <a:pPr algn="l">
              <a:lnSpc>
                <a:spcPct val="105000"/>
              </a:lnSpc>
            </a:pPr>
            <a:r>
              <a:rPr sz="1600" b="1" i="0">
                <a:solidFill>
                  <a:srgbClr val="A84400"/>
                </a:solidFill>
                <a:latin typeface="PT Sans"/>
              </a:rPr>
              <a:t>15</a:t>
            </a:r>
          </a:p>
        </p:txBody>
      </p:sp>
      <p:sp>
        <p:nvSpPr>
          <p:cNvPr id="26" name="TextBox 25"/>
          <p:cNvSpPr txBox="1"/>
          <p:nvPr/>
        </p:nvSpPr>
        <p:spPr>
          <a:xfrm>
            <a:off x="5897880" y="3154680"/>
            <a:ext cx="1554480" cy="411480"/>
          </a:xfrm>
          <a:prstGeom prst="rect">
            <a:avLst/>
          </a:prstGeom>
          <a:noFill/>
        </p:spPr>
        <p:txBody>
          <a:bodyPr wrap="square" anchor="ctr" lIns="45720" rIns="45720" tIns="27432" bIns="27432">
            <a:spAutoFit/>
          </a:bodyPr>
          <a:lstStyle/>
          <a:p>
            <a:pPr algn="r">
              <a:lnSpc>
                <a:spcPct val="105000"/>
              </a:lnSpc>
            </a:pPr>
            <a:r>
              <a:rPr sz="1500" b="1" i="0">
                <a:solidFill>
                  <a:srgbClr val="1F2430"/>
                </a:solidFill>
                <a:latin typeface="PT Sans"/>
              </a:rPr>
              <a:t>Т. коргоол</a:t>
            </a:r>
          </a:p>
        </p:txBody>
      </p:sp>
      <p:sp>
        <p:nvSpPr>
          <p:cNvPr id="27" name="Rectangle 26"/>
          <p:cNvSpPr/>
          <p:nvPr/>
        </p:nvSpPr>
        <p:spPr>
          <a:xfrm>
            <a:off x="8773667" y="3154680"/>
            <a:ext cx="850392" cy="41148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28" name="Rectangle 27"/>
          <p:cNvSpPr/>
          <p:nvPr/>
        </p:nvSpPr>
        <p:spPr>
          <a:xfrm>
            <a:off x="9624059" y="3154680"/>
            <a:ext cx="850392"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29" name="TextBox 28"/>
          <p:cNvSpPr txBox="1"/>
          <p:nvPr/>
        </p:nvSpPr>
        <p:spPr>
          <a:xfrm>
            <a:off x="10520172" y="3154680"/>
            <a:ext cx="548640" cy="411480"/>
          </a:xfrm>
          <a:prstGeom prst="rect">
            <a:avLst/>
          </a:prstGeom>
          <a:noFill/>
        </p:spPr>
        <p:txBody>
          <a:bodyPr wrap="square" anchor="ctr" lIns="45720" rIns="45720" tIns="27432" bIns="27432">
            <a:spAutoFit/>
          </a:bodyPr>
          <a:lstStyle/>
          <a:p>
            <a:pPr algn="l">
              <a:lnSpc>
                <a:spcPct val="105000"/>
              </a:lnSpc>
            </a:pPr>
            <a:r>
              <a:rPr sz="1600" b="1" i="0">
                <a:solidFill>
                  <a:srgbClr val="A84400"/>
                </a:solidFill>
                <a:latin typeface="PT Sans"/>
              </a:rPr>
              <a:t>12</a:t>
            </a:r>
          </a:p>
        </p:txBody>
      </p:sp>
      <p:sp>
        <p:nvSpPr>
          <p:cNvPr id="30" name="TextBox 29"/>
          <p:cNvSpPr txBox="1"/>
          <p:nvPr/>
        </p:nvSpPr>
        <p:spPr>
          <a:xfrm>
            <a:off x="5897880" y="4069080"/>
            <a:ext cx="1554480" cy="411480"/>
          </a:xfrm>
          <a:prstGeom prst="rect">
            <a:avLst/>
          </a:prstGeom>
          <a:noFill/>
        </p:spPr>
        <p:txBody>
          <a:bodyPr wrap="square" anchor="ctr" lIns="45720" rIns="45720" tIns="27432" bIns="27432">
            <a:spAutoFit/>
          </a:bodyPr>
          <a:lstStyle/>
          <a:p>
            <a:pPr algn="r">
              <a:lnSpc>
                <a:spcPct val="105000"/>
              </a:lnSpc>
            </a:pPr>
            <a:r>
              <a:rPr sz="1500" b="1" i="0">
                <a:solidFill>
                  <a:srgbClr val="1F2430"/>
                </a:solidFill>
                <a:latin typeface="PT Sans"/>
              </a:rPr>
              <a:t>Класс</a:t>
            </a:r>
          </a:p>
        </p:txBody>
      </p:sp>
      <p:sp>
        <p:nvSpPr>
          <p:cNvPr id="31" name="Rectangle 30"/>
          <p:cNvSpPr/>
          <p:nvPr/>
        </p:nvSpPr>
        <p:spPr>
          <a:xfrm>
            <a:off x="7498079" y="4069080"/>
            <a:ext cx="1275588"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9</a:t>
            </a:r>
          </a:p>
        </p:txBody>
      </p:sp>
      <p:sp>
        <p:nvSpPr>
          <p:cNvPr id="32" name="Rectangle 31"/>
          <p:cNvSpPr/>
          <p:nvPr/>
        </p:nvSpPr>
        <p:spPr>
          <a:xfrm>
            <a:off x="8773667" y="4069080"/>
            <a:ext cx="850392" cy="41148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33" name="Rectangle 32"/>
          <p:cNvSpPr/>
          <p:nvPr/>
        </p:nvSpPr>
        <p:spPr>
          <a:xfrm>
            <a:off x="9624059" y="4069080"/>
            <a:ext cx="850392"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34" name="Rectangle 33"/>
          <p:cNvSpPr/>
          <p:nvPr/>
        </p:nvSpPr>
        <p:spPr>
          <a:xfrm>
            <a:off x="10474451" y="4069080"/>
            <a:ext cx="708660" cy="41148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6B7280"/>
                </a:solidFill>
                <a:latin typeface="PT Sans"/>
              </a:rPr>
              <a:t>?</a:t>
            </a:r>
          </a:p>
        </p:txBody>
      </p:sp>
      <p:sp>
        <p:nvSpPr>
          <p:cNvPr id="35" name="TextBox 34"/>
          <p:cNvSpPr txBox="1"/>
          <p:nvPr/>
        </p:nvSpPr>
        <p:spPr>
          <a:xfrm>
            <a:off x="11228832" y="4069080"/>
            <a:ext cx="548640" cy="411480"/>
          </a:xfrm>
          <a:prstGeom prst="rect">
            <a:avLst/>
          </a:prstGeom>
          <a:noFill/>
        </p:spPr>
        <p:txBody>
          <a:bodyPr wrap="square" anchor="ctr" lIns="45720" rIns="45720" tIns="27432" bIns="27432">
            <a:spAutoFit/>
          </a:bodyPr>
          <a:lstStyle/>
          <a:p>
            <a:pPr algn="l">
              <a:lnSpc>
                <a:spcPct val="105000"/>
              </a:lnSpc>
            </a:pPr>
            <a:r>
              <a:rPr sz="1600" b="1" i="0">
                <a:solidFill>
                  <a:srgbClr val="A84400"/>
                </a:solidFill>
                <a:latin typeface="PT Sans"/>
              </a:rPr>
              <a:t>26</a:t>
            </a:r>
          </a:p>
        </p:txBody>
      </p:sp>
      <p:cxnSp>
        <p:nvCxnSpPr>
          <p:cNvPr id="36" name="Connector 35"/>
          <p:cNvCxnSpPr/>
          <p:nvPr/>
        </p:nvCxnSpPr>
        <p:spPr>
          <a:xfrm>
            <a:off x="8773667" y="2148840"/>
            <a:ext cx="0" cy="2423160"/>
          </a:xfrm>
          <a:prstGeom prst="line">
            <a:avLst/>
          </a:prstGeom>
          <a:ln w="19050">
            <a:solidFill>
              <a:srgbClr val="A8440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624059" y="2148840"/>
            <a:ext cx="0" cy="2423160"/>
          </a:xfrm>
          <a:prstGeom prst="line">
            <a:avLst/>
          </a:prstGeom>
          <a:ln w="19050">
            <a:solidFill>
              <a:srgbClr val="A84400"/>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897880" y="4892040"/>
            <a:ext cx="5852160" cy="640080"/>
          </a:xfrm>
          <a:prstGeom prst="rect">
            <a:avLst/>
          </a:prstGeom>
          <a:noFill/>
        </p:spPr>
        <p:txBody>
          <a:bodyPr wrap="square" anchor="t" lIns="45720" rIns="45720" tIns="27432" bIns="27432">
            <a:spAutoFit/>
          </a:bodyPr>
          <a:lstStyle/>
          <a:p>
            <a:pPr algn="l">
              <a:lnSpc>
                <a:spcPct val="100000"/>
              </a:lnSpc>
            </a:pPr>
            <a:r>
              <a:rPr sz="1500" b="0" i="0">
                <a:solidFill>
                  <a:srgbClr val="4A5A70"/>
                </a:solidFill>
                <a:latin typeface="PT Sans"/>
              </a:rPr>
              <a:t>Экөө тең (6) эки тилкеде тең бар:</a:t>
            </a:r>
          </a:p>
          <a:p>
            <a:pPr algn="l">
              <a:lnSpc>
                <a:spcPct val="100000"/>
              </a:lnSpc>
            </a:pPr>
            <a:r>
              <a:rPr sz="1500" b="0" i="0">
                <a:solidFill>
                  <a:srgbClr val="4A5A70"/>
                </a:solidFill>
                <a:latin typeface="PT Sans"/>
              </a:rPr>
              <a:t>класста бир гана жолу саналат.</a:t>
            </a:r>
          </a:p>
        </p:txBody>
      </p:sp>
      <p:sp>
        <p:nvSpPr>
          <p:cNvPr id="39" name="TextBox 38"/>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15 − 6 = 9;   12 − 6 = 6;   9 + 6 + 6 = 21;   26 − 21 = 5</a:t>
            </a:r>
          </a:p>
        </p:txBody>
      </p:sp>
      <p:sp>
        <p:nvSpPr>
          <p:cNvPr id="40" name="Rounded Rectangle 39"/>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41" name="Rounded Rectangle 40"/>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42" name="Rounded Rectangle 41"/>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43" name="Rounded Rectangle 42"/>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B</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Кесилиш</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Экөөнө тең кирет («жана»)</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B</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Бирикме</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A + B − кесилиш («же»)</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гана</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Бир гана A</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A − кесилиш</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Сырты</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Эч бирине</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Баары − бирикме</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Пойа: түшүн → чий → эсепте → текшер</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Комуз ийриминде 14, ыр ийриминде 10 окуучу, 4ү экөөндө тең. Ийримдерде бардыгы канча окуучу?</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14 − 4 = 10</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комуз гана</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10 − 4 = 6</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ыр гана</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10 + 4 + 6 = 20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бирикме</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Бардыгы = </a:t>
            </a:r>
            <a:r>
              <a:rPr sz="3400" b="1">
                <a:solidFill>
                  <a:srgbClr val="24418C"/>
                </a:solidFill>
                <a:latin typeface="PT Sans"/>
              </a:rPr>
              <a:t>20 окуучу</a:t>
            </a:r>
          </a:p>
        </p:txBody>
      </p:sp>
      <p:sp>
        <p:nvSpPr>
          <p:cNvPr id="19" name="venn-deco"/>
          <p:cNvSpPr/>
          <p:nvPr/>
        </p:nvSpPr>
        <p:spPr>
          <a:xfrm>
            <a:off x="548640" y="2651760"/>
            <a:ext cx="2445488" cy="2651760"/>
          </a:xfrm>
          <a:prstGeom prst="ellipse">
            <a:avLst/>
          </a:prstGeom>
          <a:solidFill>
            <a:srgbClr val="B5E2D3">
              <a:alpha val="55000"/>
            </a:srgbClr>
          </a:solidFill>
          <a:ln w="317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nn-deco"/>
          <p:cNvSpPr/>
          <p:nvPr/>
        </p:nvSpPr>
        <p:spPr>
          <a:xfrm>
            <a:off x="2309391" y="2651760"/>
            <a:ext cx="2445488" cy="2651760"/>
          </a:xfrm>
          <a:prstGeom prst="ellipse">
            <a:avLst/>
          </a:prstGeom>
          <a:solidFill>
            <a:srgbClr val="BFCBE9">
              <a:alpha val="55000"/>
            </a:srgbClr>
          </a:solidFill>
          <a:ln w="317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enn-deco"/>
          <p:cNvSpPr txBox="1"/>
          <p:nvPr/>
        </p:nvSpPr>
        <p:spPr>
          <a:xfrm>
            <a:off x="548640" y="2272792"/>
            <a:ext cx="1001776" cy="30073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Комуз 14</a:t>
            </a:r>
          </a:p>
        </p:txBody>
      </p:sp>
      <p:sp>
        <p:nvSpPr>
          <p:cNvPr id="22" name="venn-deco"/>
          <p:cNvSpPr txBox="1"/>
          <p:nvPr/>
        </p:nvSpPr>
        <p:spPr>
          <a:xfrm>
            <a:off x="4094480" y="2272792"/>
            <a:ext cx="660400" cy="300736"/>
          </a:xfrm>
          <a:prstGeom prst="rect">
            <a:avLst/>
          </a:prstGeom>
          <a:noFill/>
        </p:spPr>
        <p:txBody>
          <a:bodyPr wrap="none" lIns="0" rIns="0" tIns="0" bIns="0" anchor="ctr">
            <a:spAutoFit/>
          </a:bodyPr>
          <a:lstStyle/>
          <a:p>
            <a:pPr algn="ctr">
              <a:lnSpc>
                <a:spcPct val="95000"/>
              </a:lnSpc>
            </a:pPr>
            <a:r>
              <a:rPr sz="1600" b="1" i="0">
                <a:solidFill>
                  <a:srgbClr val="24418C"/>
                </a:solidFill>
                <a:latin typeface="PT Sans"/>
              </a:rPr>
              <a:t>Ыр 10</a:t>
            </a:r>
          </a:p>
        </p:txBody>
      </p:sp>
      <p:sp>
        <p:nvSpPr>
          <p:cNvPr id="23" name="venn-deco"/>
          <p:cNvSpPr txBox="1"/>
          <p:nvPr/>
        </p:nvSpPr>
        <p:spPr>
          <a:xfrm>
            <a:off x="1189239" y="3744722"/>
            <a:ext cx="479552"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10</a:t>
            </a:r>
          </a:p>
        </p:txBody>
      </p:sp>
      <p:sp>
        <p:nvSpPr>
          <p:cNvPr id="24" name="venn-deco"/>
          <p:cNvSpPr txBox="1"/>
          <p:nvPr/>
        </p:nvSpPr>
        <p:spPr>
          <a:xfrm>
            <a:off x="2504439" y="3744722"/>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4</a:t>
            </a:r>
          </a:p>
        </p:txBody>
      </p:sp>
      <p:sp>
        <p:nvSpPr>
          <p:cNvPr id="25" name="venn-deco"/>
          <p:cNvSpPr txBox="1"/>
          <p:nvPr/>
        </p:nvSpPr>
        <p:spPr>
          <a:xfrm>
            <a:off x="3727184" y="3744722"/>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26 окуучу: 14 кыз, 12 эркек. Комуз ийриминде 11 окуучу, анын 7си кыз. Ийримде эмес канча кыз, канча эркек?</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14 − 7 = 7</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кыз, ийримде эмес</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11 − 7 = 4</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эркек, ийримде</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12 − 4 = 8</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эркек, ийримде эмес</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Ийримде эмес = </a:t>
            </a:r>
            <a:r>
              <a:rPr sz="3400" b="1">
                <a:solidFill>
                  <a:srgbClr val="24418C"/>
                </a:solidFill>
                <a:latin typeface="PT Sans"/>
              </a:rPr>
              <a:t>7 кыз, 8 эркек</a:t>
            </a:r>
          </a:p>
        </p:txBody>
      </p:sp>
      <p:sp>
        <p:nvSpPr>
          <p:cNvPr id="19" name="venn-deco"/>
          <p:cNvSpPr/>
          <p:nvPr/>
        </p:nvSpPr>
        <p:spPr>
          <a:xfrm>
            <a:off x="1300479" y="2240280"/>
            <a:ext cx="3728720" cy="585216"/>
          </a:xfrm>
          <a:prstGeom prst="rect">
            <a:avLst/>
          </a:prstGeom>
          <a:solidFill>
            <a:srgbClr val="B5E2D3">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nn-deco"/>
          <p:cNvSpPr/>
          <p:nvPr/>
        </p:nvSpPr>
        <p:spPr>
          <a:xfrm>
            <a:off x="548640" y="2825496"/>
            <a:ext cx="751840" cy="2432303"/>
          </a:xfrm>
          <a:prstGeom prst="rect">
            <a:avLst/>
          </a:prstGeom>
          <a:solidFill>
            <a:srgbClr val="F2C9AC">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enn-deco"/>
          <p:cNvSpPr txBox="1"/>
          <p:nvPr/>
        </p:nvSpPr>
        <p:spPr>
          <a:xfrm>
            <a:off x="1318767" y="2382520"/>
            <a:ext cx="1206330" cy="30073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Ийримде</a:t>
            </a:r>
          </a:p>
        </p:txBody>
      </p:sp>
      <p:sp>
        <p:nvSpPr>
          <p:cNvPr id="22" name="venn-deco"/>
          <p:cNvSpPr txBox="1"/>
          <p:nvPr/>
        </p:nvSpPr>
        <p:spPr>
          <a:xfrm>
            <a:off x="2561674" y="2250440"/>
            <a:ext cx="1206330" cy="56489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Ийримде</a:t>
            </a:r>
          </a:p>
          <a:p>
            <a:pPr algn="ctr">
              <a:lnSpc>
                <a:spcPct val="95000"/>
              </a:lnSpc>
            </a:pPr>
            <a:r>
              <a:rPr sz="1600" b="1" i="0">
                <a:solidFill>
                  <a:srgbClr val="007A5A"/>
                </a:solidFill>
                <a:latin typeface="PT Sans"/>
              </a:rPr>
              <a:t>эмес</a:t>
            </a:r>
          </a:p>
        </p:txBody>
      </p:sp>
      <p:sp>
        <p:nvSpPr>
          <p:cNvPr id="23" name="venn-deco"/>
          <p:cNvSpPr txBox="1"/>
          <p:nvPr/>
        </p:nvSpPr>
        <p:spPr>
          <a:xfrm>
            <a:off x="3804581" y="2382520"/>
            <a:ext cx="1206330" cy="300736"/>
          </a:xfrm>
          <a:prstGeom prst="rect">
            <a:avLst/>
          </a:prstGeom>
          <a:noFill/>
        </p:spPr>
        <p:txBody>
          <a:bodyPr wrap="none" lIns="0" rIns="0" tIns="0" bIns="0" anchor="ctr">
            <a:spAutoFit/>
          </a:bodyPr>
          <a:lstStyle/>
          <a:p>
            <a:pPr algn="ctr">
              <a:lnSpc>
                <a:spcPct val="95000"/>
              </a:lnSpc>
            </a:pPr>
            <a:r>
              <a:rPr sz="1600" b="1" i="0">
                <a:solidFill>
                  <a:srgbClr val="4A5A70"/>
                </a:solidFill>
                <a:latin typeface="PT Sans"/>
              </a:rPr>
              <a:t>Баары</a:t>
            </a:r>
          </a:p>
        </p:txBody>
      </p:sp>
      <p:sp>
        <p:nvSpPr>
          <p:cNvPr id="24" name="venn-deco"/>
          <p:cNvSpPr txBox="1"/>
          <p:nvPr/>
        </p:nvSpPr>
        <p:spPr>
          <a:xfrm>
            <a:off x="557784" y="3080512"/>
            <a:ext cx="733552" cy="300736"/>
          </a:xfrm>
          <a:prstGeom prst="rect">
            <a:avLst/>
          </a:prstGeom>
          <a:noFill/>
        </p:spPr>
        <p:txBody>
          <a:bodyPr wrap="none" lIns="0" rIns="0" tIns="0" bIns="0" anchor="ctr">
            <a:spAutoFit/>
          </a:bodyPr>
          <a:lstStyle/>
          <a:p>
            <a:pPr algn="ctr">
              <a:lnSpc>
                <a:spcPct val="95000"/>
              </a:lnSpc>
            </a:pPr>
            <a:r>
              <a:rPr sz="1600" b="1" i="0">
                <a:solidFill>
                  <a:srgbClr val="A84400"/>
                </a:solidFill>
                <a:latin typeface="PT Sans"/>
              </a:rPr>
              <a:t>Кыз</a:t>
            </a:r>
          </a:p>
        </p:txBody>
      </p:sp>
      <p:sp>
        <p:nvSpPr>
          <p:cNvPr id="25" name="venn-deco"/>
          <p:cNvSpPr txBox="1"/>
          <p:nvPr/>
        </p:nvSpPr>
        <p:spPr>
          <a:xfrm>
            <a:off x="557784" y="3891280"/>
            <a:ext cx="733552" cy="300736"/>
          </a:xfrm>
          <a:prstGeom prst="rect">
            <a:avLst/>
          </a:prstGeom>
          <a:noFill/>
        </p:spPr>
        <p:txBody>
          <a:bodyPr wrap="none" lIns="0" rIns="0" tIns="0" bIns="0" anchor="ctr">
            <a:spAutoFit/>
          </a:bodyPr>
          <a:lstStyle/>
          <a:p>
            <a:pPr algn="ctr">
              <a:lnSpc>
                <a:spcPct val="95000"/>
              </a:lnSpc>
            </a:pPr>
            <a:r>
              <a:rPr sz="1600" b="1" i="0">
                <a:solidFill>
                  <a:srgbClr val="A84400"/>
                </a:solidFill>
                <a:latin typeface="PT Sans"/>
              </a:rPr>
              <a:t>Эркек</a:t>
            </a:r>
          </a:p>
        </p:txBody>
      </p:sp>
      <p:sp>
        <p:nvSpPr>
          <p:cNvPr id="26" name="venn-deco"/>
          <p:cNvSpPr txBox="1"/>
          <p:nvPr/>
        </p:nvSpPr>
        <p:spPr>
          <a:xfrm>
            <a:off x="557784" y="4702048"/>
            <a:ext cx="733552" cy="300736"/>
          </a:xfrm>
          <a:prstGeom prst="rect">
            <a:avLst/>
          </a:prstGeom>
          <a:noFill/>
        </p:spPr>
        <p:txBody>
          <a:bodyPr wrap="none" lIns="0" rIns="0" tIns="0" bIns="0" anchor="ctr">
            <a:spAutoFit/>
          </a:bodyPr>
          <a:lstStyle/>
          <a:p>
            <a:pPr algn="ctr">
              <a:lnSpc>
                <a:spcPct val="95000"/>
              </a:lnSpc>
            </a:pPr>
            <a:r>
              <a:rPr sz="1600" b="1" i="0">
                <a:solidFill>
                  <a:srgbClr val="4A5A70"/>
                </a:solidFill>
                <a:latin typeface="PT Sans"/>
              </a:rPr>
              <a:t>Баары</a:t>
            </a:r>
          </a:p>
        </p:txBody>
      </p:sp>
      <p:sp>
        <p:nvSpPr>
          <p:cNvPr id="27" name="venn-deco"/>
          <p:cNvSpPr txBox="1"/>
          <p:nvPr/>
        </p:nvSpPr>
        <p:spPr>
          <a:xfrm>
            <a:off x="1318767" y="3047492"/>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7</a:t>
            </a:r>
          </a:p>
        </p:txBody>
      </p:sp>
      <p:sp>
        <p:nvSpPr>
          <p:cNvPr id="28" name="venn-deco"/>
          <p:cNvSpPr txBox="1"/>
          <p:nvPr/>
        </p:nvSpPr>
        <p:spPr>
          <a:xfrm>
            <a:off x="2561674" y="3047492"/>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7</a:t>
            </a:r>
          </a:p>
        </p:txBody>
      </p:sp>
      <p:sp>
        <p:nvSpPr>
          <p:cNvPr id="29" name="venn-deco"/>
          <p:cNvSpPr txBox="1"/>
          <p:nvPr/>
        </p:nvSpPr>
        <p:spPr>
          <a:xfrm>
            <a:off x="3804581" y="3047492"/>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14</a:t>
            </a:r>
          </a:p>
        </p:txBody>
      </p:sp>
      <p:sp>
        <p:nvSpPr>
          <p:cNvPr id="30" name="venn-deco"/>
          <p:cNvSpPr txBox="1"/>
          <p:nvPr/>
        </p:nvSpPr>
        <p:spPr>
          <a:xfrm>
            <a:off x="1318767" y="3858259"/>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4</a:t>
            </a:r>
          </a:p>
        </p:txBody>
      </p:sp>
      <p:sp>
        <p:nvSpPr>
          <p:cNvPr id="31" name="venn-deco"/>
          <p:cNvSpPr txBox="1"/>
          <p:nvPr/>
        </p:nvSpPr>
        <p:spPr>
          <a:xfrm>
            <a:off x="2561674" y="3858259"/>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8</a:t>
            </a:r>
          </a:p>
        </p:txBody>
      </p:sp>
      <p:sp>
        <p:nvSpPr>
          <p:cNvPr id="32" name="venn-deco"/>
          <p:cNvSpPr txBox="1"/>
          <p:nvPr/>
        </p:nvSpPr>
        <p:spPr>
          <a:xfrm>
            <a:off x="3804581" y="3858259"/>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12</a:t>
            </a:r>
          </a:p>
        </p:txBody>
      </p:sp>
      <p:sp>
        <p:nvSpPr>
          <p:cNvPr id="33" name="venn-deco"/>
          <p:cNvSpPr txBox="1"/>
          <p:nvPr/>
        </p:nvSpPr>
        <p:spPr>
          <a:xfrm>
            <a:off x="1318767" y="4669028"/>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11</a:t>
            </a:r>
          </a:p>
        </p:txBody>
      </p:sp>
      <p:sp>
        <p:nvSpPr>
          <p:cNvPr id="34" name="venn-deco"/>
          <p:cNvSpPr txBox="1"/>
          <p:nvPr/>
        </p:nvSpPr>
        <p:spPr>
          <a:xfrm>
            <a:off x="2561674" y="4669028"/>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15</a:t>
            </a:r>
          </a:p>
        </p:txBody>
      </p:sp>
      <p:sp>
        <p:nvSpPr>
          <p:cNvPr id="35" name="venn-deco"/>
          <p:cNvSpPr txBox="1"/>
          <p:nvPr/>
        </p:nvSpPr>
        <p:spPr>
          <a:xfrm>
            <a:off x="3804581" y="4669028"/>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26</a:t>
            </a:r>
          </a:p>
        </p:txBody>
      </p:sp>
      <p:sp>
        <p:nvSpPr>
          <p:cNvPr id="36" name="venn-deco"/>
          <p:cNvSpPr/>
          <p:nvPr/>
        </p:nvSpPr>
        <p:spPr>
          <a:xfrm>
            <a:off x="548640" y="2240280"/>
            <a:ext cx="4480560" cy="3017520"/>
          </a:xfrm>
          <a:prstGeom prst="rect">
            <a:avLst/>
          </a:prstGeom>
          <a:noFill/>
          <a:ln w="2514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7" name="venn-deco"/>
          <p:cNvCxnSpPr/>
          <p:nvPr/>
        </p:nvCxnSpPr>
        <p:spPr>
          <a:xfrm>
            <a:off x="1300479" y="2240280"/>
            <a:ext cx="0" cy="301752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8" name="venn-deco"/>
          <p:cNvCxnSpPr/>
          <p:nvPr/>
        </p:nvCxnSpPr>
        <p:spPr>
          <a:xfrm>
            <a:off x="548640" y="2825496"/>
            <a:ext cx="4480560" cy="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9" name="venn-deco"/>
          <p:cNvCxnSpPr/>
          <p:nvPr/>
        </p:nvCxnSpPr>
        <p:spPr>
          <a:xfrm>
            <a:off x="2543386" y="2240280"/>
            <a:ext cx="0" cy="301752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0" name="venn-deco"/>
          <p:cNvCxnSpPr/>
          <p:nvPr/>
        </p:nvCxnSpPr>
        <p:spPr>
          <a:xfrm>
            <a:off x="3786293" y="2240280"/>
            <a:ext cx="0" cy="3017520"/>
          </a:xfrm>
          <a:prstGeom prst="line">
            <a:avLst/>
          </a:prstGeom>
          <a:ln w="15087">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1" name="venn-deco"/>
          <p:cNvCxnSpPr/>
          <p:nvPr/>
        </p:nvCxnSpPr>
        <p:spPr>
          <a:xfrm>
            <a:off x="548640" y="3636264"/>
            <a:ext cx="4480560" cy="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2" name="venn-deco"/>
          <p:cNvCxnSpPr/>
          <p:nvPr/>
        </p:nvCxnSpPr>
        <p:spPr>
          <a:xfrm>
            <a:off x="548640" y="4447032"/>
            <a:ext cx="4480560" cy="0"/>
          </a:xfrm>
          <a:prstGeom prst="line">
            <a:avLst/>
          </a:prstGeom>
          <a:ln w="15087">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Ортону бир жолу</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15 + 12 − 6</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27 − 6</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21</a:t>
            </a:r>
          </a:p>
        </p:txBody>
      </p:sp>
      <p:sp>
        <p:nvSpPr>
          <p:cNvPr id="16" name="TextBox 15"/>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A + B − кесилиш: ортодогулар эки жолу саналбайт.</a:t>
            </a:r>
          </a:p>
        </p:txBody>
      </p:sp>
      <p:sp>
        <p:nvSpPr>
          <p:cNvPr id="17" name="Rounded Rectangle 16"/>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9" name="TextBox 18"/>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Бөлүктөрдөн текшер</a:t>
            </a:r>
          </a:p>
        </p:txBody>
      </p:sp>
      <p:sp>
        <p:nvSpPr>
          <p:cNvPr id="20" name="TextBox 19"/>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9 + 6 + 6 + 5</a:t>
            </a:r>
          </a:p>
        </p:txBody>
      </p:sp>
      <p:sp>
        <p:nvSpPr>
          <p:cNvPr id="21" name="TextBox 20"/>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15 + 11</a:t>
            </a:r>
          </a:p>
        </p:txBody>
      </p:sp>
      <p:sp>
        <p:nvSpPr>
          <p:cNvPr id="22" name="TextBox 21"/>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26</a:t>
            </a:r>
          </a:p>
        </p:txBody>
      </p:sp>
      <p:sp>
        <p:nvSpPr>
          <p:cNvPr id="23" name="TextBox 22"/>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4 бөлүктүн суммасы = баары.</a:t>
            </a:r>
          </a:p>
        </p:txBody>
      </p:sp>
      <p:sp>
        <p:nvSpPr>
          <p:cNvPr id="24" name="Rounded Rectangle 23"/>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6" name="TextBox 25"/>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Ашыкчадан кесилиш</a:t>
            </a:r>
          </a:p>
        </p:txBody>
      </p:sp>
      <p:sp>
        <p:nvSpPr>
          <p:cNvPr id="27" name="TextBox 26"/>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15 + 12 = 27</a:t>
            </a:r>
          </a:p>
        </p:txBody>
      </p:sp>
      <p:sp>
        <p:nvSpPr>
          <p:cNvPr id="28" name="TextBox 27"/>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27 − 21</a:t>
            </a:r>
          </a:p>
        </p:txBody>
      </p:sp>
      <p:sp>
        <p:nvSpPr>
          <p:cNvPr id="29" name="TextBox 28"/>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6</a:t>
            </a:r>
          </a:p>
        </p:txBody>
      </p:sp>
      <p:sp>
        <p:nvSpPr>
          <p:cNvPr id="30" name="TextBox 29"/>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Эки жолу саналганы = экөө тең.</a:t>
            </a:r>
          </a:p>
        </p:txBody>
      </p:sp>
      <p:sp>
        <p:nvSpPr>
          <p:cNvPr id="31" name="Rounded Rectangle 30"/>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2" name="Rounded Rectangle 31"/>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3" name="Rounded Rectangle 3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4" name="Rounded Rectangle 3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5" name="Rounded Rectangle 3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Класста 34 окуучу. 15и футбол, 11и шахмат ойнойт, 5и экөөнү тең. Канча окуучу эч бирин ойнобойт?</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8</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13</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21</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3</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Футбол 14, тогуз коргоол 10 окуучу, 5и экөөнө тең. Жок дегенде бир ийримде канча окуучу?</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Класста 27 окуучу. Футбол 13, шахмат 11, экөө тең 4. Эч бирин ойнобогондор канча?</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Класста 30 окуучу. Футбол 16, тогуз коргоол 13, эч бирине жазылбаган 6. Экөө тең канча?</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Футбол 14, тогуз коргоол 10 окуучу, 5и экөөнө тең. Жок дегенде бир ийримде канча окуучу?</a:t>
            </a:r>
          </a:p>
        </p:txBody>
      </p:sp>
      <p:sp>
        <p:nvSpPr>
          <p:cNvPr id="13" name="Rectangle 12"/>
          <p:cNvSpPr/>
          <p:nvPr/>
        </p:nvSpPr>
        <p:spPr>
          <a:xfrm>
            <a:off x="566928" y="3017520"/>
            <a:ext cx="111027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14" name="Rectangle 13"/>
          <p:cNvSpPr/>
          <p:nvPr/>
        </p:nvSpPr>
        <p:spPr>
          <a:xfrm>
            <a:off x="1677202" y="3017520"/>
            <a:ext cx="616818"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a:t>
            </a:r>
          </a:p>
        </p:txBody>
      </p:sp>
      <p:sp>
        <p:nvSpPr>
          <p:cNvPr id="15" name="Rectangle 14"/>
          <p:cNvSpPr/>
          <p:nvPr/>
        </p:nvSpPr>
        <p:spPr>
          <a:xfrm>
            <a:off x="2294021" y="3017520"/>
            <a:ext cx="61681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a:t>
            </a:r>
          </a:p>
        </p:txBody>
      </p:sp>
      <p:cxnSp>
        <p:nvCxnSpPr>
          <p:cNvPr id="16" name="Connector 15"/>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19</a:t>
            </a:r>
          </a:p>
        </p:txBody>
      </p:sp>
      <p:sp>
        <p:nvSpPr>
          <p:cNvPr id="20" name="TextBox 19"/>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14 + 10 − 5 = 19 окуучу</a:t>
            </a:r>
          </a:p>
        </p:txBody>
      </p:sp>
      <p:sp>
        <p:nvSpPr>
          <p:cNvPr id="21" name="Rounded Rectangle 20"/>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3" name="TextBox 22"/>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Класста 27 окуучу. Футбол 13, шахмат 11, экөө тең 4. Эч бирин ойнобогондор канча?</a:t>
            </a:r>
          </a:p>
        </p:txBody>
      </p:sp>
      <p:sp>
        <p:nvSpPr>
          <p:cNvPr id="24" name="Rectangle 23"/>
          <p:cNvSpPr/>
          <p:nvPr/>
        </p:nvSpPr>
        <p:spPr>
          <a:xfrm>
            <a:off x="4419600"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25" name="Rectangle 24"/>
          <p:cNvSpPr/>
          <p:nvPr/>
        </p:nvSpPr>
        <p:spPr>
          <a:xfrm>
            <a:off x="5200904" y="3017520"/>
            <a:ext cx="34724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a:t>
            </a:r>
          </a:p>
        </p:txBody>
      </p:sp>
      <p:sp>
        <p:nvSpPr>
          <p:cNvPr id="26" name="Rectangle 25"/>
          <p:cNvSpPr/>
          <p:nvPr/>
        </p:nvSpPr>
        <p:spPr>
          <a:xfrm>
            <a:off x="5548150" y="3017520"/>
            <a:ext cx="607680"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7</a:t>
            </a:r>
          </a:p>
        </p:txBody>
      </p:sp>
      <p:sp>
        <p:nvSpPr>
          <p:cNvPr id="27" name="Rectangle 26"/>
          <p:cNvSpPr/>
          <p:nvPr/>
        </p:nvSpPr>
        <p:spPr>
          <a:xfrm>
            <a:off x="6155831" y="3017520"/>
            <a:ext cx="607680"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28" name="Connector 27"/>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27</a:t>
            </a:r>
          </a:p>
        </p:txBody>
      </p:sp>
      <p:sp>
        <p:nvSpPr>
          <p:cNvPr id="32" name="TextBox 31"/>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27 − 20 = 7 окуучу</a:t>
            </a:r>
          </a:p>
        </p:txBody>
      </p:sp>
      <p:sp>
        <p:nvSpPr>
          <p:cNvPr id="33" name="Rounded Rectangle 32"/>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5" name="TextBox 34"/>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Класста 30 окуучу. Футбол 16, тогуз коргоол 13, эч бирине жазылбаган 6. Экөө тең канча?</a:t>
            </a:r>
          </a:p>
        </p:txBody>
      </p:sp>
      <p:sp>
        <p:nvSpPr>
          <p:cNvPr id="36" name="TextBox 35"/>
          <p:cNvSpPr txBox="1"/>
          <p:nvPr/>
        </p:nvSpPr>
        <p:spPr>
          <a:xfrm>
            <a:off x="8272272"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Ф + Т</a:t>
            </a:r>
          </a:p>
        </p:txBody>
      </p:sp>
      <p:sp>
        <p:nvSpPr>
          <p:cNvPr id="37" name="Rectangle 36"/>
          <p:cNvSpPr/>
          <p:nvPr/>
        </p:nvSpPr>
        <p:spPr>
          <a:xfrm>
            <a:off x="9735312" y="3017520"/>
            <a:ext cx="48599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16</a:t>
            </a:r>
          </a:p>
        </p:txBody>
      </p:sp>
      <p:sp>
        <p:nvSpPr>
          <p:cNvPr id="38" name="Rectangle 37"/>
          <p:cNvSpPr/>
          <p:nvPr/>
        </p:nvSpPr>
        <p:spPr>
          <a:xfrm>
            <a:off x="10221310" y="3017520"/>
            <a:ext cx="39487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13</a:t>
            </a:r>
          </a:p>
        </p:txBody>
      </p:sp>
      <p:sp>
        <p:nvSpPr>
          <p:cNvPr id="39" name="TextBox 38"/>
          <p:cNvSpPr txBox="1"/>
          <p:nvPr/>
        </p:nvSpPr>
        <p:spPr>
          <a:xfrm>
            <a:off x="8272272"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Ичинде</a:t>
            </a:r>
          </a:p>
        </p:txBody>
      </p:sp>
      <p:sp>
        <p:nvSpPr>
          <p:cNvPr id="40" name="Rectangle 39"/>
          <p:cNvSpPr/>
          <p:nvPr/>
        </p:nvSpPr>
        <p:spPr>
          <a:xfrm>
            <a:off x="9735312" y="3574389"/>
            <a:ext cx="728997"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24</a:t>
            </a:r>
          </a:p>
        </p:txBody>
      </p:sp>
      <p:sp>
        <p:nvSpPr>
          <p:cNvPr id="41" name="Rectangle 40"/>
          <p:cNvSpPr/>
          <p:nvPr/>
        </p:nvSpPr>
        <p:spPr>
          <a:xfrm>
            <a:off x="10464309" y="3574389"/>
            <a:ext cx="151874"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sp>
        <p:nvSpPr>
          <p:cNvPr id="42" name="TextBox 41"/>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16 + 13 − 24 = 5 окуучу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3, 5, 7} ∩ {1, 3, 5, 9}</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3, 5, 7} ∪ {1, 3, 5, 9}</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Футбол 16, шахмат 9, экөө тең 5. Жок дегенде бирөө?</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Футбол 16, экөө тең 5. Футбол гана?</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Баары 32, жок дегенде бирөө 25. Эч бири?</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Баары 30, футбол 14, шахмат 13, эч бири 7. Экөө тең?</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3, 5, 7} ∩ {1, 3, 5, 9}</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 5}</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3, 5, 7} ∪ {1, 3, 5, 9}</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 2, 3, 5, 7, 9}</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Футбол 16, шахмат 9, экөө тең 5. Жок дегенде бирөө?</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Футбол 16, экөө тең 5. Футбол гана?</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11</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Баары 32, жок дегенде бирөө 25. Эч бири?</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7</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Баары 30, футбол 14, шахмат 13, эч бири 7. Экөө тең?</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26 окуучунун 15и футболго, 12си тогуз коргоолго, 6сы экөөнө тең жазылды. Канча окуучу эч бир ийримге жазылган жок?</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Класс</a:t>
            </a:r>
          </a:p>
        </p:txBody>
      </p:sp>
      <p:sp>
        <p:nvSpPr>
          <p:cNvPr id="13" name="Rectangle 12"/>
          <p:cNvSpPr/>
          <p:nvPr/>
        </p:nvSpPr>
        <p:spPr>
          <a:xfrm>
            <a:off x="2377440" y="2240280"/>
            <a:ext cx="2627141"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Ф гана 9</a:t>
            </a:r>
          </a:p>
        </p:txBody>
      </p:sp>
      <p:sp>
        <p:nvSpPr>
          <p:cNvPr id="14" name="Rectangle 13"/>
          <p:cNvSpPr/>
          <p:nvPr/>
        </p:nvSpPr>
        <p:spPr>
          <a:xfrm>
            <a:off x="5004581" y="2240280"/>
            <a:ext cx="1751427"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экөө 6</a:t>
            </a:r>
          </a:p>
        </p:txBody>
      </p:sp>
      <p:sp>
        <p:nvSpPr>
          <p:cNvPr id="15" name="Rectangle 14"/>
          <p:cNvSpPr/>
          <p:nvPr/>
        </p:nvSpPr>
        <p:spPr>
          <a:xfrm>
            <a:off x="6756009" y="2240280"/>
            <a:ext cx="175142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Т гана 6</a:t>
            </a:r>
          </a:p>
        </p:txBody>
      </p:sp>
      <p:sp>
        <p:nvSpPr>
          <p:cNvPr id="16" name="Rectangle 15"/>
          <p:cNvSpPr/>
          <p:nvPr/>
        </p:nvSpPr>
        <p:spPr>
          <a:xfrm>
            <a:off x="8507436" y="2240280"/>
            <a:ext cx="1459523"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a:t>
            </a:r>
          </a:p>
        </p:txBody>
      </p:sp>
      <p:cxnSp>
        <p:nvCxnSpPr>
          <p:cNvPr id="17" name="Connector 16"/>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26</a:t>
            </a:r>
          </a:p>
        </p:txBody>
      </p:sp>
      <p:sp>
        <p:nvSpPr>
          <p:cNvPr id="21" name="TextBox 20"/>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15 − 6 = 9</a:t>
            </a:r>
          </a:p>
        </p:txBody>
      </p:sp>
      <p:sp>
        <p:nvSpPr>
          <p:cNvPr id="22" name="TextBox 21"/>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футбол гана</a:t>
            </a:r>
          </a:p>
        </p:txBody>
      </p:sp>
      <p:sp>
        <p:nvSpPr>
          <p:cNvPr id="23" name="TextBox 22"/>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12 − 6 = 6</a:t>
            </a:r>
          </a:p>
        </p:txBody>
      </p:sp>
      <p:sp>
        <p:nvSpPr>
          <p:cNvPr id="24" name="TextBox 23"/>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тогуз коргоол гана</a:t>
            </a:r>
          </a:p>
        </p:txBody>
      </p:sp>
      <p:sp>
        <p:nvSpPr>
          <p:cNvPr id="25" name="TextBox 24"/>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9 + 6 + 6 = 21</a:t>
            </a:r>
          </a:p>
        </p:txBody>
      </p:sp>
      <p:sp>
        <p:nvSpPr>
          <p:cNvPr id="26" name="TextBox 25"/>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жок дегенде бирөөндө</a:t>
            </a:r>
          </a:p>
        </p:txBody>
      </p:sp>
      <p:sp>
        <p:nvSpPr>
          <p:cNvPr id="27" name="TextBox 26"/>
          <p:cNvSpPr txBox="1"/>
          <p:nvPr/>
        </p:nvSpPr>
        <p:spPr>
          <a:xfrm>
            <a:off x="731520" y="4828032"/>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26 − 21 = 5</a:t>
            </a:r>
          </a:p>
        </p:txBody>
      </p:sp>
      <p:sp>
        <p:nvSpPr>
          <p:cNvPr id="28" name="TextBox 27"/>
          <p:cNvSpPr txBox="1"/>
          <p:nvPr/>
        </p:nvSpPr>
        <p:spPr>
          <a:xfrm>
            <a:off x="8366760" y="4828032"/>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эч биринде жок</a:t>
            </a:r>
          </a:p>
        </p:txBody>
      </p:sp>
      <p:sp>
        <p:nvSpPr>
          <p:cNvPr id="29" name="Rounded Rectangle 28"/>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5 окуучу ийримсиз: аларды комузга чакырабыз!</a:t>
            </a:r>
          </a:p>
        </p:txBody>
      </p:sp>
      <p:sp>
        <p:nvSpPr>
          <p:cNvPr id="30" name="Rounded Rectangle 29"/>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
        <p:nvSpPr>
          <p:cNvPr id="31" name="venn-deco"/>
          <p:cNvSpPr/>
          <p:nvPr/>
        </p:nvSpPr>
        <p:spPr>
          <a:xfrm>
            <a:off x="502920" y="3108960"/>
            <a:ext cx="3566160" cy="2148840"/>
          </a:xfrm>
          <a:prstGeom prst="roundRect">
            <a:avLst>
              <a:gd name="adj" fmla="val 3404"/>
            </a:avLst>
          </a:prstGeom>
          <a:solidFill>
            <a:srgbClr val="FFFFFF"/>
          </a:solidFill>
          <a:ln w="16116">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venn-deco"/>
          <p:cNvSpPr/>
          <p:nvPr/>
        </p:nvSpPr>
        <p:spPr>
          <a:xfrm>
            <a:off x="627735" y="3492550"/>
            <a:ext cx="1720879" cy="1657807"/>
          </a:xfrm>
          <a:prstGeom prst="ellipse">
            <a:avLst/>
          </a:prstGeom>
          <a:solidFill>
            <a:srgbClr val="B5E2D3">
              <a:alpha val="55000"/>
            </a:srgbClr>
          </a:solidFill>
          <a:ln w="2686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enn-deco"/>
          <p:cNvSpPr/>
          <p:nvPr/>
        </p:nvSpPr>
        <p:spPr>
          <a:xfrm>
            <a:off x="1866768" y="3492550"/>
            <a:ext cx="1720879" cy="1657807"/>
          </a:xfrm>
          <a:prstGeom prst="ellipse">
            <a:avLst/>
          </a:prstGeom>
          <a:solidFill>
            <a:srgbClr val="BFCBE9">
              <a:alpha val="55000"/>
            </a:srgbClr>
          </a:solidFill>
          <a:ln w="2686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venn-deco"/>
          <p:cNvSpPr txBox="1"/>
          <p:nvPr/>
        </p:nvSpPr>
        <p:spPr>
          <a:xfrm>
            <a:off x="627735" y="3192551"/>
            <a:ext cx="603504" cy="234696"/>
          </a:xfrm>
          <a:prstGeom prst="rect">
            <a:avLst/>
          </a:prstGeom>
          <a:noFill/>
        </p:spPr>
        <p:txBody>
          <a:bodyPr wrap="none" lIns="0" rIns="0" tIns="0" bIns="0" anchor="ctr">
            <a:spAutoFit/>
          </a:bodyPr>
          <a:lstStyle/>
          <a:p>
            <a:pPr algn="ctr">
              <a:lnSpc>
                <a:spcPct val="95000"/>
              </a:lnSpc>
            </a:pPr>
            <a:r>
              <a:rPr sz="1200" b="1" i="0">
                <a:solidFill>
                  <a:srgbClr val="007A5A"/>
                </a:solidFill>
                <a:latin typeface="PT Sans"/>
              </a:rPr>
              <a:t>Футбол</a:t>
            </a:r>
          </a:p>
        </p:txBody>
      </p:sp>
      <p:sp>
        <p:nvSpPr>
          <p:cNvPr id="35" name="venn-deco"/>
          <p:cNvSpPr txBox="1"/>
          <p:nvPr/>
        </p:nvSpPr>
        <p:spPr>
          <a:xfrm>
            <a:off x="2642768" y="3192551"/>
            <a:ext cx="944880" cy="234696"/>
          </a:xfrm>
          <a:prstGeom prst="rect">
            <a:avLst/>
          </a:prstGeom>
          <a:noFill/>
        </p:spPr>
        <p:txBody>
          <a:bodyPr wrap="none" lIns="0" rIns="0" tIns="0" bIns="0" anchor="ctr">
            <a:spAutoFit/>
          </a:bodyPr>
          <a:lstStyle/>
          <a:p>
            <a:pPr algn="ctr">
              <a:lnSpc>
                <a:spcPct val="95000"/>
              </a:lnSpc>
            </a:pPr>
            <a:r>
              <a:rPr sz="1200" b="1" i="0">
                <a:solidFill>
                  <a:srgbClr val="24418C"/>
                </a:solidFill>
                <a:latin typeface="PT Sans"/>
              </a:rPr>
              <a:t>Т. коргоол</a:t>
            </a:r>
          </a:p>
        </p:txBody>
      </p:sp>
      <p:sp>
        <p:nvSpPr>
          <p:cNvPr id="36" name="venn-deco"/>
          <p:cNvSpPr txBox="1"/>
          <p:nvPr/>
        </p:nvSpPr>
        <p:spPr>
          <a:xfrm>
            <a:off x="3634282" y="3145536"/>
            <a:ext cx="263347" cy="214884"/>
          </a:xfrm>
          <a:prstGeom prst="rect">
            <a:avLst/>
          </a:prstGeom>
          <a:noFill/>
        </p:spPr>
        <p:txBody>
          <a:bodyPr wrap="none" lIns="0" rIns="0" tIns="0" bIns="0" anchor="ctr">
            <a:spAutoFit/>
          </a:bodyPr>
          <a:lstStyle/>
          <a:p>
            <a:pPr algn="ctr">
              <a:lnSpc>
                <a:spcPct val="95000"/>
              </a:lnSpc>
            </a:pPr>
            <a:r>
              <a:rPr sz="1080" b="0" i="1">
                <a:solidFill>
                  <a:srgbClr val="4A5A70"/>
                </a:solidFill>
                <a:latin typeface="PT Sans"/>
              </a:rPr>
              <a:t>26</a:t>
            </a:r>
          </a:p>
        </p:txBody>
      </p:sp>
      <p:sp>
        <p:nvSpPr>
          <p:cNvPr id="37" name="venn-deco"/>
          <p:cNvSpPr txBox="1"/>
          <p:nvPr/>
        </p:nvSpPr>
        <p:spPr>
          <a:xfrm>
            <a:off x="1128380" y="4154576"/>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9</a:t>
            </a:r>
          </a:p>
        </p:txBody>
      </p:sp>
      <p:sp>
        <p:nvSpPr>
          <p:cNvPr id="38" name="venn-deco"/>
          <p:cNvSpPr txBox="1"/>
          <p:nvPr/>
        </p:nvSpPr>
        <p:spPr>
          <a:xfrm>
            <a:off x="1988820" y="4154576"/>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6</a:t>
            </a:r>
          </a:p>
        </p:txBody>
      </p:sp>
      <p:sp>
        <p:nvSpPr>
          <p:cNvPr id="39" name="venn-deco"/>
          <p:cNvSpPr txBox="1"/>
          <p:nvPr/>
        </p:nvSpPr>
        <p:spPr>
          <a:xfrm>
            <a:off x="2849259" y="4154576"/>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6</a:t>
            </a:r>
          </a:p>
        </p:txBody>
      </p:sp>
      <p:sp>
        <p:nvSpPr>
          <p:cNvPr id="40" name="venn-deco"/>
          <p:cNvSpPr txBox="1"/>
          <p:nvPr/>
        </p:nvSpPr>
        <p:spPr>
          <a:xfrm>
            <a:off x="3647084" y="4188409"/>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Ат-Башыдагы ийримдер жөнүндө маселе түз: Венн диаграммасы, сыртында да окуучулар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Бекжан, Нурай, Чынара эже.</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{1, 2, 3, 4} ∩ {3, 4, 5} =</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Комуз 12, ыр 9 окуучу, экөөндө тең 5. Жок дегенде бирөөндө канча окуучу?</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Класста 25 окуучу. Жок дегенде бир ийримде 19 окуучу. Эч бир ийримде жоктор канча?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бирикмени тапканда кесилишти кемитебиз?</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Венн диаграммасынын сыртында ким турат? Мисал айт.</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Кэрролл таблицасы менен Венн диаграммасынын окшоштугу эмнеде?</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Адегенде ортону (экөө тең) толтурттурам, анан «гана» бөлүктөрдү (М2).</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«сыртында ким бар?» деп сурайм, тик бурчтукту чийдирем (М3).</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Текшерүү: 4 бөлүктүн суммасы = баары; бирикме баарынан чоң боло албайт (М1).</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Кэрролл таблицасында катарларды жана мамычаларды кошуп текшертем (М7).</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