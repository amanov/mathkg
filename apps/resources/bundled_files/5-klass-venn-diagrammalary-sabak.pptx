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аталышы жана бүгүнкү окуя.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жолу: ар бир бөлүк өз слайды менен ачылат.</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Окуяны окуп берем. Окуучулар болжолдошсун: 15 + 12 = 27, бирок класста 26 гана окуучу. Кантип болот? Жоопту сабактын аягында (22-слайд) текшеребиз. Проектор жок болсо, эки тегеректи доскага чийем.</a:t>
            </a:r>
          </a:p>
          <a:p>
            <a:r>
              <a:t>3C (Байланыштыруу): Окуя турмуштан: бул суроого сабактын аягында кайтабыз.</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Ой жүгүртүү маданияты (Wenxi Lee, 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Ийгилик критерийлери: сабактын аягында ар бирине ✓ коёбуз.</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Спираль: тема класстан класска тереңдейт.</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Мини-тактага жазышат.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Жоопту дароо айтпайбыз. Жупта талкуулашат. Жооп: Нурай: экөөнү тең ойногон 5 окуучу эки жолу саналбайт. Бекжан – М1 (23 &gt; 20, мүмкүн эмес).</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жупка: эки жип (ар бири 1 м, учтарын байлап тегерек кылабыз), 26 бөтөлкө капкагы же буурчак, эки кагаз жазуу («Футбол», «Тогуз коргоол»). Адегенде экөө тең жазылган 6 капкакты коюшат: жиптер кесилишип турушу керек экенин өздөрү табышат. Анан футбол гана, тогуз коргоол гана, калгандары сыртка. Класс чоң болсо, полго эки чоң жип тегерек коюп, окуучулар өздөрү ичине турушат. Проектор жок болсо, ушул сүрөттү доскага чийем.</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Доскага тик бурчтук (класс) жана эки тегерек чийем. Ортодон баштайбыз: 6. Футбол гана 15 − 6 = 9, тогуз коргоол гана 12 − 6 = 6. Тилкеде футбол менен тогуз коргоолдун тилкелери 6 бөлүгүндө үстү-үстүнө түшөт: ошол «экөө тең». Класстын тилкеси: 9 + 6 + 6 + ? = 26. Окуучулар чакмак дептерге чийишет (1 чакмак = 1 окуучу).</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дайым ортодон баштайм (М2). Бирикмеде кесилиш бир гана жолу саналат (М1). Тик бурчтук – баары; сыртын унутпайбыз (М3). Текшерүү: 4 бөлүктүн суммасы = баары. Кэрролл таблицасы да ошол эле 4 бөлүк: «А жана Б», «А, Б эмес», «Б, А эмес», «А да эмес, Б да эмес». Маселеде Пойанын 4 кадамы: түшүн (эмне белгилүү?), чий (Венн же тилке), эсепте, текшер.</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ыкманы окуучу үн чыгарып айтат: «ортону бир гана жолу саныйм». «Оозеки беш мүнөт» (класста колдонуу картасы) эки апта ушул ыкмаларды кайталайт.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Баары бир убакта манжа менен көрсөтөт (1–4). Туура эмес жооптун коду: А = М1; Б = ✓; В = М3; Г = М2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деңгээл: бирикме → эч бири → экөө тең. Жооптор: 14 + 10 − 5 = 19 окуучу; 27 − 20 = 7 окуучу; 16 + 13 − 24 = 5 окуучу</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Жеңилден баштап, мүмкүн болушунча алдыга.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Ортодон баштайбыз: экөө тең 6. Футбол гана 15 − 6 = 9, тогуз коргоол гана 12 − 6 = 6. Тегеректердин ичинде 9 + 6 + 6 = 21, сыртында 26 − 21 = 5. Текшерүү: 9 + 6 + 6 + 5 = 26. Эмне үчүн 15 + 12 = 27 &gt; 26? Алтоо эки жолу саналды (М1).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Блум: Түзүү. Жупта алмашып, бири-биринин маселесин чыгарышат.</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Жооптор: {3, 4}; 12 + 9 − 5 = 16; 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Бул слайд окуучуларга көрсөтүлбөйт.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3" name="TextBox 2"/>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1/26</a:t>
            </a:r>
          </a:p>
        </p:txBody>
      </p:sp>
      <p:sp>
        <p:nvSpPr>
          <p:cNvPr id="4" name="Rounded Rectangle 3"/>
          <p:cNvSpPr/>
          <p:nvPr/>
        </p:nvSpPr>
        <p:spPr>
          <a:xfrm>
            <a:off x="822960" y="1371600"/>
            <a:ext cx="164592" cy="128016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371600"/>
            <a:ext cx="164592" cy="128016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1371600"/>
            <a:ext cx="164592" cy="128016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1188720"/>
            <a:ext cx="9601200" cy="548640"/>
          </a:xfrm>
          <a:prstGeom prst="rect">
            <a:avLst/>
          </a:prstGeom>
          <a:noFill/>
        </p:spPr>
        <p:txBody>
          <a:bodyPr wrap="square" anchor="t" lIns="45720" rIns="45720" tIns="27432" bIns="27432">
            <a:spAutoFit/>
          </a:bodyPr>
          <a:lstStyle/>
          <a:p>
            <a:pPr algn="l">
              <a:lnSpc>
                <a:spcPct val="105000"/>
              </a:lnSpc>
            </a:pPr>
            <a:r>
              <a:rPr sz="2200" b="0" i="0">
                <a:solidFill>
                  <a:srgbClr val="4A5A70"/>
                </a:solidFill>
                <a:latin typeface="PT Sans"/>
              </a:rPr>
              <a:t/>
            </a:r>
          </a:p>
        </p:txBody>
      </p:sp>
      <p:sp>
        <p:nvSpPr>
          <p:cNvPr id="8" name="TextBox 7"/>
          <p:cNvSpPr txBox="1"/>
          <p:nvPr/>
        </p:nvSpPr>
        <p:spPr>
          <a:xfrm>
            <a:off x="1828800" y="1691640"/>
            <a:ext cx="9601200" cy="1737360"/>
          </a:xfrm>
          <a:prstGeom prst="rect">
            <a:avLst/>
          </a:prstGeom>
          <a:noFill/>
        </p:spPr>
        <p:txBody>
          <a:bodyPr wrap="square" anchor="t" lIns="45720" rIns="45720" tIns="27432" bIns="27432">
            <a:spAutoFit/>
          </a:bodyPr>
          <a:lstStyle/>
          <a:p>
            <a:pPr algn="l">
              <a:lnSpc>
                <a:spcPct val="105000"/>
              </a:lnSpc>
            </a:pPr>
            <a:r>
              <a:rPr sz="4000" b="1" i="0">
                <a:solidFill>
                  <a:srgbClr val="1D3557"/>
                </a:solidFill>
                <a:latin typeface="PT Sans"/>
              </a:rPr>
              <a:t>Көптүктөр жана Венн диаграммалары</a:t>
            </a:r>
          </a:p>
        </p:txBody>
      </p:sp>
      <p:sp>
        <p:nvSpPr>
          <p:cNvPr id="9" name="Rounded Rectangle 8"/>
          <p:cNvSpPr/>
          <p:nvPr/>
        </p:nvSpPr>
        <p:spPr>
          <a:xfrm>
            <a:off x="1828800" y="3611880"/>
            <a:ext cx="8778240" cy="1463040"/>
          </a:xfrm>
          <a:prstGeom prst="roundRect">
            <a:avLst>
              <a:gd name="adj" fmla="val 12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0"/>
            <a:ext cx="8321040" cy="457200"/>
          </a:xfrm>
          <a:prstGeom prst="rect">
            <a:avLst/>
          </a:prstGeom>
          <a:noFill/>
        </p:spPr>
        <p:txBody>
          <a:bodyPr wrap="square" anchor="t" lIns="45720" rIns="45720" tIns="27432" bIns="27432">
            <a:spAutoFit/>
          </a:bodyPr>
          <a:lstStyle/>
          <a:p>
            <a:pPr algn="l">
              <a:lnSpc>
                <a:spcPct val="105000"/>
              </a:lnSpc>
            </a:pPr>
            <a:r>
              <a:rPr sz="2400" b="1" i="0">
                <a:solidFill>
                  <a:srgbClr val="A84400"/>
                </a:solidFill>
                <a:latin typeface="PT Sans"/>
              </a:rPr>
              <a:t>Бүгүнкү окуя: Ат-Башыдагы мектеп ийримдери</a:t>
            </a:r>
          </a:p>
        </p:txBody>
      </p:sp>
      <p:sp>
        <p:nvSpPr>
          <p:cNvPr id="11" name="TextBox 10"/>
          <p:cNvSpPr txBox="1"/>
          <p:nvPr/>
        </p:nvSpPr>
        <p:spPr>
          <a:xfrm>
            <a:off x="2057400" y="4160520"/>
            <a:ext cx="8321040" cy="914400"/>
          </a:xfrm>
          <a:prstGeom prst="rect">
            <a:avLst/>
          </a:prstGeom>
          <a:noFill/>
        </p:spPr>
        <p:txBody>
          <a:bodyPr wrap="square" anchor="t" lIns="45720" rIns="45720" tIns="27432" bIns="27432">
            <a:spAutoFit/>
          </a:bodyPr>
          <a:lstStyle/>
          <a:p>
            <a:pPr algn="l">
              <a:lnSpc>
                <a:spcPct val="105000"/>
              </a:lnSpc>
            </a:pPr>
            <a:r>
              <a:rPr sz="1900" b="0" i="0">
                <a:solidFill>
                  <a:srgbClr val="1F2430"/>
                </a:solidFill>
                <a:latin typeface="PT Sans"/>
              </a:rPr>
              <a:t>Бекжан менен Нурай Чынара эже менен футбол жана тогуз коргоол ийримдеринин тизмесин түзүшөт.</a:t>
            </a:r>
          </a:p>
        </p:txBody>
      </p:sp>
      <p:sp>
        <p:nvSpPr>
          <p:cNvPr id="12" name="TextBox 11"/>
          <p:cNvSpPr txBox="1"/>
          <p:nvPr/>
        </p:nvSpPr>
        <p:spPr>
          <a:xfrm>
            <a:off x="1828800" y="5349240"/>
            <a:ext cx="9601200" cy="457200"/>
          </a:xfrm>
          <a:prstGeom prst="rect">
            <a:avLst/>
          </a:prstGeom>
          <a:noFill/>
        </p:spPr>
        <p:txBody>
          <a:bodyPr wrap="square" anchor="t" lIns="45720" rIns="45720" tIns="27432" bIns="27432">
            <a:spAutoFit/>
          </a:bodyPr>
          <a:lstStyle/>
          <a:p>
            <a:pPr algn="l">
              <a:lnSpc>
                <a:spcPct val="105000"/>
              </a:lnSpc>
            </a:pPr>
            <a:r>
              <a:rPr sz="1300" b="0" i="1">
                <a:solidFill>
                  <a:srgbClr val="6B7280"/>
                </a:solidFill>
                <a:latin typeface="PT Sans"/>
              </a:rPr>
              <a:t>Китеп: Математика стандарты (2018), 5-класс «Көптүктөр»; Cambridge (маалыматтар: Венн жана Кэрролл диаграммалары). Кыргызча окуу китеби папкада жок; мазмуну толук жаңы.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Сабактын мазмуну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2/26</a:t>
            </a:r>
          </a:p>
        </p:txBody>
      </p:sp>
      <p:sp>
        <p:nvSpPr>
          <p:cNvPr id="10" name="Rounded Rectangle 9"/>
          <p:cNvSpPr/>
          <p:nvPr/>
        </p:nvSpPr>
        <p:spPr>
          <a:xfrm>
            <a:off x="429768" y="1280160"/>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 y="1463039"/>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80160" y="1280160"/>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Кириш</a:t>
            </a:r>
          </a:p>
        </p:txBody>
      </p:sp>
      <p:sp>
        <p:nvSpPr>
          <p:cNvPr id="13" name="TextBox 12"/>
          <p:cNvSpPr txBox="1"/>
          <p:nvPr/>
        </p:nvSpPr>
        <p:spPr>
          <a:xfrm>
            <a:off x="4480560" y="1280160"/>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 эрежелер, максаттар</a:t>
            </a:r>
          </a:p>
        </p:txBody>
      </p:sp>
      <p:sp>
        <p:nvSpPr>
          <p:cNvPr id="14" name="Rounded Rectangle 13"/>
          <p:cNvSpPr/>
          <p:nvPr/>
        </p:nvSpPr>
        <p:spPr>
          <a:xfrm>
            <a:off x="429768" y="2212848"/>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2395728"/>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80160" y="2212848"/>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Даярдык</a:t>
            </a:r>
          </a:p>
        </p:txBody>
      </p:sp>
      <p:sp>
        <p:nvSpPr>
          <p:cNvPr id="17" name="TextBox 16"/>
          <p:cNvSpPr txBox="1"/>
          <p:nvPr/>
        </p:nvSpPr>
        <p:spPr>
          <a:xfrm>
            <a:off x="4480560" y="2212848"/>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Эстейбиз, «Ким туура?»</a:t>
            </a:r>
          </a:p>
        </p:txBody>
      </p:sp>
      <p:sp>
        <p:nvSpPr>
          <p:cNvPr id="18" name="Rounded Rectangle 17"/>
          <p:cNvSpPr/>
          <p:nvPr/>
        </p:nvSpPr>
        <p:spPr>
          <a:xfrm>
            <a:off x="429768" y="3145536"/>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 y="3328416"/>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0" name="TextBox 19"/>
          <p:cNvSpPr txBox="1"/>
          <p:nvPr/>
        </p:nvSpPr>
        <p:spPr>
          <a:xfrm>
            <a:off x="1280160" y="3145536"/>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Түшүнөбүз</a:t>
            </a:r>
          </a:p>
        </p:txBody>
      </p:sp>
      <p:sp>
        <p:nvSpPr>
          <p:cNvPr id="21" name="TextBox 20"/>
          <p:cNvSpPr txBox="1"/>
          <p:nvPr/>
        </p:nvSpPr>
        <p:spPr>
          <a:xfrm>
            <a:off x="4480560" y="3145536"/>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К → С → А: буюм, тилке, эреже</a:t>
            </a:r>
          </a:p>
        </p:txBody>
      </p:sp>
      <p:sp>
        <p:nvSpPr>
          <p:cNvPr id="22" name="Rounded Rectangle 21"/>
          <p:cNvSpPr/>
          <p:nvPr/>
        </p:nvSpPr>
        <p:spPr>
          <a:xfrm>
            <a:off x="429768" y="4078224"/>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26110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4" name="TextBox 23"/>
          <p:cNvSpPr txBox="1"/>
          <p:nvPr/>
        </p:nvSpPr>
        <p:spPr>
          <a:xfrm>
            <a:off x="1280160" y="4078224"/>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Машыгабыз</a:t>
            </a:r>
          </a:p>
        </p:txBody>
      </p:sp>
      <p:sp>
        <p:nvSpPr>
          <p:cNvPr id="25" name="TextBox 24"/>
          <p:cNvSpPr txBox="1"/>
          <p:nvPr/>
        </p:nvSpPr>
        <p:spPr>
          <a:xfrm>
            <a:off x="4480560" y="4078224"/>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Чечүүчү суроо, тилке, өз алдынча иш</a:t>
            </a:r>
          </a:p>
        </p:txBody>
      </p:sp>
      <p:sp>
        <p:nvSpPr>
          <p:cNvPr id="26" name="Rounded Rectangle 25"/>
          <p:cNvSpPr/>
          <p:nvPr/>
        </p:nvSpPr>
        <p:spPr>
          <a:xfrm>
            <a:off x="429768" y="5010912"/>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5193792"/>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8" name="TextBox 27"/>
          <p:cNvSpPr txBox="1"/>
          <p:nvPr/>
        </p:nvSpPr>
        <p:spPr>
          <a:xfrm>
            <a:off x="1280160" y="5010912"/>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Жыйынтык</a:t>
            </a:r>
          </a:p>
        </p:txBody>
      </p:sp>
      <p:sp>
        <p:nvSpPr>
          <p:cNvPr id="29" name="TextBox 28"/>
          <p:cNvSpPr txBox="1"/>
          <p:nvPr/>
        </p:nvSpPr>
        <p:spPr>
          <a:xfrm>
            <a:off x="4480560" y="5010912"/>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Окуяга кайтуу, түзүү, чыгуу билети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 Ат-Башыдагы мектеп ийримдери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3/26</a:t>
            </a:r>
          </a:p>
        </p:txBody>
      </p:sp>
      <p:sp>
        <p:nvSpPr>
          <p:cNvPr id="10" name="Rounded Rectangle 9"/>
          <p:cNvSpPr/>
          <p:nvPr/>
        </p:nvSpPr>
        <p:spPr>
          <a:xfrm>
            <a:off x="429768" y="1225296"/>
            <a:ext cx="6766560" cy="45720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25880"/>
            <a:ext cx="6217920" cy="4389120"/>
          </a:xfrm>
          <a:prstGeom prst="rect">
            <a:avLst/>
          </a:prstGeom>
          <a:noFill/>
        </p:spPr>
        <p:txBody>
          <a:bodyPr wrap="square" anchor="t" lIns="45720" rIns="45720" tIns="27432" bIns="27432">
            <a:spAutoFit/>
          </a:bodyPr>
          <a:lstStyle/>
          <a:p>
            <a:pPr algn="l">
              <a:lnSpc>
                <a:spcPct val="105000"/>
              </a:lnSpc>
            </a:pPr>
            <a:r>
              <a:rPr sz="2100" b="0" i="0">
                <a:solidFill>
                  <a:srgbClr val="1F2430"/>
                </a:solidFill>
                <a:latin typeface="PT Sans"/>
              </a:rPr>
              <a:t>Ат-Башыдагы мектепте күз башталганда ийримдерге жазылуу күнү болот.</a:t>
            </a:r>
          </a:p>
          <a:p>
            <a:pPr algn="l">
              <a:lnSpc>
                <a:spcPct val="105000"/>
              </a:lnSpc>
              <a:spcBef>
                <a:spcPts val="800"/>
              </a:spcBef>
            </a:pPr>
            <a:r>
              <a:rPr sz="2100" b="0" i="0">
                <a:solidFill>
                  <a:srgbClr val="1F2430"/>
                </a:solidFill>
                <a:latin typeface="PT Sans"/>
              </a:rPr>
              <a:t>5-«Б» класстын жетекчиси Чынара эже Бекжан менен Нурайга тизме түзүүнү тапшырды.</a:t>
            </a:r>
          </a:p>
          <a:p>
            <a:pPr algn="l">
              <a:lnSpc>
                <a:spcPct val="105000"/>
              </a:lnSpc>
              <a:spcBef>
                <a:spcPts val="800"/>
              </a:spcBef>
            </a:pPr>
            <a:r>
              <a:rPr sz="2100" b="0" i="0">
                <a:solidFill>
                  <a:srgbClr val="1F2430"/>
                </a:solidFill>
                <a:latin typeface="PT Sans"/>
              </a:rPr>
              <a:t>Классташтардын 15и футболго, 12си тогуз коргоолго жазылды. Алтоо экөөнө тең жазылды.</a:t>
            </a:r>
          </a:p>
          <a:p>
            <a:pPr algn="l">
              <a:lnSpc>
                <a:spcPct val="105000"/>
              </a:lnSpc>
              <a:spcBef>
                <a:spcPts val="800"/>
              </a:spcBef>
            </a:pPr>
            <a:r>
              <a:rPr sz="2100" b="0" i="0">
                <a:solidFill>
                  <a:srgbClr val="1F2430"/>
                </a:solidFill>
                <a:latin typeface="PT Sans"/>
              </a:rPr>
              <a:t>Класста 26 окуучу. Ийримсиз калгандарга Чынара эже комуз ийримин сунуштайт.</a:t>
            </a:r>
          </a:p>
        </p:txBody>
      </p:sp>
      <p:sp>
        <p:nvSpPr>
          <p:cNvPr id="12" name="Rounded Rectangle 11"/>
          <p:cNvSpPr/>
          <p:nvPr/>
        </p:nvSpPr>
        <p:spPr>
          <a:xfrm>
            <a:off x="7406640" y="1225296"/>
            <a:ext cx="4352544" cy="45720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325880"/>
            <a:ext cx="3931920" cy="457200"/>
          </a:xfrm>
          <a:prstGeom prst="rect">
            <a:avLst/>
          </a:prstGeom>
          <a:noFill/>
        </p:spPr>
        <p:txBody>
          <a:bodyPr wrap="square" anchor="t" lIns="45720" rIns="45720" tIns="27432" bIns="27432">
            <a:spAutoFit/>
          </a:bodyPr>
          <a:lstStyle/>
          <a:p>
            <a:pPr algn="l">
              <a:lnSpc>
                <a:spcPct val="105000"/>
              </a:lnSpc>
            </a:pPr>
            <a:r>
              <a:rPr sz="2200" b="1" i="0">
                <a:solidFill>
                  <a:srgbClr val="A84400"/>
                </a:solidFill>
                <a:latin typeface="PT Sans"/>
              </a:rPr>
              <a:t>Суроо</a:t>
            </a:r>
          </a:p>
        </p:txBody>
      </p:sp>
      <p:sp>
        <p:nvSpPr>
          <p:cNvPr id="14" name="TextBox 13"/>
          <p:cNvSpPr txBox="1"/>
          <p:nvPr/>
        </p:nvSpPr>
        <p:spPr>
          <a:xfrm>
            <a:off x="7635240" y="1828800"/>
            <a:ext cx="3931920" cy="2743200"/>
          </a:xfrm>
          <a:prstGeom prst="rect">
            <a:avLst/>
          </a:prstGeom>
          <a:noFill/>
        </p:spPr>
        <p:txBody>
          <a:bodyPr wrap="square" anchor="t" lIns="45720" rIns="45720" tIns="27432" bIns="27432">
            <a:spAutoFit/>
          </a:bodyPr>
          <a:lstStyle/>
          <a:p>
            <a:pPr algn="l">
              <a:lnSpc>
                <a:spcPct val="105000"/>
              </a:lnSpc>
            </a:pPr>
            <a:r>
              <a:rPr sz="2200" b="1" i="0">
                <a:solidFill>
                  <a:srgbClr val="1F2430"/>
                </a:solidFill>
                <a:latin typeface="PT Sans"/>
              </a:rPr>
              <a:t>26 окуучунун 15и футболго, 12си тогуз коргоолго, 6сы экөөнө тең жазылды. Канча окуучу эч бир ийримге жазылган жок?</a:t>
            </a:r>
          </a:p>
        </p:txBody>
      </p:sp>
      <p:sp>
        <p:nvSpPr>
          <p:cNvPr id="15" name="TextBox 14"/>
          <p:cNvSpPr txBox="1"/>
          <p:nvPr/>
        </p:nvSpPr>
        <p:spPr>
          <a:xfrm>
            <a:off x="7635240" y="4572000"/>
            <a:ext cx="3931920" cy="1097280"/>
          </a:xfrm>
          <a:prstGeom prst="rect">
            <a:avLst/>
          </a:prstGeom>
          <a:noFill/>
        </p:spPr>
        <p:txBody>
          <a:bodyPr wrap="square" anchor="t" lIns="45720" rIns="45720" tIns="27432" bIns="27432">
            <a:spAutoFit/>
          </a:bodyPr>
          <a:lstStyle/>
          <a:p>
            <a:pPr algn="l">
              <a:lnSpc>
                <a:spcPct val="105000"/>
              </a:lnSpc>
            </a:pPr>
            <a:r>
              <a:rPr sz="1700" b="0" i="1">
                <a:solidFill>
                  <a:srgbClr val="6B7280"/>
                </a:solidFill>
                <a:latin typeface="PT Sans"/>
              </a:rPr>
              <a:t>Азыр жообун айтпайбыз. Ойлон: кантип билебиз?</a:t>
            </a:r>
          </a:p>
        </p:txBody>
      </p:sp>
      <p:sp>
        <p:nvSpPr>
          <p:cNvPr id="16" name="Rounded Rectangle 15"/>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Математикада биз…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4/26</a:t>
            </a:r>
          </a:p>
        </p:txBody>
      </p:sp>
      <p:sp>
        <p:nvSpPr>
          <p:cNvPr id="10" name="Rounded Rectangle 9"/>
          <p:cNvSpPr/>
          <p:nvPr/>
        </p:nvSpPr>
        <p:spPr>
          <a:xfrm>
            <a:off x="429768"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1600200"/>
            <a:ext cx="3166872" cy="1463040"/>
          </a:xfrm>
          <a:prstGeom prst="roundRect">
            <a:avLst>
              <a:gd name="adj" fmla="val 15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Ката – үйрөнүүнүн бир бөлүгү</a:t>
            </a:r>
          </a:p>
        </p:txBody>
      </p:sp>
      <p:sp>
        <p:nvSpPr>
          <p:cNvPr id="12" name="TextBox 11"/>
          <p:cNvSpPr txBox="1"/>
          <p:nvPr/>
        </p:nvSpPr>
        <p:spPr>
          <a:xfrm>
            <a:off x="658368"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Ката кетсе, эмне үчүн кеткенин издейбиз.</a:t>
            </a:r>
          </a:p>
        </p:txBody>
      </p:sp>
      <p:sp>
        <p:nvSpPr>
          <p:cNvPr id="13" name="Rounded Rectangle 12"/>
          <p:cNvSpPr/>
          <p:nvPr/>
        </p:nvSpPr>
        <p:spPr>
          <a:xfrm>
            <a:off x="4282439"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11039" y="1600200"/>
            <a:ext cx="3166872" cy="1463040"/>
          </a:xfrm>
          <a:prstGeom prst="roundRect">
            <a:avLst>
              <a:gd name="adj" fmla="val 15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«Азырынча билбейм»</a:t>
            </a:r>
          </a:p>
        </p:txBody>
      </p:sp>
      <p:sp>
        <p:nvSpPr>
          <p:cNvPr id="15" name="TextBox 14"/>
          <p:cNvSpPr txBox="1"/>
          <p:nvPr/>
        </p:nvSpPr>
        <p:spPr>
          <a:xfrm>
            <a:off x="4511039"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«Билбейм» эмес, «азырынча». Машыксак, үйрөнөбүз.</a:t>
            </a:r>
          </a:p>
        </p:txBody>
      </p:sp>
      <p:sp>
        <p:nvSpPr>
          <p:cNvPr id="16" name="Rounded Rectangle 15"/>
          <p:cNvSpPr/>
          <p:nvPr/>
        </p:nvSpPr>
        <p:spPr>
          <a:xfrm>
            <a:off x="8135112"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63712" y="1600200"/>
            <a:ext cx="3166872" cy="1463040"/>
          </a:xfrm>
          <a:prstGeom prst="roundRect">
            <a:avLst>
              <a:gd name="adj" fmla="val 15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Адегенде түшүн, анан эсепте</a:t>
            </a:r>
          </a:p>
        </p:txBody>
      </p:sp>
      <p:sp>
        <p:nvSpPr>
          <p:cNvPr id="18" name="TextBox 17"/>
          <p:cNvSpPr txBox="1"/>
          <p:nvPr/>
        </p:nvSpPr>
        <p:spPr>
          <a:xfrm>
            <a:off x="8363712"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Сүрөт же тилке чийип, анан сан менен жазабыз.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Максаттар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5/26</a:t>
            </a:r>
          </a:p>
        </p:txBody>
      </p:sp>
      <p:sp>
        <p:nvSpPr>
          <p:cNvPr id="10" name="Rounded Rectangle 9"/>
          <p:cNvSpPr/>
          <p:nvPr/>
        </p:nvSpPr>
        <p:spPr>
          <a:xfrm>
            <a:off x="429768" y="1225296"/>
            <a:ext cx="6409944"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29768" y="1865376"/>
            <a:ext cx="6409944"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2648" y="1225296"/>
            <a:ext cx="6044184"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Бүгүн биз үйрөнөбүз</a:t>
            </a:r>
          </a:p>
        </p:txBody>
      </p:sp>
      <p:sp>
        <p:nvSpPr>
          <p:cNvPr id="13" name="Oval 12"/>
          <p:cNvSpPr/>
          <p:nvPr/>
        </p:nvSpPr>
        <p:spPr>
          <a:xfrm>
            <a:off x="722376" y="21488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4" name="TextBox 13"/>
          <p:cNvSpPr txBox="1"/>
          <p:nvPr/>
        </p:nvSpPr>
        <p:spPr>
          <a:xfrm>
            <a:off x="1261872" y="211226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Көптүктү жана анын элементтерин таанып, { } жана ∈ белгилери менен жазам.</a:t>
            </a:r>
          </a:p>
        </p:txBody>
      </p:sp>
      <p:sp>
        <p:nvSpPr>
          <p:cNvPr id="15" name="Oval 14"/>
          <p:cNvSpPr/>
          <p:nvPr/>
        </p:nvSpPr>
        <p:spPr>
          <a:xfrm>
            <a:off x="722376" y="342900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61872" y="339242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Элементтерди Венн диаграммасына жана Кэрролл таблицасына туура жайгаштырам (кесилиш, сырты).</a:t>
            </a:r>
          </a:p>
        </p:txBody>
      </p:sp>
      <p:sp>
        <p:nvSpPr>
          <p:cNvPr id="17" name="Oval 16"/>
          <p:cNvSpPr/>
          <p:nvPr/>
        </p:nvSpPr>
        <p:spPr>
          <a:xfrm>
            <a:off x="722376" y="470916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8" name="TextBox 17"/>
          <p:cNvSpPr txBox="1"/>
          <p:nvPr/>
        </p:nvSpPr>
        <p:spPr>
          <a:xfrm>
            <a:off x="1261872" y="467258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Эки көптүк менен саноо маселелерин Венн диаграммасы жана тилке менен чыгарам.</a:t>
            </a:r>
          </a:p>
        </p:txBody>
      </p:sp>
      <p:sp>
        <p:nvSpPr>
          <p:cNvPr id="19" name="Rounded Rectangle 18"/>
          <p:cNvSpPr/>
          <p:nvPr/>
        </p:nvSpPr>
        <p:spPr>
          <a:xfrm>
            <a:off x="7132320" y="1225296"/>
            <a:ext cx="4636008"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7132320" y="1865376"/>
            <a:ext cx="46360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06056" y="1225296"/>
            <a:ext cx="4270248"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Деңгээлдер</a:t>
            </a:r>
          </a:p>
        </p:txBody>
      </p:sp>
      <p:sp>
        <p:nvSpPr>
          <p:cNvPr id="22" name="Rounded Rectangle 21"/>
          <p:cNvSpPr/>
          <p:nvPr/>
        </p:nvSpPr>
        <p:spPr>
          <a:xfrm>
            <a:off x="7360920" y="2103120"/>
            <a:ext cx="1143000" cy="731520"/>
          </a:xfrm>
          <a:prstGeom prst="roundRect">
            <a:avLst>
              <a:gd name="adj" fmla="val 20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007A5A"/>
                </a:solidFill>
                <a:latin typeface="PT Sans"/>
              </a:rPr>
              <a:t>Жеңил</a:t>
            </a:r>
          </a:p>
        </p:txBody>
      </p:sp>
      <p:sp>
        <p:nvSpPr>
          <p:cNvPr id="23" name="TextBox 22"/>
          <p:cNvSpPr txBox="1"/>
          <p:nvPr/>
        </p:nvSpPr>
        <p:spPr>
          <a:xfrm>
            <a:off x="8641080" y="2057400"/>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Элемент, кесилиш, бирикме</a:t>
            </a:r>
          </a:p>
        </p:txBody>
      </p:sp>
      <p:sp>
        <p:nvSpPr>
          <p:cNvPr id="24" name="Rounded Rectangle 23"/>
          <p:cNvSpPr/>
          <p:nvPr/>
        </p:nvSpPr>
        <p:spPr>
          <a:xfrm>
            <a:off x="7360920" y="3127248"/>
            <a:ext cx="1143000" cy="731520"/>
          </a:xfrm>
          <a:prstGeom prst="roundRect">
            <a:avLst>
              <a:gd name="adj" fmla="val 20000"/>
            </a:avLst>
          </a:prstGeom>
          <a:solidFill>
            <a:srgbClr val="FFFFFF"/>
          </a:solid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Орто</a:t>
            </a:r>
          </a:p>
        </p:txBody>
      </p:sp>
      <p:sp>
        <p:nvSpPr>
          <p:cNvPr id="25" name="TextBox 24"/>
          <p:cNvSpPr txBox="1"/>
          <p:nvPr/>
        </p:nvSpPr>
        <p:spPr>
          <a:xfrm>
            <a:off x="8641080" y="3081528"/>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Бир гана, эч бири</a:t>
            </a:r>
          </a:p>
        </p:txBody>
      </p:sp>
      <p:sp>
        <p:nvSpPr>
          <p:cNvPr id="26" name="Rounded Rectangle 25"/>
          <p:cNvSpPr/>
          <p:nvPr/>
        </p:nvSpPr>
        <p:spPr>
          <a:xfrm>
            <a:off x="7360920" y="4151376"/>
            <a:ext cx="1143000" cy="731520"/>
          </a:xfrm>
          <a:prstGeom prst="roundRect">
            <a:avLst>
              <a:gd name="adj" fmla="val 20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4A5A70"/>
                </a:solidFill>
                <a:latin typeface="PT Sans"/>
              </a:rPr>
              <a:t>Оор</a:t>
            </a:r>
          </a:p>
        </p:txBody>
      </p:sp>
      <p:sp>
        <p:nvSpPr>
          <p:cNvPr id="27" name="TextBox 26"/>
          <p:cNvSpPr txBox="1"/>
          <p:nvPr/>
        </p:nvSpPr>
        <p:spPr>
          <a:xfrm>
            <a:off x="8641080" y="4105656"/>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6B7280"/>
                </a:solidFill>
                <a:latin typeface="PT Sans"/>
              </a:rPr>
              <a:t>Экөө тең, Кэрролл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3C: бүгүн кантип ойлонобуз?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6/26</a:t>
            </a:r>
          </a:p>
        </p:txBody>
      </p:sp>
      <p:sp>
        <p:nvSpPr>
          <p:cNvPr id="10" name="Rounded Rectangle 9"/>
          <p:cNvSpPr/>
          <p:nvPr/>
        </p:nvSpPr>
        <p:spPr>
          <a:xfrm>
            <a:off x="429768"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4088" y="1463040"/>
            <a:ext cx="3044952" cy="64008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Сынчыл ой</a:t>
            </a:r>
          </a:p>
        </p:txBody>
      </p:sp>
      <p:sp>
        <p:nvSpPr>
          <p:cNvPr id="12" name="TextBox 11"/>
          <p:cNvSpPr txBox="1"/>
          <p:nvPr/>
        </p:nvSpPr>
        <p:spPr>
          <a:xfrm>
            <a:off x="658368"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Текшеребиз, далилдейбиз, катаны издейбиз.</a:t>
            </a:r>
          </a:p>
        </p:txBody>
      </p:sp>
      <p:cxnSp>
        <p:nvCxnSpPr>
          <p:cNvPr id="13" name="Connector 12"/>
          <p:cNvCxnSpPr/>
          <p:nvPr/>
        </p:nvCxnSpPr>
        <p:spPr>
          <a:xfrm>
            <a:off x="704088"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15" name="TextBox 14"/>
          <p:cNvSpPr txBox="1"/>
          <p:nvPr/>
        </p:nvSpPr>
        <p:spPr>
          <a:xfrm>
            <a:off x="658368"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«Ким туура?»</a:t>
            </a:r>
          </a:p>
          <a:p>
            <a:pPr algn="l">
              <a:lnSpc>
                <a:spcPct val="105000"/>
              </a:lnSpc>
            </a:pPr>
            <a:r>
              <a:rPr sz="1800" b="0" i="0">
                <a:solidFill>
                  <a:srgbClr val="1F2430"/>
                </a:solidFill>
                <a:latin typeface="PT Sans"/>
              </a:rPr>
              <a:t>• 23 &gt; 20: мүмкүнбү?</a:t>
            </a:r>
          </a:p>
        </p:txBody>
      </p:sp>
      <p:sp>
        <p:nvSpPr>
          <p:cNvPr id="16" name="Rounded Rectangle 15"/>
          <p:cNvSpPr/>
          <p:nvPr/>
        </p:nvSpPr>
        <p:spPr>
          <a:xfrm>
            <a:off x="4297680"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0" y="1463040"/>
            <a:ext cx="3044952" cy="64008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Кызматташуу</a:t>
            </a:r>
          </a:p>
        </p:txBody>
      </p:sp>
      <p:sp>
        <p:nvSpPr>
          <p:cNvPr id="18" name="TextBox 17"/>
          <p:cNvSpPr txBox="1"/>
          <p:nvPr/>
        </p:nvSpPr>
        <p:spPr>
          <a:xfrm>
            <a:off x="4526280"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Жупта жана топто сүйлөшөбүз.</a:t>
            </a:r>
          </a:p>
        </p:txBody>
      </p:sp>
      <p:cxnSp>
        <p:nvCxnSpPr>
          <p:cNvPr id="19" name="Connector 18"/>
          <p:cNvCxnSpPr/>
          <p:nvPr/>
        </p:nvCxnSpPr>
        <p:spPr>
          <a:xfrm>
            <a:off x="4572000"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26280"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1" name="TextBox 20"/>
          <p:cNvSpPr txBox="1"/>
          <p:nvPr/>
        </p:nvSpPr>
        <p:spPr>
          <a:xfrm>
            <a:off x="4526280"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Жупта: жип тегеректер</a:t>
            </a:r>
          </a:p>
        </p:txBody>
      </p:sp>
      <p:sp>
        <p:nvSpPr>
          <p:cNvPr id="22" name="Rounded Rectangle 21"/>
          <p:cNvSpPr/>
          <p:nvPr/>
        </p:nvSpPr>
        <p:spPr>
          <a:xfrm>
            <a:off x="8165592"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39912" y="1463040"/>
            <a:ext cx="3044952" cy="64008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Байланыштыруу</a:t>
            </a:r>
          </a:p>
        </p:txBody>
      </p:sp>
      <p:sp>
        <p:nvSpPr>
          <p:cNvPr id="24" name="TextBox 23"/>
          <p:cNvSpPr txBox="1"/>
          <p:nvPr/>
        </p:nvSpPr>
        <p:spPr>
          <a:xfrm>
            <a:off x="8394192"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Математиканы турмуш менен байланыштырабыз.</a:t>
            </a:r>
          </a:p>
        </p:txBody>
      </p:sp>
      <p:cxnSp>
        <p:nvCxnSpPr>
          <p:cNvPr id="25" name="Connector 24"/>
          <p:cNvCxnSpPr/>
          <p:nvPr/>
        </p:nvCxnSpPr>
        <p:spPr>
          <a:xfrm>
            <a:off x="8439912"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94192"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7" name="TextBox 26"/>
          <p:cNvSpPr txBox="1"/>
          <p:nvPr/>
        </p:nvSpPr>
        <p:spPr>
          <a:xfrm>
            <a:off x="8394192"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Ат-Башыдагы ийримдер</a:t>
            </a:r>
          </a:p>
          <a:p>
            <a:pPr algn="l">
              <a:lnSpc>
                <a:spcPct val="105000"/>
              </a:lnSpc>
            </a:pPr>
            <a:r>
              <a:rPr sz="1800" b="0" i="0">
                <a:solidFill>
                  <a:srgbClr val="1F2430"/>
                </a:solidFill>
                <a:latin typeface="PT Sans"/>
              </a:rPr>
              <a:t>• Класстын тизмеси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Мурун – бүгүн – кийин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7/26</a:t>
            </a:r>
          </a:p>
        </p:txBody>
      </p:sp>
      <p:sp>
        <p:nvSpPr>
          <p:cNvPr id="10" name="Rounded Rectangle 9"/>
          <p:cNvSpPr/>
          <p:nvPr/>
        </p:nvSpPr>
        <p:spPr>
          <a:xfrm>
            <a:off x="429768" y="3017520"/>
            <a:ext cx="2660904" cy="2743200"/>
          </a:xfrm>
          <a:prstGeom prst="roundRect">
            <a:avLst>
              <a:gd name="adj" fmla="val 6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31089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007A5A"/>
                </a:solidFill>
                <a:latin typeface="PT Sans"/>
              </a:rPr>
              <a:t/>
            </a:r>
          </a:p>
        </p:txBody>
      </p:sp>
      <p:cxnSp>
        <p:nvCxnSpPr>
          <p:cNvPr id="12" name="Connector 11"/>
          <p:cNvCxnSpPr/>
          <p:nvPr/>
        </p:nvCxnSpPr>
        <p:spPr>
          <a:xfrm>
            <a:off x="704088" y="3657600"/>
            <a:ext cx="2112264" cy="0"/>
          </a:xfrm>
          <a:prstGeom prst="line">
            <a:avLst/>
          </a:prstGeom>
          <a:ln w="12700">
            <a:solidFill>
              <a:srgbClr val="007A5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7" y="3749039"/>
            <a:ext cx="2295144" cy="19202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Сорттоо</a:t>
            </a:r>
          </a:p>
          <a:p>
            <a:pPr algn="l">
              <a:lnSpc>
                <a:spcPct val="105000"/>
              </a:lnSpc>
              <a:spcBef>
                <a:spcPts val="400"/>
              </a:spcBef>
            </a:pPr>
            <a:r>
              <a:rPr sz="1500" b="0" i="0">
                <a:solidFill>
                  <a:srgbClr val="1F2430"/>
                </a:solidFill>
                <a:latin typeface="PT Sans"/>
              </a:rPr>
              <a:t>• Венн, Кэрролл</a:t>
            </a:r>
          </a:p>
        </p:txBody>
      </p:sp>
      <p:sp>
        <p:nvSpPr>
          <p:cNvPr id="14" name="Rounded Rectangle 13"/>
          <p:cNvSpPr/>
          <p:nvPr/>
        </p:nvSpPr>
        <p:spPr>
          <a:xfrm>
            <a:off x="3319272" y="2560320"/>
            <a:ext cx="2660904" cy="32004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26517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A84400"/>
                </a:solidFill>
                <a:latin typeface="PT Sans"/>
              </a:rPr>
              <a:t/>
            </a:r>
          </a:p>
        </p:txBody>
      </p:sp>
      <p:cxnSp>
        <p:nvCxnSpPr>
          <p:cNvPr id="16" name="Connector 15"/>
          <p:cNvCxnSpPr/>
          <p:nvPr/>
        </p:nvCxnSpPr>
        <p:spPr>
          <a:xfrm>
            <a:off x="3593591" y="3200400"/>
            <a:ext cx="2112265" cy="0"/>
          </a:xfrm>
          <a:prstGeom prst="line">
            <a:avLst/>
          </a:prstGeom>
          <a:ln w="12700">
            <a:solidFill>
              <a:srgbClr val="A844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02152" y="3291839"/>
            <a:ext cx="2295144" cy="23774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Көптүк, элемент</a:t>
            </a:r>
          </a:p>
          <a:p>
            <a:pPr algn="l">
              <a:lnSpc>
                <a:spcPct val="105000"/>
              </a:lnSpc>
              <a:spcBef>
                <a:spcPts val="400"/>
              </a:spcBef>
            </a:pPr>
            <a:r>
              <a:rPr sz="1500" b="0" i="0">
                <a:solidFill>
                  <a:srgbClr val="1F2430"/>
                </a:solidFill>
                <a:latin typeface="PT Sans"/>
              </a:rPr>
              <a:t>• ∩ жана ∪</a:t>
            </a:r>
          </a:p>
        </p:txBody>
      </p:sp>
      <p:sp>
        <p:nvSpPr>
          <p:cNvPr id="18" name="Rounded Rectangle 17"/>
          <p:cNvSpPr/>
          <p:nvPr/>
        </p:nvSpPr>
        <p:spPr>
          <a:xfrm>
            <a:off x="3918204" y="2057400"/>
            <a:ext cx="1463040" cy="384048"/>
          </a:xfrm>
          <a:prstGeom prst="roundRect">
            <a:avLst>
              <a:gd name="adj" fmla="val 50000"/>
            </a:avLst>
          </a:prstGeom>
          <a:no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Бүгүн</a:t>
            </a:r>
          </a:p>
        </p:txBody>
      </p:sp>
      <p:sp>
        <p:nvSpPr>
          <p:cNvPr id="19" name="Rounded Rectangle 18"/>
          <p:cNvSpPr/>
          <p:nvPr/>
        </p:nvSpPr>
        <p:spPr>
          <a:xfrm>
            <a:off x="6208776" y="2103120"/>
            <a:ext cx="2660904" cy="3657600"/>
          </a:xfrm>
          <a:prstGeom prst="roundRect">
            <a:avLst>
              <a:gd name="adj" fmla="val 6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5936" y="21945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4A5A70"/>
                </a:solidFill>
                <a:latin typeface="PT Sans"/>
              </a:rPr>
              <a:t/>
            </a:r>
          </a:p>
        </p:txBody>
      </p:sp>
      <p:cxnSp>
        <p:nvCxnSpPr>
          <p:cNvPr id="21" name="Connector 20"/>
          <p:cNvCxnSpPr/>
          <p:nvPr/>
        </p:nvCxnSpPr>
        <p:spPr>
          <a:xfrm>
            <a:off x="6483096" y="2743200"/>
            <a:ext cx="2112263" cy="0"/>
          </a:xfrm>
          <a:prstGeom prst="line">
            <a:avLst/>
          </a:prstGeom>
          <a:ln w="12700">
            <a:solidFill>
              <a:srgbClr val="4A5A7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1656" y="2834639"/>
            <a:ext cx="2295144" cy="2834640"/>
          </a:xfrm>
          <a:prstGeom prst="rect">
            <a:avLst/>
          </a:prstGeom>
          <a:noFill/>
        </p:spPr>
        <p:txBody>
          <a:bodyPr wrap="square" anchor="t" lIns="45720" rIns="45720" tIns="27432" bIns="27432">
            <a:spAutoFit/>
          </a:bodyPr>
          <a:lstStyle/>
          <a:p>
            <a:pPr algn="l">
              <a:lnSpc>
                <a:spcPct val="105000"/>
              </a:lnSpc>
            </a:pPr>
            <a:r>
              <a:rPr sz="1500" b="0" i="0">
                <a:solidFill>
                  <a:srgbClr val="6B7280"/>
                </a:solidFill>
                <a:latin typeface="PT Sans"/>
              </a:rPr>
              <a:t>• Маалымат</a:t>
            </a:r>
          </a:p>
          <a:p>
            <a:pPr algn="l">
              <a:lnSpc>
                <a:spcPct val="105000"/>
              </a:lnSpc>
              <a:spcBef>
                <a:spcPts val="400"/>
              </a:spcBef>
            </a:pPr>
            <a:r>
              <a:rPr sz="1500" b="0" i="0">
                <a:solidFill>
                  <a:srgbClr val="6B7280"/>
                </a:solidFill>
                <a:latin typeface="PT Sans"/>
              </a:rPr>
              <a:t>• Диаграммалар</a:t>
            </a:r>
          </a:p>
        </p:txBody>
      </p:sp>
      <p:sp>
        <p:nvSpPr>
          <p:cNvPr id="23" name="Rounded Rectangle 22"/>
          <p:cNvSpPr/>
          <p:nvPr/>
        </p:nvSpPr>
        <p:spPr>
          <a:xfrm>
            <a:off x="9098280" y="1645919"/>
            <a:ext cx="2660904" cy="4114800"/>
          </a:xfrm>
          <a:prstGeom prst="roundRect">
            <a:avLst>
              <a:gd name="adj" fmla="val 6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7373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4A5A70"/>
                </a:solidFill>
                <a:latin typeface="PT Sans"/>
              </a:rPr>
              <a:t/>
            </a:r>
          </a:p>
        </p:txBody>
      </p:sp>
      <p:cxnSp>
        <p:nvCxnSpPr>
          <p:cNvPr id="25" name="Connector 24"/>
          <p:cNvCxnSpPr/>
          <p:nvPr/>
        </p:nvCxnSpPr>
        <p:spPr>
          <a:xfrm>
            <a:off x="9372600" y="2286000"/>
            <a:ext cx="2112264" cy="0"/>
          </a:xfrm>
          <a:prstGeom prst="line">
            <a:avLst/>
          </a:prstGeom>
          <a:ln w="12700">
            <a:solidFill>
              <a:srgbClr val="4A5A7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281160" y="2377439"/>
            <a:ext cx="2295144" cy="3291840"/>
          </a:xfrm>
          <a:prstGeom prst="rect">
            <a:avLst/>
          </a:prstGeom>
          <a:noFill/>
        </p:spPr>
        <p:txBody>
          <a:bodyPr wrap="square" anchor="t" lIns="45720" rIns="45720" tIns="27432" bIns="27432">
            <a:spAutoFit/>
          </a:bodyPr>
          <a:lstStyle/>
          <a:p>
            <a:pPr algn="l">
              <a:lnSpc>
                <a:spcPct val="105000"/>
              </a:lnSpc>
            </a:pPr>
            <a:r>
              <a:rPr sz="1500" b="0" i="0">
                <a:solidFill>
                  <a:srgbClr val="6B7280"/>
                </a:solidFill>
                <a:latin typeface="PT Sans"/>
              </a:rPr>
              <a:t>• Логика</a:t>
            </a:r>
          </a:p>
          <a:p>
            <a:pPr algn="l">
              <a:lnSpc>
                <a:spcPct val="105000"/>
              </a:lnSpc>
              <a:spcBef>
                <a:spcPts val="400"/>
              </a:spcBef>
            </a:pPr>
            <a:r>
              <a:rPr sz="1500" b="0" i="0">
                <a:solidFill>
                  <a:srgbClr val="6B7280"/>
                </a:solidFill>
                <a:latin typeface="PT Sans"/>
              </a:rPr>
              <a:t>• Ыктымалдык</a:t>
            </a:r>
          </a:p>
        </p:txBody>
      </p:sp>
      <p:sp>
        <p:nvSpPr>
          <p:cNvPr id="27" name="TextBox 26"/>
          <p:cNvSpPr txBox="1"/>
          <p:nvPr/>
        </p:nvSpPr>
        <p:spPr>
          <a:xfrm>
            <a:off x="429768" y="5806440"/>
            <a:ext cx="11329416" cy="365760"/>
          </a:xfrm>
          <a:prstGeom prst="rect">
            <a:avLst/>
          </a:prstGeom>
          <a:noFill/>
        </p:spPr>
        <p:txBody>
          <a:bodyPr wrap="square" anchor="t" lIns="45720" rIns="45720" tIns="27432" bIns="27432">
            <a:spAutoFit/>
          </a:bodyPr>
          <a:lstStyle/>
          <a:p>
            <a:pPr algn="ctr">
              <a:lnSpc>
                <a:spcPct val="105000"/>
              </a:lnSpc>
            </a:pPr>
            <a:r>
              <a:rPr sz="1800" b="0" i="1">
                <a:solidFill>
                  <a:srgbClr val="6B7280"/>
                </a:solidFill>
                <a:latin typeface="PT Sans"/>
              </a:rPr>
              <a:t>Ар бир класс мурункусунун үстүнө курулат.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эстейли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8/26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Мини-тактага жаз. 2 мүнөт.</a:t>
            </a:r>
          </a:p>
        </p:txBody>
      </p:sp>
      <p:sp>
        <p:nvSpPr>
          <p:cNvPr id="11" name="Rounded Rectangle 10"/>
          <p:cNvSpPr/>
          <p:nvPr/>
        </p:nvSpPr>
        <p:spPr>
          <a:xfrm>
            <a:off x="429768"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18 жуппу?</a:t>
            </a:r>
          </a:p>
        </p:txBody>
      </p:sp>
      <p:sp>
        <p:nvSpPr>
          <p:cNvPr id="14" name="Rounded Rectangle 13"/>
          <p:cNvSpPr/>
          <p:nvPr/>
        </p:nvSpPr>
        <p:spPr>
          <a:xfrm>
            <a:off x="6208776"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21 3кө бөлүнөбү?</a:t>
            </a:r>
          </a:p>
        </p:txBody>
      </p:sp>
      <p:sp>
        <p:nvSpPr>
          <p:cNvPr id="17" name="Rounded Rectangle 16"/>
          <p:cNvSpPr/>
          <p:nvPr/>
        </p:nvSpPr>
        <p:spPr>
          <a:xfrm>
            <a:off x="429768"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26 − 9 − 6</a:t>
            </a:r>
          </a:p>
        </p:txBody>
      </p:sp>
      <p:sp>
        <p:nvSpPr>
          <p:cNvPr id="20" name="Rounded Rectangle 19"/>
          <p:cNvSpPr/>
          <p:nvPr/>
        </p:nvSpPr>
        <p:spPr>
          <a:xfrm>
            <a:off x="6208776"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15 + 12 − 6</a:t>
            </a:r>
          </a:p>
        </p:txBody>
      </p:sp>
      <p:sp>
        <p:nvSpPr>
          <p:cNvPr id="23" name="Rounded Rectangle 22"/>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24" name="Rounded Rectangle 23"/>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25" name="Rounded Rectangle 24"/>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9/26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18 жуппу?</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Ооба</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21 3кө бөлүнөбү?</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Ооба: 3 × 7</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26 − 9 − 6</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11</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15 + 12 − 6</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Ким туура?</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10/26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Чынара эже: «20 окуучунун 12си футбол, 11и тогуз коргоол ойнойт, 5и экөөнү тең. Жок дегенде бирөөнү канча окуучу ойнойт?»</a:t>
            </a:r>
          </a:p>
        </p:txBody>
      </p:sp>
      <p:sp>
        <p:nvSpPr>
          <p:cNvPr id="12" name="Rounded Rectangle 11"/>
          <p:cNvSpPr/>
          <p:nvPr/>
        </p:nvSpPr>
        <p:spPr>
          <a:xfrm>
            <a:off x="429768"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429768"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9768"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Бекжан</a:t>
            </a:r>
          </a:p>
        </p:txBody>
      </p:sp>
      <p:sp>
        <p:nvSpPr>
          <p:cNvPr id="15" name="TextBox 14"/>
          <p:cNvSpPr txBox="1"/>
          <p:nvPr/>
        </p:nvSpPr>
        <p:spPr>
          <a:xfrm>
            <a:off x="704088"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12 + 11 = 23</a:t>
            </a:r>
          </a:p>
          <a:p>
            <a:pPr algn="l">
              <a:lnSpc>
                <a:spcPct val="105000"/>
              </a:lnSpc>
            </a:pPr>
            <a:r>
              <a:rPr sz="2600" b="0" i="0">
                <a:solidFill>
                  <a:srgbClr val="1F2430"/>
                </a:solidFill>
                <a:latin typeface="PT Sans"/>
              </a:rPr>
              <a:t>23 окуучу</a:t>
            </a:r>
          </a:p>
        </p:txBody>
      </p:sp>
      <p:sp>
        <p:nvSpPr>
          <p:cNvPr id="16" name="Rounded Rectangle 15"/>
          <p:cNvSpPr/>
          <p:nvPr/>
        </p:nvSpPr>
        <p:spPr>
          <a:xfrm>
            <a:off x="6208776"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6208776"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08776"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Нурай</a:t>
            </a:r>
          </a:p>
        </p:txBody>
      </p:sp>
      <p:sp>
        <p:nvSpPr>
          <p:cNvPr id="19" name="TextBox 18"/>
          <p:cNvSpPr txBox="1"/>
          <p:nvPr/>
        </p:nvSpPr>
        <p:spPr>
          <a:xfrm>
            <a:off x="6483096"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12 + 11 − 5</a:t>
            </a:r>
          </a:p>
          <a:p>
            <a:pPr algn="l">
              <a:lnSpc>
                <a:spcPct val="105000"/>
              </a:lnSpc>
            </a:pPr>
            <a:r>
              <a:rPr sz="2600" b="0" i="0">
                <a:solidFill>
                  <a:srgbClr val="1F2430"/>
                </a:solidFill>
                <a:latin typeface="PT Sans"/>
              </a:rPr>
              <a:t>= 18</a:t>
            </a:r>
          </a:p>
          <a:p>
            <a:pPr algn="l">
              <a:lnSpc>
                <a:spcPct val="105000"/>
              </a:lnSpc>
            </a:pPr>
            <a:r>
              <a:rPr sz="2600" b="0" i="0">
                <a:solidFill>
                  <a:srgbClr val="1F2430"/>
                </a:solidFill>
                <a:latin typeface="PT Sans"/>
              </a:rPr>
              <a:t>18 окуучу</a:t>
            </a:r>
          </a:p>
        </p:txBody>
      </p:sp>
      <p:sp>
        <p:nvSpPr>
          <p:cNvPr id="20" name="TextBox 19"/>
          <p:cNvSpPr txBox="1"/>
          <p:nvPr/>
        </p:nvSpPr>
        <p:spPr>
          <a:xfrm>
            <a:off x="429768" y="5349240"/>
            <a:ext cx="11329416" cy="548640"/>
          </a:xfrm>
          <a:prstGeom prst="rect">
            <a:avLst/>
          </a:prstGeom>
          <a:noFill/>
        </p:spPr>
        <p:txBody>
          <a:bodyPr wrap="square" anchor="t" lIns="45720" rIns="45720" tIns="27432" bIns="27432">
            <a:spAutoFit/>
          </a:bodyPr>
          <a:lstStyle/>
          <a:p>
            <a:pPr algn="ctr">
              <a:lnSpc>
                <a:spcPct val="105000"/>
              </a:lnSpc>
            </a:pPr>
            <a:r>
              <a:rPr sz="2600" b="1" i="0">
                <a:solidFill>
                  <a:srgbClr val="A84400"/>
                </a:solidFill>
                <a:latin typeface="PT Sans"/>
              </a:rPr>
              <a:t>Ким туура? Венн диаграммасы менен текшер.</a:t>
            </a:r>
          </a:p>
        </p:txBody>
      </p:sp>
      <p:sp>
        <p:nvSpPr>
          <p:cNvPr id="21" name="Rounded Rectangle 20"/>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
        <p:nvSpPr>
          <p:cNvPr id="22" name="venn-deco"/>
          <p:cNvSpPr/>
          <p:nvPr/>
        </p:nvSpPr>
        <p:spPr>
          <a:xfrm>
            <a:off x="3355848" y="3199028"/>
            <a:ext cx="1435395" cy="1555851"/>
          </a:xfrm>
          <a:prstGeom prst="ellipse">
            <a:avLst/>
          </a:prstGeom>
          <a:solidFill>
            <a:srgbClr val="B5E2D3">
              <a:alpha val="55000"/>
            </a:srgbClr>
          </a:solidFill>
          <a:ln w="23431">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venn-deco"/>
          <p:cNvSpPr/>
          <p:nvPr/>
        </p:nvSpPr>
        <p:spPr>
          <a:xfrm>
            <a:off x="4389332" y="3199028"/>
            <a:ext cx="1435395" cy="1555851"/>
          </a:xfrm>
          <a:prstGeom prst="ellipse">
            <a:avLst/>
          </a:prstGeom>
          <a:solidFill>
            <a:srgbClr val="BFCBE9">
              <a:alpha val="55000"/>
            </a:srgbClr>
          </a:solidFill>
          <a:ln w="23431">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venn-deco"/>
          <p:cNvSpPr txBox="1"/>
          <p:nvPr/>
        </p:nvSpPr>
        <p:spPr>
          <a:xfrm>
            <a:off x="3355848" y="2905836"/>
            <a:ext cx="987552" cy="267716"/>
          </a:xfrm>
          <a:prstGeom prst="rect">
            <a:avLst/>
          </a:prstGeom>
          <a:noFill/>
        </p:spPr>
        <p:txBody>
          <a:bodyPr wrap="none" lIns="0" rIns="0" tIns="0" bIns="0" anchor="ctr">
            <a:spAutoFit/>
          </a:bodyPr>
          <a:lstStyle/>
          <a:p>
            <a:pPr algn="ctr">
              <a:lnSpc>
                <a:spcPct val="95000"/>
              </a:lnSpc>
            </a:pPr>
            <a:r>
              <a:rPr sz="1400" b="1" i="0">
                <a:solidFill>
                  <a:srgbClr val="007A5A"/>
                </a:solidFill>
                <a:latin typeface="PT Sans"/>
              </a:rPr>
              <a:t>Футбол 12</a:t>
            </a:r>
          </a:p>
        </p:txBody>
      </p:sp>
      <p:sp>
        <p:nvSpPr>
          <p:cNvPr id="25" name="venn-deco"/>
          <p:cNvSpPr txBox="1"/>
          <p:nvPr/>
        </p:nvSpPr>
        <p:spPr>
          <a:xfrm>
            <a:off x="4936743" y="2905836"/>
            <a:ext cx="887984" cy="267716"/>
          </a:xfrm>
          <a:prstGeom prst="rect">
            <a:avLst/>
          </a:prstGeom>
          <a:noFill/>
        </p:spPr>
        <p:txBody>
          <a:bodyPr wrap="none" lIns="0" rIns="0" tIns="0" bIns="0" anchor="ctr">
            <a:spAutoFit/>
          </a:bodyPr>
          <a:lstStyle/>
          <a:p>
            <a:pPr algn="ctr">
              <a:lnSpc>
                <a:spcPct val="95000"/>
              </a:lnSpc>
            </a:pPr>
            <a:r>
              <a:rPr sz="1400" b="1" i="0">
                <a:solidFill>
                  <a:srgbClr val="24418C"/>
                </a:solidFill>
                <a:latin typeface="PT Sans"/>
              </a:rPr>
              <a:t>Т. к. 11</a:t>
            </a:r>
          </a:p>
        </p:txBody>
      </p:sp>
      <p:sp>
        <p:nvSpPr>
          <p:cNvPr id="26" name="venn-deco"/>
          <p:cNvSpPr txBox="1"/>
          <p:nvPr/>
        </p:nvSpPr>
        <p:spPr>
          <a:xfrm>
            <a:off x="3675486" y="3793566"/>
            <a:ext cx="394208" cy="366776"/>
          </a:xfrm>
          <a:prstGeom prst="rect">
            <a:avLst/>
          </a:prstGeom>
          <a:noFill/>
        </p:spPr>
        <p:txBody>
          <a:bodyPr wrap="none" lIns="0" rIns="0" tIns="0" bIns="0" anchor="ctr">
            <a:spAutoFit/>
          </a:bodyPr>
          <a:lstStyle/>
          <a:p>
            <a:pPr algn="ctr">
              <a:lnSpc>
                <a:spcPct val="95000"/>
              </a:lnSpc>
            </a:pPr>
            <a:r>
              <a:rPr sz="2000" b="1" i="0">
                <a:solidFill>
                  <a:srgbClr val="1F2430"/>
                </a:solidFill>
                <a:latin typeface="PT Sans"/>
              </a:rPr>
              <a:t>12</a:t>
            </a:r>
          </a:p>
        </p:txBody>
      </p:sp>
      <p:sp>
        <p:nvSpPr>
          <p:cNvPr id="27" name="venn-deco"/>
          <p:cNvSpPr txBox="1"/>
          <p:nvPr/>
        </p:nvSpPr>
        <p:spPr>
          <a:xfrm>
            <a:off x="5110881" y="3793566"/>
            <a:ext cx="394208" cy="366776"/>
          </a:xfrm>
          <a:prstGeom prst="rect">
            <a:avLst/>
          </a:prstGeom>
          <a:noFill/>
        </p:spPr>
        <p:txBody>
          <a:bodyPr wrap="none" lIns="0" rIns="0" tIns="0" bIns="0" anchor="ctr">
            <a:spAutoFit/>
          </a:bodyPr>
          <a:lstStyle/>
          <a:p>
            <a:pPr algn="ctr">
              <a:lnSpc>
                <a:spcPct val="95000"/>
              </a:lnSpc>
            </a:pPr>
            <a:r>
              <a:rPr sz="2000" b="1" i="0">
                <a:solidFill>
                  <a:srgbClr val="1F2430"/>
                </a:solidFill>
                <a:latin typeface="PT Sans"/>
              </a:rPr>
              <a:t>11</a:t>
            </a:r>
          </a:p>
        </p:txBody>
      </p:sp>
      <p:sp>
        <p:nvSpPr>
          <p:cNvPr id="28" name="venn-deco"/>
          <p:cNvSpPr/>
          <p:nvPr/>
        </p:nvSpPr>
        <p:spPr>
          <a:xfrm>
            <a:off x="9134856" y="3199028"/>
            <a:ext cx="1435395" cy="1555851"/>
          </a:xfrm>
          <a:prstGeom prst="ellipse">
            <a:avLst/>
          </a:prstGeom>
          <a:solidFill>
            <a:srgbClr val="B5E2D3">
              <a:alpha val="55000"/>
            </a:srgbClr>
          </a:solidFill>
          <a:ln w="23431">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venn-deco"/>
          <p:cNvSpPr/>
          <p:nvPr/>
        </p:nvSpPr>
        <p:spPr>
          <a:xfrm>
            <a:off x="10168340" y="3199028"/>
            <a:ext cx="1435395" cy="1555851"/>
          </a:xfrm>
          <a:prstGeom prst="ellipse">
            <a:avLst/>
          </a:prstGeom>
          <a:solidFill>
            <a:srgbClr val="BFCBE9">
              <a:alpha val="55000"/>
            </a:srgbClr>
          </a:solidFill>
          <a:ln w="23431">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venn-deco"/>
          <p:cNvSpPr/>
          <p:nvPr/>
        </p:nvSpPr>
        <p:spPr>
          <a:xfrm>
            <a:off x="10204512" y="3587991"/>
            <a:ext cx="329566" cy="777925"/>
          </a:xfrm>
          <a:prstGeom prst="ellipse">
            <a:avLst/>
          </a:prstGeom>
          <a:noFill/>
          <a:ln w="28117">
            <a:solidFill>
              <a:srgbClr val="A844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venn-deco"/>
          <p:cNvSpPr txBox="1"/>
          <p:nvPr/>
        </p:nvSpPr>
        <p:spPr>
          <a:xfrm>
            <a:off x="9134856" y="2905836"/>
            <a:ext cx="987552" cy="267716"/>
          </a:xfrm>
          <a:prstGeom prst="rect">
            <a:avLst/>
          </a:prstGeom>
          <a:noFill/>
        </p:spPr>
        <p:txBody>
          <a:bodyPr wrap="none" lIns="0" rIns="0" tIns="0" bIns="0" anchor="ctr">
            <a:spAutoFit/>
          </a:bodyPr>
          <a:lstStyle/>
          <a:p>
            <a:pPr algn="ctr">
              <a:lnSpc>
                <a:spcPct val="95000"/>
              </a:lnSpc>
            </a:pPr>
            <a:r>
              <a:rPr sz="1400" b="1" i="0">
                <a:solidFill>
                  <a:srgbClr val="007A5A"/>
                </a:solidFill>
                <a:latin typeface="PT Sans"/>
              </a:rPr>
              <a:t>Футбол 12</a:t>
            </a:r>
          </a:p>
        </p:txBody>
      </p:sp>
      <p:sp>
        <p:nvSpPr>
          <p:cNvPr id="32" name="venn-deco"/>
          <p:cNvSpPr txBox="1"/>
          <p:nvPr/>
        </p:nvSpPr>
        <p:spPr>
          <a:xfrm>
            <a:off x="10715752" y="2905836"/>
            <a:ext cx="887984" cy="267716"/>
          </a:xfrm>
          <a:prstGeom prst="rect">
            <a:avLst/>
          </a:prstGeom>
          <a:noFill/>
        </p:spPr>
        <p:txBody>
          <a:bodyPr wrap="none" lIns="0" rIns="0" tIns="0" bIns="0" anchor="ctr">
            <a:spAutoFit/>
          </a:bodyPr>
          <a:lstStyle/>
          <a:p>
            <a:pPr algn="ctr">
              <a:lnSpc>
                <a:spcPct val="95000"/>
              </a:lnSpc>
            </a:pPr>
            <a:r>
              <a:rPr sz="1400" b="1" i="0">
                <a:solidFill>
                  <a:srgbClr val="24418C"/>
                </a:solidFill>
                <a:latin typeface="PT Sans"/>
              </a:rPr>
              <a:t>Т. к. 11</a:t>
            </a:r>
          </a:p>
        </p:txBody>
      </p:sp>
      <p:sp>
        <p:nvSpPr>
          <p:cNvPr id="33" name="venn-deco"/>
          <p:cNvSpPr txBox="1"/>
          <p:nvPr/>
        </p:nvSpPr>
        <p:spPr>
          <a:xfrm>
            <a:off x="9525614" y="3793566"/>
            <a:ext cx="251968" cy="366776"/>
          </a:xfrm>
          <a:prstGeom prst="rect">
            <a:avLst/>
          </a:prstGeom>
          <a:noFill/>
        </p:spPr>
        <p:txBody>
          <a:bodyPr wrap="none" lIns="0" rIns="0" tIns="0" bIns="0" anchor="ctr">
            <a:spAutoFit/>
          </a:bodyPr>
          <a:lstStyle/>
          <a:p>
            <a:pPr algn="ctr">
              <a:lnSpc>
                <a:spcPct val="95000"/>
              </a:lnSpc>
            </a:pPr>
            <a:r>
              <a:rPr sz="2000" b="1" i="0">
                <a:solidFill>
                  <a:srgbClr val="1F2430"/>
                </a:solidFill>
                <a:latin typeface="PT Sans"/>
              </a:rPr>
              <a:t>7</a:t>
            </a:r>
          </a:p>
        </p:txBody>
      </p:sp>
      <p:sp>
        <p:nvSpPr>
          <p:cNvPr id="34" name="venn-deco"/>
          <p:cNvSpPr txBox="1"/>
          <p:nvPr/>
        </p:nvSpPr>
        <p:spPr>
          <a:xfrm>
            <a:off x="10243312" y="3793566"/>
            <a:ext cx="251968" cy="366776"/>
          </a:xfrm>
          <a:prstGeom prst="rect">
            <a:avLst/>
          </a:prstGeom>
          <a:noFill/>
        </p:spPr>
        <p:txBody>
          <a:bodyPr wrap="none" lIns="0" rIns="0" tIns="0" bIns="0" anchor="ctr">
            <a:spAutoFit/>
          </a:bodyPr>
          <a:lstStyle/>
          <a:p>
            <a:pPr algn="ctr">
              <a:lnSpc>
                <a:spcPct val="95000"/>
              </a:lnSpc>
            </a:pPr>
            <a:r>
              <a:rPr sz="2000" b="1" i="0">
                <a:solidFill>
                  <a:srgbClr val="1F2430"/>
                </a:solidFill>
                <a:latin typeface="PT Sans"/>
              </a:rPr>
              <a:t>5</a:t>
            </a:r>
          </a:p>
        </p:txBody>
      </p:sp>
      <p:sp>
        <p:nvSpPr>
          <p:cNvPr id="35" name="venn-deco"/>
          <p:cNvSpPr txBox="1"/>
          <p:nvPr/>
        </p:nvSpPr>
        <p:spPr>
          <a:xfrm>
            <a:off x="10961009" y="3793566"/>
            <a:ext cx="251968" cy="366776"/>
          </a:xfrm>
          <a:prstGeom prst="rect">
            <a:avLst/>
          </a:prstGeom>
          <a:noFill/>
        </p:spPr>
        <p:txBody>
          <a:bodyPr wrap="none" lIns="0" rIns="0" tIns="0" bIns="0" anchor="ctr">
            <a:spAutoFit/>
          </a:bodyPr>
          <a:lstStyle/>
          <a:p>
            <a:pPr algn="ctr">
              <a:lnSpc>
                <a:spcPct val="95000"/>
              </a:lnSpc>
            </a:pPr>
            <a:r>
              <a:rPr sz="2000" b="1" i="0">
                <a:solidFill>
                  <a:srgbClr val="1F2430"/>
                </a:solidFill>
                <a:latin typeface="PT Sans"/>
              </a:rPr>
              <a:t>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 буюм менен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11/26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Жупта: партага эки жип тегерек кой. Капкак = окуучу. Ар бир капкакты туура жерге кой.</a:t>
            </a:r>
          </a:p>
        </p:txBody>
      </p:sp>
      <p:sp>
        <p:nvSpPr>
          <p:cNvPr id="12" name="Rounded Rectangle 11"/>
          <p:cNvSpPr/>
          <p:nvPr/>
        </p:nvSpPr>
        <p:spPr>
          <a:xfrm>
            <a:off x="502920" y="2103120"/>
            <a:ext cx="8138160" cy="3429000"/>
          </a:xfrm>
          <a:prstGeom prst="roundRect">
            <a:avLst>
              <a:gd name="adj" fmla="val 2133"/>
            </a:avLst>
          </a:prstGeom>
          <a:solidFill>
            <a:srgbClr val="FBF6EE"/>
          </a:solidFill>
          <a:ln w="15875">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0080" y="5148072"/>
            <a:ext cx="2743200" cy="365760"/>
          </a:xfrm>
          <a:prstGeom prst="rect">
            <a:avLst/>
          </a:prstGeom>
          <a:noFill/>
        </p:spPr>
        <p:txBody>
          <a:bodyPr wrap="square" anchor="t" lIns="45720" rIns="45720" tIns="27432" bIns="27432">
            <a:spAutoFit/>
          </a:bodyPr>
          <a:lstStyle/>
          <a:p>
            <a:pPr algn="l">
              <a:lnSpc>
                <a:spcPct val="105000"/>
              </a:lnSpc>
            </a:pPr>
            <a:r>
              <a:rPr sz="1400" b="0" i="1">
                <a:solidFill>
                  <a:srgbClr val="4A5A70"/>
                </a:solidFill>
                <a:latin typeface="PT Sans"/>
              </a:rPr>
              <a:t>Парта (класс: 26)</a:t>
            </a:r>
          </a:p>
        </p:txBody>
      </p:sp>
      <p:sp>
        <p:nvSpPr>
          <p:cNvPr id="14" name="Oval 13"/>
          <p:cNvSpPr/>
          <p:nvPr/>
        </p:nvSpPr>
        <p:spPr>
          <a:xfrm>
            <a:off x="1005840" y="2670048"/>
            <a:ext cx="3566160" cy="2606040"/>
          </a:xfrm>
          <a:prstGeom prst="ellipse">
            <a:avLst/>
          </a:prstGeom>
          <a:noFill/>
          <a:ln w="57150">
            <a:solidFill>
              <a:srgbClr val="B07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611880" y="2670048"/>
            <a:ext cx="3566160" cy="2606040"/>
          </a:xfrm>
          <a:prstGeom prst="ellipse">
            <a:avLst/>
          </a:prstGeom>
          <a:noFill/>
          <a:ln w="57150">
            <a:solidFill>
              <a:srgbClr val="B07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1463040" y="2286000"/>
            <a:ext cx="1417320" cy="329184"/>
          </a:xfrm>
          <a:prstGeom prst="roundRect">
            <a:avLst>
              <a:gd name="adj" fmla="val 22222"/>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818132" y="2316734"/>
            <a:ext cx="707136" cy="267716"/>
          </a:xfrm>
          <a:prstGeom prst="rect">
            <a:avLst/>
          </a:prstGeom>
          <a:noFill/>
        </p:spPr>
        <p:txBody>
          <a:bodyPr wrap="none" lIns="0" rIns="0" tIns="0" bIns="0" anchor="ctr">
            <a:spAutoFit/>
          </a:bodyPr>
          <a:lstStyle/>
          <a:p>
            <a:pPr algn="ctr">
              <a:lnSpc>
                <a:spcPct val="95000"/>
              </a:lnSpc>
            </a:pPr>
            <a:r>
              <a:rPr sz="1400" b="1" i="0">
                <a:solidFill>
                  <a:srgbClr val="007A5A"/>
                </a:solidFill>
                <a:latin typeface="PT Sans"/>
              </a:rPr>
              <a:t>Футбол</a:t>
            </a:r>
          </a:p>
        </p:txBody>
      </p:sp>
      <p:sp>
        <p:nvSpPr>
          <p:cNvPr id="18" name="Rounded Rectangle 17"/>
          <p:cNvSpPr/>
          <p:nvPr/>
        </p:nvSpPr>
        <p:spPr>
          <a:xfrm>
            <a:off x="5074920" y="2286000"/>
            <a:ext cx="1874519" cy="329184"/>
          </a:xfrm>
          <a:prstGeom prst="roundRect">
            <a:avLst>
              <a:gd name="adj" fmla="val 22222"/>
            </a:avLst>
          </a:prstGeom>
          <a:solidFill>
            <a:srgbClr val="FFFFFF"/>
          </a:solid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310124" y="2316734"/>
            <a:ext cx="1404112" cy="267716"/>
          </a:xfrm>
          <a:prstGeom prst="rect">
            <a:avLst/>
          </a:prstGeom>
          <a:noFill/>
        </p:spPr>
        <p:txBody>
          <a:bodyPr wrap="none" lIns="0" rIns="0" tIns="0" bIns="0" anchor="ctr">
            <a:spAutoFit/>
          </a:bodyPr>
          <a:lstStyle/>
          <a:p>
            <a:pPr algn="ctr">
              <a:lnSpc>
                <a:spcPct val="95000"/>
              </a:lnSpc>
            </a:pPr>
            <a:r>
              <a:rPr sz="1400" b="1" i="0">
                <a:solidFill>
                  <a:srgbClr val="24418C"/>
                </a:solidFill>
                <a:latin typeface="PT Sans"/>
              </a:rPr>
              <a:t>Тогуз коргоол</a:t>
            </a:r>
          </a:p>
        </p:txBody>
      </p:sp>
      <p:sp>
        <p:nvSpPr>
          <p:cNvPr id="20" name="Oval 19"/>
          <p:cNvSpPr/>
          <p:nvPr/>
        </p:nvSpPr>
        <p:spPr>
          <a:xfrm>
            <a:off x="1860804" y="3479291"/>
            <a:ext cx="274320" cy="274320"/>
          </a:xfrm>
          <a:prstGeom prst="ellipse">
            <a:avLst/>
          </a:prstGeom>
          <a:solidFill>
            <a:srgbClr val="B5E2D3"/>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2189988" y="3479291"/>
            <a:ext cx="274320" cy="274320"/>
          </a:xfrm>
          <a:prstGeom prst="ellipse">
            <a:avLst/>
          </a:prstGeom>
          <a:solidFill>
            <a:srgbClr val="B5E2D3"/>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2519172" y="3479291"/>
            <a:ext cx="274320" cy="274320"/>
          </a:xfrm>
          <a:prstGeom prst="ellipse">
            <a:avLst/>
          </a:prstGeom>
          <a:solidFill>
            <a:srgbClr val="B5E2D3"/>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860804" y="3808476"/>
            <a:ext cx="274320" cy="274320"/>
          </a:xfrm>
          <a:prstGeom prst="ellipse">
            <a:avLst/>
          </a:prstGeom>
          <a:solidFill>
            <a:srgbClr val="B5E2D3"/>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2189988" y="3808476"/>
            <a:ext cx="274320" cy="274320"/>
          </a:xfrm>
          <a:prstGeom prst="ellipse">
            <a:avLst/>
          </a:prstGeom>
          <a:solidFill>
            <a:srgbClr val="B5E2D3"/>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2519172" y="3808476"/>
            <a:ext cx="274320" cy="274320"/>
          </a:xfrm>
          <a:prstGeom prst="ellipse">
            <a:avLst/>
          </a:prstGeom>
          <a:solidFill>
            <a:srgbClr val="B5E2D3"/>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860804" y="4137659"/>
            <a:ext cx="274320" cy="274320"/>
          </a:xfrm>
          <a:prstGeom prst="ellipse">
            <a:avLst/>
          </a:prstGeom>
          <a:solidFill>
            <a:srgbClr val="B5E2D3"/>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2189988" y="4137659"/>
            <a:ext cx="274320" cy="274320"/>
          </a:xfrm>
          <a:prstGeom prst="ellipse">
            <a:avLst/>
          </a:prstGeom>
          <a:solidFill>
            <a:srgbClr val="B5E2D3"/>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2519172" y="4137659"/>
            <a:ext cx="274320" cy="274320"/>
          </a:xfrm>
          <a:prstGeom prst="ellipse">
            <a:avLst/>
          </a:prstGeom>
          <a:solidFill>
            <a:srgbClr val="B5E2D3"/>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3762755" y="3479291"/>
            <a:ext cx="274320" cy="274320"/>
          </a:xfrm>
          <a:prstGeom prst="ellipse">
            <a:avLst/>
          </a:prstGeom>
          <a:solidFill>
            <a:srgbClr val="F2C9AC"/>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4091939" y="3479291"/>
            <a:ext cx="274320" cy="274320"/>
          </a:xfrm>
          <a:prstGeom prst="ellipse">
            <a:avLst/>
          </a:prstGeom>
          <a:solidFill>
            <a:srgbClr val="F2C9AC"/>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762755" y="3808476"/>
            <a:ext cx="274320" cy="274320"/>
          </a:xfrm>
          <a:prstGeom prst="ellipse">
            <a:avLst/>
          </a:prstGeom>
          <a:solidFill>
            <a:srgbClr val="F2C9AC"/>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4091939" y="3808476"/>
            <a:ext cx="274320" cy="274320"/>
          </a:xfrm>
          <a:prstGeom prst="ellipse">
            <a:avLst/>
          </a:prstGeom>
          <a:solidFill>
            <a:srgbClr val="F2C9AC"/>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3762755" y="4137659"/>
            <a:ext cx="274320" cy="274320"/>
          </a:xfrm>
          <a:prstGeom prst="ellipse">
            <a:avLst/>
          </a:prstGeom>
          <a:solidFill>
            <a:srgbClr val="F2C9AC"/>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4091939" y="4137659"/>
            <a:ext cx="274320" cy="274320"/>
          </a:xfrm>
          <a:prstGeom prst="ellipse">
            <a:avLst/>
          </a:prstGeom>
          <a:solidFill>
            <a:srgbClr val="F2C9AC"/>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5500116" y="3479291"/>
            <a:ext cx="274320" cy="274320"/>
          </a:xfrm>
          <a:prstGeom prst="ellipse">
            <a:avLst/>
          </a:prstGeom>
          <a:solidFill>
            <a:srgbClr val="BFCBE9"/>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5829300" y="3479291"/>
            <a:ext cx="274320" cy="274320"/>
          </a:xfrm>
          <a:prstGeom prst="ellipse">
            <a:avLst/>
          </a:prstGeom>
          <a:solidFill>
            <a:srgbClr val="BFCBE9"/>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5500116" y="3808476"/>
            <a:ext cx="274320" cy="274320"/>
          </a:xfrm>
          <a:prstGeom prst="ellipse">
            <a:avLst/>
          </a:prstGeom>
          <a:solidFill>
            <a:srgbClr val="BFCBE9"/>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5829300" y="3808476"/>
            <a:ext cx="274320" cy="274320"/>
          </a:xfrm>
          <a:prstGeom prst="ellipse">
            <a:avLst/>
          </a:prstGeom>
          <a:solidFill>
            <a:srgbClr val="BFCBE9"/>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5500116" y="4137659"/>
            <a:ext cx="274320" cy="274320"/>
          </a:xfrm>
          <a:prstGeom prst="ellipse">
            <a:avLst/>
          </a:prstGeom>
          <a:solidFill>
            <a:srgbClr val="BFCBE9"/>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5829300" y="4137659"/>
            <a:ext cx="274320" cy="274320"/>
          </a:xfrm>
          <a:prstGeom prst="ellipse">
            <a:avLst/>
          </a:prstGeom>
          <a:solidFill>
            <a:srgbClr val="BFCBE9"/>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7973568" y="3241547"/>
            <a:ext cx="274320" cy="274320"/>
          </a:xfrm>
          <a:prstGeom prst="ellipse">
            <a:avLst/>
          </a:prstGeom>
          <a:solidFill>
            <a:srgbClr val="FFFFFF"/>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7973568" y="3570731"/>
            <a:ext cx="274320" cy="274320"/>
          </a:xfrm>
          <a:prstGeom prst="ellipse">
            <a:avLst/>
          </a:prstGeom>
          <a:solidFill>
            <a:srgbClr val="FFFFFF"/>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973568" y="3899915"/>
            <a:ext cx="274320" cy="274320"/>
          </a:xfrm>
          <a:prstGeom prst="ellipse">
            <a:avLst/>
          </a:prstGeom>
          <a:solidFill>
            <a:srgbClr val="FFFFFF"/>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7973568" y="4229100"/>
            <a:ext cx="274320" cy="274320"/>
          </a:xfrm>
          <a:prstGeom prst="ellipse">
            <a:avLst/>
          </a:prstGeom>
          <a:solidFill>
            <a:srgbClr val="FFFFFF"/>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7973568" y="4558283"/>
            <a:ext cx="274320" cy="274320"/>
          </a:xfrm>
          <a:prstGeom prst="ellipse">
            <a:avLst/>
          </a:prstGeom>
          <a:solidFill>
            <a:srgbClr val="FFFFFF"/>
          </a:solidFill>
          <a:ln w="952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741920" y="2552700"/>
            <a:ext cx="792480" cy="234696"/>
          </a:xfrm>
          <a:prstGeom prst="rect">
            <a:avLst/>
          </a:prstGeom>
          <a:noFill/>
        </p:spPr>
        <p:txBody>
          <a:bodyPr wrap="none" lIns="0" rIns="0" tIns="0" bIns="0" anchor="ctr">
            <a:spAutoFit/>
          </a:bodyPr>
          <a:lstStyle/>
          <a:p>
            <a:pPr algn="ctr">
              <a:lnSpc>
                <a:spcPct val="95000"/>
              </a:lnSpc>
            </a:pPr>
            <a:r>
              <a:rPr sz="1200" b="1" i="1">
                <a:solidFill>
                  <a:srgbClr val="A84400"/>
                </a:solidFill>
                <a:latin typeface="PT Sans"/>
              </a:rPr>
              <a:t>сыртында</a:t>
            </a:r>
          </a:p>
        </p:txBody>
      </p:sp>
      <p:sp>
        <p:nvSpPr>
          <p:cNvPr id="47" name="TextBox 46"/>
          <p:cNvSpPr txBox="1"/>
          <p:nvPr/>
        </p:nvSpPr>
        <p:spPr>
          <a:xfrm>
            <a:off x="502920" y="5559552"/>
            <a:ext cx="8138160" cy="365760"/>
          </a:xfrm>
          <a:prstGeom prst="rect">
            <a:avLst/>
          </a:prstGeom>
          <a:noFill/>
        </p:spPr>
        <p:txBody>
          <a:bodyPr wrap="square" anchor="t" lIns="45720" rIns="45720" tIns="27432" bIns="27432">
            <a:spAutoFit/>
          </a:bodyPr>
          <a:lstStyle/>
          <a:p>
            <a:pPr algn="l">
              <a:lnSpc>
                <a:spcPct val="105000"/>
              </a:lnSpc>
            </a:pPr>
            <a:r>
              <a:rPr sz="1600" b="0" i="1">
                <a:solidFill>
                  <a:srgbClr val="4A5A70"/>
                </a:solidFill>
                <a:latin typeface="PT Sans"/>
              </a:rPr>
              <a:t>Капкак = 1 окуучу. Ар бир капкак бир гана жерде турат.</a:t>
            </a:r>
          </a:p>
        </p:txBody>
      </p:sp>
      <p:sp>
        <p:nvSpPr>
          <p:cNvPr id="48" name="Rounded Rectangle 47"/>
          <p:cNvSpPr/>
          <p:nvPr/>
        </p:nvSpPr>
        <p:spPr>
          <a:xfrm>
            <a:off x="8823960" y="2103120"/>
            <a:ext cx="2926080" cy="3794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961120" y="2167128"/>
            <a:ext cx="2697480" cy="3657600"/>
          </a:xfrm>
          <a:prstGeom prst="rect">
            <a:avLst/>
          </a:prstGeom>
          <a:noFill/>
        </p:spPr>
        <p:txBody>
          <a:bodyPr wrap="square" anchor="t" lIns="45720" rIns="45720" tIns="27432" bIns="27432">
            <a:spAutoFit/>
          </a:bodyPr>
          <a:lstStyle/>
          <a:p>
            <a:pPr algn="l">
              <a:lnSpc>
                <a:spcPct val="110000"/>
              </a:lnSpc>
            </a:pPr>
            <a:r>
              <a:rPr sz="1800" b="1" i="0">
                <a:solidFill>
                  <a:srgbClr val="1F2430"/>
                </a:solidFill>
                <a:latin typeface="PT Sans"/>
              </a:rPr>
              <a:t>Ар бир жупта:</a:t>
            </a:r>
          </a:p>
          <a:p>
            <a:pPr algn="l">
              <a:lnSpc>
                <a:spcPct val="110000"/>
              </a:lnSpc>
            </a:pPr>
            <a:r>
              <a:rPr sz="1500" b="0" i="0">
                <a:solidFill>
                  <a:srgbClr val="1F2430"/>
                </a:solidFill>
                <a:latin typeface="PT Sans"/>
              </a:rPr>
              <a:t>• 2 жип (1 м), учу байланган</a:t>
            </a:r>
          </a:p>
          <a:p>
            <a:pPr algn="l">
              <a:lnSpc>
                <a:spcPct val="110000"/>
              </a:lnSpc>
            </a:pPr>
            <a:r>
              <a:rPr sz="1500" b="0" i="0">
                <a:solidFill>
                  <a:srgbClr val="1F2430"/>
                </a:solidFill>
                <a:latin typeface="PT Sans"/>
              </a:rPr>
              <a:t>• 26 капкак же буурчак</a:t>
            </a:r>
          </a:p>
          <a:p>
            <a:pPr algn="l">
              <a:lnSpc>
                <a:spcPct val="110000"/>
              </a:lnSpc>
            </a:pPr>
            <a:r>
              <a:rPr sz="1500" b="0" i="0">
                <a:solidFill>
                  <a:srgbClr val="1F2430"/>
                </a:solidFill>
                <a:latin typeface="PT Sans"/>
              </a:rPr>
              <a:t>• 2 кагаз жазуу</a:t>
            </a:r>
          </a:p>
          <a:p>
            <a:pPr algn="l">
              <a:lnSpc>
                <a:spcPct val="110000"/>
              </a:lnSpc>
            </a:pPr>
            <a:r>
              <a:rPr sz="1500" b="0" i="0">
                <a:solidFill>
                  <a:srgbClr val="1F2430"/>
                </a:solidFill>
                <a:latin typeface="PT Sans"/>
              </a:rPr>
              <a:t>• чакмак дептер</a:t>
            </a:r>
          </a:p>
          <a:p>
            <a:pPr algn="l">
              <a:lnSpc>
                <a:spcPct val="110000"/>
              </a:lnSpc>
            </a:pPr>
            <a:r>
              <a:rPr sz="1600" b="1" i="0">
                <a:solidFill>
                  <a:srgbClr val="24418C"/>
                </a:solidFill>
                <a:latin typeface="PT Sans"/>
              </a:rPr>
              <a:t>Адегенде ортого: экөө тең 6!</a:t>
            </a:r>
          </a:p>
        </p:txBody>
      </p:sp>
      <p:sp>
        <p:nvSpPr>
          <p:cNvPr id="50" name="Rounded Rectangle 49"/>
          <p:cNvSpPr/>
          <p:nvPr/>
        </p:nvSpPr>
        <p:spPr>
          <a:xfrm>
            <a:off x="8412480"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К</a:t>
            </a:r>
          </a:p>
        </p:txBody>
      </p:sp>
      <p:sp>
        <p:nvSpPr>
          <p:cNvPr id="51" name="Rounded Rectangle 50"/>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52" name="Rounded Rectangle 51"/>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 Венн диаграммасы жана тилке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Ар бир окуучу бир гана жерде: футбол гана, экөө тең, тогуз коргоол гана же сыртында.</a:t>
            </a:r>
          </a:p>
        </p:txBody>
      </p:sp>
      <p:sp>
        <p:nvSpPr>
          <p:cNvPr id="12" name="Rounded Rectangle 11"/>
          <p:cNvSpPr/>
          <p:nvPr/>
        </p:nvSpPr>
        <p:spPr>
          <a:xfrm>
            <a:off x="502920" y="2057400"/>
            <a:ext cx="5212080" cy="3429000"/>
          </a:xfrm>
          <a:prstGeom prst="roundRect">
            <a:avLst>
              <a:gd name="adj" fmla="val 2133"/>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85342" y="2532888"/>
            <a:ext cx="2207850" cy="2782062"/>
          </a:xfrm>
          <a:prstGeom prst="ellipse">
            <a:avLst/>
          </a:prstGeom>
          <a:solidFill>
            <a:srgbClr val="B5E2D3">
              <a:alpha val="55000"/>
            </a:srgbClr>
          </a:solidFill>
          <a:ln w="317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274995" y="2532888"/>
            <a:ext cx="2207850" cy="2782062"/>
          </a:xfrm>
          <a:prstGeom prst="ellipse">
            <a:avLst/>
          </a:prstGeom>
          <a:solidFill>
            <a:srgbClr val="BFCBE9">
              <a:alpha val="55000"/>
            </a:srgbClr>
          </a:solidFill>
          <a:ln w="317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85342" y="2153920"/>
            <a:ext cx="1115568" cy="300736"/>
          </a:xfrm>
          <a:prstGeom prst="rect">
            <a:avLst/>
          </a:prstGeom>
          <a:noFill/>
        </p:spPr>
        <p:txBody>
          <a:bodyPr wrap="none" lIns="0" rIns="0" tIns="0" bIns="0" anchor="ctr">
            <a:spAutoFit/>
          </a:bodyPr>
          <a:lstStyle/>
          <a:p>
            <a:pPr algn="ctr">
              <a:lnSpc>
                <a:spcPct val="95000"/>
              </a:lnSpc>
            </a:pPr>
            <a:r>
              <a:rPr sz="1600" b="1" i="0">
                <a:solidFill>
                  <a:srgbClr val="007A5A"/>
                </a:solidFill>
                <a:latin typeface="PT Sans"/>
              </a:rPr>
              <a:t>Футбол 15</a:t>
            </a:r>
          </a:p>
        </p:txBody>
      </p:sp>
      <p:sp>
        <p:nvSpPr>
          <p:cNvPr id="16" name="TextBox 15"/>
          <p:cNvSpPr txBox="1"/>
          <p:nvPr/>
        </p:nvSpPr>
        <p:spPr>
          <a:xfrm>
            <a:off x="2684525" y="2162175"/>
            <a:ext cx="1798320" cy="284225"/>
          </a:xfrm>
          <a:prstGeom prst="rect">
            <a:avLst/>
          </a:prstGeom>
          <a:noFill/>
        </p:spPr>
        <p:txBody>
          <a:bodyPr wrap="none" lIns="0" rIns="0" tIns="0" bIns="0" anchor="ctr">
            <a:spAutoFit/>
          </a:bodyPr>
          <a:lstStyle/>
          <a:p>
            <a:pPr algn="ctr">
              <a:lnSpc>
                <a:spcPct val="95000"/>
              </a:lnSpc>
            </a:pPr>
            <a:r>
              <a:rPr sz="1500" b="1" i="0">
                <a:solidFill>
                  <a:srgbClr val="24418C"/>
                </a:solidFill>
                <a:latin typeface="PT Sans"/>
              </a:rPr>
              <a:t>Тогуз коргоол 12</a:t>
            </a:r>
          </a:p>
        </p:txBody>
      </p:sp>
      <p:sp>
        <p:nvSpPr>
          <p:cNvPr id="17" name="TextBox 16"/>
          <p:cNvSpPr txBox="1"/>
          <p:nvPr/>
        </p:nvSpPr>
        <p:spPr>
          <a:xfrm>
            <a:off x="4491990" y="2093976"/>
            <a:ext cx="1031443" cy="274320"/>
          </a:xfrm>
          <a:prstGeom prst="rect">
            <a:avLst/>
          </a:prstGeom>
          <a:noFill/>
        </p:spPr>
        <p:txBody>
          <a:bodyPr wrap="none" lIns="0" rIns="0" tIns="0" bIns="0" anchor="ctr">
            <a:spAutoFit/>
          </a:bodyPr>
          <a:lstStyle/>
          <a:p>
            <a:pPr algn="ctr">
              <a:lnSpc>
                <a:spcPct val="95000"/>
              </a:lnSpc>
            </a:pPr>
            <a:r>
              <a:rPr sz="1440" b="0" i="1">
                <a:solidFill>
                  <a:srgbClr val="4A5A70"/>
                </a:solidFill>
                <a:latin typeface="PT Sans"/>
              </a:rPr>
              <a:t>Класс: 26</a:t>
            </a:r>
          </a:p>
        </p:txBody>
      </p:sp>
      <p:sp>
        <p:nvSpPr>
          <p:cNvPr id="18" name="TextBox 17"/>
          <p:cNvSpPr txBox="1"/>
          <p:nvPr/>
        </p:nvSpPr>
        <p:spPr>
          <a:xfrm>
            <a:off x="1332849" y="3691001"/>
            <a:ext cx="294640" cy="465836"/>
          </a:xfrm>
          <a:prstGeom prst="rect">
            <a:avLst/>
          </a:prstGeom>
          <a:noFill/>
        </p:spPr>
        <p:txBody>
          <a:bodyPr wrap="none" lIns="0" rIns="0" tIns="0" bIns="0" anchor="ctr">
            <a:spAutoFit/>
          </a:bodyPr>
          <a:lstStyle/>
          <a:p>
            <a:pPr algn="ctr">
              <a:lnSpc>
                <a:spcPct val="95000"/>
              </a:lnSpc>
            </a:pPr>
            <a:r>
              <a:rPr sz="2600" b="1" i="0">
                <a:solidFill>
                  <a:srgbClr val="1F2430"/>
                </a:solidFill>
                <a:latin typeface="PT Sans"/>
              </a:rPr>
              <a:t>9</a:t>
            </a:r>
          </a:p>
        </p:txBody>
      </p:sp>
      <p:sp>
        <p:nvSpPr>
          <p:cNvPr id="19" name="TextBox 18"/>
          <p:cNvSpPr txBox="1"/>
          <p:nvPr/>
        </p:nvSpPr>
        <p:spPr>
          <a:xfrm>
            <a:off x="2436774" y="3691001"/>
            <a:ext cx="294640" cy="465836"/>
          </a:xfrm>
          <a:prstGeom prst="rect">
            <a:avLst/>
          </a:prstGeom>
          <a:noFill/>
        </p:spPr>
        <p:txBody>
          <a:bodyPr wrap="none" lIns="0" rIns="0" tIns="0" bIns="0" anchor="ctr">
            <a:spAutoFit/>
          </a:bodyPr>
          <a:lstStyle/>
          <a:p>
            <a:pPr algn="ctr">
              <a:lnSpc>
                <a:spcPct val="95000"/>
              </a:lnSpc>
            </a:pPr>
            <a:r>
              <a:rPr sz="2600" b="1" i="0">
                <a:solidFill>
                  <a:srgbClr val="1F2430"/>
                </a:solidFill>
                <a:latin typeface="PT Sans"/>
              </a:rPr>
              <a:t>6</a:t>
            </a:r>
          </a:p>
        </p:txBody>
      </p:sp>
      <p:sp>
        <p:nvSpPr>
          <p:cNvPr id="20" name="TextBox 19"/>
          <p:cNvSpPr txBox="1"/>
          <p:nvPr/>
        </p:nvSpPr>
        <p:spPr>
          <a:xfrm>
            <a:off x="3540699" y="3691001"/>
            <a:ext cx="294640" cy="465836"/>
          </a:xfrm>
          <a:prstGeom prst="rect">
            <a:avLst/>
          </a:prstGeom>
          <a:noFill/>
        </p:spPr>
        <p:txBody>
          <a:bodyPr wrap="none" lIns="0" rIns="0" tIns="0" bIns="0" anchor="ctr">
            <a:spAutoFit/>
          </a:bodyPr>
          <a:lstStyle/>
          <a:p>
            <a:pPr algn="ctr">
              <a:lnSpc>
                <a:spcPct val="95000"/>
              </a:lnSpc>
            </a:pPr>
            <a:r>
              <a:rPr sz="2600" b="1" i="0">
                <a:solidFill>
                  <a:srgbClr val="1F2430"/>
                </a:solidFill>
                <a:latin typeface="PT Sans"/>
              </a:rPr>
              <a:t>6</a:t>
            </a:r>
          </a:p>
        </p:txBody>
      </p:sp>
      <p:sp>
        <p:nvSpPr>
          <p:cNvPr id="21" name="TextBox 20"/>
          <p:cNvSpPr txBox="1"/>
          <p:nvPr/>
        </p:nvSpPr>
        <p:spPr>
          <a:xfrm>
            <a:off x="4860391" y="3813302"/>
            <a:ext cx="294640" cy="465836"/>
          </a:xfrm>
          <a:prstGeom prst="rect">
            <a:avLst/>
          </a:prstGeom>
          <a:noFill/>
        </p:spPr>
        <p:txBody>
          <a:bodyPr wrap="none" lIns="0" rIns="0" tIns="0" bIns="0" anchor="ctr">
            <a:spAutoFit/>
          </a:bodyPr>
          <a:lstStyle/>
          <a:p>
            <a:pPr algn="ctr">
              <a:lnSpc>
                <a:spcPct val="95000"/>
              </a:lnSpc>
            </a:pPr>
            <a:r>
              <a:rPr sz="2600" b="1" i="0">
                <a:solidFill>
                  <a:srgbClr val="A84400"/>
                </a:solidFill>
                <a:latin typeface="PT Sans"/>
              </a:rPr>
              <a:t>?</a:t>
            </a:r>
          </a:p>
        </p:txBody>
      </p:sp>
      <p:sp>
        <p:nvSpPr>
          <p:cNvPr id="22" name="TextBox 21"/>
          <p:cNvSpPr txBox="1"/>
          <p:nvPr/>
        </p:nvSpPr>
        <p:spPr>
          <a:xfrm>
            <a:off x="5897880" y="2240280"/>
            <a:ext cx="1554480" cy="411480"/>
          </a:xfrm>
          <a:prstGeom prst="rect">
            <a:avLst/>
          </a:prstGeom>
          <a:noFill/>
        </p:spPr>
        <p:txBody>
          <a:bodyPr wrap="square" anchor="ctr" lIns="45720" rIns="45720" tIns="27432" bIns="27432">
            <a:spAutoFit/>
          </a:bodyPr>
          <a:lstStyle/>
          <a:p>
            <a:pPr algn="r">
              <a:lnSpc>
                <a:spcPct val="105000"/>
              </a:lnSpc>
            </a:pPr>
            <a:r>
              <a:rPr sz="1500" b="1" i="0">
                <a:solidFill>
                  <a:srgbClr val="1F2430"/>
                </a:solidFill>
                <a:latin typeface="PT Sans"/>
              </a:rPr>
              <a:t>Футбол</a:t>
            </a:r>
          </a:p>
        </p:txBody>
      </p:sp>
      <p:sp>
        <p:nvSpPr>
          <p:cNvPr id="23" name="Rectangle 22"/>
          <p:cNvSpPr/>
          <p:nvPr/>
        </p:nvSpPr>
        <p:spPr>
          <a:xfrm>
            <a:off x="7498079" y="2240280"/>
            <a:ext cx="1275588" cy="41148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500" b="1">
                <a:solidFill>
                  <a:srgbClr val="1F2430"/>
                </a:solidFill>
                <a:latin typeface="PT Sans"/>
              </a:rPr>
              <a:t>9</a:t>
            </a:r>
          </a:p>
        </p:txBody>
      </p:sp>
      <p:sp>
        <p:nvSpPr>
          <p:cNvPr id="24" name="Rectangle 23"/>
          <p:cNvSpPr/>
          <p:nvPr/>
        </p:nvSpPr>
        <p:spPr>
          <a:xfrm>
            <a:off x="8773667" y="2240280"/>
            <a:ext cx="850392" cy="411480"/>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500" b="1">
                <a:solidFill>
                  <a:srgbClr val="1F2430"/>
                </a:solidFill>
                <a:latin typeface="PT Sans"/>
              </a:rPr>
              <a:t>6</a:t>
            </a:r>
          </a:p>
        </p:txBody>
      </p:sp>
      <p:sp>
        <p:nvSpPr>
          <p:cNvPr id="25" name="TextBox 24"/>
          <p:cNvSpPr txBox="1"/>
          <p:nvPr/>
        </p:nvSpPr>
        <p:spPr>
          <a:xfrm>
            <a:off x="9669780" y="2240280"/>
            <a:ext cx="548640" cy="411480"/>
          </a:xfrm>
          <a:prstGeom prst="rect">
            <a:avLst/>
          </a:prstGeom>
          <a:noFill/>
        </p:spPr>
        <p:txBody>
          <a:bodyPr wrap="square" anchor="ctr" lIns="45720" rIns="45720" tIns="27432" bIns="27432">
            <a:spAutoFit/>
          </a:bodyPr>
          <a:lstStyle/>
          <a:p>
            <a:pPr algn="l">
              <a:lnSpc>
                <a:spcPct val="105000"/>
              </a:lnSpc>
            </a:pPr>
            <a:r>
              <a:rPr sz="1600" b="1" i="0">
                <a:solidFill>
                  <a:srgbClr val="A84400"/>
                </a:solidFill>
                <a:latin typeface="PT Sans"/>
              </a:rPr>
              <a:t>15</a:t>
            </a:r>
          </a:p>
        </p:txBody>
      </p:sp>
      <p:sp>
        <p:nvSpPr>
          <p:cNvPr id="26" name="TextBox 25"/>
          <p:cNvSpPr txBox="1"/>
          <p:nvPr/>
        </p:nvSpPr>
        <p:spPr>
          <a:xfrm>
            <a:off x="5897880" y="3154680"/>
            <a:ext cx="1554480" cy="411480"/>
          </a:xfrm>
          <a:prstGeom prst="rect">
            <a:avLst/>
          </a:prstGeom>
          <a:noFill/>
        </p:spPr>
        <p:txBody>
          <a:bodyPr wrap="square" anchor="ctr" lIns="45720" rIns="45720" tIns="27432" bIns="27432">
            <a:spAutoFit/>
          </a:bodyPr>
          <a:lstStyle/>
          <a:p>
            <a:pPr algn="r">
              <a:lnSpc>
                <a:spcPct val="105000"/>
              </a:lnSpc>
            </a:pPr>
            <a:r>
              <a:rPr sz="1500" b="1" i="0">
                <a:solidFill>
                  <a:srgbClr val="1F2430"/>
                </a:solidFill>
                <a:latin typeface="PT Sans"/>
              </a:rPr>
              <a:t>Т. коргоол</a:t>
            </a:r>
          </a:p>
        </p:txBody>
      </p:sp>
      <p:sp>
        <p:nvSpPr>
          <p:cNvPr id="27" name="Rectangle 26"/>
          <p:cNvSpPr/>
          <p:nvPr/>
        </p:nvSpPr>
        <p:spPr>
          <a:xfrm>
            <a:off x="8773667" y="3154680"/>
            <a:ext cx="850392" cy="411480"/>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500" b="1">
                <a:solidFill>
                  <a:srgbClr val="1F2430"/>
                </a:solidFill>
                <a:latin typeface="PT Sans"/>
              </a:rPr>
              <a:t>6</a:t>
            </a:r>
          </a:p>
        </p:txBody>
      </p:sp>
      <p:sp>
        <p:nvSpPr>
          <p:cNvPr id="28" name="Rectangle 27"/>
          <p:cNvSpPr/>
          <p:nvPr/>
        </p:nvSpPr>
        <p:spPr>
          <a:xfrm>
            <a:off x="9624059" y="3154680"/>
            <a:ext cx="850392" cy="41148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500" b="1">
                <a:solidFill>
                  <a:srgbClr val="1F2430"/>
                </a:solidFill>
                <a:latin typeface="PT Sans"/>
              </a:rPr>
              <a:t>6</a:t>
            </a:r>
          </a:p>
        </p:txBody>
      </p:sp>
      <p:sp>
        <p:nvSpPr>
          <p:cNvPr id="29" name="TextBox 28"/>
          <p:cNvSpPr txBox="1"/>
          <p:nvPr/>
        </p:nvSpPr>
        <p:spPr>
          <a:xfrm>
            <a:off x="10520172" y="3154680"/>
            <a:ext cx="548640" cy="411480"/>
          </a:xfrm>
          <a:prstGeom prst="rect">
            <a:avLst/>
          </a:prstGeom>
          <a:noFill/>
        </p:spPr>
        <p:txBody>
          <a:bodyPr wrap="square" anchor="ctr" lIns="45720" rIns="45720" tIns="27432" bIns="27432">
            <a:spAutoFit/>
          </a:bodyPr>
          <a:lstStyle/>
          <a:p>
            <a:pPr algn="l">
              <a:lnSpc>
                <a:spcPct val="105000"/>
              </a:lnSpc>
            </a:pPr>
            <a:r>
              <a:rPr sz="1600" b="1" i="0">
                <a:solidFill>
                  <a:srgbClr val="A84400"/>
                </a:solidFill>
                <a:latin typeface="PT Sans"/>
              </a:rPr>
              <a:t>12</a:t>
            </a:r>
          </a:p>
        </p:txBody>
      </p:sp>
      <p:sp>
        <p:nvSpPr>
          <p:cNvPr id="30" name="TextBox 29"/>
          <p:cNvSpPr txBox="1"/>
          <p:nvPr/>
        </p:nvSpPr>
        <p:spPr>
          <a:xfrm>
            <a:off x="5897880" y="4069080"/>
            <a:ext cx="1554480" cy="411480"/>
          </a:xfrm>
          <a:prstGeom prst="rect">
            <a:avLst/>
          </a:prstGeom>
          <a:noFill/>
        </p:spPr>
        <p:txBody>
          <a:bodyPr wrap="square" anchor="ctr" lIns="45720" rIns="45720" tIns="27432" bIns="27432">
            <a:spAutoFit/>
          </a:bodyPr>
          <a:lstStyle/>
          <a:p>
            <a:pPr algn="r">
              <a:lnSpc>
                <a:spcPct val="105000"/>
              </a:lnSpc>
            </a:pPr>
            <a:r>
              <a:rPr sz="1500" b="1" i="0">
                <a:solidFill>
                  <a:srgbClr val="1F2430"/>
                </a:solidFill>
                <a:latin typeface="PT Sans"/>
              </a:rPr>
              <a:t>Класс</a:t>
            </a:r>
          </a:p>
        </p:txBody>
      </p:sp>
      <p:sp>
        <p:nvSpPr>
          <p:cNvPr id="31" name="Rectangle 30"/>
          <p:cNvSpPr/>
          <p:nvPr/>
        </p:nvSpPr>
        <p:spPr>
          <a:xfrm>
            <a:off x="7498079" y="4069080"/>
            <a:ext cx="1275588" cy="41148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500" b="1">
                <a:solidFill>
                  <a:srgbClr val="1F2430"/>
                </a:solidFill>
                <a:latin typeface="PT Sans"/>
              </a:rPr>
              <a:t>9</a:t>
            </a:r>
          </a:p>
        </p:txBody>
      </p:sp>
      <p:sp>
        <p:nvSpPr>
          <p:cNvPr id="32" name="Rectangle 31"/>
          <p:cNvSpPr/>
          <p:nvPr/>
        </p:nvSpPr>
        <p:spPr>
          <a:xfrm>
            <a:off x="8773667" y="4069080"/>
            <a:ext cx="850392" cy="411480"/>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500" b="1">
                <a:solidFill>
                  <a:srgbClr val="1F2430"/>
                </a:solidFill>
                <a:latin typeface="PT Sans"/>
              </a:rPr>
              <a:t>6</a:t>
            </a:r>
          </a:p>
        </p:txBody>
      </p:sp>
      <p:sp>
        <p:nvSpPr>
          <p:cNvPr id="33" name="Rectangle 32"/>
          <p:cNvSpPr/>
          <p:nvPr/>
        </p:nvSpPr>
        <p:spPr>
          <a:xfrm>
            <a:off x="9624059" y="4069080"/>
            <a:ext cx="850392" cy="41148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500" b="1">
                <a:solidFill>
                  <a:srgbClr val="1F2430"/>
                </a:solidFill>
                <a:latin typeface="PT Sans"/>
              </a:rPr>
              <a:t>6</a:t>
            </a:r>
          </a:p>
        </p:txBody>
      </p:sp>
      <p:sp>
        <p:nvSpPr>
          <p:cNvPr id="34" name="Rectangle 33"/>
          <p:cNvSpPr/>
          <p:nvPr/>
        </p:nvSpPr>
        <p:spPr>
          <a:xfrm>
            <a:off x="10474451" y="4069080"/>
            <a:ext cx="708660" cy="411480"/>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500" b="1">
                <a:solidFill>
                  <a:srgbClr val="6B7280"/>
                </a:solidFill>
                <a:latin typeface="PT Sans"/>
              </a:rPr>
              <a:t>?</a:t>
            </a:r>
          </a:p>
        </p:txBody>
      </p:sp>
      <p:sp>
        <p:nvSpPr>
          <p:cNvPr id="35" name="TextBox 34"/>
          <p:cNvSpPr txBox="1"/>
          <p:nvPr/>
        </p:nvSpPr>
        <p:spPr>
          <a:xfrm>
            <a:off x="11228832" y="4069080"/>
            <a:ext cx="548640" cy="411480"/>
          </a:xfrm>
          <a:prstGeom prst="rect">
            <a:avLst/>
          </a:prstGeom>
          <a:noFill/>
        </p:spPr>
        <p:txBody>
          <a:bodyPr wrap="square" anchor="ctr" lIns="45720" rIns="45720" tIns="27432" bIns="27432">
            <a:spAutoFit/>
          </a:bodyPr>
          <a:lstStyle/>
          <a:p>
            <a:pPr algn="l">
              <a:lnSpc>
                <a:spcPct val="105000"/>
              </a:lnSpc>
            </a:pPr>
            <a:r>
              <a:rPr sz="1600" b="1" i="0">
                <a:solidFill>
                  <a:srgbClr val="A84400"/>
                </a:solidFill>
                <a:latin typeface="PT Sans"/>
              </a:rPr>
              <a:t>26</a:t>
            </a:r>
          </a:p>
        </p:txBody>
      </p:sp>
      <p:cxnSp>
        <p:nvCxnSpPr>
          <p:cNvPr id="36" name="Connector 35"/>
          <p:cNvCxnSpPr/>
          <p:nvPr/>
        </p:nvCxnSpPr>
        <p:spPr>
          <a:xfrm>
            <a:off x="8773667" y="2148840"/>
            <a:ext cx="0" cy="2423160"/>
          </a:xfrm>
          <a:prstGeom prst="line">
            <a:avLst/>
          </a:prstGeom>
          <a:ln w="19050">
            <a:solidFill>
              <a:srgbClr val="A84400"/>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624059" y="2148840"/>
            <a:ext cx="0" cy="2423160"/>
          </a:xfrm>
          <a:prstGeom prst="line">
            <a:avLst/>
          </a:prstGeom>
          <a:ln w="19050">
            <a:solidFill>
              <a:srgbClr val="A84400"/>
            </a:solidFill>
            <a:prstDash val="dash"/>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897880" y="4892040"/>
            <a:ext cx="5852160" cy="640080"/>
          </a:xfrm>
          <a:prstGeom prst="rect">
            <a:avLst/>
          </a:prstGeom>
          <a:noFill/>
        </p:spPr>
        <p:txBody>
          <a:bodyPr wrap="square" anchor="t" lIns="45720" rIns="45720" tIns="27432" bIns="27432">
            <a:spAutoFit/>
          </a:bodyPr>
          <a:lstStyle/>
          <a:p>
            <a:pPr algn="l">
              <a:lnSpc>
                <a:spcPct val="100000"/>
              </a:lnSpc>
            </a:pPr>
            <a:r>
              <a:rPr sz="1500" b="0" i="0">
                <a:solidFill>
                  <a:srgbClr val="4A5A70"/>
                </a:solidFill>
                <a:latin typeface="PT Sans"/>
              </a:rPr>
              <a:t>Экөө тең (6) эки тилкеде тең бар:</a:t>
            </a:r>
          </a:p>
          <a:p>
            <a:pPr algn="l">
              <a:lnSpc>
                <a:spcPct val="100000"/>
              </a:lnSpc>
            </a:pPr>
            <a:r>
              <a:rPr sz="1500" b="0" i="0">
                <a:solidFill>
                  <a:srgbClr val="4A5A70"/>
                </a:solidFill>
                <a:latin typeface="PT Sans"/>
              </a:rPr>
              <a:t>класста бир гана жолу саналат.</a:t>
            </a:r>
          </a:p>
        </p:txBody>
      </p:sp>
      <p:sp>
        <p:nvSpPr>
          <p:cNvPr id="39" name="TextBox 38"/>
          <p:cNvSpPr txBox="1"/>
          <p:nvPr/>
        </p:nvSpPr>
        <p:spPr>
          <a:xfrm>
            <a:off x="429768" y="5623560"/>
            <a:ext cx="11329416" cy="457200"/>
          </a:xfrm>
          <a:prstGeom prst="rect">
            <a:avLst/>
          </a:prstGeom>
          <a:noFill/>
        </p:spPr>
        <p:txBody>
          <a:bodyPr wrap="square" anchor="t" lIns="45720" rIns="45720" tIns="27432" bIns="27432">
            <a:spAutoFit/>
          </a:bodyPr>
          <a:lstStyle/>
          <a:p>
            <a:pPr algn="ctr">
              <a:lnSpc>
                <a:spcPct val="105000"/>
              </a:lnSpc>
            </a:pPr>
            <a:r>
              <a:rPr sz="2200" b="1" i="0">
                <a:solidFill>
                  <a:srgbClr val="24418C"/>
                </a:solidFill>
                <a:latin typeface="PT Sans"/>
              </a:rPr>
              <a:t>15 − 6 = 9;   12 − 6 = 6;   9 + 6 + 6 = 21;   26 − 21 = 5</a:t>
            </a:r>
          </a:p>
        </p:txBody>
      </p:sp>
      <p:sp>
        <p:nvSpPr>
          <p:cNvPr id="40" name="Rounded Rectangle 39"/>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41" name="Rounded Rectangle 40"/>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42" name="Rounded Rectangle 41"/>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
        <p:nvSpPr>
          <p:cNvPr id="43" name="Rounded Rectangle 42"/>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А: эреже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13/26</a:t>
            </a:r>
          </a:p>
        </p:txBody>
      </p:sp>
      <p:sp>
        <p:nvSpPr>
          <p:cNvPr id="10" name="Rounded Rectangle 9"/>
          <p:cNvSpPr/>
          <p:nvPr/>
        </p:nvSpPr>
        <p:spPr>
          <a:xfrm>
            <a:off x="429768"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23035"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1</a:t>
            </a:r>
          </a:p>
        </p:txBody>
      </p:sp>
      <p:sp>
        <p:nvSpPr>
          <p:cNvPr id="12" name="TextBox 11"/>
          <p:cNvSpPr txBox="1"/>
          <p:nvPr/>
        </p:nvSpPr>
        <p:spPr>
          <a:xfrm>
            <a:off x="521207"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A ∩ B</a:t>
            </a:r>
          </a:p>
        </p:txBody>
      </p:sp>
      <p:sp>
        <p:nvSpPr>
          <p:cNvPr id="13" name="TextBox 12"/>
          <p:cNvSpPr txBox="1"/>
          <p:nvPr/>
        </p:nvSpPr>
        <p:spPr>
          <a:xfrm>
            <a:off x="521207"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Кесилиш</a:t>
            </a:r>
          </a:p>
        </p:txBody>
      </p:sp>
      <p:sp>
        <p:nvSpPr>
          <p:cNvPr id="14" name="TextBox 13"/>
          <p:cNvSpPr txBox="1"/>
          <p:nvPr/>
        </p:nvSpPr>
        <p:spPr>
          <a:xfrm>
            <a:off x="566928"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Экөөнө тең кирет («жана»)</a:t>
            </a:r>
          </a:p>
        </p:txBody>
      </p:sp>
      <p:cxnSp>
        <p:nvCxnSpPr>
          <p:cNvPr id="15" name="Connector 14"/>
          <p:cNvCxnSpPr/>
          <p:nvPr/>
        </p:nvCxnSpPr>
        <p:spPr>
          <a:xfrm>
            <a:off x="3056382"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30702"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23969"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2</a:t>
            </a:r>
          </a:p>
        </p:txBody>
      </p:sp>
      <p:sp>
        <p:nvSpPr>
          <p:cNvPr id="18" name="TextBox 17"/>
          <p:cNvSpPr txBox="1"/>
          <p:nvPr/>
        </p:nvSpPr>
        <p:spPr>
          <a:xfrm>
            <a:off x="3422142"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A ∪ B</a:t>
            </a:r>
          </a:p>
        </p:txBody>
      </p:sp>
      <p:sp>
        <p:nvSpPr>
          <p:cNvPr id="19" name="TextBox 18"/>
          <p:cNvSpPr txBox="1"/>
          <p:nvPr/>
        </p:nvSpPr>
        <p:spPr>
          <a:xfrm>
            <a:off x="3422142"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Бирикме</a:t>
            </a:r>
          </a:p>
        </p:txBody>
      </p:sp>
      <p:sp>
        <p:nvSpPr>
          <p:cNvPr id="20" name="TextBox 19"/>
          <p:cNvSpPr txBox="1"/>
          <p:nvPr/>
        </p:nvSpPr>
        <p:spPr>
          <a:xfrm>
            <a:off x="3467862"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A + B − кесилиш («же»)</a:t>
            </a:r>
          </a:p>
        </p:txBody>
      </p:sp>
      <p:cxnSp>
        <p:nvCxnSpPr>
          <p:cNvPr id="21" name="Connector 20"/>
          <p:cNvCxnSpPr/>
          <p:nvPr/>
        </p:nvCxnSpPr>
        <p:spPr>
          <a:xfrm>
            <a:off x="5957316"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31636"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24902"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3</a:t>
            </a:r>
          </a:p>
        </p:txBody>
      </p:sp>
      <p:sp>
        <p:nvSpPr>
          <p:cNvPr id="24" name="TextBox 23"/>
          <p:cNvSpPr txBox="1"/>
          <p:nvPr/>
        </p:nvSpPr>
        <p:spPr>
          <a:xfrm>
            <a:off x="6323075"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A гана</a:t>
            </a:r>
          </a:p>
        </p:txBody>
      </p:sp>
      <p:sp>
        <p:nvSpPr>
          <p:cNvPr id="25" name="TextBox 24"/>
          <p:cNvSpPr txBox="1"/>
          <p:nvPr/>
        </p:nvSpPr>
        <p:spPr>
          <a:xfrm>
            <a:off x="6323075"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Бир гана A</a:t>
            </a:r>
          </a:p>
        </p:txBody>
      </p:sp>
      <p:sp>
        <p:nvSpPr>
          <p:cNvPr id="26" name="TextBox 25"/>
          <p:cNvSpPr txBox="1"/>
          <p:nvPr/>
        </p:nvSpPr>
        <p:spPr>
          <a:xfrm>
            <a:off x="6368796"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A − кесилиш</a:t>
            </a:r>
          </a:p>
        </p:txBody>
      </p:sp>
      <p:cxnSp>
        <p:nvCxnSpPr>
          <p:cNvPr id="27" name="Connector 26"/>
          <p:cNvCxnSpPr/>
          <p:nvPr/>
        </p:nvCxnSpPr>
        <p:spPr>
          <a:xfrm>
            <a:off x="8858250"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132570"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25837"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4</a:t>
            </a:r>
          </a:p>
        </p:txBody>
      </p:sp>
      <p:sp>
        <p:nvSpPr>
          <p:cNvPr id="30" name="TextBox 29"/>
          <p:cNvSpPr txBox="1"/>
          <p:nvPr/>
        </p:nvSpPr>
        <p:spPr>
          <a:xfrm>
            <a:off x="9224010"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Сырты</a:t>
            </a:r>
          </a:p>
        </p:txBody>
      </p:sp>
      <p:sp>
        <p:nvSpPr>
          <p:cNvPr id="31" name="TextBox 30"/>
          <p:cNvSpPr txBox="1"/>
          <p:nvPr/>
        </p:nvSpPr>
        <p:spPr>
          <a:xfrm>
            <a:off x="9224010"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Эч бирине</a:t>
            </a:r>
          </a:p>
        </p:txBody>
      </p:sp>
      <p:sp>
        <p:nvSpPr>
          <p:cNvPr id="32" name="TextBox 31"/>
          <p:cNvSpPr txBox="1"/>
          <p:nvPr/>
        </p:nvSpPr>
        <p:spPr>
          <a:xfrm>
            <a:off x="9269730"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Баары − бирикме</a:t>
            </a:r>
          </a:p>
        </p:txBody>
      </p:sp>
      <p:sp>
        <p:nvSpPr>
          <p:cNvPr id="33" name="Rounded Rectangle 32"/>
          <p:cNvSpPr/>
          <p:nvPr/>
        </p:nvSpPr>
        <p:spPr>
          <a:xfrm>
            <a:off x="1874519" y="4709160"/>
            <a:ext cx="8449056" cy="758952"/>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600" b="1">
                <a:solidFill>
                  <a:srgbClr val="A84400"/>
                </a:solidFill>
                <a:latin typeface="PT Sans"/>
              </a:rPr>
              <a:t>Пойа: түшүн → чий → эсепте → текшер</a:t>
            </a:r>
          </a:p>
        </p:txBody>
      </p: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1: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14/26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Комуз ийриминде 14, ыр ийриминде 10 окуучу, 4ү экөөндө тең. Ийримдерде бардыгы канча окуучу?</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14 − 4 = 10</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комуз гана</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10 − 4 = 6</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ыр гана</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10 + 4 + 6 = 20</a:t>
            </a:r>
          </a:p>
        </p:txBody>
      </p:sp>
      <p:sp>
        <p:nvSpPr>
          <p:cNvPr id="17" name="TextBox 16"/>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бирикме</a:t>
            </a:r>
          </a:p>
        </p:txBody>
      </p:sp>
      <p:sp>
        <p:nvSpPr>
          <p:cNvPr id="18" name="TextBox 17"/>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Бардыгы = </a:t>
            </a:r>
            <a:r>
              <a:rPr sz="3400" b="1">
                <a:solidFill>
                  <a:srgbClr val="24418C"/>
                </a:solidFill>
                <a:latin typeface="PT Sans"/>
              </a:rPr>
              <a:t>20 окуучу</a:t>
            </a:r>
          </a:p>
        </p:txBody>
      </p:sp>
      <p:sp>
        <p:nvSpPr>
          <p:cNvPr id="19" name="venn-deco"/>
          <p:cNvSpPr/>
          <p:nvPr/>
        </p:nvSpPr>
        <p:spPr>
          <a:xfrm>
            <a:off x="548640" y="2651760"/>
            <a:ext cx="2445488" cy="2651760"/>
          </a:xfrm>
          <a:prstGeom prst="ellipse">
            <a:avLst/>
          </a:prstGeom>
          <a:solidFill>
            <a:srgbClr val="B5E2D3">
              <a:alpha val="55000"/>
            </a:srgbClr>
          </a:solidFill>
          <a:ln w="317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venn-deco"/>
          <p:cNvSpPr/>
          <p:nvPr/>
        </p:nvSpPr>
        <p:spPr>
          <a:xfrm>
            <a:off x="2309391" y="2651760"/>
            <a:ext cx="2445488" cy="2651760"/>
          </a:xfrm>
          <a:prstGeom prst="ellipse">
            <a:avLst/>
          </a:prstGeom>
          <a:solidFill>
            <a:srgbClr val="BFCBE9">
              <a:alpha val="55000"/>
            </a:srgbClr>
          </a:solidFill>
          <a:ln w="317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venn-deco"/>
          <p:cNvSpPr txBox="1"/>
          <p:nvPr/>
        </p:nvSpPr>
        <p:spPr>
          <a:xfrm>
            <a:off x="548640" y="2272792"/>
            <a:ext cx="1001776" cy="300736"/>
          </a:xfrm>
          <a:prstGeom prst="rect">
            <a:avLst/>
          </a:prstGeom>
          <a:noFill/>
        </p:spPr>
        <p:txBody>
          <a:bodyPr wrap="none" lIns="0" rIns="0" tIns="0" bIns="0" anchor="ctr">
            <a:spAutoFit/>
          </a:bodyPr>
          <a:lstStyle/>
          <a:p>
            <a:pPr algn="ctr">
              <a:lnSpc>
                <a:spcPct val="95000"/>
              </a:lnSpc>
            </a:pPr>
            <a:r>
              <a:rPr sz="1600" b="1" i="0">
                <a:solidFill>
                  <a:srgbClr val="007A5A"/>
                </a:solidFill>
                <a:latin typeface="PT Sans"/>
              </a:rPr>
              <a:t>Комуз 14</a:t>
            </a:r>
          </a:p>
        </p:txBody>
      </p:sp>
      <p:sp>
        <p:nvSpPr>
          <p:cNvPr id="22" name="venn-deco"/>
          <p:cNvSpPr txBox="1"/>
          <p:nvPr/>
        </p:nvSpPr>
        <p:spPr>
          <a:xfrm>
            <a:off x="4094480" y="2272792"/>
            <a:ext cx="660400" cy="300736"/>
          </a:xfrm>
          <a:prstGeom prst="rect">
            <a:avLst/>
          </a:prstGeom>
          <a:noFill/>
        </p:spPr>
        <p:txBody>
          <a:bodyPr wrap="none" lIns="0" rIns="0" tIns="0" bIns="0" anchor="ctr">
            <a:spAutoFit/>
          </a:bodyPr>
          <a:lstStyle/>
          <a:p>
            <a:pPr algn="ctr">
              <a:lnSpc>
                <a:spcPct val="95000"/>
              </a:lnSpc>
            </a:pPr>
            <a:r>
              <a:rPr sz="1600" b="1" i="0">
                <a:solidFill>
                  <a:srgbClr val="24418C"/>
                </a:solidFill>
                <a:latin typeface="PT Sans"/>
              </a:rPr>
              <a:t>Ыр 10</a:t>
            </a:r>
          </a:p>
        </p:txBody>
      </p:sp>
      <p:sp>
        <p:nvSpPr>
          <p:cNvPr id="23" name="venn-deco"/>
          <p:cNvSpPr txBox="1"/>
          <p:nvPr/>
        </p:nvSpPr>
        <p:spPr>
          <a:xfrm>
            <a:off x="1189239" y="3744722"/>
            <a:ext cx="479552" cy="465836"/>
          </a:xfrm>
          <a:prstGeom prst="rect">
            <a:avLst/>
          </a:prstGeom>
          <a:noFill/>
        </p:spPr>
        <p:txBody>
          <a:bodyPr wrap="none" lIns="0" rIns="0" tIns="0" bIns="0" anchor="ctr">
            <a:spAutoFit/>
          </a:bodyPr>
          <a:lstStyle/>
          <a:p>
            <a:pPr algn="ctr">
              <a:lnSpc>
                <a:spcPct val="95000"/>
              </a:lnSpc>
            </a:pPr>
            <a:r>
              <a:rPr sz="2600" b="1" i="0">
                <a:solidFill>
                  <a:srgbClr val="1F2430"/>
                </a:solidFill>
                <a:latin typeface="PT Sans"/>
              </a:rPr>
              <a:t>10</a:t>
            </a:r>
          </a:p>
        </p:txBody>
      </p:sp>
      <p:sp>
        <p:nvSpPr>
          <p:cNvPr id="24" name="venn-deco"/>
          <p:cNvSpPr txBox="1"/>
          <p:nvPr/>
        </p:nvSpPr>
        <p:spPr>
          <a:xfrm>
            <a:off x="2504439" y="3744722"/>
            <a:ext cx="294640" cy="465836"/>
          </a:xfrm>
          <a:prstGeom prst="rect">
            <a:avLst/>
          </a:prstGeom>
          <a:noFill/>
        </p:spPr>
        <p:txBody>
          <a:bodyPr wrap="none" lIns="0" rIns="0" tIns="0" bIns="0" anchor="ctr">
            <a:spAutoFit/>
          </a:bodyPr>
          <a:lstStyle/>
          <a:p>
            <a:pPr algn="ctr">
              <a:lnSpc>
                <a:spcPct val="95000"/>
              </a:lnSpc>
            </a:pPr>
            <a:r>
              <a:rPr sz="2600" b="1" i="0">
                <a:solidFill>
                  <a:srgbClr val="1F2430"/>
                </a:solidFill>
                <a:latin typeface="PT Sans"/>
              </a:rPr>
              <a:t>4</a:t>
            </a:r>
          </a:p>
        </p:txBody>
      </p:sp>
      <p:sp>
        <p:nvSpPr>
          <p:cNvPr id="25" name="venn-deco"/>
          <p:cNvSpPr txBox="1"/>
          <p:nvPr/>
        </p:nvSpPr>
        <p:spPr>
          <a:xfrm>
            <a:off x="3727184" y="3744722"/>
            <a:ext cx="294640" cy="465836"/>
          </a:xfrm>
          <a:prstGeom prst="rect">
            <a:avLst/>
          </a:prstGeom>
          <a:noFill/>
        </p:spPr>
        <p:txBody>
          <a:bodyPr wrap="none" lIns="0" rIns="0" tIns="0" bIns="0" anchor="ctr">
            <a:spAutoFit/>
          </a:bodyPr>
          <a:lstStyle/>
          <a:p>
            <a:pPr algn="ctr">
              <a:lnSpc>
                <a:spcPct val="95000"/>
              </a:lnSpc>
            </a:pPr>
            <a:r>
              <a:rPr sz="2600" b="1" i="0">
                <a:solidFill>
                  <a:srgbClr val="1F2430"/>
                </a:solidFill>
                <a:latin typeface="PT Sans"/>
              </a:rPr>
              <a:t>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2: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15/26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26 окуучу: 14 кыз, 12 эркек. Комуз ийриминде 11 окуучу, анын 7си кыз. Ийримде эмес канча кыз, канча эркек?</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14 − 7 = 7</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кыз, ийримде эмес</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11 − 7 = 4</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эркек, ийримде</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12 − 4 = 8</a:t>
            </a:r>
          </a:p>
        </p:txBody>
      </p:sp>
      <p:sp>
        <p:nvSpPr>
          <p:cNvPr id="17" name="TextBox 16"/>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эркек, ийримде эмес</a:t>
            </a:r>
          </a:p>
        </p:txBody>
      </p:sp>
      <p:sp>
        <p:nvSpPr>
          <p:cNvPr id="18" name="TextBox 17"/>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Ийримде эмес = </a:t>
            </a:r>
            <a:r>
              <a:rPr sz="3400" b="1">
                <a:solidFill>
                  <a:srgbClr val="24418C"/>
                </a:solidFill>
                <a:latin typeface="PT Sans"/>
              </a:rPr>
              <a:t>7 кыз, 8 эркек</a:t>
            </a:r>
          </a:p>
        </p:txBody>
      </p:sp>
      <p:sp>
        <p:nvSpPr>
          <p:cNvPr id="19" name="venn-deco"/>
          <p:cNvSpPr/>
          <p:nvPr/>
        </p:nvSpPr>
        <p:spPr>
          <a:xfrm>
            <a:off x="1300479" y="2240280"/>
            <a:ext cx="3728720" cy="585216"/>
          </a:xfrm>
          <a:prstGeom prst="rect">
            <a:avLst/>
          </a:prstGeom>
          <a:solidFill>
            <a:srgbClr val="B5E2D3">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venn-deco"/>
          <p:cNvSpPr/>
          <p:nvPr/>
        </p:nvSpPr>
        <p:spPr>
          <a:xfrm>
            <a:off x="548640" y="2825496"/>
            <a:ext cx="751840" cy="2432303"/>
          </a:xfrm>
          <a:prstGeom prst="rect">
            <a:avLst/>
          </a:prstGeom>
          <a:solidFill>
            <a:srgbClr val="F2C9AC">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venn-deco"/>
          <p:cNvSpPr txBox="1"/>
          <p:nvPr/>
        </p:nvSpPr>
        <p:spPr>
          <a:xfrm>
            <a:off x="1318767" y="2382520"/>
            <a:ext cx="1206330" cy="300736"/>
          </a:xfrm>
          <a:prstGeom prst="rect">
            <a:avLst/>
          </a:prstGeom>
          <a:noFill/>
        </p:spPr>
        <p:txBody>
          <a:bodyPr wrap="none" lIns="0" rIns="0" tIns="0" bIns="0" anchor="ctr">
            <a:spAutoFit/>
          </a:bodyPr>
          <a:lstStyle/>
          <a:p>
            <a:pPr algn="ctr">
              <a:lnSpc>
                <a:spcPct val="95000"/>
              </a:lnSpc>
            </a:pPr>
            <a:r>
              <a:rPr sz="1600" b="1" i="0">
                <a:solidFill>
                  <a:srgbClr val="007A5A"/>
                </a:solidFill>
                <a:latin typeface="PT Sans"/>
              </a:rPr>
              <a:t>Ийримде</a:t>
            </a:r>
          </a:p>
        </p:txBody>
      </p:sp>
      <p:sp>
        <p:nvSpPr>
          <p:cNvPr id="22" name="venn-deco"/>
          <p:cNvSpPr txBox="1"/>
          <p:nvPr/>
        </p:nvSpPr>
        <p:spPr>
          <a:xfrm>
            <a:off x="2561674" y="2250440"/>
            <a:ext cx="1206330" cy="564896"/>
          </a:xfrm>
          <a:prstGeom prst="rect">
            <a:avLst/>
          </a:prstGeom>
          <a:noFill/>
        </p:spPr>
        <p:txBody>
          <a:bodyPr wrap="none" lIns="0" rIns="0" tIns="0" bIns="0" anchor="ctr">
            <a:spAutoFit/>
          </a:bodyPr>
          <a:lstStyle/>
          <a:p>
            <a:pPr algn="ctr">
              <a:lnSpc>
                <a:spcPct val="95000"/>
              </a:lnSpc>
            </a:pPr>
            <a:r>
              <a:rPr sz="1600" b="1" i="0">
                <a:solidFill>
                  <a:srgbClr val="007A5A"/>
                </a:solidFill>
                <a:latin typeface="PT Sans"/>
              </a:rPr>
              <a:t>Ийримде</a:t>
            </a:r>
          </a:p>
          <a:p>
            <a:pPr algn="ctr">
              <a:lnSpc>
                <a:spcPct val="95000"/>
              </a:lnSpc>
            </a:pPr>
            <a:r>
              <a:rPr sz="1600" b="1" i="0">
                <a:solidFill>
                  <a:srgbClr val="007A5A"/>
                </a:solidFill>
                <a:latin typeface="PT Sans"/>
              </a:rPr>
              <a:t>эмес</a:t>
            </a:r>
          </a:p>
        </p:txBody>
      </p:sp>
      <p:sp>
        <p:nvSpPr>
          <p:cNvPr id="23" name="venn-deco"/>
          <p:cNvSpPr txBox="1"/>
          <p:nvPr/>
        </p:nvSpPr>
        <p:spPr>
          <a:xfrm>
            <a:off x="3804581" y="2382520"/>
            <a:ext cx="1206330" cy="300736"/>
          </a:xfrm>
          <a:prstGeom prst="rect">
            <a:avLst/>
          </a:prstGeom>
          <a:noFill/>
        </p:spPr>
        <p:txBody>
          <a:bodyPr wrap="none" lIns="0" rIns="0" tIns="0" bIns="0" anchor="ctr">
            <a:spAutoFit/>
          </a:bodyPr>
          <a:lstStyle/>
          <a:p>
            <a:pPr algn="ctr">
              <a:lnSpc>
                <a:spcPct val="95000"/>
              </a:lnSpc>
            </a:pPr>
            <a:r>
              <a:rPr sz="1600" b="1" i="0">
                <a:solidFill>
                  <a:srgbClr val="4A5A70"/>
                </a:solidFill>
                <a:latin typeface="PT Sans"/>
              </a:rPr>
              <a:t>Баары</a:t>
            </a:r>
          </a:p>
        </p:txBody>
      </p:sp>
      <p:sp>
        <p:nvSpPr>
          <p:cNvPr id="24" name="venn-deco"/>
          <p:cNvSpPr txBox="1"/>
          <p:nvPr/>
        </p:nvSpPr>
        <p:spPr>
          <a:xfrm>
            <a:off x="557784" y="3080512"/>
            <a:ext cx="733552" cy="300736"/>
          </a:xfrm>
          <a:prstGeom prst="rect">
            <a:avLst/>
          </a:prstGeom>
          <a:noFill/>
        </p:spPr>
        <p:txBody>
          <a:bodyPr wrap="none" lIns="0" rIns="0" tIns="0" bIns="0" anchor="ctr">
            <a:spAutoFit/>
          </a:bodyPr>
          <a:lstStyle/>
          <a:p>
            <a:pPr algn="ctr">
              <a:lnSpc>
                <a:spcPct val="95000"/>
              </a:lnSpc>
            </a:pPr>
            <a:r>
              <a:rPr sz="1600" b="1" i="0">
                <a:solidFill>
                  <a:srgbClr val="A84400"/>
                </a:solidFill>
                <a:latin typeface="PT Sans"/>
              </a:rPr>
              <a:t>Кыз</a:t>
            </a:r>
          </a:p>
        </p:txBody>
      </p:sp>
      <p:sp>
        <p:nvSpPr>
          <p:cNvPr id="25" name="venn-deco"/>
          <p:cNvSpPr txBox="1"/>
          <p:nvPr/>
        </p:nvSpPr>
        <p:spPr>
          <a:xfrm>
            <a:off x="557784" y="3891280"/>
            <a:ext cx="733552" cy="300736"/>
          </a:xfrm>
          <a:prstGeom prst="rect">
            <a:avLst/>
          </a:prstGeom>
          <a:noFill/>
        </p:spPr>
        <p:txBody>
          <a:bodyPr wrap="none" lIns="0" rIns="0" tIns="0" bIns="0" anchor="ctr">
            <a:spAutoFit/>
          </a:bodyPr>
          <a:lstStyle/>
          <a:p>
            <a:pPr algn="ctr">
              <a:lnSpc>
                <a:spcPct val="95000"/>
              </a:lnSpc>
            </a:pPr>
            <a:r>
              <a:rPr sz="1600" b="1" i="0">
                <a:solidFill>
                  <a:srgbClr val="A84400"/>
                </a:solidFill>
                <a:latin typeface="PT Sans"/>
              </a:rPr>
              <a:t>Эркек</a:t>
            </a:r>
          </a:p>
        </p:txBody>
      </p:sp>
      <p:sp>
        <p:nvSpPr>
          <p:cNvPr id="26" name="venn-deco"/>
          <p:cNvSpPr txBox="1"/>
          <p:nvPr/>
        </p:nvSpPr>
        <p:spPr>
          <a:xfrm>
            <a:off x="557784" y="4702048"/>
            <a:ext cx="733552" cy="300736"/>
          </a:xfrm>
          <a:prstGeom prst="rect">
            <a:avLst/>
          </a:prstGeom>
          <a:noFill/>
        </p:spPr>
        <p:txBody>
          <a:bodyPr wrap="none" lIns="0" rIns="0" tIns="0" bIns="0" anchor="ctr">
            <a:spAutoFit/>
          </a:bodyPr>
          <a:lstStyle/>
          <a:p>
            <a:pPr algn="ctr">
              <a:lnSpc>
                <a:spcPct val="95000"/>
              </a:lnSpc>
            </a:pPr>
            <a:r>
              <a:rPr sz="1600" b="1" i="0">
                <a:solidFill>
                  <a:srgbClr val="4A5A70"/>
                </a:solidFill>
                <a:latin typeface="PT Sans"/>
              </a:rPr>
              <a:t>Баары</a:t>
            </a:r>
          </a:p>
        </p:txBody>
      </p:sp>
      <p:sp>
        <p:nvSpPr>
          <p:cNvPr id="27" name="venn-deco"/>
          <p:cNvSpPr txBox="1"/>
          <p:nvPr/>
        </p:nvSpPr>
        <p:spPr>
          <a:xfrm>
            <a:off x="1318767" y="3047492"/>
            <a:ext cx="1206330" cy="366776"/>
          </a:xfrm>
          <a:prstGeom prst="rect">
            <a:avLst/>
          </a:prstGeom>
          <a:noFill/>
        </p:spPr>
        <p:txBody>
          <a:bodyPr wrap="none" lIns="0" rIns="0" tIns="0" bIns="0" anchor="ctr">
            <a:spAutoFit/>
          </a:bodyPr>
          <a:lstStyle/>
          <a:p>
            <a:pPr algn="ctr">
              <a:lnSpc>
                <a:spcPct val="95000"/>
              </a:lnSpc>
            </a:pPr>
            <a:r>
              <a:rPr sz="2000" b="1" i="0">
                <a:solidFill>
                  <a:srgbClr val="1F2430"/>
                </a:solidFill>
                <a:latin typeface="PT Sans"/>
              </a:rPr>
              <a:t>7</a:t>
            </a:r>
          </a:p>
        </p:txBody>
      </p:sp>
      <p:sp>
        <p:nvSpPr>
          <p:cNvPr id="28" name="venn-deco"/>
          <p:cNvSpPr txBox="1"/>
          <p:nvPr/>
        </p:nvSpPr>
        <p:spPr>
          <a:xfrm>
            <a:off x="2561674" y="3047492"/>
            <a:ext cx="1206330" cy="366776"/>
          </a:xfrm>
          <a:prstGeom prst="rect">
            <a:avLst/>
          </a:prstGeom>
          <a:noFill/>
        </p:spPr>
        <p:txBody>
          <a:bodyPr wrap="none" lIns="0" rIns="0" tIns="0" bIns="0" anchor="ctr">
            <a:spAutoFit/>
          </a:bodyPr>
          <a:lstStyle/>
          <a:p>
            <a:pPr algn="ctr">
              <a:lnSpc>
                <a:spcPct val="95000"/>
              </a:lnSpc>
            </a:pPr>
            <a:r>
              <a:rPr sz="2000" b="1" i="0">
                <a:solidFill>
                  <a:srgbClr val="1F2430"/>
                </a:solidFill>
                <a:latin typeface="PT Sans"/>
              </a:rPr>
              <a:t>7</a:t>
            </a:r>
          </a:p>
        </p:txBody>
      </p:sp>
      <p:sp>
        <p:nvSpPr>
          <p:cNvPr id="29" name="venn-deco"/>
          <p:cNvSpPr txBox="1"/>
          <p:nvPr/>
        </p:nvSpPr>
        <p:spPr>
          <a:xfrm>
            <a:off x="3804581" y="3047492"/>
            <a:ext cx="1206330" cy="366776"/>
          </a:xfrm>
          <a:prstGeom prst="rect">
            <a:avLst/>
          </a:prstGeom>
          <a:noFill/>
        </p:spPr>
        <p:txBody>
          <a:bodyPr wrap="none" lIns="0" rIns="0" tIns="0" bIns="0" anchor="ctr">
            <a:spAutoFit/>
          </a:bodyPr>
          <a:lstStyle/>
          <a:p>
            <a:pPr algn="ctr">
              <a:lnSpc>
                <a:spcPct val="95000"/>
              </a:lnSpc>
            </a:pPr>
            <a:r>
              <a:rPr sz="2000" b="1" i="0">
                <a:solidFill>
                  <a:srgbClr val="1F2430"/>
                </a:solidFill>
                <a:latin typeface="PT Sans"/>
              </a:rPr>
              <a:t>14</a:t>
            </a:r>
          </a:p>
        </p:txBody>
      </p:sp>
      <p:sp>
        <p:nvSpPr>
          <p:cNvPr id="30" name="venn-deco"/>
          <p:cNvSpPr txBox="1"/>
          <p:nvPr/>
        </p:nvSpPr>
        <p:spPr>
          <a:xfrm>
            <a:off x="1318767" y="3858259"/>
            <a:ext cx="1206330" cy="366776"/>
          </a:xfrm>
          <a:prstGeom prst="rect">
            <a:avLst/>
          </a:prstGeom>
          <a:noFill/>
        </p:spPr>
        <p:txBody>
          <a:bodyPr wrap="none" lIns="0" rIns="0" tIns="0" bIns="0" anchor="ctr">
            <a:spAutoFit/>
          </a:bodyPr>
          <a:lstStyle/>
          <a:p>
            <a:pPr algn="ctr">
              <a:lnSpc>
                <a:spcPct val="95000"/>
              </a:lnSpc>
            </a:pPr>
            <a:r>
              <a:rPr sz="2000" b="1" i="0">
                <a:solidFill>
                  <a:srgbClr val="1F2430"/>
                </a:solidFill>
                <a:latin typeface="PT Sans"/>
              </a:rPr>
              <a:t>4</a:t>
            </a:r>
          </a:p>
        </p:txBody>
      </p:sp>
      <p:sp>
        <p:nvSpPr>
          <p:cNvPr id="31" name="venn-deco"/>
          <p:cNvSpPr txBox="1"/>
          <p:nvPr/>
        </p:nvSpPr>
        <p:spPr>
          <a:xfrm>
            <a:off x="2561674" y="3858259"/>
            <a:ext cx="1206330" cy="366776"/>
          </a:xfrm>
          <a:prstGeom prst="rect">
            <a:avLst/>
          </a:prstGeom>
          <a:noFill/>
        </p:spPr>
        <p:txBody>
          <a:bodyPr wrap="none" lIns="0" rIns="0" tIns="0" bIns="0" anchor="ctr">
            <a:spAutoFit/>
          </a:bodyPr>
          <a:lstStyle/>
          <a:p>
            <a:pPr algn="ctr">
              <a:lnSpc>
                <a:spcPct val="95000"/>
              </a:lnSpc>
            </a:pPr>
            <a:r>
              <a:rPr sz="2000" b="1" i="0">
                <a:solidFill>
                  <a:srgbClr val="1F2430"/>
                </a:solidFill>
                <a:latin typeface="PT Sans"/>
              </a:rPr>
              <a:t>8</a:t>
            </a:r>
          </a:p>
        </p:txBody>
      </p:sp>
      <p:sp>
        <p:nvSpPr>
          <p:cNvPr id="32" name="venn-deco"/>
          <p:cNvSpPr txBox="1"/>
          <p:nvPr/>
        </p:nvSpPr>
        <p:spPr>
          <a:xfrm>
            <a:off x="3804581" y="3858259"/>
            <a:ext cx="1206330" cy="366776"/>
          </a:xfrm>
          <a:prstGeom prst="rect">
            <a:avLst/>
          </a:prstGeom>
          <a:noFill/>
        </p:spPr>
        <p:txBody>
          <a:bodyPr wrap="none" lIns="0" rIns="0" tIns="0" bIns="0" anchor="ctr">
            <a:spAutoFit/>
          </a:bodyPr>
          <a:lstStyle/>
          <a:p>
            <a:pPr algn="ctr">
              <a:lnSpc>
                <a:spcPct val="95000"/>
              </a:lnSpc>
            </a:pPr>
            <a:r>
              <a:rPr sz="2000" b="1" i="0">
                <a:solidFill>
                  <a:srgbClr val="1F2430"/>
                </a:solidFill>
                <a:latin typeface="PT Sans"/>
              </a:rPr>
              <a:t>12</a:t>
            </a:r>
          </a:p>
        </p:txBody>
      </p:sp>
      <p:sp>
        <p:nvSpPr>
          <p:cNvPr id="33" name="venn-deco"/>
          <p:cNvSpPr txBox="1"/>
          <p:nvPr/>
        </p:nvSpPr>
        <p:spPr>
          <a:xfrm>
            <a:off x="1318767" y="4669028"/>
            <a:ext cx="1206330" cy="366776"/>
          </a:xfrm>
          <a:prstGeom prst="rect">
            <a:avLst/>
          </a:prstGeom>
          <a:noFill/>
        </p:spPr>
        <p:txBody>
          <a:bodyPr wrap="none" lIns="0" rIns="0" tIns="0" bIns="0" anchor="ctr">
            <a:spAutoFit/>
          </a:bodyPr>
          <a:lstStyle/>
          <a:p>
            <a:pPr algn="ctr">
              <a:lnSpc>
                <a:spcPct val="95000"/>
              </a:lnSpc>
            </a:pPr>
            <a:r>
              <a:rPr sz="2000" b="1" i="0">
                <a:solidFill>
                  <a:srgbClr val="1F2430"/>
                </a:solidFill>
                <a:latin typeface="PT Sans"/>
              </a:rPr>
              <a:t>11</a:t>
            </a:r>
          </a:p>
        </p:txBody>
      </p:sp>
      <p:sp>
        <p:nvSpPr>
          <p:cNvPr id="34" name="venn-deco"/>
          <p:cNvSpPr txBox="1"/>
          <p:nvPr/>
        </p:nvSpPr>
        <p:spPr>
          <a:xfrm>
            <a:off x="2561674" y="4669028"/>
            <a:ext cx="1206330" cy="366776"/>
          </a:xfrm>
          <a:prstGeom prst="rect">
            <a:avLst/>
          </a:prstGeom>
          <a:noFill/>
        </p:spPr>
        <p:txBody>
          <a:bodyPr wrap="none" lIns="0" rIns="0" tIns="0" bIns="0" anchor="ctr">
            <a:spAutoFit/>
          </a:bodyPr>
          <a:lstStyle/>
          <a:p>
            <a:pPr algn="ctr">
              <a:lnSpc>
                <a:spcPct val="95000"/>
              </a:lnSpc>
            </a:pPr>
            <a:r>
              <a:rPr sz="2000" b="1" i="0">
                <a:solidFill>
                  <a:srgbClr val="1F2430"/>
                </a:solidFill>
                <a:latin typeface="PT Sans"/>
              </a:rPr>
              <a:t>15</a:t>
            </a:r>
          </a:p>
        </p:txBody>
      </p:sp>
      <p:sp>
        <p:nvSpPr>
          <p:cNvPr id="35" name="venn-deco"/>
          <p:cNvSpPr txBox="1"/>
          <p:nvPr/>
        </p:nvSpPr>
        <p:spPr>
          <a:xfrm>
            <a:off x="3804581" y="4669028"/>
            <a:ext cx="1206330" cy="366776"/>
          </a:xfrm>
          <a:prstGeom prst="rect">
            <a:avLst/>
          </a:prstGeom>
          <a:noFill/>
        </p:spPr>
        <p:txBody>
          <a:bodyPr wrap="none" lIns="0" rIns="0" tIns="0" bIns="0" anchor="ctr">
            <a:spAutoFit/>
          </a:bodyPr>
          <a:lstStyle/>
          <a:p>
            <a:pPr algn="ctr">
              <a:lnSpc>
                <a:spcPct val="95000"/>
              </a:lnSpc>
            </a:pPr>
            <a:r>
              <a:rPr sz="2000" b="1" i="0">
                <a:solidFill>
                  <a:srgbClr val="1F2430"/>
                </a:solidFill>
                <a:latin typeface="PT Sans"/>
              </a:rPr>
              <a:t>26</a:t>
            </a:r>
          </a:p>
        </p:txBody>
      </p:sp>
      <p:sp>
        <p:nvSpPr>
          <p:cNvPr id="36" name="venn-deco"/>
          <p:cNvSpPr/>
          <p:nvPr/>
        </p:nvSpPr>
        <p:spPr>
          <a:xfrm>
            <a:off x="548640" y="2240280"/>
            <a:ext cx="4480560" cy="3017520"/>
          </a:xfrm>
          <a:prstGeom prst="rect">
            <a:avLst/>
          </a:prstGeom>
          <a:noFill/>
          <a:ln w="25145">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7" name="venn-deco"/>
          <p:cNvCxnSpPr/>
          <p:nvPr/>
        </p:nvCxnSpPr>
        <p:spPr>
          <a:xfrm>
            <a:off x="1300479" y="2240280"/>
            <a:ext cx="0" cy="3017520"/>
          </a:xfrm>
          <a:prstGeom prst="line">
            <a:avLst/>
          </a:prstGeom>
          <a:ln w="25145">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8" name="venn-deco"/>
          <p:cNvCxnSpPr/>
          <p:nvPr/>
        </p:nvCxnSpPr>
        <p:spPr>
          <a:xfrm>
            <a:off x="548640" y="2825496"/>
            <a:ext cx="4480560" cy="0"/>
          </a:xfrm>
          <a:prstGeom prst="line">
            <a:avLst/>
          </a:prstGeom>
          <a:ln w="25145">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39" name="venn-deco"/>
          <p:cNvCxnSpPr/>
          <p:nvPr/>
        </p:nvCxnSpPr>
        <p:spPr>
          <a:xfrm>
            <a:off x="2543386" y="2240280"/>
            <a:ext cx="0" cy="3017520"/>
          </a:xfrm>
          <a:prstGeom prst="line">
            <a:avLst/>
          </a:prstGeom>
          <a:ln w="25145">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0" name="venn-deco"/>
          <p:cNvCxnSpPr/>
          <p:nvPr/>
        </p:nvCxnSpPr>
        <p:spPr>
          <a:xfrm>
            <a:off x="3786293" y="2240280"/>
            <a:ext cx="0" cy="3017520"/>
          </a:xfrm>
          <a:prstGeom prst="line">
            <a:avLst/>
          </a:prstGeom>
          <a:ln w="15087">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1" name="venn-deco"/>
          <p:cNvCxnSpPr/>
          <p:nvPr/>
        </p:nvCxnSpPr>
        <p:spPr>
          <a:xfrm>
            <a:off x="548640" y="3636264"/>
            <a:ext cx="4480560" cy="0"/>
          </a:xfrm>
          <a:prstGeom prst="line">
            <a:avLst/>
          </a:prstGeom>
          <a:ln w="25145">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42" name="venn-deco"/>
          <p:cNvCxnSpPr/>
          <p:nvPr/>
        </p:nvCxnSpPr>
        <p:spPr>
          <a:xfrm>
            <a:off x="548640" y="4447032"/>
            <a:ext cx="4480560" cy="0"/>
          </a:xfrm>
          <a:prstGeom prst="line">
            <a:avLst/>
          </a:prstGeom>
          <a:ln w="15087">
            <a:solidFill>
              <a:srgbClr val="1D3557"/>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ыкма: үч жол</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16/26</a:t>
            </a:r>
          </a:p>
        </p:txBody>
      </p:sp>
      <p:sp>
        <p:nvSpPr>
          <p:cNvPr id="10" name="Rounded Rectangle 9"/>
          <p:cNvSpPr/>
          <p:nvPr/>
        </p:nvSpPr>
        <p:spPr>
          <a:xfrm>
            <a:off x="429768"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07007"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Ортону бир жолу</a:t>
            </a:r>
          </a:p>
        </p:txBody>
      </p:sp>
      <p:sp>
        <p:nvSpPr>
          <p:cNvPr id="13" name="TextBox 12"/>
          <p:cNvSpPr txBox="1"/>
          <p:nvPr/>
        </p:nvSpPr>
        <p:spPr>
          <a:xfrm>
            <a:off x="658368"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15 + 12 − 6</a:t>
            </a:r>
          </a:p>
        </p:txBody>
      </p:sp>
      <p:sp>
        <p:nvSpPr>
          <p:cNvPr id="14" name="TextBox 13"/>
          <p:cNvSpPr txBox="1"/>
          <p:nvPr/>
        </p:nvSpPr>
        <p:spPr>
          <a:xfrm>
            <a:off x="658368"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27 − 6</a:t>
            </a:r>
          </a:p>
        </p:txBody>
      </p:sp>
      <p:sp>
        <p:nvSpPr>
          <p:cNvPr id="15" name="TextBox 14"/>
          <p:cNvSpPr txBox="1"/>
          <p:nvPr/>
        </p:nvSpPr>
        <p:spPr>
          <a:xfrm>
            <a:off x="658368"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21</a:t>
            </a:r>
          </a:p>
        </p:txBody>
      </p:sp>
      <p:sp>
        <p:nvSpPr>
          <p:cNvPr id="16" name="TextBox 15"/>
          <p:cNvSpPr txBox="1"/>
          <p:nvPr/>
        </p:nvSpPr>
        <p:spPr>
          <a:xfrm>
            <a:off x="658368"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A + B − кесилиш: ортодогулар эки жолу саналбайт.</a:t>
            </a:r>
          </a:p>
        </p:txBody>
      </p:sp>
      <p:sp>
        <p:nvSpPr>
          <p:cNvPr id="17" name="Rounded Rectangle 16"/>
          <p:cNvSpPr/>
          <p:nvPr/>
        </p:nvSpPr>
        <p:spPr>
          <a:xfrm>
            <a:off x="4297680"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480560"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9" name="TextBox 18"/>
          <p:cNvSpPr txBox="1"/>
          <p:nvPr/>
        </p:nvSpPr>
        <p:spPr>
          <a:xfrm>
            <a:off x="5074920"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Бөлүктөрдөн текшер</a:t>
            </a:r>
          </a:p>
        </p:txBody>
      </p:sp>
      <p:sp>
        <p:nvSpPr>
          <p:cNvPr id="20" name="TextBox 19"/>
          <p:cNvSpPr txBox="1"/>
          <p:nvPr/>
        </p:nvSpPr>
        <p:spPr>
          <a:xfrm>
            <a:off x="4526280"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9 + 6 + 6 + 5</a:t>
            </a:r>
          </a:p>
        </p:txBody>
      </p:sp>
      <p:sp>
        <p:nvSpPr>
          <p:cNvPr id="21" name="TextBox 20"/>
          <p:cNvSpPr txBox="1"/>
          <p:nvPr/>
        </p:nvSpPr>
        <p:spPr>
          <a:xfrm>
            <a:off x="4526280"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15 + 11</a:t>
            </a:r>
          </a:p>
        </p:txBody>
      </p:sp>
      <p:sp>
        <p:nvSpPr>
          <p:cNvPr id="22" name="TextBox 21"/>
          <p:cNvSpPr txBox="1"/>
          <p:nvPr/>
        </p:nvSpPr>
        <p:spPr>
          <a:xfrm>
            <a:off x="4526280"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26</a:t>
            </a:r>
          </a:p>
        </p:txBody>
      </p:sp>
      <p:sp>
        <p:nvSpPr>
          <p:cNvPr id="23" name="TextBox 22"/>
          <p:cNvSpPr txBox="1"/>
          <p:nvPr/>
        </p:nvSpPr>
        <p:spPr>
          <a:xfrm>
            <a:off x="4526280"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4 бөлүктүн суммасы = баары.</a:t>
            </a:r>
          </a:p>
        </p:txBody>
      </p:sp>
      <p:sp>
        <p:nvSpPr>
          <p:cNvPr id="24" name="Rounded Rectangle 23"/>
          <p:cNvSpPr/>
          <p:nvPr/>
        </p:nvSpPr>
        <p:spPr>
          <a:xfrm>
            <a:off x="8165592"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348472"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6" name="TextBox 25"/>
          <p:cNvSpPr txBox="1"/>
          <p:nvPr/>
        </p:nvSpPr>
        <p:spPr>
          <a:xfrm>
            <a:off x="8942832"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Ашыкчадан кесилиш</a:t>
            </a:r>
          </a:p>
        </p:txBody>
      </p:sp>
      <p:sp>
        <p:nvSpPr>
          <p:cNvPr id="27" name="TextBox 26"/>
          <p:cNvSpPr txBox="1"/>
          <p:nvPr/>
        </p:nvSpPr>
        <p:spPr>
          <a:xfrm>
            <a:off x="8394192"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15 + 12 = 27</a:t>
            </a:r>
          </a:p>
        </p:txBody>
      </p:sp>
      <p:sp>
        <p:nvSpPr>
          <p:cNvPr id="28" name="TextBox 27"/>
          <p:cNvSpPr txBox="1"/>
          <p:nvPr/>
        </p:nvSpPr>
        <p:spPr>
          <a:xfrm>
            <a:off x="8394192"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27 − 21</a:t>
            </a:r>
          </a:p>
        </p:txBody>
      </p:sp>
      <p:sp>
        <p:nvSpPr>
          <p:cNvPr id="29" name="TextBox 28"/>
          <p:cNvSpPr txBox="1"/>
          <p:nvPr/>
        </p:nvSpPr>
        <p:spPr>
          <a:xfrm>
            <a:off x="8394192"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6</a:t>
            </a:r>
          </a:p>
        </p:txBody>
      </p:sp>
      <p:sp>
        <p:nvSpPr>
          <p:cNvPr id="30" name="TextBox 29"/>
          <p:cNvSpPr txBox="1"/>
          <p:nvPr/>
        </p:nvSpPr>
        <p:spPr>
          <a:xfrm>
            <a:off x="8394192"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Эки жолу саналганы = экөө тең.</a:t>
            </a:r>
          </a:p>
        </p:txBody>
      </p:sp>
      <p:sp>
        <p:nvSpPr>
          <p:cNvPr id="31" name="Rounded Rectangle 30"/>
          <p:cNvSpPr/>
          <p:nvPr/>
        </p:nvSpPr>
        <p:spPr>
          <a:xfrm>
            <a:off x="429768" y="5577840"/>
            <a:ext cx="11329416" cy="502920"/>
          </a:xfrm>
          <a:prstGeom prst="roundRect">
            <a:avLst>
              <a:gd name="adj" fmla="val 40000"/>
            </a:avLst>
          </a:prstGeom>
          <a:solidFill>
            <a:srgbClr val="FFFFFF"/>
          </a:solidFill>
          <a:ln w="2222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700" b="1">
                <a:solidFill>
                  <a:srgbClr val="007A5A"/>
                </a:solidFill>
                <a:latin typeface="PT Sans"/>
              </a:rPr>
              <a:t>Түшүн → ыкма → эркин эсеп. Ыкмаңды үн чыгарып айт: «Мен ... деп ойлодум».</a:t>
            </a:r>
          </a:p>
        </p:txBody>
      </p:sp>
      <p:sp>
        <p:nvSpPr>
          <p:cNvPr id="32" name="Rounded Rectangle 31"/>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
        <p:nvSpPr>
          <p:cNvPr id="33" name="Rounded Rectangle 32"/>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4" name="Rounded Rectangle 33"/>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5" name="Rounded Rectangle 34"/>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Чечүүчү суроо</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17/26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200" b="0" i="0">
                <a:solidFill>
                  <a:srgbClr val="1F2430"/>
                </a:solidFill>
                <a:latin typeface="PT Sans"/>
              </a:rPr>
              <a:t>Класста 34 окуучу. 15и футбол, 11и шахмат ойнойт, 5и экөөнү тең. Канча окуучу эч бирин ойнобойт?</a:t>
            </a:r>
          </a:p>
        </p:txBody>
      </p:sp>
      <p:sp>
        <p:nvSpPr>
          <p:cNvPr id="12" name="Rounded Rectangle 11"/>
          <p:cNvSpPr/>
          <p:nvPr/>
        </p:nvSpPr>
        <p:spPr>
          <a:xfrm>
            <a:off x="429768"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04088"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А</a:t>
            </a:r>
          </a:p>
        </p:txBody>
      </p:sp>
      <p:sp>
        <p:nvSpPr>
          <p:cNvPr id="14" name="TextBox 13"/>
          <p:cNvSpPr txBox="1"/>
          <p:nvPr/>
        </p:nvSpPr>
        <p:spPr>
          <a:xfrm>
            <a:off x="1527048"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8</a:t>
            </a:r>
          </a:p>
        </p:txBody>
      </p:sp>
      <p:sp>
        <p:nvSpPr>
          <p:cNvPr id="15" name="Rounded Rectangle 14"/>
          <p:cNvSpPr/>
          <p:nvPr/>
        </p:nvSpPr>
        <p:spPr>
          <a:xfrm>
            <a:off x="6208776"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83096"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Б</a:t>
            </a:r>
          </a:p>
        </p:txBody>
      </p:sp>
      <p:sp>
        <p:nvSpPr>
          <p:cNvPr id="17" name="TextBox 16"/>
          <p:cNvSpPr txBox="1"/>
          <p:nvPr/>
        </p:nvSpPr>
        <p:spPr>
          <a:xfrm>
            <a:off x="7306056"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13</a:t>
            </a:r>
          </a:p>
        </p:txBody>
      </p:sp>
      <p:sp>
        <p:nvSpPr>
          <p:cNvPr id="18" name="Rounded Rectangle 17"/>
          <p:cNvSpPr/>
          <p:nvPr/>
        </p:nvSpPr>
        <p:spPr>
          <a:xfrm>
            <a:off x="429768"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4088"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В</a:t>
            </a:r>
          </a:p>
        </p:txBody>
      </p:sp>
      <p:sp>
        <p:nvSpPr>
          <p:cNvPr id="20" name="TextBox 19"/>
          <p:cNvSpPr txBox="1"/>
          <p:nvPr/>
        </p:nvSpPr>
        <p:spPr>
          <a:xfrm>
            <a:off x="1527048"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21</a:t>
            </a:r>
          </a:p>
        </p:txBody>
      </p:sp>
      <p:sp>
        <p:nvSpPr>
          <p:cNvPr id="21" name="Rounded Rectangle 20"/>
          <p:cNvSpPr/>
          <p:nvPr/>
        </p:nvSpPr>
        <p:spPr>
          <a:xfrm>
            <a:off x="6208776"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83096"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Г</a:t>
            </a:r>
          </a:p>
        </p:txBody>
      </p:sp>
      <p:sp>
        <p:nvSpPr>
          <p:cNvPr id="23" name="TextBox 22"/>
          <p:cNvSpPr txBox="1"/>
          <p:nvPr/>
        </p:nvSpPr>
        <p:spPr>
          <a:xfrm>
            <a:off x="7306056"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3</a:t>
            </a:r>
          </a:p>
        </p:txBody>
      </p:sp>
      <p:sp>
        <p:nvSpPr>
          <p:cNvPr id="24" name="Rounded Rectangle 23"/>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чий, анан эсепте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18/26</a:t>
            </a:r>
          </a:p>
        </p:txBody>
      </p:sp>
      <p:sp>
        <p:nvSpPr>
          <p:cNvPr id="10" name="Rounded Rectangle 9"/>
          <p:cNvSpPr/>
          <p:nvPr/>
        </p:nvSpPr>
        <p:spPr>
          <a:xfrm>
            <a:off x="429768"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Футбол 14, тогуз коргоол 10 окуучу, 5и экөөнө тең. Жок дегенде бир ийримде канча окуучу?</a:t>
            </a:r>
          </a:p>
        </p:txBody>
      </p:sp>
      <p:sp>
        <p:nvSpPr>
          <p:cNvPr id="13" name="TextBox 12"/>
          <p:cNvSpPr txBox="1"/>
          <p:nvPr/>
        </p:nvSpPr>
        <p:spPr>
          <a:xfrm>
            <a:off x="704088"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14" name="TextBox 13"/>
          <p:cNvSpPr txBox="1"/>
          <p:nvPr/>
        </p:nvSpPr>
        <p:spPr>
          <a:xfrm>
            <a:off x="612647"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15" name="Connector 14"/>
          <p:cNvCxnSpPr/>
          <p:nvPr/>
        </p:nvCxnSpPr>
        <p:spPr>
          <a:xfrm>
            <a:off x="2167128" y="4956048"/>
            <a:ext cx="170383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7"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17" name="Connector 16"/>
          <p:cNvCxnSpPr/>
          <p:nvPr/>
        </p:nvCxnSpPr>
        <p:spPr>
          <a:xfrm>
            <a:off x="1618488"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82439"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19600"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0" name="TextBox 19"/>
          <p:cNvSpPr txBox="1"/>
          <p:nvPr/>
        </p:nvSpPr>
        <p:spPr>
          <a:xfrm>
            <a:off x="4876800"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Класста 27 окуучу. Футбол 13, шахмат 11, экөө тең 4. Эч бирин ойнобогондор канча?</a:t>
            </a:r>
          </a:p>
        </p:txBody>
      </p:sp>
      <p:sp>
        <p:nvSpPr>
          <p:cNvPr id="21" name="TextBox 20"/>
          <p:cNvSpPr txBox="1"/>
          <p:nvPr/>
        </p:nvSpPr>
        <p:spPr>
          <a:xfrm>
            <a:off x="4556759"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22" name="TextBox 21"/>
          <p:cNvSpPr txBox="1"/>
          <p:nvPr/>
        </p:nvSpPr>
        <p:spPr>
          <a:xfrm>
            <a:off x="4465320"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23" name="Connector 22"/>
          <p:cNvCxnSpPr/>
          <p:nvPr/>
        </p:nvCxnSpPr>
        <p:spPr>
          <a:xfrm>
            <a:off x="6019800" y="4956048"/>
            <a:ext cx="1703831"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65320"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25" name="Connector 24"/>
          <p:cNvCxnSpPr/>
          <p:nvPr/>
        </p:nvCxnSpPr>
        <p:spPr>
          <a:xfrm>
            <a:off x="5471159"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35112"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72272"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8" name="TextBox 27"/>
          <p:cNvSpPr txBox="1"/>
          <p:nvPr/>
        </p:nvSpPr>
        <p:spPr>
          <a:xfrm>
            <a:off x="8729472"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Класста 30 окуучу. Футбол 16, тогуз коргоол 13, эч бирине жазылбаган 6. Экөө тең канча?</a:t>
            </a:r>
          </a:p>
        </p:txBody>
      </p:sp>
      <p:sp>
        <p:nvSpPr>
          <p:cNvPr id="29" name="TextBox 28"/>
          <p:cNvSpPr txBox="1"/>
          <p:nvPr/>
        </p:nvSpPr>
        <p:spPr>
          <a:xfrm>
            <a:off x="8409432"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30" name="TextBox 29"/>
          <p:cNvSpPr txBox="1"/>
          <p:nvPr/>
        </p:nvSpPr>
        <p:spPr>
          <a:xfrm>
            <a:off x="8317991"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31" name="Connector 30"/>
          <p:cNvCxnSpPr/>
          <p:nvPr/>
        </p:nvCxnSpPr>
        <p:spPr>
          <a:xfrm>
            <a:off x="9872471" y="4956048"/>
            <a:ext cx="170383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317991"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33" name="Connector 32"/>
          <p:cNvCxnSpPr/>
          <p:nvPr/>
        </p:nvCxnSpPr>
        <p:spPr>
          <a:xfrm>
            <a:off x="9323831" y="5641848"/>
            <a:ext cx="225247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19/26</a:t>
            </a:r>
          </a:p>
        </p:txBody>
      </p:sp>
      <p:sp>
        <p:nvSpPr>
          <p:cNvPr id="10" name="Rounded Rectangle 9"/>
          <p:cNvSpPr/>
          <p:nvPr/>
        </p:nvSpPr>
        <p:spPr>
          <a:xfrm>
            <a:off x="429768"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Футбол 14, тогуз коргоол 10 окуучу, 5и экөөнө тең. Жок дегенде бир ийримде канча окуучу?</a:t>
            </a:r>
          </a:p>
        </p:txBody>
      </p:sp>
      <p:sp>
        <p:nvSpPr>
          <p:cNvPr id="13" name="Rectangle 12"/>
          <p:cNvSpPr/>
          <p:nvPr/>
        </p:nvSpPr>
        <p:spPr>
          <a:xfrm>
            <a:off x="566928" y="3017520"/>
            <a:ext cx="1110274"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9</a:t>
            </a:r>
          </a:p>
        </p:txBody>
      </p:sp>
      <p:sp>
        <p:nvSpPr>
          <p:cNvPr id="14" name="Rectangle 13"/>
          <p:cNvSpPr/>
          <p:nvPr/>
        </p:nvSpPr>
        <p:spPr>
          <a:xfrm>
            <a:off x="1677202" y="3017520"/>
            <a:ext cx="616818" cy="384048"/>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5</a:t>
            </a:r>
          </a:p>
        </p:txBody>
      </p:sp>
      <p:sp>
        <p:nvSpPr>
          <p:cNvPr id="15" name="Rectangle 14"/>
          <p:cNvSpPr/>
          <p:nvPr/>
        </p:nvSpPr>
        <p:spPr>
          <a:xfrm>
            <a:off x="2294021" y="3017520"/>
            <a:ext cx="616818"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5</a:t>
            </a:r>
          </a:p>
        </p:txBody>
      </p:sp>
      <p:cxnSp>
        <p:nvCxnSpPr>
          <p:cNvPr id="16" name="Connector 15"/>
          <p:cNvCxnSpPr/>
          <p:nvPr/>
        </p:nvCxnSpPr>
        <p:spPr>
          <a:xfrm>
            <a:off x="3002280" y="30175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139440"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002280" y="3401568"/>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185160"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19</a:t>
            </a:r>
          </a:p>
        </p:txBody>
      </p:sp>
      <p:sp>
        <p:nvSpPr>
          <p:cNvPr id="20" name="TextBox 19"/>
          <p:cNvSpPr txBox="1"/>
          <p:nvPr/>
        </p:nvSpPr>
        <p:spPr>
          <a:xfrm>
            <a:off x="612647"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14 + 10 − 5 = 19 окуучу</a:t>
            </a:r>
          </a:p>
        </p:txBody>
      </p:sp>
      <p:sp>
        <p:nvSpPr>
          <p:cNvPr id="21" name="Rounded Rectangle 20"/>
          <p:cNvSpPr/>
          <p:nvPr/>
        </p:nvSpPr>
        <p:spPr>
          <a:xfrm>
            <a:off x="4282439"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19600"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3" name="TextBox 22"/>
          <p:cNvSpPr txBox="1"/>
          <p:nvPr/>
        </p:nvSpPr>
        <p:spPr>
          <a:xfrm>
            <a:off x="4876800"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Класста 27 окуучу. Футбол 13, шахмат 11, экөө тең 4. Эч бирин ойнобогондор канча?</a:t>
            </a:r>
          </a:p>
        </p:txBody>
      </p:sp>
      <p:sp>
        <p:nvSpPr>
          <p:cNvPr id="24" name="Rectangle 23"/>
          <p:cNvSpPr/>
          <p:nvPr/>
        </p:nvSpPr>
        <p:spPr>
          <a:xfrm>
            <a:off x="4419600" y="3017520"/>
            <a:ext cx="781304"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9</a:t>
            </a:r>
          </a:p>
        </p:txBody>
      </p:sp>
      <p:sp>
        <p:nvSpPr>
          <p:cNvPr id="25" name="Rectangle 24"/>
          <p:cNvSpPr/>
          <p:nvPr/>
        </p:nvSpPr>
        <p:spPr>
          <a:xfrm>
            <a:off x="5200904" y="3017520"/>
            <a:ext cx="347246" cy="384048"/>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4</a:t>
            </a:r>
          </a:p>
        </p:txBody>
      </p:sp>
      <p:sp>
        <p:nvSpPr>
          <p:cNvPr id="26" name="Rectangle 25"/>
          <p:cNvSpPr/>
          <p:nvPr/>
        </p:nvSpPr>
        <p:spPr>
          <a:xfrm>
            <a:off x="5548150" y="3017520"/>
            <a:ext cx="607680"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7</a:t>
            </a:r>
          </a:p>
        </p:txBody>
      </p:sp>
      <p:sp>
        <p:nvSpPr>
          <p:cNvPr id="27" name="Rectangle 26"/>
          <p:cNvSpPr/>
          <p:nvPr/>
        </p:nvSpPr>
        <p:spPr>
          <a:xfrm>
            <a:off x="6155831" y="3017520"/>
            <a:ext cx="607680" cy="384048"/>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6B7280"/>
                </a:solidFill>
                <a:latin typeface="PT Sans"/>
              </a:rPr>
              <a:t>?</a:t>
            </a:r>
          </a:p>
        </p:txBody>
      </p:sp>
      <p:cxnSp>
        <p:nvCxnSpPr>
          <p:cNvPr id="28" name="Connector 27"/>
          <p:cNvCxnSpPr/>
          <p:nvPr/>
        </p:nvCxnSpPr>
        <p:spPr>
          <a:xfrm>
            <a:off x="6854951" y="3017520"/>
            <a:ext cx="137161"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992112"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854951" y="3401568"/>
            <a:ext cx="137161"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037832"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27</a:t>
            </a:r>
          </a:p>
        </p:txBody>
      </p:sp>
      <p:sp>
        <p:nvSpPr>
          <p:cNvPr id="32" name="TextBox 31"/>
          <p:cNvSpPr txBox="1"/>
          <p:nvPr/>
        </p:nvSpPr>
        <p:spPr>
          <a:xfrm>
            <a:off x="4465320"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27 − 20 = 7 окуучу</a:t>
            </a:r>
          </a:p>
        </p:txBody>
      </p:sp>
      <p:sp>
        <p:nvSpPr>
          <p:cNvPr id="33" name="Rounded Rectangle 32"/>
          <p:cNvSpPr/>
          <p:nvPr/>
        </p:nvSpPr>
        <p:spPr>
          <a:xfrm>
            <a:off x="8135112"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272272"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35" name="TextBox 34"/>
          <p:cNvSpPr txBox="1"/>
          <p:nvPr/>
        </p:nvSpPr>
        <p:spPr>
          <a:xfrm>
            <a:off x="8729472"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Класста 30 окуучу. Футбол 16, тогуз коргоол 13, эч бирине жазылбаган 6. Экөө тең канча?</a:t>
            </a:r>
          </a:p>
        </p:txBody>
      </p:sp>
      <p:sp>
        <p:nvSpPr>
          <p:cNvPr id="36" name="TextBox 35"/>
          <p:cNvSpPr txBox="1"/>
          <p:nvPr/>
        </p:nvSpPr>
        <p:spPr>
          <a:xfrm>
            <a:off x="8272272" y="3017520"/>
            <a:ext cx="1371600" cy="384048"/>
          </a:xfrm>
          <a:prstGeom prst="rect">
            <a:avLst/>
          </a:prstGeom>
          <a:noFill/>
        </p:spPr>
        <p:txBody>
          <a:bodyPr wrap="square" anchor="ctr" lIns="45720" rIns="45720" tIns="27432" bIns="27432">
            <a:spAutoFit/>
          </a:bodyPr>
          <a:lstStyle/>
          <a:p>
            <a:pPr algn="r">
              <a:lnSpc>
                <a:spcPct val="105000"/>
              </a:lnSpc>
            </a:pPr>
            <a:r>
              <a:rPr sz="1100" b="1" i="0">
                <a:solidFill>
                  <a:srgbClr val="1F2430"/>
                </a:solidFill>
                <a:latin typeface="PT Sans"/>
              </a:rPr>
              <a:t>Ф + Т</a:t>
            </a:r>
          </a:p>
        </p:txBody>
      </p:sp>
      <p:sp>
        <p:nvSpPr>
          <p:cNvPr id="37" name="Rectangle 36"/>
          <p:cNvSpPr/>
          <p:nvPr/>
        </p:nvSpPr>
        <p:spPr>
          <a:xfrm>
            <a:off x="9735312" y="3017520"/>
            <a:ext cx="485998"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16</a:t>
            </a:r>
          </a:p>
        </p:txBody>
      </p:sp>
      <p:sp>
        <p:nvSpPr>
          <p:cNvPr id="38" name="Rectangle 37"/>
          <p:cNvSpPr/>
          <p:nvPr/>
        </p:nvSpPr>
        <p:spPr>
          <a:xfrm>
            <a:off x="10221310" y="3017520"/>
            <a:ext cx="394873"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13</a:t>
            </a:r>
          </a:p>
        </p:txBody>
      </p:sp>
      <p:sp>
        <p:nvSpPr>
          <p:cNvPr id="39" name="TextBox 38"/>
          <p:cNvSpPr txBox="1"/>
          <p:nvPr/>
        </p:nvSpPr>
        <p:spPr>
          <a:xfrm>
            <a:off x="8272272" y="3574389"/>
            <a:ext cx="1371600" cy="384048"/>
          </a:xfrm>
          <a:prstGeom prst="rect">
            <a:avLst/>
          </a:prstGeom>
          <a:noFill/>
        </p:spPr>
        <p:txBody>
          <a:bodyPr wrap="square" anchor="ctr" lIns="45720" rIns="45720" tIns="27432" bIns="27432">
            <a:spAutoFit/>
          </a:bodyPr>
          <a:lstStyle/>
          <a:p>
            <a:pPr algn="r">
              <a:lnSpc>
                <a:spcPct val="105000"/>
              </a:lnSpc>
            </a:pPr>
            <a:r>
              <a:rPr sz="1100" b="1" i="0">
                <a:solidFill>
                  <a:srgbClr val="1F2430"/>
                </a:solidFill>
                <a:latin typeface="PT Sans"/>
              </a:rPr>
              <a:t>Ичинде</a:t>
            </a:r>
          </a:p>
        </p:txBody>
      </p:sp>
      <p:sp>
        <p:nvSpPr>
          <p:cNvPr id="40" name="Rectangle 39"/>
          <p:cNvSpPr/>
          <p:nvPr/>
        </p:nvSpPr>
        <p:spPr>
          <a:xfrm>
            <a:off x="9735312" y="3574389"/>
            <a:ext cx="728997"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24</a:t>
            </a:r>
          </a:p>
        </p:txBody>
      </p:sp>
      <p:sp>
        <p:nvSpPr>
          <p:cNvPr id="41" name="Rectangle 40"/>
          <p:cNvSpPr/>
          <p:nvPr/>
        </p:nvSpPr>
        <p:spPr>
          <a:xfrm>
            <a:off x="10464309" y="3574389"/>
            <a:ext cx="151874" cy="384048"/>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6B7280"/>
                </a:solidFill>
                <a:latin typeface="PT Sans"/>
              </a:rPr>
              <a:t>?</a:t>
            </a:r>
          </a:p>
        </p:txBody>
      </p:sp>
      <p:sp>
        <p:nvSpPr>
          <p:cNvPr id="42" name="TextBox 41"/>
          <p:cNvSpPr txBox="1"/>
          <p:nvPr/>
        </p:nvSpPr>
        <p:spPr>
          <a:xfrm>
            <a:off x="8317991"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16 + 13 − 24 = 5 окуучу</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20/26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Дептериңе чыгар. Кыйын болсо – жакшы! Мээң өсүп жатат.</a:t>
            </a:r>
          </a:p>
        </p:txBody>
      </p:sp>
      <p:sp>
        <p:nvSpPr>
          <p:cNvPr id="11" name="Rounded Rectangle 10"/>
          <p:cNvSpPr/>
          <p:nvPr/>
        </p:nvSpPr>
        <p:spPr>
          <a:xfrm>
            <a:off x="429768"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{2, 3, 5, 7} ∩ {1, 3, 5, 9}</a:t>
            </a:r>
          </a:p>
        </p:txBody>
      </p:sp>
      <p:sp>
        <p:nvSpPr>
          <p:cNvPr id="14" name="Rounded Rectangle 13"/>
          <p:cNvSpPr/>
          <p:nvPr/>
        </p:nvSpPr>
        <p:spPr>
          <a:xfrm>
            <a:off x="6208776"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{2, 3, 5, 7} ∪ {1, 3, 5, 9}</a:t>
            </a:r>
          </a:p>
        </p:txBody>
      </p:sp>
      <p:sp>
        <p:nvSpPr>
          <p:cNvPr id="17" name="Rounded Rectangle 16"/>
          <p:cNvSpPr/>
          <p:nvPr/>
        </p:nvSpPr>
        <p:spPr>
          <a:xfrm>
            <a:off x="429768"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Футбол 16, шахмат 9, экөө тең 5. Жок дегенде бирөө?</a:t>
            </a:r>
          </a:p>
        </p:txBody>
      </p:sp>
      <p:sp>
        <p:nvSpPr>
          <p:cNvPr id="20" name="Rounded Rectangle 19"/>
          <p:cNvSpPr/>
          <p:nvPr/>
        </p:nvSpPr>
        <p:spPr>
          <a:xfrm>
            <a:off x="6208776"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Футбол 16, экөө тең 5. Футбол гана?</a:t>
            </a:r>
          </a:p>
        </p:txBody>
      </p:sp>
      <p:sp>
        <p:nvSpPr>
          <p:cNvPr id="23" name="Rounded Rectangle 22"/>
          <p:cNvSpPr/>
          <p:nvPr/>
        </p:nvSpPr>
        <p:spPr>
          <a:xfrm>
            <a:off x="429768"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5" name="TextBox 24"/>
          <p:cNvSpPr txBox="1"/>
          <p:nvPr/>
        </p:nvSpPr>
        <p:spPr>
          <a:xfrm>
            <a:off x="1207007"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Баары 32, жок дегенде бирөө 25. Эч бири?</a:t>
            </a:r>
          </a:p>
        </p:txBody>
      </p:sp>
      <p:sp>
        <p:nvSpPr>
          <p:cNvPr id="26" name="Rounded Rectangle 25"/>
          <p:cNvSpPr/>
          <p:nvPr/>
        </p:nvSpPr>
        <p:spPr>
          <a:xfrm>
            <a:off x="6208776"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91656"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6</a:t>
            </a:r>
          </a:p>
        </p:txBody>
      </p:sp>
      <p:sp>
        <p:nvSpPr>
          <p:cNvPr id="28" name="TextBox 27"/>
          <p:cNvSpPr txBox="1"/>
          <p:nvPr/>
        </p:nvSpPr>
        <p:spPr>
          <a:xfrm>
            <a:off x="6986016"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Баары 30, футбол 14, шахмат 13, эч бири 7. Экөө тең?</a:t>
            </a:r>
          </a:p>
        </p:txBody>
      </p:sp>
      <p:sp>
        <p:nvSpPr>
          <p:cNvPr id="29" name="Rounded Rectangle 28"/>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0" name="Rounded Rectangle 29"/>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1" name="Rounded Rectangle 30"/>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21/26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{2, 3, 5, 7} ∩ {1, 3, 5, 9}</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{3, 5}</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{2, 3, 5, 7} ∪ {1, 3, 5, 9}</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 2, 3, 5, 7, 9}</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Футбол 16, шахмат 9, экөө тең 5. Жок дегенде бирөө?</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20</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Футбол 16, экөө тең 5. Футбол гана?</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11</a:t>
            </a:r>
          </a:p>
        </p:txBody>
      </p:sp>
      <p:sp>
        <p:nvSpPr>
          <p:cNvPr id="26" name="Rounded Rectangle 25"/>
          <p:cNvSpPr/>
          <p:nvPr/>
        </p:nvSpPr>
        <p:spPr>
          <a:xfrm>
            <a:off x="429768"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6928"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5</a:t>
            </a:r>
          </a:p>
        </p:txBody>
      </p:sp>
      <p:sp>
        <p:nvSpPr>
          <p:cNvPr id="28" name="TextBox 27"/>
          <p:cNvSpPr txBox="1"/>
          <p:nvPr/>
        </p:nvSpPr>
        <p:spPr>
          <a:xfrm>
            <a:off x="1115568"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Баары 32, жок дегенде бирөө 25. Эч бири?</a:t>
            </a:r>
          </a:p>
        </p:txBody>
      </p:sp>
      <p:sp>
        <p:nvSpPr>
          <p:cNvPr id="29" name="TextBox 28"/>
          <p:cNvSpPr txBox="1"/>
          <p:nvPr/>
        </p:nvSpPr>
        <p:spPr>
          <a:xfrm>
            <a:off x="4334804"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7</a:t>
            </a:r>
          </a:p>
        </p:txBody>
      </p:sp>
      <p:sp>
        <p:nvSpPr>
          <p:cNvPr id="30" name="Rounded Rectangle 29"/>
          <p:cNvSpPr/>
          <p:nvPr/>
        </p:nvSpPr>
        <p:spPr>
          <a:xfrm>
            <a:off x="6208776"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45936"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6</a:t>
            </a:r>
          </a:p>
        </p:txBody>
      </p:sp>
      <p:sp>
        <p:nvSpPr>
          <p:cNvPr id="32" name="TextBox 31"/>
          <p:cNvSpPr txBox="1"/>
          <p:nvPr/>
        </p:nvSpPr>
        <p:spPr>
          <a:xfrm>
            <a:off x="6894576"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Баары 30, футбол 14, шахмат 13, эч бири 7. Экөө тең?</a:t>
            </a:r>
          </a:p>
        </p:txBody>
      </p:sp>
      <p:sp>
        <p:nvSpPr>
          <p:cNvPr id="33" name="TextBox 32"/>
          <p:cNvSpPr txBox="1"/>
          <p:nvPr/>
        </p:nvSpPr>
        <p:spPr>
          <a:xfrm>
            <a:off x="10113812"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Окуяга кайтабыз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26 окуучунун 15и футболго, 12си тогуз коргоолго, 6сы экөөнө тең жазылды. Канча окуучу эч бир ийримге жазылган жок?</a:t>
            </a:r>
          </a:p>
        </p:txBody>
      </p:sp>
      <p:sp>
        <p:nvSpPr>
          <p:cNvPr id="12" name="TextBox 11"/>
          <p:cNvSpPr txBox="1"/>
          <p:nvPr/>
        </p:nvSpPr>
        <p:spPr>
          <a:xfrm>
            <a:off x="914400" y="2240280"/>
            <a:ext cx="1371600" cy="548640"/>
          </a:xfrm>
          <a:prstGeom prst="rect">
            <a:avLst/>
          </a:prstGeom>
          <a:noFill/>
        </p:spPr>
        <p:txBody>
          <a:bodyPr wrap="square" anchor="ctr" lIns="45720" rIns="45720" tIns="27432" bIns="27432">
            <a:spAutoFit/>
          </a:bodyPr>
          <a:lstStyle/>
          <a:p>
            <a:pPr algn="r">
              <a:lnSpc>
                <a:spcPct val="105000"/>
              </a:lnSpc>
            </a:pPr>
            <a:r>
              <a:rPr sz="1800" b="1" i="0">
                <a:solidFill>
                  <a:srgbClr val="1F2430"/>
                </a:solidFill>
                <a:latin typeface="PT Sans"/>
              </a:rPr>
              <a:t>Класс</a:t>
            </a:r>
          </a:p>
        </p:txBody>
      </p:sp>
      <p:sp>
        <p:nvSpPr>
          <p:cNvPr id="13" name="Rectangle 12"/>
          <p:cNvSpPr/>
          <p:nvPr/>
        </p:nvSpPr>
        <p:spPr>
          <a:xfrm>
            <a:off x="2377440" y="2240280"/>
            <a:ext cx="2627141"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Ф гана 9</a:t>
            </a:r>
          </a:p>
        </p:txBody>
      </p:sp>
      <p:sp>
        <p:nvSpPr>
          <p:cNvPr id="14" name="Rectangle 13"/>
          <p:cNvSpPr/>
          <p:nvPr/>
        </p:nvSpPr>
        <p:spPr>
          <a:xfrm>
            <a:off x="5004581" y="2240280"/>
            <a:ext cx="1751427" cy="548640"/>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экөө 6</a:t>
            </a:r>
          </a:p>
        </p:txBody>
      </p:sp>
      <p:sp>
        <p:nvSpPr>
          <p:cNvPr id="15" name="Rectangle 14"/>
          <p:cNvSpPr/>
          <p:nvPr/>
        </p:nvSpPr>
        <p:spPr>
          <a:xfrm>
            <a:off x="6756009" y="2240280"/>
            <a:ext cx="1751427"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Т гана 6</a:t>
            </a:r>
          </a:p>
        </p:txBody>
      </p:sp>
      <p:sp>
        <p:nvSpPr>
          <p:cNvPr id="16" name="Rectangle 15"/>
          <p:cNvSpPr/>
          <p:nvPr/>
        </p:nvSpPr>
        <p:spPr>
          <a:xfrm>
            <a:off x="8507436" y="2240280"/>
            <a:ext cx="1459523" cy="548640"/>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6B7280"/>
                </a:solidFill>
                <a:latin typeface="PT Sans"/>
              </a:rPr>
              <a:t>?</a:t>
            </a:r>
          </a:p>
        </p:txBody>
      </p:sp>
      <p:cxnSp>
        <p:nvCxnSpPr>
          <p:cNvPr id="17" name="Connector 16"/>
          <p:cNvCxnSpPr/>
          <p:nvPr/>
        </p:nvCxnSpPr>
        <p:spPr>
          <a:xfrm>
            <a:off x="10058399" y="224028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195559" y="2240280"/>
            <a:ext cx="0" cy="54864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058399" y="27889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241279" y="2240280"/>
            <a:ext cx="1005840" cy="548640"/>
          </a:xfrm>
          <a:prstGeom prst="rect">
            <a:avLst/>
          </a:prstGeom>
          <a:noFill/>
        </p:spPr>
        <p:txBody>
          <a:bodyPr wrap="square" anchor="ctr" lIns="45720" rIns="45720" tIns="27432" bIns="27432">
            <a:spAutoFit/>
          </a:bodyPr>
          <a:lstStyle/>
          <a:p>
            <a:pPr algn="l">
              <a:lnSpc>
                <a:spcPct val="105000"/>
              </a:lnSpc>
            </a:pPr>
            <a:r>
              <a:rPr sz="2200" b="1" i="0">
                <a:solidFill>
                  <a:srgbClr val="A84400"/>
                </a:solidFill>
                <a:latin typeface="PT Sans"/>
              </a:rPr>
              <a:t>26</a:t>
            </a:r>
          </a:p>
        </p:txBody>
      </p:sp>
      <p:sp>
        <p:nvSpPr>
          <p:cNvPr id="21" name="TextBox 20"/>
          <p:cNvSpPr txBox="1"/>
          <p:nvPr/>
        </p:nvSpPr>
        <p:spPr>
          <a:xfrm>
            <a:off x="731520" y="3127248"/>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15 − 6 = 9</a:t>
            </a:r>
          </a:p>
        </p:txBody>
      </p:sp>
      <p:sp>
        <p:nvSpPr>
          <p:cNvPr id="22" name="TextBox 21"/>
          <p:cNvSpPr txBox="1"/>
          <p:nvPr/>
        </p:nvSpPr>
        <p:spPr>
          <a:xfrm>
            <a:off x="8366760" y="3127248"/>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футбол гана</a:t>
            </a:r>
          </a:p>
        </p:txBody>
      </p:sp>
      <p:sp>
        <p:nvSpPr>
          <p:cNvPr id="23" name="TextBox 22"/>
          <p:cNvSpPr txBox="1"/>
          <p:nvPr/>
        </p:nvSpPr>
        <p:spPr>
          <a:xfrm>
            <a:off x="731520" y="3694176"/>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12 − 6 = 6</a:t>
            </a:r>
          </a:p>
        </p:txBody>
      </p:sp>
      <p:sp>
        <p:nvSpPr>
          <p:cNvPr id="24" name="TextBox 23"/>
          <p:cNvSpPr txBox="1"/>
          <p:nvPr/>
        </p:nvSpPr>
        <p:spPr>
          <a:xfrm>
            <a:off x="8366760" y="3694176"/>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тогуз коргоол гана</a:t>
            </a:r>
          </a:p>
        </p:txBody>
      </p:sp>
      <p:sp>
        <p:nvSpPr>
          <p:cNvPr id="25" name="TextBox 24"/>
          <p:cNvSpPr txBox="1"/>
          <p:nvPr/>
        </p:nvSpPr>
        <p:spPr>
          <a:xfrm>
            <a:off x="731520" y="4261104"/>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9 + 6 + 6 = 21</a:t>
            </a:r>
          </a:p>
        </p:txBody>
      </p:sp>
      <p:sp>
        <p:nvSpPr>
          <p:cNvPr id="26" name="TextBox 25"/>
          <p:cNvSpPr txBox="1"/>
          <p:nvPr/>
        </p:nvSpPr>
        <p:spPr>
          <a:xfrm>
            <a:off x="8366760" y="4261104"/>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жок дегенде бирөөндө</a:t>
            </a:r>
          </a:p>
        </p:txBody>
      </p:sp>
      <p:sp>
        <p:nvSpPr>
          <p:cNvPr id="27" name="TextBox 26"/>
          <p:cNvSpPr txBox="1"/>
          <p:nvPr/>
        </p:nvSpPr>
        <p:spPr>
          <a:xfrm>
            <a:off x="731520" y="4828032"/>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24418C"/>
                </a:solidFill>
                <a:latin typeface="PT Sans"/>
              </a:rPr>
              <a:t>26 − 21 = 5</a:t>
            </a:r>
          </a:p>
        </p:txBody>
      </p:sp>
      <p:sp>
        <p:nvSpPr>
          <p:cNvPr id="28" name="TextBox 27"/>
          <p:cNvSpPr txBox="1"/>
          <p:nvPr/>
        </p:nvSpPr>
        <p:spPr>
          <a:xfrm>
            <a:off x="8366760" y="4828032"/>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эч биринде жок</a:t>
            </a:r>
          </a:p>
        </p:txBody>
      </p:sp>
      <p:sp>
        <p:nvSpPr>
          <p:cNvPr id="29" name="Rounded Rectangle 28"/>
          <p:cNvSpPr/>
          <p:nvPr/>
        </p:nvSpPr>
        <p:spPr>
          <a:xfrm>
            <a:off x="1874519" y="5486400"/>
            <a:ext cx="8449056" cy="640080"/>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5 окуучу ийримсиз: аларды комузга чакырабыз!</a:t>
            </a:r>
          </a:p>
        </p:txBody>
      </p:sp>
      <p:sp>
        <p:nvSpPr>
          <p:cNvPr id="30" name="Rounded Rectangle 29"/>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
        <p:nvSpPr>
          <p:cNvPr id="31" name="venn-deco"/>
          <p:cNvSpPr/>
          <p:nvPr/>
        </p:nvSpPr>
        <p:spPr>
          <a:xfrm>
            <a:off x="502920" y="3108960"/>
            <a:ext cx="3566160" cy="2148840"/>
          </a:xfrm>
          <a:prstGeom prst="roundRect">
            <a:avLst>
              <a:gd name="adj" fmla="val 3404"/>
            </a:avLst>
          </a:prstGeom>
          <a:solidFill>
            <a:srgbClr val="FFFFFF"/>
          </a:solidFill>
          <a:ln w="16116">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venn-deco"/>
          <p:cNvSpPr/>
          <p:nvPr/>
        </p:nvSpPr>
        <p:spPr>
          <a:xfrm>
            <a:off x="627735" y="3492550"/>
            <a:ext cx="1720879" cy="1657807"/>
          </a:xfrm>
          <a:prstGeom prst="ellipse">
            <a:avLst/>
          </a:prstGeom>
          <a:solidFill>
            <a:srgbClr val="B5E2D3">
              <a:alpha val="55000"/>
            </a:srgbClr>
          </a:solidFill>
          <a:ln w="2686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venn-deco"/>
          <p:cNvSpPr/>
          <p:nvPr/>
        </p:nvSpPr>
        <p:spPr>
          <a:xfrm>
            <a:off x="1866768" y="3492550"/>
            <a:ext cx="1720879" cy="1657807"/>
          </a:xfrm>
          <a:prstGeom prst="ellipse">
            <a:avLst/>
          </a:prstGeom>
          <a:solidFill>
            <a:srgbClr val="BFCBE9">
              <a:alpha val="55000"/>
            </a:srgbClr>
          </a:solidFill>
          <a:ln w="2686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venn-deco"/>
          <p:cNvSpPr txBox="1"/>
          <p:nvPr/>
        </p:nvSpPr>
        <p:spPr>
          <a:xfrm>
            <a:off x="627735" y="3192551"/>
            <a:ext cx="603504" cy="234696"/>
          </a:xfrm>
          <a:prstGeom prst="rect">
            <a:avLst/>
          </a:prstGeom>
          <a:noFill/>
        </p:spPr>
        <p:txBody>
          <a:bodyPr wrap="none" lIns="0" rIns="0" tIns="0" bIns="0" anchor="ctr">
            <a:spAutoFit/>
          </a:bodyPr>
          <a:lstStyle/>
          <a:p>
            <a:pPr algn="ctr">
              <a:lnSpc>
                <a:spcPct val="95000"/>
              </a:lnSpc>
            </a:pPr>
            <a:r>
              <a:rPr sz="1200" b="1" i="0">
                <a:solidFill>
                  <a:srgbClr val="007A5A"/>
                </a:solidFill>
                <a:latin typeface="PT Sans"/>
              </a:rPr>
              <a:t>Футбол</a:t>
            </a:r>
          </a:p>
        </p:txBody>
      </p:sp>
      <p:sp>
        <p:nvSpPr>
          <p:cNvPr id="35" name="venn-deco"/>
          <p:cNvSpPr txBox="1"/>
          <p:nvPr/>
        </p:nvSpPr>
        <p:spPr>
          <a:xfrm>
            <a:off x="2642768" y="3192551"/>
            <a:ext cx="944880" cy="234696"/>
          </a:xfrm>
          <a:prstGeom prst="rect">
            <a:avLst/>
          </a:prstGeom>
          <a:noFill/>
        </p:spPr>
        <p:txBody>
          <a:bodyPr wrap="none" lIns="0" rIns="0" tIns="0" bIns="0" anchor="ctr">
            <a:spAutoFit/>
          </a:bodyPr>
          <a:lstStyle/>
          <a:p>
            <a:pPr algn="ctr">
              <a:lnSpc>
                <a:spcPct val="95000"/>
              </a:lnSpc>
            </a:pPr>
            <a:r>
              <a:rPr sz="1200" b="1" i="0">
                <a:solidFill>
                  <a:srgbClr val="24418C"/>
                </a:solidFill>
                <a:latin typeface="PT Sans"/>
              </a:rPr>
              <a:t>Т. коргоол</a:t>
            </a:r>
          </a:p>
        </p:txBody>
      </p:sp>
      <p:sp>
        <p:nvSpPr>
          <p:cNvPr id="36" name="venn-deco"/>
          <p:cNvSpPr txBox="1"/>
          <p:nvPr/>
        </p:nvSpPr>
        <p:spPr>
          <a:xfrm>
            <a:off x="3634282" y="3145536"/>
            <a:ext cx="263347" cy="214884"/>
          </a:xfrm>
          <a:prstGeom prst="rect">
            <a:avLst/>
          </a:prstGeom>
          <a:noFill/>
        </p:spPr>
        <p:txBody>
          <a:bodyPr wrap="none" lIns="0" rIns="0" tIns="0" bIns="0" anchor="ctr">
            <a:spAutoFit/>
          </a:bodyPr>
          <a:lstStyle/>
          <a:p>
            <a:pPr algn="ctr">
              <a:lnSpc>
                <a:spcPct val="95000"/>
              </a:lnSpc>
            </a:pPr>
            <a:r>
              <a:rPr sz="1080" b="0" i="1">
                <a:solidFill>
                  <a:srgbClr val="4A5A70"/>
                </a:solidFill>
                <a:latin typeface="PT Sans"/>
              </a:rPr>
              <a:t>26</a:t>
            </a:r>
          </a:p>
        </p:txBody>
      </p:sp>
      <p:sp>
        <p:nvSpPr>
          <p:cNvPr id="37" name="venn-deco"/>
          <p:cNvSpPr txBox="1"/>
          <p:nvPr/>
        </p:nvSpPr>
        <p:spPr>
          <a:xfrm>
            <a:off x="1128380" y="4154576"/>
            <a:ext cx="237744" cy="333756"/>
          </a:xfrm>
          <a:prstGeom prst="rect">
            <a:avLst/>
          </a:prstGeom>
          <a:noFill/>
        </p:spPr>
        <p:txBody>
          <a:bodyPr wrap="none" lIns="0" rIns="0" tIns="0" bIns="0" anchor="ctr">
            <a:spAutoFit/>
          </a:bodyPr>
          <a:lstStyle/>
          <a:p>
            <a:pPr algn="ctr">
              <a:lnSpc>
                <a:spcPct val="95000"/>
              </a:lnSpc>
            </a:pPr>
            <a:r>
              <a:rPr sz="1800" b="1" i="0">
                <a:solidFill>
                  <a:srgbClr val="1F2430"/>
                </a:solidFill>
                <a:latin typeface="PT Sans"/>
              </a:rPr>
              <a:t>9</a:t>
            </a:r>
          </a:p>
        </p:txBody>
      </p:sp>
      <p:sp>
        <p:nvSpPr>
          <p:cNvPr id="38" name="venn-deco"/>
          <p:cNvSpPr txBox="1"/>
          <p:nvPr/>
        </p:nvSpPr>
        <p:spPr>
          <a:xfrm>
            <a:off x="1988820" y="4154576"/>
            <a:ext cx="237744" cy="333756"/>
          </a:xfrm>
          <a:prstGeom prst="rect">
            <a:avLst/>
          </a:prstGeom>
          <a:noFill/>
        </p:spPr>
        <p:txBody>
          <a:bodyPr wrap="none" lIns="0" rIns="0" tIns="0" bIns="0" anchor="ctr">
            <a:spAutoFit/>
          </a:bodyPr>
          <a:lstStyle/>
          <a:p>
            <a:pPr algn="ctr">
              <a:lnSpc>
                <a:spcPct val="95000"/>
              </a:lnSpc>
            </a:pPr>
            <a:r>
              <a:rPr sz="1800" b="1" i="0">
                <a:solidFill>
                  <a:srgbClr val="1F2430"/>
                </a:solidFill>
                <a:latin typeface="PT Sans"/>
              </a:rPr>
              <a:t>6</a:t>
            </a:r>
          </a:p>
        </p:txBody>
      </p:sp>
      <p:sp>
        <p:nvSpPr>
          <p:cNvPr id="39" name="venn-deco"/>
          <p:cNvSpPr txBox="1"/>
          <p:nvPr/>
        </p:nvSpPr>
        <p:spPr>
          <a:xfrm>
            <a:off x="2849259" y="4154576"/>
            <a:ext cx="237744" cy="333756"/>
          </a:xfrm>
          <a:prstGeom prst="rect">
            <a:avLst/>
          </a:prstGeom>
          <a:noFill/>
        </p:spPr>
        <p:txBody>
          <a:bodyPr wrap="none" lIns="0" rIns="0" tIns="0" bIns="0" anchor="ctr">
            <a:spAutoFit/>
          </a:bodyPr>
          <a:lstStyle/>
          <a:p>
            <a:pPr algn="ctr">
              <a:lnSpc>
                <a:spcPct val="95000"/>
              </a:lnSpc>
            </a:pPr>
            <a:r>
              <a:rPr sz="1800" b="1" i="0">
                <a:solidFill>
                  <a:srgbClr val="1F2430"/>
                </a:solidFill>
                <a:latin typeface="PT Sans"/>
              </a:rPr>
              <a:t>6</a:t>
            </a:r>
          </a:p>
        </p:txBody>
      </p:sp>
      <p:sp>
        <p:nvSpPr>
          <p:cNvPr id="40" name="venn-deco"/>
          <p:cNvSpPr txBox="1"/>
          <p:nvPr/>
        </p:nvSpPr>
        <p:spPr>
          <a:xfrm>
            <a:off x="3647084" y="4188409"/>
            <a:ext cx="237744" cy="333756"/>
          </a:xfrm>
          <a:prstGeom prst="rect">
            <a:avLst/>
          </a:prstGeom>
          <a:noFill/>
        </p:spPr>
        <p:txBody>
          <a:bodyPr wrap="none" lIns="0" rIns="0" tIns="0" bIns="0" anchor="ctr">
            <a:spAutoFit/>
          </a:bodyPr>
          <a:lstStyle/>
          <a:p>
            <a:pPr algn="ctr">
              <a:lnSpc>
                <a:spcPct val="95000"/>
              </a:lnSpc>
            </a:pPr>
            <a:r>
              <a:rPr sz="1800" b="1" i="0">
                <a:solidFill>
                  <a:srgbClr val="1F2430"/>
                </a:solidFill>
                <a:latin typeface="PT Sans"/>
              </a:rPr>
              <a:t>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Түз: өзүң маселе түз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23/26</a:t>
            </a:r>
          </a:p>
        </p:txBody>
      </p:sp>
      <p:sp>
        <p:nvSpPr>
          <p:cNvPr id="10" name="Rounded Rectangle 9"/>
          <p:cNvSpPr/>
          <p:nvPr/>
        </p:nvSpPr>
        <p:spPr>
          <a:xfrm>
            <a:off x="429768" y="1225296"/>
            <a:ext cx="11329416" cy="48920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71600"/>
            <a:ext cx="10780776" cy="914400"/>
          </a:xfrm>
          <a:prstGeom prst="rect">
            <a:avLst/>
          </a:prstGeom>
          <a:noFill/>
        </p:spPr>
        <p:txBody>
          <a:bodyPr wrap="square" anchor="t" lIns="45720" rIns="45720" tIns="27432" bIns="27432">
            <a:spAutoFit/>
          </a:bodyPr>
          <a:lstStyle/>
          <a:p>
            <a:pPr algn="l">
              <a:lnSpc>
                <a:spcPct val="105000"/>
              </a:lnSpc>
            </a:pPr>
            <a:r>
              <a:rPr sz="2400" b="1" i="0">
                <a:solidFill>
                  <a:srgbClr val="1F2430"/>
                </a:solidFill>
                <a:latin typeface="PT Sans"/>
              </a:rPr>
              <a:t>Ат-Башыдагы ийримдер жөнүндө маселе түз: Венн диаграммасы, сыртында да окуучулар болсун.</a:t>
            </a:r>
          </a:p>
        </p:txBody>
      </p:sp>
      <p:sp>
        <p:nvSpPr>
          <p:cNvPr id="12" name="Oval 11"/>
          <p:cNvSpPr/>
          <p:nvPr/>
        </p:nvSpPr>
        <p:spPr>
          <a:xfrm>
            <a:off x="704088" y="256032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254203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Окуядагы каармандарды колдон: Бекжан, Нурай, Чынара эже.</a:t>
            </a:r>
          </a:p>
        </p:txBody>
      </p:sp>
      <p:sp>
        <p:nvSpPr>
          <p:cNvPr id="14" name="Oval 13"/>
          <p:cNvSpPr/>
          <p:nvPr/>
        </p:nvSpPr>
        <p:spPr>
          <a:xfrm>
            <a:off x="704088" y="338327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3364991"/>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Тилкесин чий жана туюнтмасын жаз.</a:t>
            </a:r>
          </a:p>
        </p:txBody>
      </p:sp>
      <p:sp>
        <p:nvSpPr>
          <p:cNvPr id="16" name="Oval 15"/>
          <p:cNvSpPr/>
          <p:nvPr/>
        </p:nvSpPr>
        <p:spPr>
          <a:xfrm>
            <a:off x="704088" y="4206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418795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Жупуңа бер: ал чыгарсын, сен текшер.</a:t>
            </a:r>
          </a:p>
        </p:txBody>
      </p:sp>
      <p:sp>
        <p:nvSpPr>
          <p:cNvPr id="18" name="Rounded Rectangle 17"/>
          <p:cNvSpPr/>
          <p:nvPr/>
        </p:nvSpPr>
        <p:spPr>
          <a:xfrm>
            <a:off x="4449927" y="6327648"/>
            <a:ext cx="3291840" cy="411480"/>
          </a:xfrm>
          <a:prstGeom prst="roundRect">
            <a:avLst>
              <a:gd name="adj" fmla="val 50000"/>
            </a:avLst>
          </a:prstGeom>
          <a:no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A84400"/>
                </a:solidFill>
                <a:latin typeface="PT Sans"/>
              </a:rPr>
              <a:t>3C · Кызматташуу</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Чыгуу билети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24/26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Өз алдынча, 3 мүнөт. Кагазыңа жазып бер.</a:t>
            </a:r>
          </a:p>
        </p:txBody>
      </p:sp>
      <p:sp>
        <p:nvSpPr>
          <p:cNvPr id="11" name="Rounded Rectangle 10"/>
          <p:cNvSpPr/>
          <p:nvPr/>
        </p:nvSpPr>
        <p:spPr>
          <a:xfrm>
            <a:off x="429768" y="169164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{1, 2, 3, 4} ∩ {3, 4, 5} =</a:t>
            </a:r>
          </a:p>
        </p:txBody>
      </p:sp>
      <p:sp>
        <p:nvSpPr>
          <p:cNvPr id="14" name="Rounded Rectangle 13"/>
          <p:cNvSpPr/>
          <p:nvPr/>
        </p:nvSpPr>
        <p:spPr>
          <a:xfrm>
            <a:off x="429768" y="323088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07007" y="323088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Комуз 12, ыр 9 окуучу, экөөндө тең 5. Жок дегенде бирөөндө канча окуучу?</a:t>
            </a:r>
          </a:p>
        </p:txBody>
      </p:sp>
      <p:sp>
        <p:nvSpPr>
          <p:cNvPr id="17" name="Rounded Rectangle 16"/>
          <p:cNvSpPr/>
          <p:nvPr/>
        </p:nvSpPr>
        <p:spPr>
          <a:xfrm>
            <a:off x="429768" y="477012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77012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Класста 25 окуучу. Жок дегенде бир ийримде 19 окуучу. Эч бир ийримде жоктор канча?</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талкуу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25/26</a:t>
            </a:r>
          </a:p>
        </p:txBody>
      </p:sp>
      <p:sp>
        <p:nvSpPr>
          <p:cNvPr id="10" name="Rounded Rectangle 9"/>
          <p:cNvSpPr/>
          <p:nvPr/>
        </p:nvSpPr>
        <p:spPr>
          <a:xfrm>
            <a:off x="429768" y="1225296"/>
            <a:ext cx="11329416" cy="32461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80160"/>
            <a:ext cx="10780776" cy="548640"/>
          </a:xfrm>
          <a:prstGeom prst="rect">
            <a:avLst/>
          </a:prstGeom>
          <a:noFill/>
        </p:spPr>
        <p:txBody>
          <a:bodyPr wrap="square" anchor="t" lIns="45720" rIns="45720" tIns="27432" bIns="27432">
            <a:spAutoFit/>
          </a:bodyPr>
          <a:lstStyle/>
          <a:p>
            <a:pPr algn="l">
              <a:lnSpc>
                <a:spcPct val="105000"/>
              </a:lnSpc>
            </a:pPr>
            <a:r>
              <a:rPr sz="2400" b="1" i="0">
                <a:solidFill>
                  <a:srgbClr val="1D3557"/>
                </a:solidFill>
                <a:latin typeface="PT Sans"/>
              </a:rPr>
              <a:t>Оозеки талкуу</a:t>
            </a:r>
          </a:p>
        </p:txBody>
      </p:sp>
      <p:sp>
        <p:nvSpPr>
          <p:cNvPr id="12" name="Oval 11"/>
          <p:cNvSpPr/>
          <p:nvPr/>
        </p:nvSpPr>
        <p:spPr>
          <a:xfrm>
            <a:off x="704088" y="1920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1901952"/>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Эмне үчүн бирикмени тапканда кесилишти кемитебиз?</a:t>
            </a:r>
          </a:p>
        </p:txBody>
      </p:sp>
      <p:sp>
        <p:nvSpPr>
          <p:cNvPr id="14" name="Oval 13"/>
          <p:cNvSpPr/>
          <p:nvPr/>
        </p:nvSpPr>
        <p:spPr>
          <a:xfrm>
            <a:off x="704088" y="2542032"/>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2523744"/>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Венн диаграммасынын сыртында ким турат? Мисал айт.</a:t>
            </a:r>
          </a:p>
        </p:txBody>
      </p:sp>
      <p:sp>
        <p:nvSpPr>
          <p:cNvPr id="16" name="Oval 15"/>
          <p:cNvSpPr/>
          <p:nvPr/>
        </p:nvSpPr>
        <p:spPr>
          <a:xfrm>
            <a:off x="704088" y="316382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3145536"/>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Кэрролл таблицасы менен Венн диаграммасынын окшоштугу эмнеде?</a:t>
            </a:r>
          </a:p>
        </p:txBody>
      </p:sp>
      <p:sp>
        <p:nvSpPr>
          <p:cNvPr id="18" name="TextBox 17"/>
          <p:cNvSpPr txBox="1"/>
          <p:nvPr/>
        </p:nvSpPr>
        <p:spPr>
          <a:xfrm>
            <a:off x="429768" y="4617720"/>
            <a:ext cx="11329416" cy="457200"/>
          </a:xfrm>
          <a:prstGeom prst="rect">
            <a:avLst/>
          </a:prstGeom>
          <a:noFill/>
        </p:spPr>
        <p:txBody>
          <a:bodyPr wrap="square" anchor="t" lIns="45720" rIns="45720" tIns="27432" bIns="27432">
            <a:spAutoFit/>
          </a:bodyPr>
          <a:lstStyle/>
          <a:p>
            <a:pPr algn="ctr">
              <a:lnSpc>
                <a:spcPct val="105000"/>
              </a:lnSpc>
            </a:pPr>
            <a:r>
              <a:rPr sz="2000" b="0" i="1">
                <a:solidFill>
                  <a:srgbClr val="6B7280"/>
                </a:solidFill>
                <a:latin typeface="PT Sans"/>
              </a:rPr>
              <a:t>Өзүңдү баала: колуңду көтөр.</a:t>
            </a:r>
          </a:p>
        </p:txBody>
      </p:sp>
      <p:sp>
        <p:nvSpPr>
          <p:cNvPr id="19" name="Rounded Rectangle 18"/>
          <p:cNvSpPr/>
          <p:nvPr/>
        </p:nvSpPr>
        <p:spPr>
          <a:xfrm>
            <a:off x="978407" y="5120640"/>
            <a:ext cx="3291840" cy="73152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007A5A"/>
                </a:solidFill>
                <a:latin typeface="PT Sans"/>
              </a:rPr>
              <a:t>Түшүндүм</a:t>
            </a:r>
          </a:p>
        </p:txBody>
      </p:sp>
      <p:sp>
        <p:nvSpPr>
          <p:cNvPr id="20" name="Rounded Rectangle 19"/>
          <p:cNvSpPr/>
          <p:nvPr/>
        </p:nvSpPr>
        <p:spPr>
          <a:xfrm>
            <a:off x="4636008" y="5120640"/>
            <a:ext cx="3291840" cy="73152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Дагы машыгам</a:t>
            </a:r>
          </a:p>
        </p:txBody>
      </p:sp>
      <p:sp>
        <p:nvSpPr>
          <p:cNvPr id="21" name="Rounded Rectangle 20"/>
          <p:cNvSpPr/>
          <p:nvPr/>
        </p:nvSpPr>
        <p:spPr>
          <a:xfrm>
            <a:off x="8293608" y="5120640"/>
            <a:ext cx="3291840" cy="73152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24418C"/>
                </a:solidFill>
                <a:latin typeface="PT Sans"/>
              </a:rPr>
              <a:t>Жардам керек</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Мугалим үчүн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
            </a:r>
          </a:p>
          <a:p>
            <a:pPr algn="r">
              <a:lnSpc>
                <a:spcPct val="100000"/>
              </a:lnSpc>
            </a:pPr>
            <a:r>
              <a:rPr sz="1400" b="0" i="0">
                <a:solidFill>
                  <a:srgbClr val="4A5A70"/>
                </a:solidFill>
                <a:latin typeface="PT Sans"/>
              </a:rPr>
              <a:t>Көптүктөр жана Венн диаграммалары</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26/26</a:t>
            </a:r>
          </a:p>
        </p:txBody>
      </p:sp>
      <p:sp>
        <p:nvSpPr>
          <p:cNvPr id="10" name="Rounded Rectangle 9"/>
          <p:cNvSpPr/>
          <p:nvPr/>
        </p:nvSpPr>
        <p:spPr>
          <a:xfrm>
            <a:off x="429768" y="1225296"/>
            <a:ext cx="5120640"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466344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Тилке моделин кантип үйрөтөбүз</a:t>
            </a:r>
          </a:p>
        </p:txBody>
      </p:sp>
      <p:sp>
        <p:nvSpPr>
          <p:cNvPr id="12" name="Oval 11"/>
          <p:cNvSpPr/>
          <p:nvPr/>
        </p:nvSpPr>
        <p:spPr>
          <a:xfrm>
            <a:off x="658368" y="187451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188719" y="1856231"/>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Адегенде ортону (экөө тең) толтурттурам, анан «гана» бөлүктөрдү (М2).</a:t>
            </a:r>
          </a:p>
        </p:txBody>
      </p:sp>
      <p:sp>
        <p:nvSpPr>
          <p:cNvPr id="14" name="Oval 13"/>
          <p:cNvSpPr/>
          <p:nvPr/>
        </p:nvSpPr>
        <p:spPr>
          <a:xfrm>
            <a:off x="658368" y="2898648"/>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188719" y="2880360"/>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Ар бир маселеде «сыртында ким бар?» деп сурайм, тик бурчтукту чийдирем (М3).</a:t>
            </a:r>
          </a:p>
        </p:txBody>
      </p:sp>
      <p:sp>
        <p:nvSpPr>
          <p:cNvPr id="16" name="Oval 15"/>
          <p:cNvSpPr/>
          <p:nvPr/>
        </p:nvSpPr>
        <p:spPr>
          <a:xfrm>
            <a:off x="658368" y="3922776"/>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188719" y="3904488"/>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Текшерүү: 4 бөлүктүн суммасы = баары; бирикме баарынан чоң боло албайт (М1).</a:t>
            </a:r>
          </a:p>
        </p:txBody>
      </p:sp>
      <p:sp>
        <p:nvSpPr>
          <p:cNvPr id="18" name="Oval 17"/>
          <p:cNvSpPr/>
          <p:nvPr/>
        </p:nvSpPr>
        <p:spPr>
          <a:xfrm>
            <a:off x="658368" y="494690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19" name="TextBox 18"/>
          <p:cNvSpPr txBox="1"/>
          <p:nvPr/>
        </p:nvSpPr>
        <p:spPr>
          <a:xfrm>
            <a:off x="1188719" y="4928616"/>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Кэрролл таблицасында катарларды жана мамычаларды кошуп текшертем (М7).</a:t>
            </a:r>
          </a:p>
        </p:txBody>
      </p:sp>
      <p:sp>
        <p:nvSpPr>
          <p:cNvPr id="20" name="Rounded Rectangle 19"/>
          <p:cNvSpPr/>
          <p:nvPr/>
        </p:nvSpPr>
        <p:spPr>
          <a:xfrm>
            <a:off x="5779007" y="1225296"/>
            <a:ext cx="5980176"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07607" y="1280160"/>
            <a:ext cx="548640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Ой жүгүртүү: эмне деп айтабыз?</a:t>
            </a:r>
          </a:p>
        </p:txBody>
      </p:sp>
      <p:sp>
        <p:nvSpPr>
          <p:cNvPr id="22" name="TextBox 21"/>
          <p:cNvSpPr txBox="1"/>
          <p:nvPr/>
        </p:nvSpPr>
        <p:spPr>
          <a:xfrm>
            <a:off x="6007607" y="1783080"/>
            <a:ext cx="2651760" cy="365760"/>
          </a:xfrm>
          <a:prstGeom prst="rect">
            <a:avLst/>
          </a:prstGeom>
          <a:noFill/>
        </p:spPr>
        <p:txBody>
          <a:bodyPr wrap="square" anchor="t" lIns="45720" rIns="45720" tIns="27432" bIns="27432">
            <a:spAutoFit/>
          </a:bodyPr>
          <a:lstStyle/>
          <a:p>
            <a:pPr algn="l">
              <a:lnSpc>
                <a:spcPct val="105000"/>
              </a:lnSpc>
            </a:pPr>
            <a:r>
              <a:rPr sz="1500" b="1" i="0">
                <a:solidFill>
                  <a:srgbClr val="6B7280"/>
                </a:solidFill>
                <a:latin typeface="PT Sans"/>
              </a:rPr>
              <a:t>Айтпайбыз</a:t>
            </a:r>
          </a:p>
        </p:txBody>
      </p:sp>
      <p:sp>
        <p:nvSpPr>
          <p:cNvPr id="23" name="TextBox 22"/>
          <p:cNvSpPr txBox="1"/>
          <p:nvPr/>
        </p:nvSpPr>
        <p:spPr>
          <a:xfrm>
            <a:off x="8796528" y="1783080"/>
            <a:ext cx="2926080" cy="365760"/>
          </a:xfrm>
          <a:prstGeom prst="rect">
            <a:avLst/>
          </a:prstGeom>
          <a:noFill/>
        </p:spPr>
        <p:txBody>
          <a:bodyPr wrap="square" anchor="t" lIns="45720" rIns="45720" tIns="27432" bIns="27432">
            <a:spAutoFit/>
          </a:bodyPr>
          <a:lstStyle/>
          <a:p>
            <a:pPr algn="l">
              <a:lnSpc>
                <a:spcPct val="105000"/>
              </a:lnSpc>
            </a:pPr>
            <a:r>
              <a:rPr sz="1500" b="1" i="0">
                <a:solidFill>
                  <a:srgbClr val="007A5A"/>
                </a:solidFill>
                <a:latin typeface="PT Sans"/>
              </a:rPr>
              <a:t>Айтабыз</a:t>
            </a:r>
          </a:p>
        </p:txBody>
      </p:sp>
      <p:sp>
        <p:nvSpPr>
          <p:cNvPr id="24" name="TextBox 23"/>
          <p:cNvSpPr txBox="1"/>
          <p:nvPr/>
        </p:nvSpPr>
        <p:spPr>
          <a:xfrm>
            <a:off x="6007607" y="219456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«Бул оңой эмеспи?»</a:t>
            </a:r>
          </a:p>
        </p:txBody>
      </p:sp>
      <p:cxnSp>
        <p:nvCxnSpPr>
          <p:cNvPr id="25" name="Connector 24"/>
          <p:cNvCxnSpPr/>
          <p:nvPr/>
        </p:nvCxnSpPr>
        <p:spPr>
          <a:xfrm>
            <a:off x="8567928" y="2468879"/>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796528" y="219456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«Кадамдарды бирге карайлы.»</a:t>
            </a:r>
          </a:p>
        </p:txBody>
      </p:sp>
      <p:sp>
        <p:nvSpPr>
          <p:cNvPr id="27" name="TextBox 26"/>
          <p:cNvSpPr txBox="1"/>
          <p:nvPr/>
        </p:nvSpPr>
        <p:spPr>
          <a:xfrm>
            <a:off x="6007607" y="315468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«Туура эмес!»</a:t>
            </a:r>
          </a:p>
        </p:txBody>
      </p:sp>
      <p:cxnSp>
        <p:nvCxnSpPr>
          <p:cNvPr id="28" name="Connector 27"/>
          <p:cNvCxnSpPr/>
          <p:nvPr/>
        </p:nvCxnSpPr>
        <p:spPr>
          <a:xfrm>
            <a:off x="8567928" y="342900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796528" y="315468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«Кантип таптың? Текшерип көрөлүчү.»</a:t>
            </a:r>
          </a:p>
        </p:txBody>
      </p:sp>
      <p:sp>
        <p:nvSpPr>
          <p:cNvPr id="30" name="TextBox 29"/>
          <p:cNvSpPr txBox="1"/>
          <p:nvPr/>
        </p:nvSpPr>
        <p:spPr>
          <a:xfrm>
            <a:off x="6007607" y="411480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«Сен математикага жөндөмсүзсүң»</a:t>
            </a:r>
          </a:p>
        </p:txBody>
      </p:sp>
      <p:cxnSp>
        <p:nvCxnSpPr>
          <p:cNvPr id="31" name="Connector 30"/>
          <p:cNvCxnSpPr/>
          <p:nvPr/>
        </p:nvCxnSpPr>
        <p:spPr>
          <a:xfrm>
            <a:off x="8567928" y="438912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796528" y="411480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«Азырынча. Машыксаң, үйрөнөсүң.»</a:t>
            </a:r>
          </a:p>
        </p:txBody>
      </p:sp>
      <p:sp>
        <p:nvSpPr>
          <p:cNvPr id="33" name="TextBox 32"/>
          <p:cNvSpPr txBox="1"/>
          <p:nvPr/>
        </p:nvSpPr>
        <p:spPr>
          <a:xfrm>
            <a:off x="6007607" y="507492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«Тез чыгар»</a:t>
            </a:r>
          </a:p>
        </p:txBody>
      </p:sp>
      <p:cxnSp>
        <p:nvCxnSpPr>
          <p:cNvPr id="34" name="Connector 33"/>
          <p:cNvCxnSpPr/>
          <p:nvPr/>
        </p:nvCxnSpPr>
        <p:spPr>
          <a:xfrm>
            <a:off x="8567928" y="534924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796528" y="507492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«Шашпа, адегенде тилке чий.»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